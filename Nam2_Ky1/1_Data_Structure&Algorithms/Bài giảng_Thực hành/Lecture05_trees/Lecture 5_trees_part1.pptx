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99933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 and Algorithms</a:t>
            </a:r>
            <a:b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Trees</a:t>
            </a:r>
            <a:endParaRPr/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13792" y="455672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Tree</a:t>
            </a:r>
            <a:endParaRPr/>
          </a:p>
        </p:txBody>
      </p:sp>
      <p:sp>
        <p:nvSpPr>
          <p:cNvPr id="100" name="Google Shape;100;p1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8840"/>
            <a:ext cx="3352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computer science, a tree is an abstract model of a hierarchical structure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tree consists of nodes with a parent-child relation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Organization charts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 systems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Programming environments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3390314" y="2204864"/>
            <a:ext cx="5507624" cy="3365942"/>
            <a:chOff x="2180" y="916"/>
            <a:chExt cx="3301" cy="2014"/>
          </a:xfrm>
        </p:grpSpPr>
        <p:sp>
          <p:nvSpPr>
            <p:cNvPr id="102" name="Google Shape;102;p14"/>
            <p:cNvSpPr/>
            <p:nvPr/>
          </p:nvSpPr>
          <p:spPr>
            <a:xfrm>
              <a:off x="3028" y="916"/>
              <a:ext cx="2148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 Computer Company</a:t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604" y="1533"/>
              <a:ext cx="43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085" y="1533"/>
              <a:ext cx="39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R&amp;D</a:t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3977" y="1533"/>
              <a:ext cx="95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</a:t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787" y="2109"/>
              <a:ext cx="59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Laptops</a:t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512" y="2109"/>
              <a:ext cx="66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Desktops</a:t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351" y="2108"/>
              <a:ext cx="29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</a:t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783" y="2109"/>
              <a:ext cx="8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International</a:t>
              </a:r>
              <a:endParaRPr/>
            </a:p>
          </p:txBody>
        </p:sp>
        <p:cxnSp>
          <p:nvCxnSpPr>
            <p:cNvPr id="110" name="Google Shape;110;p14"/>
            <p:cNvCxnSpPr>
              <a:stCxn id="102" idx="2"/>
              <a:endCxn id="103" idx="0"/>
            </p:cNvCxnSpPr>
            <p:nvPr/>
          </p:nvCxnSpPr>
          <p:spPr>
            <a:xfrm flipH="1">
              <a:off x="29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14"/>
            <p:cNvCxnSpPr>
              <a:stCxn id="102" idx="2"/>
              <a:endCxn id="105" idx="0"/>
            </p:cNvCxnSpPr>
            <p:nvPr/>
          </p:nvCxnSpPr>
          <p:spPr>
            <a:xfrm>
              <a:off x="4102" y="1152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4"/>
            <p:cNvCxnSpPr>
              <a:stCxn id="102" idx="2"/>
              <a:endCxn id="104" idx="0"/>
            </p:cNvCxnSpPr>
            <p:nvPr/>
          </p:nvCxnSpPr>
          <p:spPr>
            <a:xfrm>
              <a:off x="41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4"/>
            <p:cNvCxnSpPr>
              <a:stCxn id="105" idx="2"/>
              <a:endCxn id="107" idx="0"/>
            </p:cNvCxnSpPr>
            <p:nvPr/>
          </p:nvCxnSpPr>
          <p:spPr>
            <a:xfrm>
              <a:off x="44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14"/>
            <p:cNvCxnSpPr>
              <a:stCxn id="105" idx="2"/>
              <a:endCxn id="106" idx="0"/>
            </p:cNvCxnSpPr>
            <p:nvPr/>
          </p:nvCxnSpPr>
          <p:spPr>
            <a:xfrm flipH="1">
              <a:off x="41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14"/>
            <p:cNvCxnSpPr>
              <a:stCxn id="103" idx="2"/>
              <a:endCxn id="109" idx="0"/>
            </p:cNvCxnSpPr>
            <p:nvPr/>
          </p:nvCxnSpPr>
          <p:spPr>
            <a:xfrm>
              <a:off x="28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14"/>
            <p:cNvCxnSpPr>
              <a:stCxn id="103" idx="2"/>
              <a:endCxn id="108" idx="0"/>
            </p:cNvCxnSpPr>
            <p:nvPr/>
          </p:nvCxnSpPr>
          <p:spPr>
            <a:xfrm flipH="1">
              <a:off x="25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" name="Google Shape;117;p14"/>
            <p:cNvSpPr/>
            <p:nvPr/>
          </p:nvSpPr>
          <p:spPr>
            <a:xfrm>
              <a:off x="2180" y="2688"/>
              <a:ext cx="5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Europe</a:t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3023" y="2688"/>
              <a:ext cx="37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Asia</a:t>
              </a:r>
              <a:endParaRPr/>
            </a:p>
          </p:txBody>
        </p:sp>
        <p:cxnSp>
          <p:nvCxnSpPr>
            <p:cNvPr id="119" name="Google Shape;119;p14"/>
            <p:cNvCxnSpPr>
              <a:stCxn id="109" idx="2"/>
              <a:endCxn id="118" idx="0"/>
            </p:cNvCxnSpPr>
            <p:nvPr/>
          </p:nvCxnSpPr>
          <p:spPr>
            <a:xfrm>
              <a:off x="3218" y="2351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4"/>
            <p:cNvCxnSpPr>
              <a:stCxn id="109" idx="2"/>
              <a:endCxn id="117" idx="0"/>
            </p:cNvCxnSpPr>
            <p:nvPr/>
          </p:nvCxnSpPr>
          <p:spPr>
            <a:xfrm flipH="1">
              <a:off x="23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Google Shape;121;p14"/>
            <p:cNvSpPr/>
            <p:nvPr/>
          </p:nvSpPr>
          <p:spPr>
            <a:xfrm>
              <a:off x="3698" y="2688"/>
              <a:ext cx="5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Canada</a:t>
              </a:r>
              <a:endParaRPr/>
            </a:p>
          </p:txBody>
        </p:sp>
        <p:cxnSp>
          <p:nvCxnSpPr>
            <p:cNvPr id="122" name="Google Shape;122;p14"/>
            <p:cNvCxnSpPr>
              <a:stCxn id="109" idx="2"/>
              <a:endCxn id="121" idx="0"/>
            </p:cNvCxnSpPr>
            <p:nvPr/>
          </p:nvCxnSpPr>
          <p:spPr>
            <a:xfrm>
              <a:off x="32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6772275" y="3190875"/>
            <a:ext cx="1981200" cy="1828800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2651750" rIns="91425" bIns="0" anchor="b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 Terminology</a:t>
            </a:r>
            <a:endParaRPr/>
          </a:p>
        </p:txBody>
      </p:sp>
      <p:sp>
        <p:nvSpPr>
          <p:cNvPr id="130" name="Google Shape;130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81050" y="1676400"/>
            <a:ext cx="45529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Root: node without parent (A)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node: node with at least one child (A, B, C, F)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node (a.k.a. leaf ): node without children (E, I, J, K, G, H, D)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Ancestors of a node: parent, grandparent, grand-grandparent, etc.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Descendant of a node: child, grandchild, grand-grandchild, etc.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 of a node: number of ancestors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Height of a tree: maximum depth of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node (3)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Siblings: same parent.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Edge: (u, v): u is the parent of v.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</a:t>
            </a:r>
            <a:endParaRPr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5029200" y="2667000"/>
            <a:ext cx="3709988" cy="3127375"/>
            <a:chOff x="3135" y="1250"/>
            <a:chExt cx="2337" cy="1970"/>
          </a:xfrm>
        </p:grpSpPr>
        <p:sp>
          <p:nvSpPr>
            <p:cNvPr id="132" name="Google Shape;132;p15"/>
            <p:cNvSpPr/>
            <p:nvPr/>
          </p:nvSpPr>
          <p:spPr>
            <a:xfrm>
              <a:off x="4216" y="1250"/>
              <a:ext cx="215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384" y="1826"/>
              <a:ext cx="213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5247" y="1825"/>
              <a:ext cx="225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4754" y="1825"/>
              <a:ext cx="215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4494" y="2401"/>
              <a:ext cx="223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5007" y="2401"/>
              <a:ext cx="224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135" y="2399"/>
              <a:ext cx="208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639" y="2402"/>
              <a:ext cx="203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140" name="Google Shape;140;p15"/>
            <p:cNvCxnSpPr>
              <a:stCxn id="132" idx="2"/>
              <a:endCxn id="133" idx="0"/>
            </p:cNvCxnSpPr>
            <p:nvPr/>
          </p:nvCxnSpPr>
          <p:spPr>
            <a:xfrm flipH="1">
              <a:off x="3424" y="1488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15"/>
            <p:cNvCxnSpPr>
              <a:stCxn id="132" idx="2"/>
              <a:endCxn id="135" idx="0"/>
            </p:cNvCxnSpPr>
            <p:nvPr/>
          </p:nvCxnSpPr>
          <p:spPr>
            <a:xfrm>
              <a:off x="4324" y="1488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5"/>
            <p:cNvCxnSpPr>
              <a:stCxn id="132" idx="2"/>
              <a:endCxn id="134" idx="0"/>
            </p:cNvCxnSpPr>
            <p:nvPr/>
          </p:nvCxnSpPr>
          <p:spPr>
            <a:xfrm>
              <a:off x="4324" y="1488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15"/>
            <p:cNvCxnSpPr>
              <a:stCxn id="135" idx="2"/>
              <a:endCxn id="137" idx="0"/>
            </p:cNvCxnSpPr>
            <p:nvPr/>
          </p:nvCxnSpPr>
          <p:spPr>
            <a:xfrm>
              <a:off x="4862" y="206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15"/>
            <p:cNvCxnSpPr>
              <a:stCxn id="135" idx="2"/>
              <a:endCxn id="136" idx="0"/>
            </p:cNvCxnSpPr>
            <p:nvPr/>
          </p:nvCxnSpPr>
          <p:spPr>
            <a:xfrm flipH="1">
              <a:off x="4562" y="206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15"/>
            <p:cNvCxnSpPr>
              <a:stCxn id="133" idx="2"/>
              <a:endCxn id="139" idx="0"/>
            </p:cNvCxnSpPr>
            <p:nvPr/>
          </p:nvCxnSpPr>
          <p:spPr>
            <a:xfrm>
              <a:off x="3491" y="2064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15"/>
            <p:cNvCxnSpPr>
              <a:stCxn id="133" idx="2"/>
              <a:endCxn id="138" idx="0"/>
            </p:cNvCxnSpPr>
            <p:nvPr/>
          </p:nvCxnSpPr>
          <p:spPr>
            <a:xfrm flipH="1">
              <a:off x="3191" y="2064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" name="Google Shape;147;p15"/>
            <p:cNvSpPr/>
            <p:nvPr/>
          </p:nvSpPr>
          <p:spPr>
            <a:xfrm>
              <a:off x="3289" y="2981"/>
              <a:ext cx="182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655" y="2981"/>
              <a:ext cx="187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cxnSp>
          <p:nvCxnSpPr>
            <p:cNvPr id="149" name="Google Shape;149;p15"/>
            <p:cNvCxnSpPr>
              <a:stCxn id="139" idx="2"/>
              <a:endCxn id="148" idx="0"/>
            </p:cNvCxnSpPr>
            <p:nvPr/>
          </p:nvCxnSpPr>
          <p:spPr>
            <a:xfrm>
              <a:off x="3741" y="2640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5"/>
            <p:cNvCxnSpPr>
              <a:stCxn id="139" idx="2"/>
              <a:endCxn id="147" idx="0"/>
            </p:cNvCxnSpPr>
            <p:nvPr/>
          </p:nvCxnSpPr>
          <p:spPr>
            <a:xfrm flipH="1">
              <a:off x="3441" y="26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" name="Google Shape;151;p15"/>
            <p:cNvSpPr/>
            <p:nvPr/>
          </p:nvSpPr>
          <p:spPr>
            <a:xfrm>
              <a:off x="4026" y="2980"/>
              <a:ext cx="213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/>
            </a:p>
          </p:txBody>
        </p:sp>
        <p:cxnSp>
          <p:nvCxnSpPr>
            <p:cNvPr id="152" name="Google Shape;152;p15"/>
            <p:cNvCxnSpPr>
              <a:stCxn id="139" idx="2"/>
              <a:endCxn id="151" idx="0"/>
            </p:cNvCxnSpPr>
            <p:nvPr/>
          </p:nvCxnSpPr>
          <p:spPr>
            <a:xfrm>
              <a:off x="3741" y="26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3" name="Google Shape;153;p15" descr="Rectangle: Click to edit Master text styles&#10;Second level&#10;Third level&#10;Fourth level&#10;Fifth level"/>
          <p:cNvSpPr/>
          <p:nvPr/>
        </p:nvSpPr>
        <p:spPr>
          <a:xfrm>
            <a:off x="5181600" y="1676400"/>
            <a:ext cx="3505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Subtree: tree consisting of a node and its descendants</a:t>
            </a:r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of Children Tree Presentation</a:t>
            </a:r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&lt;class Item&gt;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Node {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Item data;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List&lt;Node*&gt; children;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Node&lt;Item&gt;* root;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1" name="Google Shape;161;p16"/>
          <p:cNvGrpSpPr/>
          <p:nvPr/>
        </p:nvGrpSpPr>
        <p:grpSpPr>
          <a:xfrm>
            <a:off x="4038600" y="1828800"/>
            <a:ext cx="4061792" cy="4048472"/>
            <a:chOff x="2184" y="1141"/>
            <a:chExt cx="6844" cy="4259"/>
          </a:xfrm>
        </p:grpSpPr>
        <p:grpSp>
          <p:nvGrpSpPr>
            <p:cNvPr id="162" name="Google Shape;162;p16"/>
            <p:cNvGrpSpPr/>
            <p:nvPr/>
          </p:nvGrpSpPr>
          <p:grpSpPr>
            <a:xfrm>
              <a:off x="2184" y="1141"/>
              <a:ext cx="6844" cy="4259"/>
              <a:chOff x="2184" y="1141"/>
              <a:chExt cx="6844" cy="4259"/>
            </a:xfrm>
          </p:grpSpPr>
          <p:grpSp>
            <p:nvGrpSpPr>
              <p:cNvPr id="163" name="Google Shape;163;p16"/>
              <p:cNvGrpSpPr/>
              <p:nvPr/>
            </p:nvGrpSpPr>
            <p:grpSpPr>
              <a:xfrm>
                <a:off x="2184" y="2340"/>
                <a:ext cx="6844" cy="3060"/>
                <a:chOff x="2184" y="2340"/>
                <a:chExt cx="6844" cy="3060"/>
              </a:xfrm>
            </p:grpSpPr>
            <p:grpSp>
              <p:nvGrpSpPr>
                <p:cNvPr id="164" name="Google Shape;164;p16"/>
                <p:cNvGrpSpPr/>
                <p:nvPr/>
              </p:nvGrpSpPr>
              <p:grpSpPr>
                <a:xfrm>
                  <a:off x="2492" y="2340"/>
                  <a:ext cx="6536" cy="1980"/>
                  <a:chOff x="1952" y="2340"/>
                  <a:chExt cx="6536" cy="1980"/>
                </a:xfrm>
              </p:grpSpPr>
              <p:grpSp>
                <p:nvGrpSpPr>
                  <p:cNvPr id="165" name="Google Shape;165;p16"/>
                  <p:cNvGrpSpPr/>
                  <p:nvPr/>
                </p:nvGrpSpPr>
                <p:grpSpPr>
                  <a:xfrm>
                    <a:off x="4860" y="2340"/>
                    <a:ext cx="1620" cy="720"/>
                    <a:chOff x="4860" y="2340"/>
                    <a:chExt cx="1620" cy="720"/>
                  </a:xfrm>
                </p:grpSpPr>
                <p:sp>
                  <p:nvSpPr>
                    <p:cNvPr id="166" name="Google Shape;166;p16"/>
                    <p:cNvSpPr/>
                    <p:nvPr/>
                  </p:nvSpPr>
                  <p:spPr>
                    <a:xfrm>
                      <a:off x="4860" y="2340"/>
                      <a:ext cx="162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7" name="Google Shape;167;p16"/>
                    <p:cNvSpPr/>
                    <p:nvPr/>
                  </p:nvSpPr>
                  <p:spPr>
                    <a:xfrm>
                      <a:off x="486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8" name="Google Shape;168;p16"/>
                    <p:cNvSpPr/>
                    <p:nvPr/>
                  </p:nvSpPr>
                  <p:spPr>
                    <a:xfrm>
                      <a:off x="540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9" name="Google Shape;169;p16"/>
                    <p:cNvSpPr/>
                    <p:nvPr/>
                  </p:nvSpPr>
                  <p:spPr>
                    <a:xfrm>
                      <a:off x="594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0" name="Google Shape;170;p16"/>
                  <p:cNvGrpSpPr/>
                  <p:nvPr/>
                </p:nvGrpSpPr>
                <p:grpSpPr>
                  <a:xfrm>
                    <a:off x="1952" y="3605"/>
                    <a:ext cx="1153" cy="715"/>
                    <a:chOff x="4832" y="2345"/>
                    <a:chExt cx="1153" cy="715"/>
                  </a:xfrm>
                </p:grpSpPr>
                <p:sp>
                  <p:nvSpPr>
                    <p:cNvPr id="171" name="Google Shape;171;p16"/>
                    <p:cNvSpPr/>
                    <p:nvPr/>
                  </p:nvSpPr>
                  <p:spPr>
                    <a:xfrm>
                      <a:off x="4832" y="2345"/>
                      <a:ext cx="1153" cy="39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172" name="Google Shape;172;p16"/>
                    <p:cNvSpPr/>
                    <p:nvPr/>
                  </p:nvSpPr>
                  <p:spPr>
                    <a:xfrm>
                      <a:off x="4832" y="2700"/>
                      <a:ext cx="56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3" name="Google Shape;173;p16"/>
                    <p:cNvSpPr/>
                    <p:nvPr/>
                  </p:nvSpPr>
                  <p:spPr>
                    <a:xfrm>
                      <a:off x="5400" y="2700"/>
                      <a:ext cx="585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4" name="Google Shape;174;p16"/>
                  <p:cNvGrpSpPr/>
                  <p:nvPr/>
                </p:nvGrpSpPr>
                <p:grpSpPr>
                  <a:xfrm>
                    <a:off x="7560" y="3600"/>
                    <a:ext cx="928" cy="720"/>
                    <a:chOff x="4860" y="2340"/>
                    <a:chExt cx="928" cy="720"/>
                  </a:xfrm>
                </p:grpSpPr>
                <p:sp>
                  <p:nvSpPr>
                    <p:cNvPr id="175" name="Google Shape;175;p16"/>
                    <p:cNvSpPr/>
                    <p:nvPr/>
                  </p:nvSpPr>
                  <p:spPr>
                    <a:xfrm>
                      <a:off x="4860" y="234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6" name="Google Shape;176;p16"/>
                    <p:cNvSpPr/>
                    <p:nvPr/>
                  </p:nvSpPr>
                  <p:spPr>
                    <a:xfrm>
                      <a:off x="4860" y="270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77" name="Google Shape;177;p16"/>
                  <p:cNvSpPr/>
                  <p:nvPr/>
                </p:nvSpPr>
                <p:spPr>
                  <a:xfrm>
                    <a:off x="4860" y="3600"/>
                    <a:ext cx="1620" cy="36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rPr lang="en-US" sz="2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C</a:t>
                    </a: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8" name="Google Shape;178;p16"/>
                <p:cNvSpPr/>
                <p:nvPr/>
              </p:nvSpPr>
              <p:spPr>
                <a:xfrm>
                  <a:off x="2184" y="5040"/>
                  <a:ext cx="615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16"/>
                <p:cNvSpPr/>
                <p:nvPr/>
              </p:nvSpPr>
              <p:spPr>
                <a:xfrm>
                  <a:off x="4140" y="5040"/>
                  <a:ext cx="736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16"/>
                <p:cNvSpPr/>
                <p:nvPr/>
              </p:nvSpPr>
              <p:spPr>
                <a:xfrm>
                  <a:off x="8100" y="5040"/>
                  <a:ext cx="928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1" name="Google Shape;181;p16"/>
              <p:cNvSpPr/>
              <p:nvPr/>
            </p:nvSpPr>
            <p:spPr>
              <a:xfrm>
                <a:off x="5484" y="1141"/>
                <a:ext cx="2001" cy="54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root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16"/>
            <p:cNvGrpSpPr/>
            <p:nvPr/>
          </p:nvGrpSpPr>
          <p:grpSpPr>
            <a:xfrm>
              <a:off x="2520" y="1620"/>
              <a:ext cx="6300" cy="3420"/>
              <a:chOff x="2520" y="1620"/>
              <a:chExt cx="6300" cy="3420"/>
            </a:xfrm>
          </p:grpSpPr>
          <p:cxnSp>
            <p:nvCxnSpPr>
              <p:cNvPr id="183" name="Google Shape;183;p16"/>
              <p:cNvCxnSpPr/>
              <p:nvPr/>
            </p:nvCxnSpPr>
            <p:spPr>
              <a:xfrm>
                <a:off x="6300" y="162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4" name="Google Shape;184;p16"/>
              <p:cNvCxnSpPr/>
              <p:nvPr/>
            </p:nvCxnSpPr>
            <p:spPr>
              <a:xfrm flipH="1">
                <a:off x="3600" y="2880"/>
                <a:ext cx="216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5" name="Google Shape;185;p16"/>
              <p:cNvCxnSpPr/>
              <p:nvPr/>
            </p:nvCxnSpPr>
            <p:spPr>
              <a:xfrm>
                <a:off x="6120" y="288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6840" y="2880"/>
                <a:ext cx="198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 flipH="1">
                <a:off x="2520" y="4140"/>
                <a:ext cx="3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8" name="Google Shape;188;p16"/>
              <p:cNvCxnSpPr/>
              <p:nvPr/>
            </p:nvCxnSpPr>
            <p:spPr>
              <a:xfrm>
                <a:off x="3240" y="4140"/>
                <a:ext cx="12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9" name="Google Shape;189;p16"/>
              <p:cNvCxnSpPr/>
              <p:nvPr/>
            </p:nvCxnSpPr>
            <p:spPr>
              <a:xfrm>
                <a:off x="8567" y="4127"/>
                <a:ext cx="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90" name="Google Shape;190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Depth(v): number of ancestors of v.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root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0;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+ depth(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w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where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parent of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T;</a:t>
            </a:r>
            <a:endParaRPr sz="2000" b="0" i="1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Preorder Traversal</a:t>
            </a:r>
            <a:endParaRPr/>
          </a:p>
        </p:txBody>
      </p:sp>
      <p:sp>
        <p:nvSpPr>
          <p:cNvPr id="203" name="Google Shape;203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816100"/>
            <a:ext cx="7994650" cy="12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traversal visits the nodes of a tree in a systematic manner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preorder traversal, a node is visited before its descendants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Clone a tree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003800" y="2924175"/>
            <a:ext cx="3671888" cy="163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preOrder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preorder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1403350" y="6021388"/>
            <a:ext cx="295433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B, E, F, C, D, T, K</a:t>
            </a:r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542390" y="3275111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8" name="Google Shape;208;p18"/>
          <p:cNvCxnSpPr>
            <a:stCxn id="207" idx="3"/>
            <a:endCxn id="209" idx="7"/>
          </p:cNvCxnSpPr>
          <p:nvPr/>
        </p:nvCxnSpPr>
        <p:spPr>
          <a:xfrm flipH="1">
            <a:off x="1574057" y="3588612"/>
            <a:ext cx="1035900" cy="85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p18"/>
          <p:cNvCxnSpPr>
            <a:stCxn id="207" idx="5"/>
            <a:endCxn id="211" idx="1"/>
          </p:cNvCxnSpPr>
          <p:nvPr/>
        </p:nvCxnSpPr>
        <p:spPr>
          <a:xfrm>
            <a:off x="2936197" y="3588612"/>
            <a:ext cx="918900" cy="85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" name="Google Shape;209;p18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3" name="Google Shape;213;p18"/>
          <p:cNvCxnSpPr>
            <a:stCxn id="209" idx="3"/>
            <a:endCxn id="214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8"/>
          <p:cNvCxnSpPr>
            <a:stCxn id="209" idx="5"/>
            <a:endCxn id="212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p18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787968" y="4392464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667250" y="5345141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7" name="Google Shape;217;p18"/>
          <p:cNvCxnSpPr>
            <a:stCxn id="211" idx="3"/>
            <a:endCxn id="218" idx="0"/>
          </p:cNvCxnSpPr>
          <p:nvPr/>
        </p:nvCxnSpPr>
        <p:spPr>
          <a:xfrm flipH="1">
            <a:off x="3412059" y="4707715"/>
            <a:ext cx="443100" cy="6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8"/>
          <p:cNvCxnSpPr>
            <a:stCxn id="211" idx="5"/>
            <a:endCxn id="216" idx="1"/>
          </p:cNvCxnSpPr>
          <p:nvPr/>
        </p:nvCxnSpPr>
        <p:spPr>
          <a:xfrm>
            <a:off x="4179589" y="4707715"/>
            <a:ext cx="555300" cy="6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18"/>
          <p:cNvSpPr/>
          <p:nvPr/>
        </p:nvSpPr>
        <p:spPr>
          <a:xfrm>
            <a:off x="3182664" y="534514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2549848" y="439453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1" name="Google Shape;221;p18"/>
          <p:cNvCxnSpPr>
            <a:stCxn id="207" idx="4"/>
            <a:endCxn id="220" idx="0"/>
          </p:cNvCxnSpPr>
          <p:nvPr/>
        </p:nvCxnSpPr>
        <p:spPr>
          <a:xfrm>
            <a:off x="2773077" y="3642400"/>
            <a:ext cx="6300" cy="75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" name="Google Shape;222;p18"/>
          <p:cNvSpPr txBox="1"/>
          <p:nvPr/>
        </p:nvSpPr>
        <p:spPr>
          <a:xfrm>
            <a:off x="2286948" y="309447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280324" y="394059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1979712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3260290" y="492739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4840133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2861738" y="397025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4012424" y="396567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Postorder Traversal</a:t>
            </a:r>
            <a:endParaRPr/>
          </a:p>
        </p:txBody>
      </p:sp>
      <p:sp>
        <p:nvSpPr>
          <p:cNvPr id="235" name="Google Shape;235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889125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postorder traversal, a node is visited after its descendants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Application:  Delete a tree from leaves to root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292725" y="2997200"/>
            <a:ext cx="3352800" cy="163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postOrder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postOrder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125415" y="5949950"/>
            <a:ext cx="327989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E, F, B, C, T, K, D, A</a:t>
            </a:r>
            <a:endParaRPr dirty="0"/>
          </a:p>
        </p:txBody>
      </p:sp>
      <p:sp>
        <p:nvSpPr>
          <p:cNvPr id="238" name="Google Shape;238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2542390" y="3275111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0" name="Google Shape;240;p19"/>
          <p:cNvCxnSpPr>
            <a:stCxn id="239" idx="3"/>
            <a:endCxn id="241" idx="7"/>
          </p:cNvCxnSpPr>
          <p:nvPr/>
        </p:nvCxnSpPr>
        <p:spPr>
          <a:xfrm flipH="1">
            <a:off x="1574057" y="3588612"/>
            <a:ext cx="1035900" cy="85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p19"/>
          <p:cNvCxnSpPr>
            <a:stCxn id="239" idx="5"/>
            <a:endCxn id="243" idx="1"/>
          </p:cNvCxnSpPr>
          <p:nvPr/>
        </p:nvCxnSpPr>
        <p:spPr>
          <a:xfrm>
            <a:off x="2936197" y="3588612"/>
            <a:ext cx="918900" cy="85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19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5" name="Google Shape;245;p19"/>
          <p:cNvCxnSpPr>
            <a:stCxn id="241" idx="3"/>
            <a:endCxn id="246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19"/>
          <p:cNvCxnSpPr>
            <a:stCxn id="241" idx="5"/>
            <a:endCxn id="244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p19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787968" y="4392464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667250" y="5345141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9" name="Google Shape;249;p19"/>
          <p:cNvCxnSpPr>
            <a:stCxn id="243" idx="3"/>
            <a:endCxn id="250" idx="0"/>
          </p:cNvCxnSpPr>
          <p:nvPr/>
        </p:nvCxnSpPr>
        <p:spPr>
          <a:xfrm flipH="1">
            <a:off x="3412059" y="4707715"/>
            <a:ext cx="443100" cy="6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" name="Google Shape;251;p19"/>
          <p:cNvCxnSpPr>
            <a:stCxn id="243" idx="5"/>
            <a:endCxn id="248" idx="1"/>
          </p:cNvCxnSpPr>
          <p:nvPr/>
        </p:nvCxnSpPr>
        <p:spPr>
          <a:xfrm>
            <a:off x="4179589" y="4707715"/>
            <a:ext cx="555300" cy="6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" name="Google Shape;250;p19"/>
          <p:cNvSpPr/>
          <p:nvPr/>
        </p:nvSpPr>
        <p:spPr>
          <a:xfrm>
            <a:off x="3182664" y="534514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2549848" y="439453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3" name="Google Shape;253;p19"/>
          <p:cNvCxnSpPr>
            <a:stCxn id="239" idx="4"/>
            <a:endCxn id="252" idx="0"/>
          </p:cNvCxnSpPr>
          <p:nvPr/>
        </p:nvCxnSpPr>
        <p:spPr>
          <a:xfrm>
            <a:off x="2773077" y="3642400"/>
            <a:ext cx="6300" cy="75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4" name="Google Shape;254;p19"/>
          <p:cNvSpPr txBox="1"/>
          <p:nvPr/>
        </p:nvSpPr>
        <p:spPr>
          <a:xfrm>
            <a:off x="2286948" y="309447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1280324" y="400506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2001034" y="492142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3203848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4840133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2861738" y="405732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4012424" y="4077072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1</a:t>
            </a:r>
            <a:endParaRPr/>
          </a:p>
        </p:txBody>
      </p:sp>
      <p:sp>
        <p:nvSpPr>
          <p:cNvPr id="267" name="Google Shape;267;p2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132856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 the node orders in preorder and postorder traversals.</a:t>
            </a:r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20"/>
          <p:cNvGrpSpPr/>
          <p:nvPr/>
        </p:nvGrpSpPr>
        <p:grpSpPr>
          <a:xfrm>
            <a:off x="2123728" y="2913856"/>
            <a:ext cx="4533900" cy="2715677"/>
            <a:chOff x="720" y="864"/>
            <a:chExt cx="3504" cy="2016"/>
          </a:xfrm>
        </p:grpSpPr>
        <p:grpSp>
          <p:nvGrpSpPr>
            <p:cNvPr id="270" name="Google Shape;270;p20"/>
            <p:cNvGrpSpPr/>
            <p:nvPr/>
          </p:nvGrpSpPr>
          <p:grpSpPr>
            <a:xfrm>
              <a:off x="1008" y="2160"/>
              <a:ext cx="240" cy="288"/>
              <a:chOff x="4176" y="1104"/>
              <a:chExt cx="240" cy="288"/>
            </a:xfrm>
          </p:grpSpPr>
          <p:sp>
            <p:nvSpPr>
              <p:cNvPr id="271" name="Google Shape;271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3" name="Google Shape;273;p20"/>
            <p:cNvGrpSpPr/>
            <p:nvPr/>
          </p:nvGrpSpPr>
          <p:grpSpPr>
            <a:xfrm>
              <a:off x="720" y="2592"/>
              <a:ext cx="240" cy="288"/>
              <a:chOff x="4176" y="1104"/>
              <a:chExt cx="240" cy="288"/>
            </a:xfrm>
          </p:grpSpPr>
          <p:sp>
            <p:nvSpPr>
              <p:cNvPr id="274" name="Google Shape;274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6" name="Google Shape;276;p20"/>
            <p:cNvGrpSpPr/>
            <p:nvPr/>
          </p:nvGrpSpPr>
          <p:grpSpPr>
            <a:xfrm>
              <a:off x="1344" y="2592"/>
              <a:ext cx="240" cy="288"/>
              <a:chOff x="4176" y="1104"/>
              <a:chExt cx="240" cy="288"/>
            </a:xfrm>
          </p:grpSpPr>
          <p:sp>
            <p:nvSpPr>
              <p:cNvPr id="277" name="Google Shape;277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9" name="Google Shape;279;p20"/>
            <p:cNvCxnSpPr/>
            <p:nvPr/>
          </p:nvCxnSpPr>
          <p:spPr>
            <a:xfrm flipH="1">
              <a:off x="912" y="2400"/>
              <a:ext cx="144" cy="24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20"/>
            <p:cNvCxnSpPr/>
            <p:nvPr/>
          </p:nvCxnSpPr>
          <p:spPr>
            <a:xfrm>
              <a:off x="12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1" name="Google Shape;281;p20"/>
            <p:cNvGrpSpPr/>
            <p:nvPr/>
          </p:nvGrpSpPr>
          <p:grpSpPr>
            <a:xfrm>
              <a:off x="2256" y="2112"/>
              <a:ext cx="240" cy="288"/>
              <a:chOff x="4176" y="1104"/>
              <a:chExt cx="240" cy="288"/>
            </a:xfrm>
          </p:grpSpPr>
          <p:sp>
            <p:nvSpPr>
              <p:cNvPr id="282" name="Google Shape;282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4" name="Google Shape;284;p20"/>
            <p:cNvGrpSpPr/>
            <p:nvPr/>
          </p:nvGrpSpPr>
          <p:grpSpPr>
            <a:xfrm>
              <a:off x="2544" y="2592"/>
              <a:ext cx="240" cy="288"/>
              <a:chOff x="4176" y="1104"/>
              <a:chExt cx="240" cy="288"/>
            </a:xfrm>
          </p:grpSpPr>
          <p:sp>
            <p:nvSpPr>
              <p:cNvPr id="285" name="Google Shape;285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87" name="Google Shape;287;p20"/>
            <p:cNvCxnSpPr/>
            <p:nvPr/>
          </p:nvCxnSpPr>
          <p:spPr>
            <a:xfrm>
              <a:off x="24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8" name="Google Shape;288;p20"/>
            <p:cNvGrpSpPr/>
            <p:nvPr/>
          </p:nvGrpSpPr>
          <p:grpSpPr>
            <a:xfrm>
              <a:off x="3744" y="1536"/>
              <a:ext cx="240" cy="288"/>
              <a:chOff x="4176" y="1104"/>
              <a:chExt cx="240" cy="288"/>
            </a:xfrm>
          </p:grpSpPr>
          <p:sp>
            <p:nvSpPr>
              <p:cNvPr id="289" name="Google Shape;289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1" name="Google Shape;291;p20"/>
            <p:cNvGrpSpPr/>
            <p:nvPr/>
          </p:nvGrpSpPr>
          <p:grpSpPr>
            <a:xfrm>
              <a:off x="3456" y="1968"/>
              <a:ext cx="240" cy="288"/>
              <a:chOff x="4176" y="1104"/>
              <a:chExt cx="240" cy="288"/>
            </a:xfrm>
          </p:grpSpPr>
          <p:sp>
            <p:nvSpPr>
              <p:cNvPr id="292" name="Google Shape;292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4" name="Google Shape;294;p20"/>
            <p:cNvCxnSpPr/>
            <p:nvPr/>
          </p:nvCxnSpPr>
          <p:spPr>
            <a:xfrm flipH="1">
              <a:off x="3648" y="1776"/>
              <a:ext cx="144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95" name="Google Shape;295;p20"/>
            <p:cNvGrpSpPr/>
            <p:nvPr/>
          </p:nvGrpSpPr>
          <p:grpSpPr>
            <a:xfrm>
              <a:off x="1728" y="1536"/>
              <a:ext cx="240" cy="288"/>
              <a:chOff x="4176" y="1104"/>
              <a:chExt cx="240" cy="288"/>
            </a:xfrm>
          </p:grpSpPr>
          <p:sp>
            <p:nvSpPr>
              <p:cNvPr id="296" name="Google Shape;296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8" name="Google Shape;298;p20"/>
            <p:cNvCxnSpPr/>
            <p:nvPr/>
          </p:nvCxnSpPr>
          <p:spPr>
            <a:xfrm flipH="1">
              <a:off x="1200" y="1728"/>
              <a:ext cx="528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20"/>
            <p:cNvCxnSpPr/>
            <p:nvPr/>
          </p:nvCxnSpPr>
          <p:spPr>
            <a:xfrm>
              <a:off x="1968" y="1728"/>
              <a:ext cx="336" cy="48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00" name="Google Shape;300;p20"/>
            <p:cNvGrpSpPr/>
            <p:nvPr/>
          </p:nvGrpSpPr>
          <p:grpSpPr>
            <a:xfrm>
              <a:off x="2784" y="864"/>
              <a:ext cx="240" cy="288"/>
              <a:chOff x="4176" y="1104"/>
              <a:chExt cx="240" cy="288"/>
            </a:xfrm>
          </p:grpSpPr>
          <p:sp>
            <p:nvSpPr>
              <p:cNvPr id="301" name="Google Shape;301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03" name="Google Shape;303;p20"/>
            <p:cNvCxnSpPr/>
            <p:nvPr/>
          </p:nvCxnSpPr>
          <p:spPr>
            <a:xfrm flipH="1">
              <a:off x="1920" y="1056"/>
              <a:ext cx="864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4" name="Google Shape;304;p20"/>
            <p:cNvCxnSpPr/>
            <p:nvPr/>
          </p:nvCxnSpPr>
          <p:spPr>
            <a:xfrm>
              <a:off x="2976" y="1104"/>
              <a:ext cx="816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5" name="Google Shape;305;p20"/>
            <p:cNvSpPr txBox="1"/>
            <p:nvPr/>
          </p:nvSpPr>
          <p:spPr>
            <a:xfrm>
              <a:off x="2784" y="86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1728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3744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1008" y="2160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2256" y="211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3456" y="1968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720" y="254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1344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2592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314" name="Google Shape;314;p20"/>
            <p:cNvGrpSpPr/>
            <p:nvPr/>
          </p:nvGrpSpPr>
          <p:grpSpPr>
            <a:xfrm>
              <a:off x="3696" y="2496"/>
              <a:ext cx="240" cy="288"/>
              <a:chOff x="4176" y="1104"/>
              <a:chExt cx="240" cy="288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17" name="Google Shape;317;p20"/>
            <p:cNvCxnSpPr/>
            <p:nvPr/>
          </p:nvCxnSpPr>
          <p:spPr>
            <a:xfrm>
              <a:off x="3600" y="2256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8" name="Google Shape;318;p20"/>
            <p:cNvSpPr txBox="1"/>
            <p:nvPr/>
          </p:nvSpPr>
          <p:spPr>
            <a:xfrm>
              <a:off x="3744" y="249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</a:t>
            </a:r>
            <a:endParaRPr/>
          </a:p>
        </p:txBody>
      </p:sp>
      <p:sp>
        <p:nvSpPr>
          <p:cNvPr id="324" name="Google Shape;324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73263"/>
            <a:ext cx="4648200" cy="188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binary tree is a tree 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ach internal node has at most two children, called left child and right child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processes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searching</a:t>
            </a:r>
            <a:endParaRPr/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6421438" y="2443163"/>
            <a:ext cx="341312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5435600" y="3357563"/>
            <a:ext cx="338138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7402513" y="3355975"/>
            <a:ext cx="341312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6921500" y="4270375"/>
            <a:ext cx="322263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7904163" y="4270375"/>
            <a:ext cx="3556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4919663" y="4268788"/>
            <a:ext cx="357187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5946775" y="4270375"/>
            <a:ext cx="3302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332" name="Google Shape;332;p21"/>
          <p:cNvCxnSpPr>
            <a:stCxn id="325" idx="2"/>
            <a:endCxn id="326" idx="0"/>
          </p:cNvCxnSpPr>
          <p:nvPr/>
        </p:nvCxnSpPr>
        <p:spPr>
          <a:xfrm flipH="1">
            <a:off x="5604794" y="2820988"/>
            <a:ext cx="987300" cy="53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1"/>
          <p:cNvCxnSpPr>
            <a:stCxn id="325" idx="2"/>
            <a:endCxn id="327" idx="0"/>
          </p:cNvCxnSpPr>
          <p:nvPr/>
        </p:nvCxnSpPr>
        <p:spPr>
          <a:xfrm>
            <a:off x="6592094" y="2820988"/>
            <a:ext cx="981000" cy="53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1"/>
          <p:cNvCxnSpPr>
            <a:stCxn id="327" idx="2"/>
            <a:endCxn id="329" idx="0"/>
          </p:cNvCxnSpPr>
          <p:nvPr/>
        </p:nvCxnSpPr>
        <p:spPr>
          <a:xfrm>
            <a:off x="7573169" y="3736975"/>
            <a:ext cx="5088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1"/>
          <p:cNvCxnSpPr>
            <a:stCxn id="327" idx="2"/>
            <a:endCxn id="328" idx="0"/>
          </p:cNvCxnSpPr>
          <p:nvPr/>
        </p:nvCxnSpPr>
        <p:spPr>
          <a:xfrm flipH="1">
            <a:off x="7082669" y="3736975"/>
            <a:ext cx="4905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1"/>
          <p:cNvCxnSpPr>
            <a:stCxn id="326" idx="2"/>
            <a:endCxn id="331" idx="0"/>
          </p:cNvCxnSpPr>
          <p:nvPr/>
        </p:nvCxnSpPr>
        <p:spPr>
          <a:xfrm>
            <a:off x="5604669" y="3735388"/>
            <a:ext cx="507300" cy="53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1"/>
          <p:cNvCxnSpPr>
            <a:stCxn id="326" idx="2"/>
            <a:endCxn id="330" idx="0"/>
          </p:cNvCxnSpPr>
          <p:nvPr/>
        </p:nvCxnSpPr>
        <p:spPr>
          <a:xfrm flipH="1">
            <a:off x="5098269" y="3735388"/>
            <a:ext cx="5064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8" name="Google Shape;338;p21"/>
          <p:cNvSpPr/>
          <p:nvPr/>
        </p:nvSpPr>
        <p:spPr>
          <a:xfrm>
            <a:off x="5565775" y="5191125"/>
            <a:ext cx="355600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339" name="Google Shape;339;p21"/>
          <p:cNvCxnSpPr>
            <a:stCxn id="331" idx="2"/>
            <a:endCxn id="338" idx="0"/>
          </p:cNvCxnSpPr>
          <p:nvPr/>
        </p:nvCxnSpPr>
        <p:spPr>
          <a:xfrm flipH="1">
            <a:off x="5743475" y="4651375"/>
            <a:ext cx="368400" cy="53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21"/>
          <p:cNvSpPr/>
          <p:nvPr/>
        </p:nvSpPr>
        <p:spPr>
          <a:xfrm>
            <a:off x="6302375" y="5189538"/>
            <a:ext cx="288925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cxnSp>
        <p:nvCxnSpPr>
          <p:cNvPr id="341" name="Google Shape;341;p21"/>
          <p:cNvCxnSpPr>
            <a:stCxn id="331" idx="2"/>
            <a:endCxn id="340" idx="0"/>
          </p:cNvCxnSpPr>
          <p:nvPr/>
        </p:nvCxnSpPr>
        <p:spPr>
          <a:xfrm>
            <a:off x="6111875" y="4651375"/>
            <a:ext cx="335100" cy="5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2" name="Google Shape;342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Tree</a:t>
            </a:r>
            <a:endParaRPr/>
          </a:p>
        </p:txBody>
      </p:sp>
      <p:sp>
        <p:nvSpPr>
          <p:cNvPr id="348" name="Google Shape;348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27584" y="198038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 associated with a decision process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nodes: questions with yes/no answer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nodes: decisions</a:t>
            </a:r>
            <a:endParaRPr/>
          </a:p>
        </p:txBody>
      </p:sp>
      <p:pic>
        <p:nvPicPr>
          <p:cNvPr id="349" name="Google Shape;34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9672" y="3326830"/>
            <a:ext cx="5976664" cy="316373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Inorder Traversal</a:t>
            </a:r>
            <a:endParaRPr/>
          </a:p>
        </p:txBody>
      </p:sp>
      <p:sp>
        <p:nvSpPr>
          <p:cNvPr id="356" name="Google Shape;356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66750" y="1988840"/>
            <a:ext cx="8081963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an inorder traversal a node is visited after its left subtree and before its right subtree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4787900" y="3213100"/>
            <a:ext cx="4191000" cy="243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900333" y="5949950"/>
            <a:ext cx="266836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D, B, E, A, F, C</a:t>
            </a:r>
            <a:endParaRPr dirty="0"/>
          </a:p>
        </p:txBody>
      </p:sp>
      <p:sp>
        <p:nvSpPr>
          <p:cNvPr id="359" name="Google Shape;359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1922925" y="3094475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1" name="Google Shape;361;p23"/>
          <p:cNvCxnSpPr>
            <a:stCxn id="360" idx="3"/>
            <a:endCxn id="362" idx="0"/>
          </p:cNvCxnSpPr>
          <p:nvPr/>
        </p:nvCxnSpPr>
        <p:spPr>
          <a:xfrm flipH="1">
            <a:off x="1411792" y="3407976"/>
            <a:ext cx="578700" cy="976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3"/>
          <p:cNvCxnSpPr>
            <a:stCxn id="360" idx="5"/>
            <a:endCxn id="364" idx="0"/>
          </p:cNvCxnSpPr>
          <p:nvPr/>
        </p:nvCxnSpPr>
        <p:spPr>
          <a:xfrm>
            <a:off x="2316732" y="3407976"/>
            <a:ext cx="900600" cy="89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23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6" name="Google Shape;366;p23"/>
          <p:cNvCxnSpPr>
            <a:stCxn id="362" idx="3"/>
            <a:endCxn id="367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23"/>
          <p:cNvCxnSpPr>
            <a:stCxn id="362" idx="5"/>
            <a:endCxn id="365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7" name="Google Shape;367;p23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2987824" y="4302998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9" name="Google Shape;369;p23"/>
          <p:cNvSpPr/>
          <p:nvPr/>
        </p:nvSpPr>
        <p:spPr>
          <a:xfrm flipH="1">
            <a:off x="2440060" y="5370923"/>
            <a:ext cx="570760" cy="4068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370" name="Google Shape;370;p23"/>
          <p:cNvCxnSpPr>
            <a:endCxn id="369" idx="0"/>
          </p:cNvCxnSpPr>
          <p:nvPr/>
        </p:nvCxnSpPr>
        <p:spPr>
          <a:xfrm flipH="1">
            <a:off x="2725440" y="4672338"/>
            <a:ext cx="441992" cy="69858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1" name="Google Shape;371;p23"/>
          <p:cNvSpPr txBox="1"/>
          <p:nvPr/>
        </p:nvSpPr>
        <p:spPr>
          <a:xfrm>
            <a:off x="2433082" y="292494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1280324" y="394059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2001034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3131840" y="396567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3369186" y="5065439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Arithmetic Expressions</a:t>
            </a:r>
            <a:endParaRPr/>
          </a:p>
        </p:txBody>
      </p:sp>
      <p:sp>
        <p:nvSpPr>
          <p:cNvPr id="383" name="Google Shape;383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26368" y="1943472"/>
            <a:ext cx="3657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of an inorder traversal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operand or operator when visiting node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“(“ before traversing left subtree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“)“ after traversing right subtree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4648200" y="1988840"/>
            <a:ext cx="4191000" cy="31686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printExpression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v.element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5" name="Google Shape;385;p24"/>
          <p:cNvGrpSpPr/>
          <p:nvPr/>
        </p:nvGrpSpPr>
        <p:grpSpPr>
          <a:xfrm>
            <a:off x="762001" y="3784208"/>
            <a:ext cx="3542714" cy="2387991"/>
            <a:chOff x="2928" y="2256"/>
            <a:chExt cx="2160" cy="1440"/>
          </a:xfrm>
        </p:grpSpPr>
        <p:sp>
          <p:nvSpPr>
            <p:cNvPr id="386" name="Google Shape;386;p24"/>
            <p:cNvSpPr/>
            <p:nvPr/>
          </p:nvSpPr>
          <p:spPr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+</a:t>
              </a: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×</a:t>
              </a:r>
              <a:endParaRPr/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×</a:t>
              </a:r>
              <a:endParaRPr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395" name="Google Shape;395;p24"/>
            <p:cNvCxnSpPr>
              <a:stCxn id="386" idx="3"/>
              <a:endCxn id="388" idx="7"/>
            </p:cNvCxnSpPr>
            <p:nvPr/>
          </p:nvCxnSpPr>
          <p:spPr>
            <a:xfrm flipH="1">
              <a:off x="3373" y="2461"/>
              <a:ext cx="790" cy="21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24"/>
            <p:cNvCxnSpPr>
              <a:stCxn id="387" idx="1"/>
              <a:endCxn id="386" idx="5"/>
            </p:cNvCxnSpPr>
            <p:nvPr/>
          </p:nvCxnSpPr>
          <p:spPr>
            <a:xfrm flipH="1" flipV="1">
              <a:off x="4333" y="2461"/>
              <a:ext cx="310" cy="21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24"/>
            <p:cNvCxnSpPr>
              <a:stCxn id="394" idx="0"/>
              <a:endCxn id="387" idx="5"/>
            </p:cNvCxnSpPr>
            <p:nvPr/>
          </p:nvCxnSpPr>
          <p:spPr>
            <a:xfrm flipH="1" flipV="1">
              <a:off x="4813" y="2845"/>
              <a:ext cx="15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24"/>
            <p:cNvCxnSpPr>
              <a:stCxn id="393" idx="0"/>
              <a:endCxn id="387" idx="3"/>
            </p:cNvCxnSpPr>
            <p:nvPr/>
          </p:nvCxnSpPr>
          <p:spPr>
            <a:xfrm flipV="1">
              <a:off x="4488" y="2845"/>
              <a:ext cx="15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24"/>
            <p:cNvCxnSpPr>
              <a:stCxn id="392" idx="0"/>
              <a:endCxn id="389" idx="4"/>
            </p:cNvCxnSpPr>
            <p:nvPr/>
          </p:nvCxnSpPr>
          <p:spPr>
            <a:xfrm flipH="1" flipV="1">
              <a:off x="3768" y="3264"/>
              <a:ext cx="240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24"/>
            <p:cNvCxnSpPr>
              <a:stCxn id="391" idx="0"/>
              <a:endCxn id="389" idx="4"/>
            </p:cNvCxnSpPr>
            <p:nvPr/>
          </p:nvCxnSpPr>
          <p:spPr>
            <a:xfrm flipV="1">
              <a:off x="3528" y="3264"/>
              <a:ext cx="240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24"/>
            <p:cNvCxnSpPr>
              <a:stCxn id="390" idx="0"/>
              <a:endCxn id="388" idx="4"/>
            </p:cNvCxnSpPr>
            <p:nvPr/>
          </p:nvCxnSpPr>
          <p:spPr>
            <a:xfrm flipV="1">
              <a:off x="3048" y="2880"/>
              <a:ext cx="240" cy="14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24"/>
            <p:cNvCxnSpPr>
              <a:stCxn id="389" idx="1"/>
              <a:endCxn id="388" idx="4"/>
            </p:cNvCxnSpPr>
            <p:nvPr/>
          </p:nvCxnSpPr>
          <p:spPr>
            <a:xfrm flipH="1" flipV="1">
              <a:off x="3288" y="2880"/>
              <a:ext cx="39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3" name="Google Shape;403;p24"/>
          <p:cNvSpPr txBox="1"/>
          <p:nvPr/>
        </p:nvSpPr>
        <p:spPr>
          <a:xfrm>
            <a:off x="5029200" y="5410200"/>
            <a:ext cx="332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((2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1))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(3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b))</a:t>
            </a:r>
            <a:endParaRPr/>
          </a:p>
        </p:txBody>
      </p:sp>
      <p:sp>
        <p:nvSpPr>
          <p:cNvPr id="404" name="Google Shape;404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binary tree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539750" y="1916113"/>
            <a:ext cx="3455988" cy="421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balanced if for every internal  node v of T, the </a:t>
            </a:r>
            <a:r>
              <a:rPr lang="en-US" sz="2400" i="1">
                <a:solidFill>
                  <a:srgbClr val="3028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heights of the children of v can differ by at most 1</a:t>
            </a:r>
            <a:r>
              <a:rPr lang="en-US" sz="24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height of a balanced binary tree is </a:t>
            </a:r>
            <a:b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O(log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5235293" y="2403047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3" name="Google Shape;413;p25"/>
          <p:cNvCxnSpPr>
            <a:stCxn id="412" idx="3"/>
            <a:endCxn id="414" idx="0"/>
          </p:cNvCxnSpPr>
          <p:nvPr/>
        </p:nvCxnSpPr>
        <p:spPr>
          <a:xfrm flipH="1">
            <a:off x="4846560" y="2716548"/>
            <a:ext cx="456300" cy="24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5" name="Google Shape;415;p25"/>
          <p:cNvCxnSpPr>
            <a:stCxn id="412" idx="5"/>
            <a:endCxn id="416" idx="0"/>
          </p:cNvCxnSpPr>
          <p:nvPr/>
        </p:nvCxnSpPr>
        <p:spPr>
          <a:xfrm>
            <a:off x="5629100" y="2716548"/>
            <a:ext cx="209400" cy="26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4" name="Google Shape;414;p25"/>
          <p:cNvSpPr/>
          <p:nvPr/>
        </p:nvSpPr>
        <p:spPr>
          <a:xfrm>
            <a:off x="4617246" y="2960603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4950942" y="3680683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8" name="Google Shape;418;p25"/>
          <p:cNvCxnSpPr>
            <a:stCxn id="414" idx="3"/>
            <a:endCxn id="419" idx="0"/>
          </p:cNvCxnSpPr>
          <p:nvPr/>
        </p:nvCxnSpPr>
        <p:spPr>
          <a:xfrm flipH="1">
            <a:off x="4519737" y="3275854"/>
            <a:ext cx="1647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" name="Google Shape;420;p25"/>
          <p:cNvCxnSpPr>
            <a:stCxn id="414" idx="5"/>
            <a:endCxn id="417" idx="0"/>
          </p:cNvCxnSpPr>
          <p:nvPr/>
        </p:nvCxnSpPr>
        <p:spPr>
          <a:xfrm>
            <a:off x="5008865" y="3275854"/>
            <a:ext cx="1728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9" name="Google Shape;419;p25"/>
          <p:cNvSpPr/>
          <p:nvPr/>
        </p:nvSpPr>
        <p:spPr>
          <a:xfrm>
            <a:off x="4290469" y="3680683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5609089" y="2979389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5169386" y="216851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4593322" y="260056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4613381" y="4420805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4" name="Google Shape;424;p25"/>
          <p:cNvCxnSpPr>
            <a:stCxn id="419" idx="3"/>
            <a:endCxn id="425" idx="0"/>
          </p:cNvCxnSpPr>
          <p:nvPr/>
        </p:nvCxnSpPr>
        <p:spPr>
          <a:xfrm flipH="1">
            <a:off x="4182461" y="3995934"/>
            <a:ext cx="1752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p25"/>
          <p:cNvCxnSpPr>
            <a:stCxn id="419" idx="5"/>
            <a:endCxn id="423" idx="0"/>
          </p:cNvCxnSpPr>
          <p:nvPr/>
        </p:nvCxnSpPr>
        <p:spPr>
          <a:xfrm>
            <a:off x="4682090" y="3995934"/>
            <a:ext cx="1620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5" name="Google Shape;425;p25"/>
          <p:cNvSpPr/>
          <p:nvPr/>
        </p:nvSpPr>
        <p:spPr>
          <a:xfrm>
            <a:off x="3952908" y="442080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7339792" y="241005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8" name="Google Shape;428;p25"/>
          <p:cNvCxnSpPr>
            <a:stCxn id="427" idx="3"/>
            <a:endCxn id="429" idx="0"/>
          </p:cNvCxnSpPr>
          <p:nvPr/>
        </p:nvCxnSpPr>
        <p:spPr>
          <a:xfrm flipH="1">
            <a:off x="6951059" y="2723555"/>
            <a:ext cx="456300" cy="24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" name="Google Shape;430;p25"/>
          <p:cNvCxnSpPr>
            <a:stCxn id="427" idx="5"/>
            <a:endCxn id="431" idx="0"/>
          </p:cNvCxnSpPr>
          <p:nvPr/>
        </p:nvCxnSpPr>
        <p:spPr>
          <a:xfrm>
            <a:off x="7733600" y="2723555"/>
            <a:ext cx="425400" cy="26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9" name="Google Shape;429;p25"/>
          <p:cNvSpPr/>
          <p:nvPr/>
        </p:nvSpPr>
        <p:spPr>
          <a:xfrm>
            <a:off x="6721745" y="296761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7055441" y="368769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3" name="Google Shape;433;p25"/>
          <p:cNvCxnSpPr>
            <a:stCxn id="429" idx="3"/>
            <a:endCxn id="434" idx="0"/>
          </p:cNvCxnSpPr>
          <p:nvPr/>
        </p:nvCxnSpPr>
        <p:spPr>
          <a:xfrm flipH="1">
            <a:off x="6624236" y="3282861"/>
            <a:ext cx="1647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p25"/>
          <p:cNvCxnSpPr>
            <a:stCxn id="429" idx="5"/>
            <a:endCxn id="432" idx="0"/>
          </p:cNvCxnSpPr>
          <p:nvPr/>
        </p:nvCxnSpPr>
        <p:spPr>
          <a:xfrm>
            <a:off x="7113364" y="3282861"/>
            <a:ext cx="1728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25"/>
          <p:cNvSpPr/>
          <p:nvPr/>
        </p:nvSpPr>
        <p:spPr>
          <a:xfrm>
            <a:off x="6394968" y="368769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7929612" y="298639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6" name="Google Shape;436;p25"/>
          <p:cNvCxnSpPr>
            <a:stCxn id="434" idx="3"/>
            <a:endCxn id="437" idx="0"/>
          </p:cNvCxnSpPr>
          <p:nvPr/>
        </p:nvCxnSpPr>
        <p:spPr>
          <a:xfrm flipH="1">
            <a:off x="6286959" y="4002941"/>
            <a:ext cx="1752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7" name="Google Shape;437;p25"/>
          <p:cNvSpPr/>
          <p:nvPr/>
        </p:nvSpPr>
        <p:spPr>
          <a:xfrm>
            <a:off x="6057407" y="4427812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8287090" y="3680683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9" name="Google Shape;439;p25"/>
          <p:cNvCxnSpPr>
            <a:stCxn id="431" idx="3"/>
            <a:endCxn id="440" idx="0"/>
          </p:cNvCxnSpPr>
          <p:nvPr/>
        </p:nvCxnSpPr>
        <p:spPr>
          <a:xfrm flipH="1">
            <a:off x="7871103" y="3301648"/>
            <a:ext cx="125700" cy="39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25"/>
          <p:cNvCxnSpPr>
            <a:stCxn id="431" idx="5"/>
            <a:endCxn id="438" idx="0"/>
          </p:cNvCxnSpPr>
          <p:nvPr/>
        </p:nvCxnSpPr>
        <p:spPr>
          <a:xfrm>
            <a:off x="8321232" y="3301648"/>
            <a:ext cx="196500" cy="37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25"/>
          <p:cNvSpPr/>
          <p:nvPr/>
        </p:nvSpPr>
        <p:spPr>
          <a:xfrm>
            <a:off x="7641580" y="369364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4233282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5868144" y="2652826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5271278" y="335783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4853591" y="412032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6" name="Google Shape;446;p25"/>
          <p:cNvSpPr txBox="1"/>
          <p:nvPr/>
        </p:nvSpPr>
        <p:spPr>
          <a:xfrm>
            <a:off x="7185610" y="224052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47" name="Google Shape;447;p25"/>
          <p:cNvSpPr txBox="1"/>
          <p:nvPr/>
        </p:nvSpPr>
        <p:spPr>
          <a:xfrm>
            <a:off x="6609546" y="267257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6249506" y="3464659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8174370" y="266911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3861572" y="4100862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6045841" y="411106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7236296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7641580" y="338586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8532440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4402641" y="4869160"/>
            <a:ext cx="1415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Unbalanced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6916928" y="4861520"/>
            <a:ext cx="11464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 Structure for Binary Trees</a:t>
            </a:r>
            <a:endParaRPr/>
          </a:p>
        </p:txBody>
      </p:sp>
      <p:sp>
        <p:nvSpPr>
          <p:cNvPr id="462" name="Google Shape;462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26704"/>
            <a:ext cx="30480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node is represented by an object storing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node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Left child node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 child node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objects implement the Position ADT</a:t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2025824" y="4425081"/>
            <a:ext cx="501650" cy="5000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2900537" y="5164856"/>
            <a:ext cx="501650" cy="5000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1187624" y="51108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2178224" y="60252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3626024" y="60252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468" name="Google Shape;468;p26"/>
          <p:cNvCxnSpPr>
            <a:stCxn id="467" idx="0"/>
            <a:endCxn id="464" idx="5"/>
          </p:cNvCxnSpPr>
          <p:nvPr/>
        </p:nvCxnSpPr>
        <p:spPr>
          <a:xfrm rot="10800000">
            <a:off x="3328855" y="5591781"/>
            <a:ext cx="547200" cy="43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26"/>
          <p:cNvCxnSpPr>
            <a:stCxn id="466" idx="0"/>
            <a:endCxn id="464" idx="3"/>
          </p:cNvCxnSpPr>
          <p:nvPr/>
        </p:nvCxnSpPr>
        <p:spPr>
          <a:xfrm rot="10800000" flipH="1">
            <a:off x="2428256" y="5591781"/>
            <a:ext cx="545700" cy="43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26"/>
          <p:cNvCxnSpPr>
            <a:stCxn id="465" idx="0"/>
            <a:endCxn id="463" idx="3"/>
          </p:cNvCxnSpPr>
          <p:nvPr/>
        </p:nvCxnSpPr>
        <p:spPr>
          <a:xfrm rot="10800000" flipH="1">
            <a:off x="1437656" y="4851981"/>
            <a:ext cx="661500" cy="25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6"/>
          <p:cNvCxnSpPr>
            <a:stCxn id="464" idx="0"/>
            <a:endCxn id="463" idx="5"/>
          </p:cNvCxnSpPr>
          <p:nvPr/>
        </p:nvCxnSpPr>
        <p:spPr>
          <a:xfrm rot="10800000">
            <a:off x="2453862" y="4851956"/>
            <a:ext cx="697500" cy="3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2" name="Google Shape;472;p26"/>
          <p:cNvGrpSpPr/>
          <p:nvPr/>
        </p:nvGrpSpPr>
        <p:grpSpPr>
          <a:xfrm>
            <a:off x="5086350" y="1828800"/>
            <a:ext cx="1219200" cy="609600"/>
            <a:chOff x="3840" y="960"/>
            <a:chExt cx="768" cy="384"/>
          </a:xfrm>
        </p:grpSpPr>
        <p:sp>
          <p:nvSpPr>
            <p:cNvPr id="473" name="Google Shape;47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6" name="Google Shape;476;p26"/>
          <p:cNvGrpSpPr/>
          <p:nvPr/>
        </p:nvGrpSpPr>
        <p:grpSpPr>
          <a:xfrm>
            <a:off x="3978275" y="3352800"/>
            <a:ext cx="1219200" cy="609600"/>
            <a:chOff x="3840" y="960"/>
            <a:chExt cx="768" cy="384"/>
          </a:xfrm>
        </p:grpSpPr>
        <p:sp>
          <p:nvSpPr>
            <p:cNvPr id="477" name="Google Shape;477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0" name="Google Shape;480;p26"/>
          <p:cNvSpPr txBox="1"/>
          <p:nvPr/>
        </p:nvSpPr>
        <p:spPr>
          <a:xfrm>
            <a:off x="3921125" y="3459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81" name="Google Shape;481;p26"/>
          <p:cNvSpPr txBox="1"/>
          <p:nvPr/>
        </p:nvSpPr>
        <p:spPr>
          <a:xfrm>
            <a:off x="4845050" y="3459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82" name="Google Shape;482;p26"/>
          <p:cNvGrpSpPr/>
          <p:nvPr/>
        </p:nvGrpSpPr>
        <p:grpSpPr>
          <a:xfrm>
            <a:off x="6229350" y="3352800"/>
            <a:ext cx="1219200" cy="609600"/>
            <a:chOff x="3840" y="960"/>
            <a:chExt cx="768" cy="384"/>
          </a:xfrm>
        </p:grpSpPr>
        <p:sp>
          <p:nvSpPr>
            <p:cNvPr id="483" name="Google Shape;48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" name="Google Shape;48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6" name="Google Shape;486;p26"/>
          <p:cNvGrpSpPr/>
          <p:nvPr/>
        </p:nvGrpSpPr>
        <p:grpSpPr>
          <a:xfrm>
            <a:off x="5086350" y="4876800"/>
            <a:ext cx="1219200" cy="609600"/>
            <a:chOff x="3840" y="960"/>
            <a:chExt cx="768" cy="384"/>
          </a:xfrm>
        </p:grpSpPr>
        <p:sp>
          <p:nvSpPr>
            <p:cNvPr id="487" name="Google Shape;487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9" name="Google Shape;489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0" name="Google Shape;490;p26"/>
          <p:cNvSpPr txBox="1"/>
          <p:nvPr/>
        </p:nvSpPr>
        <p:spPr>
          <a:xfrm>
            <a:off x="5029200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5953125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92" name="Google Shape;492;p26"/>
          <p:cNvGrpSpPr/>
          <p:nvPr/>
        </p:nvGrpSpPr>
        <p:grpSpPr>
          <a:xfrm>
            <a:off x="7426325" y="4876800"/>
            <a:ext cx="1219200" cy="609600"/>
            <a:chOff x="3840" y="960"/>
            <a:chExt cx="768" cy="384"/>
          </a:xfrm>
        </p:grpSpPr>
        <p:sp>
          <p:nvSpPr>
            <p:cNvPr id="493" name="Google Shape;49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" name="Google Shape;49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6" name="Google Shape;496;p26"/>
          <p:cNvSpPr txBox="1"/>
          <p:nvPr/>
        </p:nvSpPr>
        <p:spPr>
          <a:xfrm>
            <a:off x="7369175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97" name="Google Shape;497;p26"/>
          <p:cNvSpPr txBox="1"/>
          <p:nvPr/>
        </p:nvSpPr>
        <p:spPr>
          <a:xfrm>
            <a:off x="8293100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98" name="Google Shape;498;p26"/>
          <p:cNvGrpSpPr/>
          <p:nvPr/>
        </p:nvGrpSpPr>
        <p:grpSpPr>
          <a:xfrm>
            <a:off x="5562600" y="2285206"/>
            <a:ext cx="333375" cy="854869"/>
            <a:chOff x="3504" y="1440"/>
            <a:chExt cx="210" cy="539"/>
          </a:xfrm>
        </p:grpSpPr>
        <p:sp>
          <p:nvSpPr>
            <p:cNvPr id="499" name="Google Shape;499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500" name="Google Shape;500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49948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1" name="Google Shape;501;p26"/>
          <p:cNvGrpSpPr/>
          <p:nvPr/>
        </p:nvGrpSpPr>
        <p:grpSpPr>
          <a:xfrm>
            <a:off x="4419600" y="3809206"/>
            <a:ext cx="333375" cy="854869"/>
            <a:chOff x="3504" y="1440"/>
            <a:chExt cx="210" cy="539"/>
          </a:xfrm>
        </p:grpSpPr>
        <p:sp>
          <p:nvSpPr>
            <p:cNvPr id="502" name="Google Shape;502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cxnSp>
          <p:nvCxnSpPr>
            <p:cNvPr id="503" name="Google Shape;503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832813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4" name="Google Shape;504;p26"/>
          <p:cNvGrpSpPr/>
          <p:nvPr/>
        </p:nvGrpSpPr>
        <p:grpSpPr>
          <a:xfrm>
            <a:off x="6694488" y="3809206"/>
            <a:ext cx="357187" cy="854869"/>
            <a:chOff x="3497" y="1440"/>
            <a:chExt cx="225" cy="539"/>
          </a:xfrm>
        </p:grpSpPr>
        <p:sp>
          <p:nvSpPr>
            <p:cNvPr id="505" name="Google Shape;505;p26"/>
            <p:cNvSpPr txBox="1"/>
            <p:nvPr/>
          </p:nvSpPr>
          <p:spPr>
            <a:xfrm>
              <a:off x="3497" y="1728"/>
              <a:ext cx="22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506" name="Google Shape;506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832813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7" name="Google Shape;507;p26"/>
          <p:cNvGrpSpPr/>
          <p:nvPr/>
        </p:nvGrpSpPr>
        <p:grpSpPr>
          <a:xfrm>
            <a:off x="5543550" y="5333206"/>
            <a:ext cx="333375" cy="854869"/>
            <a:chOff x="3504" y="1440"/>
            <a:chExt cx="210" cy="539"/>
          </a:xfrm>
        </p:grpSpPr>
        <p:sp>
          <p:nvSpPr>
            <p:cNvPr id="508" name="Google Shape;508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cxnSp>
          <p:nvCxnSpPr>
            <p:cNvPr id="509" name="Google Shape;509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116614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10" name="Google Shape;510;p26"/>
          <p:cNvGrpSpPr/>
          <p:nvPr/>
        </p:nvGrpSpPr>
        <p:grpSpPr>
          <a:xfrm>
            <a:off x="7877175" y="5333206"/>
            <a:ext cx="327025" cy="854869"/>
            <a:chOff x="3506" y="1440"/>
            <a:chExt cx="206" cy="539"/>
          </a:xfrm>
        </p:grpSpPr>
        <p:sp>
          <p:nvSpPr>
            <p:cNvPr id="511" name="Google Shape;511;p26"/>
            <p:cNvSpPr txBox="1"/>
            <p:nvPr/>
          </p:nvSpPr>
          <p:spPr>
            <a:xfrm>
              <a:off x="3506" y="1728"/>
              <a:ext cx="20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cxnSp>
          <p:nvCxnSpPr>
            <p:cNvPr id="512" name="Google Shape;512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116614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sp>
        <p:nvSpPr>
          <p:cNvPr id="513" name="Google Shape;513;p26"/>
          <p:cNvSpPr/>
          <p:nvPr/>
        </p:nvSpPr>
        <p:spPr>
          <a:xfrm>
            <a:off x="4432300" y="2438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 flipH="1">
            <a:off x="5848350" y="2438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 flipH="1">
            <a:off x="7010400" y="3962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5562600" y="3962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4110038" y="2124075"/>
            <a:ext cx="1109662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6"/>
          <p:cNvSpPr/>
          <p:nvPr/>
        </p:nvSpPr>
        <p:spPr>
          <a:xfrm flipH="1">
            <a:off x="6172200" y="2133600"/>
            <a:ext cx="1219200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"/>
          <p:cNvSpPr/>
          <p:nvPr/>
        </p:nvSpPr>
        <p:spPr>
          <a:xfrm flipH="1">
            <a:off x="7315200" y="3657600"/>
            <a:ext cx="1219200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5257800" y="3657600"/>
            <a:ext cx="1109663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"/>
          <p:cNvSpPr txBox="1"/>
          <p:nvPr/>
        </p:nvSpPr>
        <p:spPr>
          <a:xfrm>
            <a:off x="5495925" y="1771650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522" name="Google Shape;522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7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8153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Array-Based Representation of Binary Trees</a:t>
            </a:r>
            <a:endParaRPr/>
          </a:p>
        </p:txBody>
      </p:sp>
      <p:sp>
        <p:nvSpPr>
          <p:cNvPr id="528" name="Google Shape;528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83296"/>
            <a:ext cx="525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nodes are stored in an array</a:t>
            </a:r>
            <a:endParaRPr/>
          </a:p>
        </p:txBody>
      </p:sp>
      <p:grpSp>
        <p:nvGrpSpPr>
          <p:cNvPr id="529" name="Google Shape;529;p27"/>
          <p:cNvGrpSpPr/>
          <p:nvPr/>
        </p:nvGrpSpPr>
        <p:grpSpPr>
          <a:xfrm>
            <a:off x="990600" y="2552700"/>
            <a:ext cx="5181601" cy="1866900"/>
            <a:chOff x="336" y="1368"/>
            <a:chExt cx="3264" cy="1176"/>
          </a:xfrm>
        </p:grpSpPr>
        <p:cxnSp>
          <p:nvCxnSpPr>
            <p:cNvPr id="530" name="Google Shape;530;p27"/>
            <p:cNvCxnSpPr/>
            <p:nvPr/>
          </p:nvCxnSpPr>
          <p:spPr>
            <a:xfrm>
              <a:off x="3312" y="1632"/>
              <a:ext cx="96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1" name="Google Shape;531;p27"/>
            <p:cNvCxnSpPr/>
            <p:nvPr/>
          </p:nvCxnSpPr>
          <p:spPr>
            <a:xfrm>
              <a:off x="2832" y="1632"/>
              <a:ext cx="0" cy="5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2" name="Google Shape;532;p27"/>
            <p:cNvCxnSpPr/>
            <p:nvPr/>
          </p:nvCxnSpPr>
          <p:spPr>
            <a:xfrm flipH="1">
              <a:off x="2400" y="1632"/>
              <a:ext cx="48" cy="48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3" name="Google Shape;533;p27"/>
            <p:cNvCxnSpPr/>
            <p:nvPr/>
          </p:nvCxnSpPr>
          <p:spPr>
            <a:xfrm>
              <a:off x="1488" y="1632"/>
              <a:ext cx="192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4" name="Google Shape;534;p27"/>
            <p:cNvCxnSpPr/>
            <p:nvPr/>
          </p:nvCxnSpPr>
          <p:spPr>
            <a:xfrm>
              <a:off x="1104" y="1632"/>
              <a:ext cx="240" cy="6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5" name="Google Shape;535;p27"/>
            <p:cNvCxnSpPr/>
            <p:nvPr/>
          </p:nvCxnSpPr>
          <p:spPr>
            <a:xfrm>
              <a:off x="624" y="1632"/>
              <a:ext cx="480" cy="5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36" name="Google Shape;536;p27"/>
            <p:cNvGrpSpPr/>
            <p:nvPr/>
          </p:nvGrpSpPr>
          <p:grpSpPr>
            <a:xfrm>
              <a:off x="336" y="1368"/>
              <a:ext cx="3264" cy="480"/>
              <a:chOff x="336" y="1608"/>
              <a:chExt cx="3264" cy="480"/>
            </a:xfrm>
          </p:grpSpPr>
          <p:sp>
            <p:nvSpPr>
              <p:cNvPr id="537" name="Google Shape;537;p27"/>
              <p:cNvSpPr/>
              <p:nvPr/>
            </p:nvSpPr>
            <p:spPr>
              <a:xfrm>
                <a:off x="336" y="1608"/>
                <a:ext cx="3264" cy="48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Helvetica Neue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7"/>
              <p:cNvSpPr/>
              <p:nvPr/>
            </p:nvSpPr>
            <p:spPr>
              <a:xfrm>
                <a:off x="480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27"/>
              <p:cNvSpPr/>
              <p:nvPr/>
            </p:nvSpPr>
            <p:spPr>
              <a:xfrm>
                <a:off x="912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27"/>
              <p:cNvSpPr/>
              <p:nvPr/>
            </p:nvSpPr>
            <p:spPr>
              <a:xfrm>
                <a:off x="1344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27"/>
              <p:cNvSpPr/>
              <p:nvPr/>
            </p:nvSpPr>
            <p:spPr>
              <a:xfrm>
                <a:off x="2256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2688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27"/>
              <p:cNvSpPr/>
              <p:nvPr/>
            </p:nvSpPr>
            <p:spPr>
              <a:xfrm>
                <a:off x="3120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7"/>
              <p:cNvSpPr txBox="1"/>
              <p:nvPr/>
            </p:nvSpPr>
            <p:spPr>
              <a:xfrm>
                <a:off x="1824" y="1680"/>
                <a:ext cx="30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/>
              </a:p>
            </p:txBody>
          </p:sp>
        </p:grpSp>
        <p:sp>
          <p:nvSpPr>
            <p:cNvPr id="545" name="Google Shape;545;p27"/>
            <p:cNvSpPr txBox="1"/>
            <p:nvPr/>
          </p:nvSpPr>
          <p:spPr>
            <a:xfrm>
              <a:off x="1996" y="2256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46" name="Google Shape;546;p27"/>
          <p:cNvSpPr/>
          <p:nvPr/>
        </p:nvSpPr>
        <p:spPr>
          <a:xfrm>
            <a:off x="647700" y="4114800"/>
            <a:ext cx="6019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rank(node) be defined as follows: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rank(root) = 1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is the left child of parent(node), 	rank(node) = 2*rank(parent(node))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is the right child of parent(node), 	rank(node) = 2*rank(parent(node))+1</a:t>
            </a:r>
            <a:endParaRPr dirty="0"/>
          </a:p>
        </p:txBody>
      </p:sp>
      <p:sp>
        <p:nvSpPr>
          <p:cNvPr id="547" name="Google Shape;547;p27"/>
          <p:cNvSpPr txBox="1"/>
          <p:nvPr/>
        </p:nvSpPr>
        <p:spPr>
          <a:xfrm>
            <a:off x="6934200" y="2133600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548" name="Google Shape;548;p27"/>
          <p:cNvSpPr txBox="1"/>
          <p:nvPr/>
        </p:nvSpPr>
        <p:spPr>
          <a:xfrm>
            <a:off x="6254750" y="3338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549" name="Google Shape;549;p27"/>
          <p:cNvSpPr txBox="1"/>
          <p:nvPr/>
        </p:nvSpPr>
        <p:spPr>
          <a:xfrm>
            <a:off x="8083550" y="3338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550" name="Google Shape;550;p27"/>
          <p:cNvSpPr txBox="1"/>
          <p:nvPr/>
        </p:nvSpPr>
        <p:spPr>
          <a:xfrm>
            <a:off x="74739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8540750" y="4495800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52" name="Google Shape;552;p27"/>
          <p:cNvSpPr txBox="1"/>
          <p:nvPr/>
        </p:nvSpPr>
        <p:spPr>
          <a:xfrm>
            <a:off x="58737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553" name="Google Shape;553;p27"/>
          <p:cNvSpPr txBox="1"/>
          <p:nvPr/>
        </p:nvSpPr>
        <p:spPr>
          <a:xfrm>
            <a:off x="70929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554" name="Google Shape;554;p27"/>
          <p:cNvSpPr txBox="1"/>
          <p:nvPr/>
        </p:nvSpPr>
        <p:spPr>
          <a:xfrm>
            <a:off x="6254750" y="5776913"/>
            <a:ext cx="412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  <p:sp>
        <p:nvSpPr>
          <p:cNvPr id="555" name="Google Shape;555;p27"/>
          <p:cNvSpPr txBox="1"/>
          <p:nvPr/>
        </p:nvSpPr>
        <p:spPr>
          <a:xfrm>
            <a:off x="7416800" y="5776913"/>
            <a:ext cx="412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/>
          </a:p>
        </p:txBody>
      </p:sp>
      <p:grpSp>
        <p:nvGrpSpPr>
          <p:cNvPr id="556" name="Google Shape;556;p27"/>
          <p:cNvGrpSpPr/>
          <p:nvPr/>
        </p:nvGrpSpPr>
        <p:grpSpPr>
          <a:xfrm>
            <a:off x="6066496" y="1811032"/>
            <a:ext cx="2581275" cy="4060825"/>
            <a:chOff x="4042" y="1378"/>
            <a:chExt cx="1626" cy="2558"/>
          </a:xfrm>
        </p:grpSpPr>
        <p:sp>
          <p:nvSpPr>
            <p:cNvPr id="557" name="Google Shape;557;p27"/>
            <p:cNvSpPr/>
            <p:nvPr/>
          </p:nvSpPr>
          <p:spPr>
            <a:xfrm>
              <a:off x="4704" y="1378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4754" y="3682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</a:t>
              </a: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4322" y="3682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</a:t>
              </a: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4527" y="2900"/>
              <a:ext cx="210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4042" y="2900"/>
              <a:ext cx="220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5138" y="2146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5014" y="2898"/>
              <a:ext cx="229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4305" y="2128"/>
              <a:ext cx="248" cy="276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cxnSp>
          <p:nvCxnSpPr>
            <p:cNvPr id="565" name="Google Shape;565;p27"/>
            <p:cNvCxnSpPr>
              <a:stCxn id="557" idx="4"/>
              <a:endCxn id="564" idx="0"/>
            </p:cNvCxnSpPr>
            <p:nvPr/>
          </p:nvCxnSpPr>
          <p:spPr>
            <a:xfrm flipH="1">
              <a:off x="4429" y="1632"/>
              <a:ext cx="393" cy="4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6" name="Google Shape;566;p27"/>
            <p:cNvCxnSpPr>
              <a:stCxn id="562" idx="4"/>
              <a:endCxn id="563" idx="0"/>
            </p:cNvCxnSpPr>
            <p:nvPr/>
          </p:nvCxnSpPr>
          <p:spPr>
            <a:xfrm flipH="1">
              <a:off x="5129" y="2400"/>
              <a:ext cx="128" cy="49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7" name="Google Shape;567;p27"/>
            <p:cNvCxnSpPr>
              <a:stCxn id="557" idx="4"/>
              <a:endCxn id="562" idx="1"/>
            </p:cNvCxnSpPr>
            <p:nvPr/>
          </p:nvCxnSpPr>
          <p:spPr>
            <a:xfrm>
              <a:off x="4823" y="1632"/>
              <a:ext cx="350" cy="55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8" name="Google Shape;568;p27"/>
            <p:cNvCxnSpPr>
              <a:stCxn id="564" idx="4"/>
              <a:endCxn id="561" idx="7"/>
            </p:cNvCxnSpPr>
            <p:nvPr/>
          </p:nvCxnSpPr>
          <p:spPr>
            <a:xfrm flipH="1">
              <a:off x="4230" y="2404"/>
              <a:ext cx="199" cy="53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9" name="Google Shape;569;p27"/>
            <p:cNvCxnSpPr>
              <a:stCxn id="564" idx="4"/>
              <a:endCxn id="560" idx="0"/>
            </p:cNvCxnSpPr>
            <p:nvPr/>
          </p:nvCxnSpPr>
          <p:spPr>
            <a:xfrm>
              <a:off x="4429" y="2404"/>
              <a:ext cx="203" cy="4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0" name="Google Shape;570;p27"/>
            <p:cNvCxnSpPr>
              <a:stCxn id="560" idx="4"/>
              <a:endCxn id="559" idx="0"/>
            </p:cNvCxnSpPr>
            <p:nvPr/>
          </p:nvCxnSpPr>
          <p:spPr>
            <a:xfrm flipH="1">
              <a:off x="4441" y="3154"/>
              <a:ext cx="192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1" name="Google Shape;571;p27"/>
            <p:cNvCxnSpPr>
              <a:stCxn id="560" idx="4"/>
              <a:endCxn id="558" idx="0"/>
            </p:cNvCxnSpPr>
            <p:nvPr/>
          </p:nvCxnSpPr>
          <p:spPr>
            <a:xfrm>
              <a:off x="4632" y="3154"/>
              <a:ext cx="240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72" name="Google Shape;572;p27"/>
            <p:cNvSpPr/>
            <p:nvPr/>
          </p:nvSpPr>
          <p:spPr>
            <a:xfrm>
              <a:off x="5422" y="2900"/>
              <a:ext cx="246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J</a:t>
              </a:r>
              <a:endParaRPr/>
            </a:p>
          </p:txBody>
        </p:sp>
        <p:cxnSp>
          <p:nvCxnSpPr>
            <p:cNvPr id="573" name="Google Shape;573;p27"/>
            <p:cNvCxnSpPr>
              <a:stCxn id="562" idx="4"/>
              <a:endCxn id="572" idx="0"/>
            </p:cNvCxnSpPr>
            <p:nvPr/>
          </p:nvCxnSpPr>
          <p:spPr>
            <a:xfrm>
              <a:off x="5257" y="2400"/>
              <a:ext cx="289" cy="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574" name="Google Shape;574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E47AA230-9A72-475E-A1BE-7FE5831AB9AF}"/>
  <p:tag name="ISPRING_RESOURCE_FOLDER" val="C:\Users\Administrator\Documents\CTDL&amp;GT\Cai tien MH CTDL_GT\CTDL_GT\Slides and exercises\Lecture05_trees\Lecture 5_trees_part1\"/>
  <p:tag name="ISPRING_PRESENTATION_PATH" val="C:\Users\Administrator\Documents\CTDL&amp;GT\Cai tien MH CTDL_GT\CTDL_GT\Slides and exercises\Lecture05_trees\Lecture 5_trees_part1.pptx"/>
  <p:tag name="ISPRING_PROJECT_VERSION" val="9"/>
  <p:tag name="ISPRING_PROJECT_FOLDER_UPDATED" val="1"/>
  <p:tag name="ISPRING_SCREEN_RECS_UPDATED" val="C:\Users\Administrator\Documents\CTDL&amp;GT\Cai tien MH CTDL_GT\CTDL_GT\Slides and exercises\Lecture05_trees\Lecture 5_trees_part1\"/>
  <p:tag name="FLASHSPRING_ZOOM_TAG" val="71"/>
  <p:tag name="ISPRING_PRESENTATION_INFO_2" val="&lt;?xml version=&quot;1.0&quot; encoding=&quot;UTF-8&quot; standalone=&quot;no&quot; ?&gt;&#10;&lt;presentation2&gt;&#10;&#10;  &lt;slides&gt;&#10;    &lt;slide id=&quot;{83306AA3-CE60-49C8-92C8-3C4AB3736050}&quot; pptId=&quot;256&quot;/&gt;&#10;    &lt;slide id=&quot;{85F72993-BF71-47F3-A88F-3FBDAA491373}&quot; pptId=&quot;257&quot;/&gt;&#10;    &lt;slide id=&quot;{5DFE6486-9F07-4101-8F82-A42AD7073181}&quot; pptId=&quot;258&quot;/&gt;&#10;    &lt;slide id=&quot;{7570E9BD-4BDA-4CF2-BB06-B1695C81603E}&quot; pptId=&quot;259&quot;/&gt;&#10;    &lt;slide id=&quot;{75C5ED39-8EF8-4B57-9634-A26D5D9B4837}&quot; pptId=&quot;260&quot;/&gt;&#10;    &lt;slide id=&quot;{4CA7B87A-6A1A-41DD-98BD-60D301DFFE93}&quot; pptId=&quot;261&quot;/&gt;&#10;    &lt;slide id=&quot;{D1CDCDD0-A860-47AD-8E6F-53B1079C9D6A}&quot; pptId=&quot;262&quot;/&gt;&#10;    &lt;slide id=&quot;{7332347E-9925-44B0-8FFD-2AD7250CEEC3}&quot; pptId=&quot;263&quot;/&gt;&#10;    &lt;slide id=&quot;{559F14B0-276E-4165-9D3B-79879ABB202A}&quot; pptId=&quot;264&quot;/&gt;&#10;    &lt;slide id=&quot;{59B52398-64FB-49C6-9CF5-0C3E8A400194}&quot; pptId=&quot;265&quot;/&gt;&#10;    &lt;slide id=&quot;{E4FFF1B1-9744-458D-9627-D24AB2B114D4}&quot; pptId=&quot;266&quot;/&gt;&#10;    &lt;slide id=&quot;{3B3D5DB1-E24A-43CB-A270-D4EBC3F9EAB3}&quot; pptId=&quot;267&quot;/&gt;&#10;    &lt;slide id=&quot;{F57C4D10-B2F1-4E14-8B70-38A72E2002EB}&quot; pptId=&quot;268&quot;/&gt;&#10;    &lt;slide id=&quot;{0302C12B-0B8E-4E0D-AC3C-878DF5FD3ECD}&quot; pptId=&quot;269&quot;/&gt;&#10;    &lt;slide id=&quot;{CBB2F633-9661-4238-87B5-91C8E3C5F926}&quot; pptId=&quot;270&quot;/&gt;&#10;  &lt;/slides&gt;&#10;&#10;  &lt;narration&gt;&#10;    &lt;audioTracks&gt;&#10;      &lt;audioTrack muted=&quot;false&quot; name=&quot;Lecture 5&quot; resource=&quot;9eb04dc5&quot; slideId=&quot;{83306AA3-CE60-49C8-92C8-3C4AB3736050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A3D20F1-8BBB-4BD5-B5F6-848E557B0438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5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5_trees_part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3306AA3-CE60-49C8-92C8-3C4AB3736050}"/>
  <p:tag name="GENSWF_ADVANCE_TIME" val="3.578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5F72993-BF71-47F3-A88F-3FBDAA491373}"/>
  <p:tag name="GENSWF_ADVANCE_TIME" val="28.30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DFE6486-9F07-4101-8F82-A42AD7073181}"/>
  <p:tag name="GENSWF_ADVANCE_TIME" val="29.095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570E9BD-4BDA-4CF2-BB06-B1695C81603E}"/>
  <p:tag name="GENSWF_ADVANCE_TIME" val="12.426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5C5ED39-8EF8-4B57-9634-A26D5D9B4837}"/>
  <p:tag name="GENSWF_ADVANCE_TIME" val="16.929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CA7B87A-6A1A-41DD-98BD-60D301DFFE93}"/>
  <p:tag name="GENSWF_ADVANCE_TIME" val="28.937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1CDCDD0-A860-47AD-8E6F-53B1079C9D6A}"/>
  <p:tag name="GENSWF_ADVANCE_TIME" val="36.521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332347E-9925-44B0-8FFD-2AD7250CEEC3}"/>
  <p:tag name="GENSWF_ADVANCE_TIME" val="4.21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59F14B0-276E-4165-9D3B-79879ABB202A}"/>
  <p:tag name="GENSWF_ADVANCE_TIME" val="14.954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9B52398-64FB-49C6-9CF5-0C3E8A400194}"/>
  <p:tag name="GENSWF_ADVANCE_TIME" val="5.94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4FFF1B1-9744-458D-9627-D24AB2B114D4}"/>
  <p:tag name="GENSWF_ADVANCE_TIME" val="10.53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B3D5DB1-E24A-43CB-A270-D4EBC3F9EAB3}"/>
  <p:tag name="GENSWF_ADVANCE_TIME" val="10.372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57C4D10-B2F1-4E14-8B70-38A72E2002EB}"/>
  <p:tag name="GENSWF_ADVANCE_TIME" val="5.869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302C12B-0B8E-4E0D-AC3C-878DF5FD3ECD}"/>
  <p:tag name="GENSWF_ADVANCE_TIME" val="9.661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BB2F633-9661-4238-87B5-91C8E3C5F926}"/>
  <p:tag name="GENSWF_ADVANCE_TIME" val="12.46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741</Words>
  <Application>Microsoft Office PowerPoint</Application>
  <PresentationFormat>On-screen Show (4:3)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Helvetica Neue</vt:lpstr>
      <vt:lpstr>Times New Roman</vt:lpstr>
      <vt:lpstr>Noto Sans Symbols</vt:lpstr>
      <vt:lpstr>Calibri</vt:lpstr>
      <vt:lpstr>1_Koi</vt:lpstr>
      <vt:lpstr>Data Structures and Algorithms </vt:lpstr>
      <vt:lpstr>What is a Tree</vt:lpstr>
      <vt:lpstr>Tree Terminology</vt:lpstr>
      <vt:lpstr>List of Children Tree Presentation</vt:lpstr>
      <vt:lpstr>Depth</vt:lpstr>
      <vt:lpstr>Preorder Traversal</vt:lpstr>
      <vt:lpstr>Postorder Traversal</vt:lpstr>
      <vt:lpstr>Exercise 1</vt:lpstr>
      <vt:lpstr>Binary Trees</vt:lpstr>
      <vt:lpstr>Decision Tree</vt:lpstr>
      <vt:lpstr>Inorder Traversal</vt:lpstr>
      <vt:lpstr>Print Arithmetic Expressions</vt:lpstr>
      <vt:lpstr>Balanced binary tree</vt:lpstr>
      <vt:lpstr>Linked Structure for Binary Trees</vt:lpstr>
      <vt:lpstr>Array-Based Representation of Binary Trees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5_trees_part1</dc:title>
  <cp:lastModifiedBy>DHQG</cp:lastModifiedBy>
  <cp:revision>11</cp:revision>
  <dcterms:modified xsi:type="dcterms:W3CDTF">2019-03-22T12:38:35Z</dcterms:modified>
</cp:coreProperties>
</file>