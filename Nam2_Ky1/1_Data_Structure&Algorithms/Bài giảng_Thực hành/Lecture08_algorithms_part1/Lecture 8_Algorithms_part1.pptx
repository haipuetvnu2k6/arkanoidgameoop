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275" r:id="rId51"/>
    <p:sldId id="276" r:id="rId52"/>
  </p:sldIdLst>
  <p:sldSz cx="9144000" cy="6858000" type="screen4x3"/>
  <p:notesSz cx="7099300" cy="10234613"/>
  <p:embeddedFontLst>
    <p:embeddedFont>
      <p:font typeface="Helvetica Neue" charset="0"/>
      <p:regular r:id="rId54"/>
      <p:bold r:id="rId55"/>
      <p:italic r:id="rId56"/>
      <p:boldItalic r:id="rId57"/>
    </p:embeddedFont>
    <p:embeddedFont>
      <p:font typeface="Calibri" pitchFamily="34" charset="0"/>
      <p:regular r:id="rId58"/>
      <p:bold r:id="rId59"/>
      <p:italic r:id="rId60"/>
      <p:boldItalic r:id="rId61"/>
    </p:embeddedFont>
    <p:embeddedFont>
      <p:font typeface="Tahoma" pitchFamily="34" charset="0"/>
      <p:regular r:id="rId62"/>
      <p:bold r:id="rId63"/>
    </p:embeddedFont>
    <p:embeddedFont>
      <p:font typeface="Helvetica" pitchFamily="34" charset="0"/>
      <p:regular r:id="rId64"/>
      <p:bold r:id="rId65"/>
      <p:italic r:id="rId66"/>
      <p:boldItalic r:id="rId67"/>
    </p:embeddedFont>
    <p:embeddedFont>
      <p:font typeface="ＭＳ Ｐゴシック" pitchFamily="34" charset="-128"/>
      <p:regular r:id="rId68"/>
    </p:embeddedFont>
  </p:embeddedFontLst>
  <p:custDataLst>
    <p:tags r:id="rId69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7B1CF65D-FCD2-4DD9-9065-E694EA928A95}">
  <a:tblStyle styleId="{7B1CF65D-FCD2-4DD9-9065-E694EA928A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63" Type="http://schemas.openxmlformats.org/officeDocument/2006/relationships/font" Target="fonts/font10.fntdata"/><Relationship Id="rId68" Type="http://schemas.openxmlformats.org/officeDocument/2006/relationships/font" Target="fonts/font15.fntdata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66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61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7.fntdata"/><Relationship Id="rId65" Type="http://schemas.openxmlformats.org/officeDocument/2006/relationships/font" Target="fonts/font12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64" Type="http://schemas.openxmlformats.org/officeDocument/2006/relationships/font" Target="fonts/font11.fntdata"/><Relationship Id="rId69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6.fntdata"/><Relationship Id="rId67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font" Target="fonts/font9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6598255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Merge Sort</a:t>
            </a:r>
            <a:endParaRPr/>
          </a:p>
        </p:txBody>
      </p:sp>
      <p:sp>
        <p:nvSpPr>
          <p:cNvPr id="191" name="Google Shape;191;p6:notes"/>
          <p:cNvSpPr txBox="1">
            <a:spLocks noGrp="1"/>
          </p:cNvSpPr>
          <p:nvPr>
            <p:ph type="dt" idx="10"/>
          </p:nvPr>
        </p:nvSpPr>
        <p:spPr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5/26/18 09:54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4" name="Google Shape;194;p6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3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5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6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7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8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9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0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algorithms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914400" y="434340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Technology and Engineering</a:t>
            </a:r>
            <a:endParaRPr/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Vietnam National University Hanoi</a:t>
            </a:r>
            <a:endParaRPr/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Outlines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1"/>
          </p:nvPr>
        </p:nvSpPr>
        <p:spPr>
          <a:xfrm>
            <a:off x="914400" y="2133600"/>
            <a:ext cx="71628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AutoNum type="arabicPeriod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Divide and conquer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AutoNum type="arabicPeriod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programming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AutoNum type="arabicPeriod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Greedy algorithms</a:t>
            </a:r>
            <a:endParaRPr/>
          </a:p>
          <a:p>
            <a:pPr marL="457200" marR="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Divide-and-Conquer 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20574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Divide-and conquer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general algorithm design paradigm: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Divide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divide the input data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two disjoint subsets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solve the subproblems associated with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Conquer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combine the solutions for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into a solution for </a:t>
            </a: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108" name="Google Shape;108;p15" descr="Rectangle: Click to edit Master text styles&#10;Second level&#10;Third level&#10;Fourth level&#10;Fifth level"/>
          <p:cNvSpPr txBox="1">
            <a:spLocks noGrp="1"/>
          </p:cNvSpPr>
          <p:nvPr>
            <p:ph type="body" idx="2"/>
          </p:nvPr>
        </p:nvSpPr>
        <p:spPr>
          <a:xfrm>
            <a:off x="4953000" y="2057400"/>
            <a:ext cx="36576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base case for the recursion are subproblems of size 0 or 1</a:t>
            </a:r>
            <a:endParaRPr/>
          </a:p>
          <a:p>
            <a:pPr marL="342900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Merge-sort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sorting algorithm based on the divide-and-conquer paradigm </a:t>
            </a:r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Search Algorithm</a:t>
            </a:r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body" idx="1"/>
          </p:nvPr>
        </p:nvSpPr>
        <p:spPr>
          <a:xfrm>
            <a:off x="609600" y="1828800"/>
            <a:ext cx="7772400" cy="470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Problem: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Given a list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sorted increasingly. Your task is to write a function to check if an item X is in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 sz="20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Algorithm: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1: 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 A is empty, return False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Else: compare X with Y which is the item at the middle of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2: 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X = Y, return True. 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X &lt; Y, search on the left half of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X &gt; Y, search on the right half of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sz="20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O(log n)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endParaRPr/>
          </a:p>
        </p:txBody>
      </p:sp>
      <p:cxnSp>
        <p:nvCxnSpPr>
          <p:cNvPr id="122" name="Google Shape;122;p17"/>
          <p:cNvCxnSpPr/>
          <p:nvPr/>
        </p:nvCxnSpPr>
        <p:spPr>
          <a:xfrm>
            <a:off x="1249363" y="2903538"/>
            <a:ext cx="699135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" name="Google Shape;123;p17"/>
          <p:cNvSpPr/>
          <p:nvPr/>
        </p:nvSpPr>
        <p:spPr>
          <a:xfrm>
            <a:off x="153511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214471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275431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336391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397351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4583113" y="2751138"/>
            <a:ext cx="304800" cy="304800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519271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580231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641191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702151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763111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824071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cxnSp>
        <p:nvCxnSpPr>
          <p:cNvPr id="135" name="Google Shape;135;p17"/>
          <p:cNvCxnSpPr/>
          <p:nvPr/>
        </p:nvCxnSpPr>
        <p:spPr>
          <a:xfrm>
            <a:off x="1096963" y="3513138"/>
            <a:ext cx="714375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" name="Google Shape;136;p17"/>
          <p:cNvSpPr/>
          <p:nvPr/>
        </p:nvSpPr>
        <p:spPr>
          <a:xfrm>
            <a:off x="1535113" y="33607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2144713" y="3360738"/>
            <a:ext cx="304800" cy="304800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2754313" y="33607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363913" y="33607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3973513" y="33607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4583113" y="33607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192713" y="33607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802313" y="33607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6411913" y="33607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7021513" y="33607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7631113" y="33607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8240713" y="33607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cxnSp>
        <p:nvCxnSpPr>
          <p:cNvPr id="148" name="Google Shape;148;p17"/>
          <p:cNvCxnSpPr/>
          <p:nvPr/>
        </p:nvCxnSpPr>
        <p:spPr>
          <a:xfrm>
            <a:off x="1173163" y="4122738"/>
            <a:ext cx="706755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" name="Google Shape;149;p17"/>
          <p:cNvSpPr/>
          <p:nvPr/>
        </p:nvSpPr>
        <p:spPr>
          <a:xfrm>
            <a:off x="1535113" y="39703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2144713" y="39703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2754313" y="39703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3363913" y="3970338"/>
            <a:ext cx="304800" cy="304800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3973513" y="39703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4583113" y="39703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192713" y="39703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802313" y="39703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6411913" y="39703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7021513" y="39703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7631113" y="39703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8240713" y="39703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cxnSp>
        <p:nvCxnSpPr>
          <p:cNvPr id="161" name="Google Shape;161;p17"/>
          <p:cNvCxnSpPr/>
          <p:nvPr/>
        </p:nvCxnSpPr>
        <p:spPr>
          <a:xfrm>
            <a:off x="1249363" y="4732338"/>
            <a:ext cx="699135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17"/>
          <p:cNvSpPr/>
          <p:nvPr/>
        </p:nvSpPr>
        <p:spPr>
          <a:xfrm>
            <a:off x="1535113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2144713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2754313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3363913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3973513" y="4579938"/>
            <a:ext cx="304800" cy="304800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4583113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5192713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802313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6411913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7021513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7631113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8240713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944563" y="27511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944563" y="3360738"/>
            <a:ext cx="304800" cy="304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944563" y="39703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954088" y="4579938"/>
            <a:ext cx="304800" cy="304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4559300" y="2997200"/>
            <a:ext cx="3429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44563" y="2998788"/>
            <a:ext cx="2413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8259763" y="2997200"/>
            <a:ext cx="265112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2116138" y="3617913"/>
            <a:ext cx="3429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944563" y="3619500"/>
            <a:ext cx="2413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3973513" y="3617913"/>
            <a:ext cx="265112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3354388" y="4238625"/>
            <a:ext cx="3429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2773363" y="4240213"/>
            <a:ext cx="2413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3973513" y="4238625"/>
            <a:ext cx="3048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3725863" y="4854575"/>
            <a:ext cx="785812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16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lang="en-US" sz="16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 txBox="1">
            <a:spLocks noGrp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Merge Sort</a:t>
            </a:r>
            <a:endParaRPr/>
          </a:p>
        </p:txBody>
      </p:sp>
      <p:grpSp>
        <p:nvGrpSpPr>
          <p:cNvPr id="197" name="Google Shape;197;p18"/>
          <p:cNvGrpSpPr/>
          <p:nvPr/>
        </p:nvGrpSpPr>
        <p:grpSpPr>
          <a:xfrm>
            <a:off x="3352800" y="3322638"/>
            <a:ext cx="4486275" cy="2011362"/>
            <a:chOff x="1608" y="1824"/>
            <a:chExt cx="3426" cy="1536"/>
          </a:xfrm>
        </p:grpSpPr>
        <p:sp>
          <p:nvSpPr>
            <p:cNvPr id="198" name="Google Shape;198;p18"/>
            <p:cNvSpPr/>
            <p:nvPr/>
          </p:nvSpPr>
          <p:spPr>
            <a:xfrm>
              <a:off x="2160" y="1824"/>
              <a:ext cx="2304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7  2 </a:t>
              </a:r>
              <a:r>
                <a:rPr lang="en-US" sz="1800" b="1" i="0" u="none" strike="noStrike" cap="none">
                  <a:solidFill>
                    <a:schemeClr val="dk2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⏐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9  4  </a:t>
              </a:r>
              <a:r>
                <a:rPr lang="en-US" sz="18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r>
                <a:rPr lang="en-US" sz="1800" b="0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2  4  7  9</a:t>
              </a:r>
              <a:endParaRPr/>
            </a:p>
          </p:txBody>
        </p:sp>
        <p:sp>
          <p:nvSpPr>
            <p:cNvPr id="199" name="Google Shape;199;p18"/>
            <p:cNvSpPr/>
            <p:nvPr/>
          </p:nvSpPr>
          <p:spPr>
            <a:xfrm>
              <a:off x="1680" y="2400"/>
              <a:ext cx="1344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 </a:t>
              </a:r>
              <a:r>
                <a:rPr lang="en-US" sz="1800" b="1" i="0" u="none" strike="noStrike" cap="none">
                  <a:solidFill>
                    <a:schemeClr val="dk2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⏐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2  </a:t>
              </a:r>
              <a:r>
                <a:rPr lang="en-US" sz="18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r>
                <a:rPr lang="en-US" sz="1800" b="0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2  7</a:t>
              </a:r>
              <a:endParaRPr/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3600" y="2400"/>
              <a:ext cx="1344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 </a:t>
              </a:r>
              <a:r>
                <a:rPr lang="en-US" sz="1800" b="1" i="0" u="none" strike="noStrike" cap="none">
                  <a:solidFill>
                    <a:schemeClr val="dk2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⏐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4  </a:t>
              </a:r>
              <a:r>
                <a:rPr lang="en-US" sz="18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r>
                <a:rPr lang="en-US" sz="1800" b="0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4  9</a:t>
              </a:r>
              <a:endParaRPr/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1608" y="2976"/>
              <a:ext cx="64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 </a:t>
              </a:r>
              <a:r>
                <a:rPr lang="en-US" sz="18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800" b="0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202" name="Google Shape;202;p18"/>
            <p:cNvSpPr/>
            <p:nvPr/>
          </p:nvSpPr>
          <p:spPr>
            <a:xfrm>
              <a:off x="2496" y="2976"/>
              <a:ext cx="624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 </a:t>
              </a:r>
              <a:r>
                <a:rPr lang="en-US" sz="18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800" b="0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03" name="Google Shape;203;p18"/>
            <p:cNvSpPr/>
            <p:nvPr/>
          </p:nvSpPr>
          <p:spPr>
            <a:xfrm>
              <a:off x="3522" y="2976"/>
              <a:ext cx="636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 </a:t>
              </a:r>
              <a:r>
                <a:rPr lang="en-US" sz="18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800" b="0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204" name="Google Shape;204;p18"/>
            <p:cNvSpPr/>
            <p:nvPr/>
          </p:nvSpPr>
          <p:spPr>
            <a:xfrm>
              <a:off x="4416" y="2976"/>
              <a:ext cx="61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 </a:t>
              </a:r>
              <a:r>
                <a:rPr lang="en-US" sz="18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800" b="0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cxnSp>
          <p:nvCxnSpPr>
            <p:cNvPr id="205" name="Google Shape;205;p18"/>
            <p:cNvCxnSpPr>
              <a:stCxn id="199" idx="0"/>
              <a:endCxn id="198" idx="2"/>
            </p:cNvCxnSpPr>
            <p:nvPr/>
          </p:nvCxnSpPr>
          <p:spPr>
            <a:xfrm rot="10800000" flipH="1">
              <a:off x="2352" y="2100"/>
              <a:ext cx="9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Google Shape;206;p18"/>
            <p:cNvCxnSpPr>
              <a:stCxn id="200" idx="0"/>
              <a:endCxn id="198" idx="2"/>
            </p:cNvCxnSpPr>
            <p:nvPr/>
          </p:nvCxnSpPr>
          <p:spPr>
            <a:xfrm rot="10800000">
              <a:off x="3372" y="2100"/>
              <a:ext cx="9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18"/>
            <p:cNvCxnSpPr>
              <a:stCxn id="201" idx="0"/>
              <a:endCxn id="199" idx="2"/>
            </p:cNvCxnSpPr>
            <p:nvPr/>
          </p:nvCxnSpPr>
          <p:spPr>
            <a:xfrm rot="10800000" flipH="1">
              <a:off x="1932" y="2676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" name="Google Shape;208;p18"/>
            <p:cNvCxnSpPr>
              <a:stCxn id="203" idx="0"/>
              <a:endCxn id="200" idx="2"/>
            </p:cNvCxnSpPr>
            <p:nvPr/>
          </p:nvCxnSpPr>
          <p:spPr>
            <a:xfrm rot="10800000" flipH="1">
              <a:off x="3840" y="2676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" name="Google Shape;209;p18"/>
            <p:cNvCxnSpPr>
              <a:stCxn id="199" idx="2"/>
              <a:endCxn id="202" idx="0"/>
            </p:cNvCxnSpPr>
            <p:nvPr/>
          </p:nvCxnSpPr>
          <p:spPr>
            <a:xfrm>
              <a:off x="2352" y="2784"/>
              <a:ext cx="6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" name="Google Shape;210;p18"/>
            <p:cNvCxnSpPr>
              <a:stCxn id="200" idx="2"/>
              <a:endCxn id="204" idx="0"/>
            </p:cNvCxnSpPr>
            <p:nvPr/>
          </p:nvCxnSpPr>
          <p:spPr>
            <a:xfrm>
              <a:off x="4272" y="2784"/>
              <a:ext cx="6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1" name="Google Shape;211;p18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Merge-Sort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19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2057400"/>
            <a:ext cx="3810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Merge-sort on an input sequence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elements consists of three steps: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Divide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partition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into two sequences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about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/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elements each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recursively sort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Conquer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merge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into a unique sorted sequence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4724400" y="2057399"/>
            <a:ext cx="4094671" cy="352158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mergeSort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S, C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				elements, comparator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sorted</a:t>
            </a:r>
            <a:endParaRPr dirty="0"/>
          </a:p>
          <a:p>
            <a:pPr marL="3429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according to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000" b="0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S.size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</a:t>
            </a:r>
            <a:r>
              <a:rPr lang="en-US" sz="2000" b="1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dirty="0"/>
          </a:p>
          <a:p>
            <a:pPr marL="342900" marR="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(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baseline="-25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baseline="-25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partition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/2); </a:t>
            </a:r>
            <a:endParaRPr sz="2000" b="0" i="0" u="none" strike="noStrike" cap="none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1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mergeSort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baseline="-25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2000" b="0" i="0" u="none" strike="noStrike" cap="none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1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mergeSort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baseline="-25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2000" b="0" i="0" u="none" strike="noStrike" cap="none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000" b="0" i="0" u="none" strike="noStrike" cap="none" baseline="-25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</a:t>
            </a:r>
            <a:r>
              <a:rPr lang="en-US" sz="2000" b="0" i="0" u="none" strike="noStrike" cap="none" baseline="-25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2000" b="1" i="1" u="none" strike="noStrike" cap="none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Merging Two Sorted Sequences</a:t>
            </a:r>
            <a:endParaRPr/>
          </a:p>
        </p:txBody>
      </p:sp>
      <p:sp>
        <p:nvSpPr>
          <p:cNvPr id="225" name="Google Shape;225;p20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828800"/>
            <a:ext cx="28956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conquer step of merge-sort consists of merging two sorted sequences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into a sorted sequence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containing the union of the elements of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Merging two sorted sequences, each with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/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elements and implemented by means of a doubly linked list, takes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time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3913094" y="1828800"/>
            <a:ext cx="4876800" cy="46243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</a:t>
            </a:r>
            <a:r>
              <a:rPr lang="en-US"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 B</a:t>
            </a:r>
            <a:r>
              <a:rPr lang="en-US"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sequences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</a:t>
            </a:r>
            <a:b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/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elements each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sorted sequence of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0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</a:t>
            </a:r>
            <a:endParaRPr sz="18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160"/>
              </a:spcBef>
              <a:spcAft>
                <a:spcPts val="0"/>
              </a:spcAft>
              <a:buClr>
                <a:schemeClr val="hlink"/>
              </a:buClr>
              <a:buSzPts val="880"/>
              <a:buFont typeface="Noto Sans Symbols"/>
              <a:buNone/>
            </a:pPr>
            <a:endParaRPr sz="800" b="1" i="1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empty sequence</a:t>
            </a:r>
            <a:endParaRPr/>
          </a:p>
          <a:p>
            <a:pPr marL="342900" marR="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lang="en-US"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A.isEmpty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 </a:t>
            </a:r>
            <a:r>
              <a:rPr lang="en-US" sz="2000" b="1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∧</a:t>
            </a:r>
            <a:r>
              <a:rPr lang="en-US" sz="18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B.isEmpty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sz="18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A.first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.element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B.first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.element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/>
          </a:p>
          <a:p>
            <a:pPr marL="3429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S.insertLast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A.remove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A.first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()));</a:t>
            </a:r>
            <a:endParaRPr sz="18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endParaRPr sz="1800" b="0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S.insertLast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B.remove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B.first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()));</a:t>
            </a:r>
            <a:endParaRPr sz="18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lang="en-US"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A.isEmpty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		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S.insertLast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A.remove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A.first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()));</a:t>
            </a:r>
            <a:endParaRPr sz="18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lang="en-US"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¬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B.isEmpty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		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S.insertLast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B.remove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B.first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()));</a:t>
            </a:r>
            <a:endParaRPr sz="18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980"/>
              <a:buFont typeface="Noto Sans Symbol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</a:t>
            </a:r>
            <a:r>
              <a:rPr lang="en-US" sz="18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S;</a:t>
            </a:r>
            <a:endParaRPr sz="1800" b="1" i="1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Example</a:t>
            </a:r>
            <a:endParaRPr/>
          </a:p>
        </p:txBody>
      </p:sp>
      <p:sp>
        <p:nvSpPr>
          <p:cNvPr id="233" name="Google Shape;233;p21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76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Partition</a:t>
            </a:r>
            <a:endParaRPr/>
          </a:p>
        </p:txBody>
      </p:sp>
      <p:cxnSp>
        <p:nvCxnSpPr>
          <p:cNvPr id="234" name="Google Shape;234;p21"/>
          <p:cNvCxnSpPr>
            <a:stCxn id="235" idx="0"/>
            <a:endCxn id="236" idx="2"/>
          </p:cNvCxnSpPr>
          <p:nvPr/>
        </p:nvCxnSpPr>
        <p:spPr>
          <a:xfrm rot="10800000" flipH="1">
            <a:off x="1436688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21"/>
          <p:cNvCxnSpPr>
            <a:stCxn id="238" idx="0"/>
            <a:endCxn id="236" idx="2"/>
          </p:cNvCxnSpPr>
          <p:nvPr/>
        </p:nvCxnSpPr>
        <p:spPr>
          <a:xfrm rot="10800000">
            <a:off x="2505075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21"/>
          <p:cNvCxnSpPr>
            <a:stCxn id="240" idx="0"/>
            <a:endCxn id="235" idx="2"/>
          </p:cNvCxnSpPr>
          <p:nvPr/>
        </p:nvCxnSpPr>
        <p:spPr>
          <a:xfrm rot="10800000" flipH="1">
            <a:off x="9699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" name="Google Shape;241;p21"/>
          <p:cNvCxnSpPr>
            <a:stCxn id="242" idx="0"/>
            <a:endCxn id="238" idx="2"/>
          </p:cNvCxnSpPr>
          <p:nvPr/>
        </p:nvCxnSpPr>
        <p:spPr>
          <a:xfrm rot="10800000" flipH="1">
            <a:off x="3091656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3" name="Google Shape;243;p21"/>
          <p:cNvCxnSpPr>
            <a:stCxn id="235" idx="2"/>
            <a:endCxn id="244" idx="0"/>
          </p:cNvCxnSpPr>
          <p:nvPr/>
        </p:nvCxnSpPr>
        <p:spPr>
          <a:xfrm>
            <a:off x="1436688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" name="Google Shape;245;p21"/>
          <p:cNvCxnSpPr>
            <a:stCxn id="238" idx="2"/>
            <a:endCxn id="246" idx="0"/>
          </p:cNvCxnSpPr>
          <p:nvPr/>
        </p:nvCxnSpPr>
        <p:spPr>
          <a:xfrm>
            <a:off x="3571875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7" name="Google Shape;247;p21"/>
          <p:cNvGrpSpPr/>
          <p:nvPr/>
        </p:nvGrpSpPr>
        <p:grpSpPr>
          <a:xfrm>
            <a:off x="1223963" y="3617913"/>
            <a:ext cx="6981825" cy="427037"/>
            <a:chOff x="771" y="2764"/>
            <a:chExt cx="4398" cy="269"/>
          </a:xfrm>
        </p:grpSpPr>
        <p:sp>
          <p:nvSpPr>
            <p:cNvPr id="236" name="Google Shape;236;p21"/>
            <p:cNvSpPr/>
            <p:nvPr/>
          </p:nvSpPr>
          <p:spPr>
            <a:xfrm>
              <a:off x="771" y="2764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7  2  9  4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2  4  7  9</a:t>
              </a:r>
              <a:endParaRPr/>
            </a:p>
          </p:txBody>
        </p:sp>
        <p:sp>
          <p:nvSpPr>
            <p:cNvPr id="248" name="Google Shape;248;p21"/>
            <p:cNvSpPr/>
            <p:nvPr/>
          </p:nvSpPr>
          <p:spPr>
            <a:xfrm>
              <a:off x="3555" y="2764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3  8  6  1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1  3  8  6</a:t>
              </a:r>
              <a:endParaRPr/>
            </a:p>
          </p:txBody>
        </p:sp>
      </p:grpSp>
      <p:grpSp>
        <p:nvGrpSpPr>
          <p:cNvPr id="249" name="Google Shape;249;p21"/>
          <p:cNvGrpSpPr/>
          <p:nvPr/>
        </p:nvGrpSpPr>
        <p:grpSpPr>
          <a:xfrm>
            <a:off x="742950" y="4643438"/>
            <a:ext cx="7996238" cy="427037"/>
            <a:chOff x="468" y="3168"/>
            <a:chExt cx="5037" cy="269"/>
          </a:xfrm>
        </p:grpSpPr>
        <p:sp>
          <p:nvSpPr>
            <p:cNvPr id="235" name="Google Shape;235;p21"/>
            <p:cNvSpPr/>
            <p:nvPr/>
          </p:nvSpPr>
          <p:spPr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7  2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2  7</a:t>
              </a:r>
              <a:endParaRPr/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9  4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4  9</a:t>
              </a:r>
              <a:endParaRPr/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3  8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3  8</a:t>
              </a:r>
              <a:endParaRPr/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6  1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1  6</a:t>
              </a:r>
              <a:endParaRPr/>
            </a:p>
          </p:txBody>
        </p:sp>
      </p:grpSp>
      <p:grpSp>
        <p:nvGrpSpPr>
          <p:cNvPr id="252" name="Google Shape;252;p21"/>
          <p:cNvGrpSpPr/>
          <p:nvPr/>
        </p:nvGrpSpPr>
        <p:grpSpPr>
          <a:xfrm>
            <a:off x="609600" y="5668963"/>
            <a:ext cx="8229600" cy="427037"/>
            <a:chOff x="384" y="3571"/>
            <a:chExt cx="5184" cy="269"/>
          </a:xfrm>
        </p:grpSpPr>
        <p:sp>
          <p:nvSpPr>
            <p:cNvPr id="240" name="Google Shape;240;p21"/>
            <p:cNvSpPr/>
            <p:nvPr/>
          </p:nvSpPr>
          <p:spPr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7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7</a:t>
              </a:r>
              <a:endParaRPr/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2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2</a:t>
              </a:r>
              <a:endParaRPr/>
            </a:p>
          </p:txBody>
        </p:sp>
        <p:sp>
          <p:nvSpPr>
            <p:cNvPr id="242" name="Google Shape;242;p21"/>
            <p:cNvSpPr/>
            <p:nvPr/>
          </p:nvSpPr>
          <p:spPr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9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9</a:t>
              </a:r>
              <a:endParaRPr/>
            </a:p>
          </p:txBody>
        </p:sp>
        <p:sp>
          <p:nvSpPr>
            <p:cNvPr id="246" name="Google Shape;246;p21"/>
            <p:cNvSpPr/>
            <p:nvPr/>
          </p:nvSpPr>
          <p:spPr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4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4</a:t>
              </a:r>
              <a:endParaRPr/>
            </a:p>
          </p:txBody>
        </p:sp>
        <p:sp>
          <p:nvSpPr>
            <p:cNvPr id="253" name="Google Shape;253;p21"/>
            <p:cNvSpPr/>
            <p:nvPr/>
          </p:nvSpPr>
          <p:spPr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3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3</a:t>
              </a:r>
              <a:endParaRPr/>
            </a:p>
          </p:txBody>
        </p:sp>
        <p:sp>
          <p:nvSpPr>
            <p:cNvPr id="254" name="Google Shape;254;p21"/>
            <p:cNvSpPr/>
            <p:nvPr/>
          </p:nvSpPr>
          <p:spPr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8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8</a:t>
              </a:r>
              <a:endParaRPr/>
            </a:p>
          </p:txBody>
        </p:sp>
        <p:sp>
          <p:nvSpPr>
            <p:cNvPr id="255" name="Google Shape;255;p21"/>
            <p:cNvSpPr/>
            <p:nvPr/>
          </p:nvSpPr>
          <p:spPr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6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6</a:t>
              </a:r>
              <a:endParaRPr/>
            </a:p>
          </p:txBody>
        </p:sp>
        <p:sp>
          <p:nvSpPr>
            <p:cNvPr id="256" name="Google Shape;256;p21"/>
            <p:cNvSpPr/>
            <p:nvPr/>
          </p:nvSpPr>
          <p:spPr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1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1</a:t>
              </a:r>
              <a:endParaRPr/>
            </a:p>
          </p:txBody>
        </p:sp>
      </p:grpSp>
      <p:cxnSp>
        <p:nvCxnSpPr>
          <p:cNvPr id="257" name="Google Shape;257;p21"/>
          <p:cNvCxnSpPr>
            <a:stCxn id="250" idx="0"/>
            <a:endCxn id="248" idx="2"/>
          </p:cNvCxnSpPr>
          <p:nvPr/>
        </p:nvCxnSpPr>
        <p:spPr>
          <a:xfrm rot="10800000" flipH="1">
            <a:off x="5856288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" name="Google Shape;258;p21"/>
          <p:cNvCxnSpPr>
            <a:stCxn id="251" idx="0"/>
            <a:endCxn id="248" idx="2"/>
          </p:cNvCxnSpPr>
          <p:nvPr/>
        </p:nvCxnSpPr>
        <p:spPr>
          <a:xfrm rot="10800000">
            <a:off x="69246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9" name="Google Shape;259;p21"/>
          <p:cNvCxnSpPr>
            <a:stCxn id="253" idx="0"/>
            <a:endCxn id="250" idx="2"/>
          </p:cNvCxnSpPr>
          <p:nvPr/>
        </p:nvCxnSpPr>
        <p:spPr>
          <a:xfrm rot="10800000" flipH="1">
            <a:off x="5389563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0" name="Google Shape;260;p21"/>
          <p:cNvCxnSpPr>
            <a:stCxn id="255" idx="0"/>
            <a:endCxn id="251" idx="2"/>
          </p:cNvCxnSpPr>
          <p:nvPr/>
        </p:nvCxnSpPr>
        <p:spPr>
          <a:xfrm rot="10800000" flipH="1">
            <a:off x="7511256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" name="Google Shape;261;p21"/>
          <p:cNvCxnSpPr>
            <a:stCxn id="250" idx="2"/>
            <a:endCxn id="254" idx="0"/>
          </p:cNvCxnSpPr>
          <p:nvPr/>
        </p:nvCxnSpPr>
        <p:spPr>
          <a:xfrm>
            <a:off x="5856288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" name="Google Shape;262;p21"/>
          <p:cNvCxnSpPr>
            <a:stCxn id="251" idx="2"/>
            <a:endCxn id="256" idx="0"/>
          </p:cNvCxnSpPr>
          <p:nvPr/>
        </p:nvCxnSpPr>
        <p:spPr>
          <a:xfrm>
            <a:off x="79914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3" name="Google Shape;263;p21"/>
          <p:cNvSpPr/>
          <p:nvPr/>
        </p:nvSpPr>
        <p:spPr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7  2  9  4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3  8  6  1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1  2  3  4  6  7  8  9</a:t>
            </a:r>
            <a:endParaRPr/>
          </a:p>
        </p:txBody>
      </p:sp>
      <p:cxnSp>
        <p:nvCxnSpPr>
          <p:cNvPr id="264" name="Google Shape;264;p21"/>
          <p:cNvCxnSpPr>
            <a:stCxn id="236" idx="0"/>
            <a:endCxn id="263" idx="2"/>
          </p:cNvCxnSpPr>
          <p:nvPr/>
        </p:nvCxnSpPr>
        <p:spPr>
          <a:xfrm rot="10800000" flipH="1">
            <a:off x="2505076" y="3020913"/>
            <a:ext cx="22194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21"/>
          <p:cNvCxnSpPr>
            <a:stCxn id="248" idx="0"/>
            <a:endCxn id="263" idx="2"/>
          </p:cNvCxnSpPr>
          <p:nvPr/>
        </p:nvCxnSpPr>
        <p:spPr>
          <a:xfrm rot="10800000">
            <a:off x="4724475" y="3020913"/>
            <a:ext cx="22002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6" name="Google Shape;266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Example (cont.)</a:t>
            </a:r>
            <a:endParaRPr/>
          </a:p>
        </p:txBody>
      </p:sp>
      <p:sp>
        <p:nvSpPr>
          <p:cNvPr id="272" name="Google Shape;272;p22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call, partition</a:t>
            </a:r>
            <a:endParaRPr/>
          </a:p>
        </p:txBody>
      </p:sp>
      <p:cxnSp>
        <p:nvCxnSpPr>
          <p:cNvPr id="273" name="Google Shape;273;p22"/>
          <p:cNvCxnSpPr>
            <a:stCxn id="274" idx="0"/>
            <a:endCxn id="275" idx="2"/>
          </p:cNvCxnSpPr>
          <p:nvPr/>
        </p:nvCxnSpPr>
        <p:spPr>
          <a:xfrm rot="10800000" flipH="1">
            <a:off x="1436688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6" name="Google Shape;276;p22"/>
          <p:cNvCxnSpPr>
            <a:stCxn id="277" idx="0"/>
            <a:endCxn id="275" idx="2"/>
          </p:cNvCxnSpPr>
          <p:nvPr/>
        </p:nvCxnSpPr>
        <p:spPr>
          <a:xfrm rot="10800000">
            <a:off x="2505075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" name="Google Shape;278;p22"/>
          <p:cNvCxnSpPr>
            <a:stCxn id="279" idx="0"/>
            <a:endCxn id="274" idx="2"/>
          </p:cNvCxnSpPr>
          <p:nvPr/>
        </p:nvCxnSpPr>
        <p:spPr>
          <a:xfrm rot="10800000" flipH="1">
            <a:off x="9699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" name="Google Shape;280;p22"/>
          <p:cNvCxnSpPr>
            <a:stCxn id="281" idx="0"/>
            <a:endCxn id="277" idx="2"/>
          </p:cNvCxnSpPr>
          <p:nvPr/>
        </p:nvCxnSpPr>
        <p:spPr>
          <a:xfrm rot="10800000" flipH="1">
            <a:off x="3091656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22"/>
          <p:cNvCxnSpPr>
            <a:stCxn id="274" idx="2"/>
            <a:endCxn id="283" idx="0"/>
          </p:cNvCxnSpPr>
          <p:nvPr/>
        </p:nvCxnSpPr>
        <p:spPr>
          <a:xfrm>
            <a:off x="1436688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4" name="Google Shape;284;p22"/>
          <p:cNvCxnSpPr>
            <a:stCxn id="277" idx="2"/>
            <a:endCxn id="285" idx="0"/>
          </p:cNvCxnSpPr>
          <p:nvPr/>
        </p:nvCxnSpPr>
        <p:spPr>
          <a:xfrm>
            <a:off x="3571875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5" name="Google Shape;275;p22"/>
          <p:cNvSpPr/>
          <p:nvPr/>
        </p:nvSpPr>
        <p:spPr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7  2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9  4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2  4  7  9</a:t>
            </a: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1  3  8  6</a:t>
            </a:r>
            <a:endParaRPr/>
          </a:p>
        </p:txBody>
      </p:sp>
      <p:grpSp>
        <p:nvGrpSpPr>
          <p:cNvPr id="287" name="Google Shape;287;p22"/>
          <p:cNvGrpSpPr/>
          <p:nvPr/>
        </p:nvGrpSpPr>
        <p:grpSpPr>
          <a:xfrm>
            <a:off x="742950" y="4643438"/>
            <a:ext cx="7996238" cy="427037"/>
            <a:chOff x="468" y="3168"/>
            <a:chExt cx="5037" cy="269"/>
          </a:xfrm>
        </p:grpSpPr>
        <p:sp>
          <p:nvSpPr>
            <p:cNvPr id="274" name="Google Shape;274;p22"/>
            <p:cNvSpPr/>
            <p:nvPr/>
          </p:nvSpPr>
          <p:spPr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7  2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2  7</a:t>
              </a:r>
              <a:endParaRPr/>
            </a:p>
          </p:txBody>
        </p:sp>
        <p:sp>
          <p:nvSpPr>
            <p:cNvPr id="277" name="Google Shape;277;p22"/>
            <p:cNvSpPr/>
            <p:nvPr/>
          </p:nvSpPr>
          <p:spPr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9  4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4  9</a:t>
              </a:r>
              <a:endParaRPr/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3  8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3  8</a:t>
              </a:r>
              <a:endParaRPr/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6  1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1  6</a:t>
              </a:r>
              <a:endParaRPr/>
            </a:p>
          </p:txBody>
        </p:sp>
      </p:grpSp>
      <p:grpSp>
        <p:nvGrpSpPr>
          <p:cNvPr id="290" name="Google Shape;290;p22"/>
          <p:cNvGrpSpPr/>
          <p:nvPr/>
        </p:nvGrpSpPr>
        <p:grpSpPr>
          <a:xfrm>
            <a:off x="609600" y="5668963"/>
            <a:ext cx="8229600" cy="427037"/>
            <a:chOff x="384" y="3571"/>
            <a:chExt cx="5184" cy="269"/>
          </a:xfrm>
        </p:grpSpPr>
        <p:sp>
          <p:nvSpPr>
            <p:cNvPr id="279" name="Google Shape;279;p22"/>
            <p:cNvSpPr/>
            <p:nvPr/>
          </p:nvSpPr>
          <p:spPr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7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7</a:t>
              </a: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2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2</a:t>
              </a: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9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9</a:t>
              </a:r>
              <a:endParaRPr/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4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4</a:t>
              </a:r>
              <a:endParaRPr/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3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3</a:t>
              </a: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8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8</a:t>
              </a: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6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6</a:t>
              </a: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1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1</a:t>
              </a:r>
              <a:endParaRPr/>
            </a:p>
          </p:txBody>
        </p:sp>
      </p:grpSp>
      <p:cxnSp>
        <p:nvCxnSpPr>
          <p:cNvPr id="295" name="Google Shape;295;p22"/>
          <p:cNvCxnSpPr>
            <a:stCxn id="288" idx="0"/>
            <a:endCxn id="286" idx="2"/>
          </p:cNvCxnSpPr>
          <p:nvPr/>
        </p:nvCxnSpPr>
        <p:spPr>
          <a:xfrm rot="10800000" flipH="1">
            <a:off x="5856288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6" name="Google Shape;296;p22"/>
          <p:cNvCxnSpPr>
            <a:stCxn id="289" idx="0"/>
            <a:endCxn id="286" idx="2"/>
          </p:cNvCxnSpPr>
          <p:nvPr/>
        </p:nvCxnSpPr>
        <p:spPr>
          <a:xfrm rot="10800000">
            <a:off x="69246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" name="Google Shape;297;p22"/>
          <p:cNvCxnSpPr>
            <a:stCxn id="291" idx="0"/>
            <a:endCxn id="288" idx="2"/>
          </p:cNvCxnSpPr>
          <p:nvPr/>
        </p:nvCxnSpPr>
        <p:spPr>
          <a:xfrm rot="10800000" flipH="1">
            <a:off x="5389563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8" name="Google Shape;298;p22"/>
          <p:cNvCxnSpPr>
            <a:stCxn id="293" idx="0"/>
            <a:endCxn id="289" idx="2"/>
          </p:cNvCxnSpPr>
          <p:nvPr/>
        </p:nvCxnSpPr>
        <p:spPr>
          <a:xfrm rot="10800000" flipH="1">
            <a:off x="7511256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9" name="Google Shape;299;p22"/>
          <p:cNvCxnSpPr>
            <a:stCxn id="288" idx="2"/>
            <a:endCxn id="292" idx="0"/>
          </p:cNvCxnSpPr>
          <p:nvPr/>
        </p:nvCxnSpPr>
        <p:spPr>
          <a:xfrm>
            <a:off x="5856288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0" name="Google Shape;300;p22"/>
          <p:cNvCxnSpPr>
            <a:stCxn id="289" idx="2"/>
            <a:endCxn id="294" idx="0"/>
          </p:cNvCxnSpPr>
          <p:nvPr/>
        </p:nvCxnSpPr>
        <p:spPr>
          <a:xfrm>
            <a:off x="79914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1" name="Google Shape;301;p22"/>
          <p:cNvSpPr/>
          <p:nvPr/>
        </p:nvSpPr>
        <p:spPr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7  2  9  4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3  8  6  1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1  2  3  4  6  7  8  9</a:t>
            </a:r>
            <a:endParaRPr/>
          </a:p>
        </p:txBody>
      </p:sp>
      <p:cxnSp>
        <p:nvCxnSpPr>
          <p:cNvPr id="302" name="Google Shape;302;p22"/>
          <p:cNvCxnSpPr>
            <a:stCxn id="275" idx="0"/>
            <a:endCxn id="301" idx="2"/>
          </p:cNvCxnSpPr>
          <p:nvPr/>
        </p:nvCxnSpPr>
        <p:spPr>
          <a:xfrm rot="10800000" flipH="1">
            <a:off x="2505076" y="3020913"/>
            <a:ext cx="22194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3" name="Google Shape;303;p22"/>
          <p:cNvCxnSpPr>
            <a:stCxn id="286" idx="0"/>
            <a:endCxn id="301" idx="2"/>
          </p:cNvCxnSpPr>
          <p:nvPr/>
        </p:nvCxnSpPr>
        <p:spPr>
          <a:xfrm rot="10800000">
            <a:off x="4724475" y="3020913"/>
            <a:ext cx="22002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4" name="Google Shape;304;p22"/>
          <p:cNvCxnSpPr/>
          <p:nvPr/>
        </p:nvCxnSpPr>
        <p:spPr>
          <a:xfrm flipH="1">
            <a:off x="2438400" y="3200400"/>
            <a:ext cx="533400" cy="15240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5" name="Google Shape;305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Example (cont.)</a:t>
            </a:r>
            <a:endParaRPr/>
          </a:p>
        </p:txBody>
      </p:sp>
      <p:sp>
        <p:nvSpPr>
          <p:cNvPr id="311" name="Google Shape;311;p23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call, partition</a:t>
            </a:r>
            <a:endParaRPr/>
          </a:p>
        </p:txBody>
      </p:sp>
      <p:cxnSp>
        <p:nvCxnSpPr>
          <p:cNvPr id="312" name="Google Shape;312;p23"/>
          <p:cNvCxnSpPr>
            <a:stCxn id="313" idx="0"/>
            <a:endCxn id="314" idx="2"/>
          </p:cNvCxnSpPr>
          <p:nvPr/>
        </p:nvCxnSpPr>
        <p:spPr>
          <a:xfrm rot="10800000" flipH="1">
            <a:off x="14366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5" name="Google Shape;315;p23"/>
          <p:cNvCxnSpPr>
            <a:stCxn id="316" idx="0"/>
            <a:endCxn id="314" idx="2"/>
          </p:cNvCxnSpPr>
          <p:nvPr/>
        </p:nvCxnSpPr>
        <p:spPr>
          <a:xfrm rot="10800000">
            <a:off x="25050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" name="Google Shape;317;p23"/>
          <p:cNvCxnSpPr>
            <a:stCxn id="318" idx="0"/>
            <a:endCxn id="313" idx="2"/>
          </p:cNvCxnSpPr>
          <p:nvPr/>
        </p:nvCxnSpPr>
        <p:spPr>
          <a:xfrm rot="10800000" flipH="1">
            <a:off x="9699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" name="Google Shape;319;p23"/>
          <p:cNvCxnSpPr>
            <a:stCxn id="320" idx="0"/>
            <a:endCxn id="316" idx="2"/>
          </p:cNvCxnSpPr>
          <p:nvPr/>
        </p:nvCxnSpPr>
        <p:spPr>
          <a:xfrm rot="10800000" flipH="1">
            <a:off x="3091656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" name="Google Shape;321;p23"/>
          <p:cNvCxnSpPr>
            <a:stCxn id="313" idx="2"/>
            <a:endCxn id="322" idx="0"/>
          </p:cNvCxnSpPr>
          <p:nvPr/>
        </p:nvCxnSpPr>
        <p:spPr>
          <a:xfrm>
            <a:off x="1436687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" name="Google Shape;323;p23"/>
          <p:cNvCxnSpPr>
            <a:stCxn id="316" idx="2"/>
            <a:endCxn id="324" idx="0"/>
          </p:cNvCxnSpPr>
          <p:nvPr/>
        </p:nvCxnSpPr>
        <p:spPr>
          <a:xfrm>
            <a:off x="35718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4" name="Google Shape;314;p23"/>
          <p:cNvSpPr/>
          <p:nvPr/>
        </p:nvSpPr>
        <p:spPr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7  2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9  4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2  4  7  9</a:t>
            </a:r>
            <a:endParaRPr/>
          </a:p>
        </p:txBody>
      </p:sp>
      <p:sp>
        <p:nvSpPr>
          <p:cNvPr id="325" name="Google Shape;325;p23"/>
          <p:cNvSpPr/>
          <p:nvPr/>
        </p:nvSpPr>
        <p:spPr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1  3  8  6</a:t>
            </a:r>
            <a:endParaRPr/>
          </a:p>
        </p:txBody>
      </p:sp>
      <p:sp>
        <p:nvSpPr>
          <p:cNvPr id="313" name="Google Shape;313;p23"/>
          <p:cNvSpPr/>
          <p:nvPr/>
        </p:nvSpPr>
        <p:spPr>
          <a:xfrm>
            <a:off x="7429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2  7</a:t>
            </a:r>
            <a:endParaRPr/>
          </a:p>
        </p:txBody>
      </p:sp>
      <p:sp>
        <p:nvSpPr>
          <p:cNvPr id="316" name="Google Shape;316;p23"/>
          <p:cNvSpPr/>
          <p:nvPr/>
        </p:nvSpPr>
        <p:spPr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9  4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4  9</a:t>
            </a:r>
            <a:endParaRPr/>
          </a:p>
        </p:txBody>
      </p:sp>
      <p:sp>
        <p:nvSpPr>
          <p:cNvPr id="326" name="Google Shape;326;p23"/>
          <p:cNvSpPr/>
          <p:nvPr/>
        </p:nvSpPr>
        <p:spPr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3  8</a:t>
            </a:r>
            <a:endParaRPr/>
          </a:p>
        </p:txBody>
      </p:sp>
      <p:sp>
        <p:nvSpPr>
          <p:cNvPr id="327" name="Google Shape;327;p23"/>
          <p:cNvSpPr/>
          <p:nvPr/>
        </p:nvSpPr>
        <p:spPr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1  6</a:t>
            </a:r>
            <a:endParaRPr/>
          </a:p>
        </p:txBody>
      </p:sp>
      <p:grpSp>
        <p:nvGrpSpPr>
          <p:cNvPr id="328" name="Google Shape;328;p23"/>
          <p:cNvGrpSpPr/>
          <p:nvPr/>
        </p:nvGrpSpPr>
        <p:grpSpPr>
          <a:xfrm>
            <a:off x="609600" y="5668963"/>
            <a:ext cx="8229600" cy="427037"/>
            <a:chOff x="384" y="3571"/>
            <a:chExt cx="5184" cy="269"/>
          </a:xfrm>
        </p:grpSpPr>
        <p:sp>
          <p:nvSpPr>
            <p:cNvPr id="318" name="Google Shape;318;p23"/>
            <p:cNvSpPr/>
            <p:nvPr/>
          </p:nvSpPr>
          <p:spPr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7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7</a:t>
              </a:r>
              <a:endParaRPr/>
            </a:p>
          </p:txBody>
        </p:sp>
        <p:sp>
          <p:nvSpPr>
            <p:cNvPr id="322" name="Google Shape;322;p23"/>
            <p:cNvSpPr/>
            <p:nvPr/>
          </p:nvSpPr>
          <p:spPr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2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2</a:t>
              </a:r>
              <a:endParaRPr/>
            </a:p>
          </p:txBody>
        </p:sp>
        <p:sp>
          <p:nvSpPr>
            <p:cNvPr id="320" name="Google Shape;320;p23"/>
            <p:cNvSpPr/>
            <p:nvPr/>
          </p:nvSpPr>
          <p:spPr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9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9</a:t>
              </a:r>
              <a:endParaRPr/>
            </a:p>
          </p:txBody>
        </p:sp>
        <p:sp>
          <p:nvSpPr>
            <p:cNvPr id="324" name="Google Shape;324;p23"/>
            <p:cNvSpPr/>
            <p:nvPr/>
          </p:nvSpPr>
          <p:spPr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4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4</a:t>
              </a:r>
              <a:endParaRPr/>
            </a:p>
          </p:txBody>
        </p:sp>
        <p:sp>
          <p:nvSpPr>
            <p:cNvPr id="329" name="Google Shape;329;p23"/>
            <p:cNvSpPr/>
            <p:nvPr/>
          </p:nvSpPr>
          <p:spPr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3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3</a:t>
              </a:r>
              <a:endParaRPr/>
            </a:p>
          </p:txBody>
        </p:sp>
        <p:sp>
          <p:nvSpPr>
            <p:cNvPr id="330" name="Google Shape;330;p23"/>
            <p:cNvSpPr/>
            <p:nvPr/>
          </p:nvSpPr>
          <p:spPr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8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8</a:t>
              </a:r>
              <a:endParaRPr/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6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6</a:t>
              </a:r>
              <a:endParaRPr/>
            </a:p>
          </p:txBody>
        </p:sp>
        <p:sp>
          <p:nvSpPr>
            <p:cNvPr id="332" name="Google Shape;332;p23"/>
            <p:cNvSpPr/>
            <p:nvPr/>
          </p:nvSpPr>
          <p:spPr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1 </a:t>
              </a:r>
              <a:r>
                <a:rPr lang="en-US" sz="1800" b="1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rPr>
                <a:t> 1</a:t>
              </a:r>
              <a:endParaRPr/>
            </a:p>
          </p:txBody>
        </p:sp>
      </p:grpSp>
      <p:cxnSp>
        <p:nvCxnSpPr>
          <p:cNvPr id="333" name="Google Shape;333;p23"/>
          <p:cNvCxnSpPr>
            <a:stCxn id="326" idx="0"/>
            <a:endCxn id="325" idx="2"/>
          </p:cNvCxnSpPr>
          <p:nvPr/>
        </p:nvCxnSpPr>
        <p:spPr>
          <a:xfrm rot="10800000" flipH="1">
            <a:off x="58562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" name="Google Shape;334;p23"/>
          <p:cNvCxnSpPr>
            <a:stCxn id="327" idx="0"/>
            <a:endCxn id="325" idx="2"/>
          </p:cNvCxnSpPr>
          <p:nvPr/>
        </p:nvCxnSpPr>
        <p:spPr>
          <a:xfrm rot="10800000">
            <a:off x="69246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5" name="Google Shape;335;p23"/>
          <p:cNvCxnSpPr>
            <a:stCxn id="329" idx="0"/>
            <a:endCxn id="326" idx="2"/>
          </p:cNvCxnSpPr>
          <p:nvPr/>
        </p:nvCxnSpPr>
        <p:spPr>
          <a:xfrm rot="10800000" flipH="1">
            <a:off x="5389563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" name="Google Shape;336;p23"/>
          <p:cNvCxnSpPr>
            <a:stCxn id="331" idx="0"/>
            <a:endCxn id="327" idx="2"/>
          </p:cNvCxnSpPr>
          <p:nvPr/>
        </p:nvCxnSpPr>
        <p:spPr>
          <a:xfrm rot="10800000" flipH="1">
            <a:off x="7511256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7" name="Google Shape;337;p23"/>
          <p:cNvCxnSpPr>
            <a:stCxn id="326" idx="2"/>
            <a:endCxn id="330" idx="0"/>
          </p:cNvCxnSpPr>
          <p:nvPr/>
        </p:nvCxnSpPr>
        <p:spPr>
          <a:xfrm>
            <a:off x="5856287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8" name="Google Shape;338;p23"/>
          <p:cNvCxnSpPr>
            <a:stCxn id="327" idx="2"/>
            <a:endCxn id="332" idx="0"/>
          </p:cNvCxnSpPr>
          <p:nvPr/>
        </p:nvCxnSpPr>
        <p:spPr>
          <a:xfrm>
            <a:off x="79914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9" name="Google Shape;339;p23"/>
          <p:cNvSpPr/>
          <p:nvPr/>
        </p:nvSpPr>
        <p:spPr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7  2  9  4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3  8  6  1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1  2  3  4  6  7  8  9</a:t>
            </a:r>
            <a:endParaRPr/>
          </a:p>
        </p:txBody>
      </p:sp>
      <p:cxnSp>
        <p:nvCxnSpPr>
          <p:cNvPr id="340" name="Google Shape;340;p23"/>
          <p:cNvCxnSpPr>
            <a:stCxn id="314" idx="0"/>
            <a:endCxn id="339" idx="2"/>
          </p:cNvCxnSpPr>
          <p:nvPr/>
        </p:nvCxnSpPr>
        <p:spPr>
          <a:xfrm rot="10800000" flipH="1">
            <a:off x="2505076" y="3020913"/>
            <a:ext cx="22194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1" name="Google Shape;341;p23"/>
          <p:cNvCxnSpPr>
            <a:stCxn id="325" idx="0"/>
            <a:endCxn id="339" idx="2"/>
          </p:cNvCxnSpPr>
          <p:nvPr/>
        </p:nvCxnSpPr>
        <p:spPr>
          <a:xfrm rot="10800000">
            <a:off x="4724475" y="3020913"/>
            <a:ext cx="22002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2" name="Google Shape;342;p23"/>
          <p:cNvCxnSpPr/>
          <p:nvPr/>
        </p:nvCxnSpPr>
        <p:spPr>
          <a:xfrm flipH="1">
            <a:off x="1219200" y="4191000"/>
            <a:ext cx="533400" cy="30480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3" name="Google Shape;343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Example (cont.)</a:t>
            </a:r>
            <a:endParaRPr/>
          </a:p>
        </p:txBody>
      </p:sp>
      <p:sp>
        <p:nvSpPr>
          <p:cNvPr id="349" name="Google Shape;349;p2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call, base case</a:t>
            </a:r>
            <a:endParaRPr/>
          </a:p>
        </p:txBody>
      </p:sp>
      <p:cxnSp>
        <p:nvCxnSpPr>
          <p:cNvPr id="350" name="Google Shape;350;p24"/>
          <p:cNvCxnSpPr>
            <a:stCxn id="351" idx="0"/>
            <a:endCxn id="352" idx="2"/>
          </p:cNvCxnSpPr>
          <p:nvPr/>
        </p:nvCxnSpPr>
        <p:spPr>
          <a:xfrm rot="10800000" flipH="1">
            <a:off x="1436688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3" name="Google Shape;353;p24"/>
          <p:cNvCxnSpPr>
            <a:stCxn id="354" idx="0"/>
            <a:endCxn id="352" idx="2"/>
          </p:cNvCxnSpPr>
          <p:nvPr/>
        </p:nvCxnSpPr>
        <p:spPr>
          <a:xfrm rot="10800000">
            <a:off x="2505075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5" name="Google Shape;355;p24"/>
          <p:cNvCxnSpPr>
            <a:stCxn id="356" idx="0"/>
            <a:endCxn id="351" idx="2"/>
          </p:cNvCxnSpPr>
          <p:nvPr/>
        </p:nvCxnSpPr>
        <p:spPr>
          <a:xfrm rot="10800000" flipH="1">
            <a:off x="9699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7" name="Google Shape;357;p24"/>
          <p:cNvCxnSpPr>
            <a:stCxn id="358" idx="0"/>
            <a:endCxn id="354" idx="2"/>
          </p:cNvCxnSpPr>
          <p:nvPr/>
        </p:nvCxnSpPr>
        <p:spPr>
          <a:xfrm rot="10800000" flipH="1">
            <a:off x="3091657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9" name="Google Shape;359;p24"/>
          <p:cNvCxnSpPr>
            <a:stCxn id="351" idx="2"/>
            <a:endCxn id="360" idx="0"/>
          </p:cNvCxnSpPr>
          <p:nvPr/>
        </p:nvCxnSpPr>
        <p:spPr>
          <a:xfrm>
            <a:off x="1436688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1" name="Google Shape;361;p24"/>
          <p:cNvCxnSpPr>
            <a:stCxn id="354" idx="2"/>
            <a:endCxn id="362" idx="0"/>
          </p:cNvCxnSpPr>
          <p:nvPr/>
        </p:nvCxnSpPr>
        <p:spPr>
          <a:xfrm>
            <a:off x="3571875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2" name="Google Shape;352;p24"/>
          <p:cNvSpPr/>
          <p:nvPr/>
        </p:nvSpPr>
        <p:spPr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7  2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9  4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2  4  7  9</a:t>
            </a:r>
            <a:endParaRPr/>
          </a:p>
        </p:txBody>
      </p:sp>
      <p:sp>
        <p:nvSpPr>
          <p:cNvPr id="363" name="Google Shape;363;p24"/>
          <p:cNvSpPr/>
          <p:nvPr/>
        </p:nvSpPr>
        <p:spPr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1  3  8  6</a:t>
            </a:r>
            <a:endParaRPr/>
          </a:p>
        </p:txBody>
      </p:sp>
      <p:grpSp>
        <p:nvGrpSpPr>
          <p:cNvPr id="364" name="Google Shape;364;p24"/>
          <p:cNvGrpSpPr/>
          <p:nvPr/>
        </p:nvGrpSpPr>
        <p:grpSpPr>
          <a:xfrm>
            <a:off x="742950" y="4643438"/>
            <a:ext cx="7996238" cy="427037"/>
            <a:chOff x="468" y="3168"/>
            <a:chExt cx="5037" cy="269"/>
          </a:xfrm>
        </p:grpSpPr>
        <p:sp>
          <p:nvSpPr>
            <p:cNvPr id="351" name="Google Shape;351;p24"/>
            <p:cNvSpPr/>
            <p:nvPr/>
          </p:nvSpPr>
          <p:spPr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 </a:t>
              </a:r>
              <a:r>
                <a:rPr lang="en-US" sz="1800" b="1" i="0" u="none" strike="noStrike" cap="none">
                  <a:solidFill>
                    <a:schemeClr val="dk2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⏐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2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2  7</a:t>
              </a:r>
              <a:endParaRPr/>
            </a:p>
          </p:txBody>
        </p:sp>
        <p:sp>
          <p:nvSpPr>
            <p:cNvPr id="354" name="Google Shape;354;p24"/>
            <p:cNvSpPr/>
            <p:nvPr/>
          </p:nvSpPr>
          <p:spPr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9  4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4  9</a:t>
              </a:r>
              <a:endParaRPr/>
            </a:p>
          </p:txBody>
        </p:sp>
        <p:sp>
          <p:nvSpPr>
            <p:cNvPr id="365" name="Google Shape;365;p24"/>
            <p:cNvSpPr/>
            <p:nvPr/>
          </p:nvSpPr>
          <p:spPr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3  8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3  8</a:t>
              </a:r>
              <a:endParaRPr/>
            </a:p>
          </p:txBody>
        </p:sp>
        <p:sp>
          <p:nvSpPr>
            <p:cNvPr id="366" name="Google Shape;366;p24"/>
            <p:cNvSpPr/>
            <p:nvPr/>
          </p:nvSpPr>
          <p:spPr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6  1  </a:t>
              </a:r>
              <a:r>
                <a:rPr lang="en-US" sz="1800" b="1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  1  6</a:t>
              </a:r>
              <a:endParaRPr/>
            </a:p>
          </p:txBody>
        </p:sp>
      </p:grpSp>
      <p:sp>
        <p:nvSpPr>
          <p:cNvPr id="356" name="Google Shape;356;p24"/>
          <p:cNvSpPr/>
          <p:nvPr/>
        </p:nvSpPr>
        <p:spPr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60" name="Google Shape;360;p24"/>
          <p:cNvSpPr/>
          <p:nvPr/>
        </p:nvSpPr>
        <p:spPr>
          <a:xfrm>
            <a:off x="15970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endParaRPr/>
          </a:p>
        </p:txBody>
      </p:sp>
      <p:sp>
        <p:nvSpPr>
          <p:cNvPr id="358" name="Google Shape;358;p24"/>
          <p:cNvSpPr/>
          <p:nvPr/>
        </p:nvSpPr>
        <p:spPr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9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9</a:t>
            </a:r>
            <a:endParaRPr/>
          </a:p>
        </p:txBody>
      </p:sp>
      <p:sp>
        <p:nvSpPr>
          <p:cNvPr id="362" name="Google Shape;362;p24"/>
          <p:cNvSpPr/>
          <p:nvPr/>
        </p:nvSpPr>
        <p:spPr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/>
          </a:p>
        </p:txBody>
      </p:sp>
      <p:sp>
        <p:nvSpPr>
          <p:cNvPr id="367" name="Google Shape;367;p24"/>
          <p:cNvSpPr/>
          <p:nvPr/>
        </p:nvSpPr>
        <p:spPr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endParaRPr/>
          </a:p>
        </p:txBody>
      </p:sp>
      <p:sp>
        <p:nvSpPr>
          <p:cNvPr id="368" name="Google Shape;368;p24"/>
          <p:cNvSpPr/>
          <p:nvPr/>
        </p:nvSpPr>
        <p:spPr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8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8</a:t>
            </a:r>
            <a:endParaRPr/>
          </a:p>
        </p:txBody>
      </p:sp>
      <p:sp>
        <p:nvSpPr>
          <p:cNvPr id="369" name="Google Shape;369;p24"/>
          <p:cNvSpPr/>
          <p:nvPr/>
        </p:nvSpPr>
        <p:spPr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6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6</a:t>
            </a:r>
            <a:endParaRPr/>
          </a:p>
        </p:txBody>
      </p:sp>
      <p:sp>
        <p:nvSpPr>
          <p:cNvPr id="370" name="Google Shape;370;p24"/>
          <p:cNvSpPr/>
          <p:nvPr/>
        </p:nvSpPr>
        <p:spPr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/>
          </a:p>
        </p:txBody>
      </p:sp>
      <p:cxnSp>
        <p:nvCxnSpPr>
          <p:cNvPr id="371" name="Google Shape;371;p24"/>
          <p:cNvCxnSpPr>
            <a:stCxn id="365" idx="0"/>
            <a:endCxn id="363" idx="2"/>
          </p:cNvCxnSpPr>
          <p:nvPr/>
        </p:nvCxnSpPr>
        <p:spPr>
          <a:xfrm rot="10800000" flipH="1">
            <a:off x="5856288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2" name="Google Shape;372;p24"/>
          <p:cNvCxnSpPr>
            <a:stCxn id="366" idx="0"/>
            <a:endCxn id="363" idx="2"/>
          </p:cNvCxnSpPr>
          <p:nvPr/>
        </p:nvCxnSpPr>
        <p:spPr>
          <a:xfrm rot="10800000">
            <a:off x="69246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3" name="Google Shape;373;p24"/>
          <p:cNvCxnSpPr>
            <a:stCxn id="367" idx="0"/>
            <a:endCxn id="365" idx="2"/>
          </p:cNvCxnSpPr>
          <p:nvPr/>
        </p:nvCxnSpPr>
        <p:spPr>
          <a:xfrm rot="10800000" flipH="1">
            <a:off x="53895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4" name="Google Shape;374;p24"/>
          <p:cNvCxnSpPr>
            <a:stCxn id="369" idx="0"/>
            <a:endCxn id="366" idx="2"/>
          </p:cNvCxnSpPr>
          <p:nvPr/>
        </p:nvCxnSpPr>
        <p:spPr>
          <a:xfrm rot="10800000" flipH="1">
            <a:off x="7511257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5" name="Google Shape;375;p24"/>
          <p:cNvCxnSpPr>
            <a:stCxn id="365" idx="2"/>
            <a:endCxn id="368" idx="0"/>
          </p:cNvCxnSpPr>
          <p:nvPr/>
        </p:nvCxnSpPr>
        <p:spPr>
          <a:xfrm>
            <a:off x="5856288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6" name="Google Shape;376;p24"/>
          <p:cNvCxnSpPr>
            <a:stCxn id="366" idx="2"/>
            <a:endCxn id="370" idx="0"/>
          </p:cNvCxnSpPr>
          <p:nvPr/>
        </p:nvCxnSpPr>
        <p:spPr>
          <a:xfrm>
            <a:off x="79914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7" name="Google Shape;377;p24"/>
          <p:cNvSpPr/>
          <p:nvPr/>
        </p:nvSpPr>
        <p:spPr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7  2  9  4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3  8  6  1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1  2  3  4  6  7  8  9</a:t>
            </a:r>
            <a:endParaRPr/>
          </a:p>
        </p:txBody>
      </p:sp>
      <p:cxnSp>
        <p:nvCxnSpPr>
          <p:cNvPr id="378" name="Google Shape;378;p24"/>
          <p:cNvCxnSpPr>
            <a:stCxn id="352" idx="0"/>
            <a:endCxn id="377" idx="2"/>
          </p:cNvCxnSpPr>
          <p:nvPr/>
        </p:nvCxnSpPr>
        <p:spPr>
          <a:xfrm rot="10800000" flipH="1">
            <a:off x="2505076" y="3020913"/>
            <a:ext cx="22194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9" name="Google Shape;379;p24"/>
          <p:cNvCxnSpPr>
            <a:stCxn id="363" idx="0"/>
            <a:endCxn id="377" idx="2"/>
          </p:cNvCxnSpPr>
          <p:nvPr/>
        </p:nvCxnSpPr>
        <p:spPr>
          <a:xfrm rot="10800000">
            <a:off x="4724475" y="3020913"/>
            <a:ext cx="22002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0" name="Google Shape;380;p24"/>
          <p:cNvCxnSpPr/>
          <p:nvPr/>
        </p:nvCxnSpPr>
        <p:spPr>
          <a:xfrm flipH="1">
            <a:off x="762000" y="5181600"/>
            <a:ext cx="381000" cy="38100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1" name="Google Shape;381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Example (cont.)</a:t>
            </a:r>
            <a:endParaRPr/>
          </a:p>
        </p:txBody>
      </p:sp>
      <p:sp>
        <p:nvSpPr>
          <p:cNvPr id="387" name="Google Shape;387;p2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call, base case</a:t>
            </a:r>
            <a:endParaRPr/>
          </a:p>
        </p:txBody>
      </p:sp>
      <p:cxnSp>
        <p:nvCxnSpPr>
          <p:cNvPr id="388" name="Google Shape;388;p25"/>
          <p:cNvCxnSpPr>
            <a:stCxn id="389" idx="0"/>
            <a:endCxn id="390" idx="2"/>
          </p:cNvCxnSpPr>
          <p:nvPr/>
        </p:nvCxnSpPr>
        <p:spPr>
          <a:xfrm rot="10800000" flipH="1">
            <a:off x="14366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1" name="Google Shape;391;p25"/>
          <p:cNvCxnSpPr>
            <a:stCxn id="392" idx="0"/>
            <a:endCxn id="390" idx="2"/>
          </p:cNvCxnSpPr>
          <p:nvPr/>
        </p:nvCxnSpPr>
        <p:spPr>
          <a:xfrm rot="10800000">
            <a:off x="25050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3" name="Google Shape;393;p25"/>
          <p:cNvCxnSpPr>
            <a:stCxn id="394" idx="0"/>
            <a:endCxn id="389" idx="2"/>
          </p:cNvCxnSpPr>
          <p:nvPr/>
        </p:nvCxnSpPr>
        <p:spPr>
          <a:xfrm rot="10800000" flipH="1">
            <a:off x="9699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5" name="Google Shape;395;p25"/>
          <p:cNvCxnSpPr>
            <a:stCxn id="396" idx="0"/>
            <a:endCxn id="392" idx="2"/>
          </p:cNvCxnSpPr>
          <p:nvPr/>
        </p:nvCxnSpPr>
        <p:spPr>
          <a:xfrm rot="10800000" flipH="1">
            <a:off x="3091657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7" name="Google Shape;397;p25"/>
          <p:cNvCxnSpPr>
            <a:stCxn id="389" idx="2"/>
            <a:endCxn id="398" idx="0"/>
          </p:cNvCxnSpPr>
          <p:nvPr/>
        </p:nvCxnSpPr>
        <p:spPr>
          <a:xfrm>
            <a:off x="1436687" y="5070475"/>
            <a:ext cx="5064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9" name="Google Shape;399;p25"/>
          <p:cNvCxnSpPr>
            <a:stCxn id="392" idx="2"/>
            <a:endCxn id="400" idx="0"/>
          </p:cNvCxnSpPr>
          <p:nvPr/>
        </p:nvCxnSpPr>
        <p:spPr>
          <a:xfrm>
            <a:off x="35718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0" name="Google Shape;390;p25"/>
          <p:cNvSpPr/>
          <p:nvPr/>
        </p:nvSpPr>
        <p:spPr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7  2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9  4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2  4  7  9</a:t>
            </a:r>
            <a:endParaRPr/>
          </a:p>
        </p:txBody>
      </p:sp>
      <p:sp>
        <p:nvSpPr>
          <p:cNvPr id="401" name="Google Shape;401;p25"/>
          <p:cNvSpPr/>
          <p:nvPr/>
        </p:nvSpPr>
        <p:spPr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1  3  8  6</a:t>
            </a:r>
            <a:endParaRPr/>
          </a:p>
        </p:txBody>
      </p:sp>
      <p:sp>
        <p:nvSpPr>
          <p:cNvPr id="389" name="Google Shape;389;p25"/>
          <p:cNvSpPr/>
          <p:nvPr/>
        </p:nvSpPr>
        <p:spPr>
          <a:xfrm>
            <a:off x="7429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2  7</a:t>
            </a:r>
            <a:endParaRPr/>
          </a:p>
        </p:txBody>
      </p:sp>
      <p:sp>
        <p:nvSpPr>
          <p:cNvPr id="392" name="Google Shape;392;p25"/>
          <p:cNvSpPr/>
          <p:nvPr/>
        </p:nvSpPr>
        <p:spPr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9  4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4  9</a:t>
            </a:r>
            <a:endParaRPr/>
          </a:p>
        </p:txBody>
      </p:sp>
      <p:sp>
        <p:nvSpPr>
          <p:cNvPr id="402" name="Google Shape;402;p25"/>
          <p:cNvSpPr/>
          <p:nvPr/>
        </p:nvSpPr>
        <p:spPr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3  8</a:t>
            </a:r>
            <a:endParaRPr/>
          </a:p>
        </p:txBody>
      </p:sp>
      <p:sp>
        <p:nvSpPr>
          <p:cNvPr id="403" name="Google Shape;403;p25"/>
          <p:cNvSpPr/>
          <p:nvPr/>
        </p:nvSpPr>
        <p:spPr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1  6</a:t>
            </a:r>
            <a:endParaRPr/>
          </a:p>
        </p:txBody>
      </p:sp>
      <p:sp>
        <p:nvSpPr>
          <p:cNvPr id="394" name="Google Shape;394;p25"/>
          <p:cNvSpPr/>
          <p:nvPr/>
        </p:nvSpPr>
        <p:spPr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98" name="Google Shape;398;p25"/>
          <p:cNvSpPr/>
          <p:nvPr/>
        </p:nvSpPr>
        <p:spPr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96" name="Google Shape;396;p25"/>
          <p:cNvSpPr/>
          <p:nvPr/>
        </p:nvSpPr>
        <p:spPr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9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9</a:t>
            </a:r>
            <a:endParaRPr/>
          </a:p>
        </p:txBody>
      </p:sp>
      <p:sp>
        <p:nvSpPr>
          <p:cNvPr id="400" name="Google Shape;400;p25"/>
          <p:cNvSpPr/>
          <p:nvPr/>
        </p:nvSpPr>
        <p:spPr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/>
          </a:p>
        </p:txBody>
      </p:sp>
      <p:sp>
        <p:nvSpPr>
          <p:cNvPr id="404" name="Google Shape;404;p25"/>
          <p:cNvSpPr/>
          <p:nvPr/>
        </p:nvSpPr>
        <p:spPr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endParaRPr/>
          </a:p>
        </p:txBody>
      </p:sp>
      <p:sp>
        <p:nvSpPr>
          <p:cNvPr id="405" name="Google Shape;405;p25"/>
          <p:cNvSpPr/>
          <p:nvPr/>
        </p:nvSpPr>
        <p:spPr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8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8</a:t>
            </a:r>
            <a:endParaRPr/>
          </a:p>
        </p:txBody>
      </p:sp>
      <p:sp>
        <p:nvSpPr>
          <p:cNvPr id="406" name="Google Shape;406;p25"/>
          <p:cNvSpPr/>
          <p:nvPr/>
        </p:nvSpPr>
        <p:spPr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6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6</a:t>
            </a:r>
            <a:endParaRPr/>
          </a:p>
        </p:txBody>
      </p:sp>
      <p:sp>
        <p:nvSpPr>
          <p:cNvPr id="407" name="Google Shape;407;p25"/>
          <p:cNvSpPr/>
          <p:nvPr/>
        </p:nvSpPr>
        <p:spPr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/>
          </a:p>
        </p:txBody>
      </p:sp>
      <p:cxnSp>
        <p:nvCxnSpPr>
          <p:cNvPr id="408" name="Google Shape;408;p25"/>
          <p:cNvCxnSpPr>
            <a:stCxn id="402" idx="0"/>
            <a:endCxn id="401" idx="2"/>
          </p:cNvCxnSpPr>
          <p:nvPr/>
        </p:nvCxnSpPr>
        <p:spPr>
          <a:xfrm rot="10800000" flipH="1">
            <a:off x="58562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9" name="Google Shape;409;p25"/>
          <p:cNvCxnSpPr>
            <a:stCxn id="403" idx="0"/>
            <a:endCxn id="401" idx="2"/>
          </p:cNvCxnSpPr>
          <p:nvPr/>
        </p:nvCxnSpPr>
        <p:spPr>
          <a:xfrm rot="10800000">
            <a:off x="69246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0" name="Google Shape;410;p25"/>
          <p:cNvCxnSpPr>
            <a:stCxn id="404" idx="0"/>
            <a:endCxn id="402" idx="2"/>
          </p:cNvCxnSpPr>
          <p:nvPr/>
        </p:nvCxnSpPr>
        <p:spPr>
          <a:xfrm rot="10800000" flipH="1">
            <a:off x="53895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1" name="Google Shape;411;p25"/>
          <p:cNvCxnSpPr>
            <a:stCxn id="406" idx="0"/>
            <a:endCxn id="403" idx="2"/>
          </p:cNvCxnSpPr>
          <p:nvPr/>
        </p:nvCxnSpPr>
        <p:spPr>
          <a:xfrm rot="10800000" flipH="1">
            <a:off x="7511257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2" name="Google Shape;412;p25"/>
          <p:cNvCxnSpPr>
            <a:stCxn id="402" idx="2"/>
            <a:endCxn id="405" idx="0"/>
          </p:cNvCxnSpPr>
          <p:nvPr/>
        </p:nvCxnSpPr>
        <p:spPr>
          <a:xfrm>
            <a:off x="5856287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3" name="Google Shape;413;p25"/>
          <p:cNvCxnSpPr>
            <a:stCxn id="403" idx="2"/>
            <a:endCxn id="407" idx="0"/>
          </p:cNvCxnSpPr>
          <p:nvPr/>
        </p:nvCxnSpPr>
        <p:spPr>
          <a:xfrm>
            <a:off x="79914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4" name="Google Shape;414;p25"/>
          <p:cNvSpPr/>
          <p:nvPr/>
        </p:nvSpPr>
        <p:spPr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7  2  9  4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3  8  6  1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1  2  3  4  6  7  8  9</a:t>
            </a:r>
            <a:endParaRPr/>
          </a:p>
        </p:txBody>
      </p:sp>
      <p:cxnSp>
        <p:nvCxnSpPr>
          <p:cNvPr id="415" name="Google Shape;415;p25"/>
          <p:cNvCxnSpPr>
            <a:stCxn id="390" idx="0"/>
            <a:endCxn id="414" idx="2"/>
          </p:cNvCxnSpPr>
          <p:nvPr/>
        </p:nvCxnSpPr>
        <p:spPr>
          <a:xfrm rot="10800000" flipH="1">
            <a:off x="2505076" y="3020913"/>
            <a:ext cx="22194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6" name="Google Shape;416;p25"/>
          <p:cNvCxnSpPr>
            <a:stCxn id="401" idx="0"/>
            <a:endCxn id="414" idx="2"/>
          </p:cNvCxnSpPr>
          <p:nvPr/>
        </p:nvCxnSpPr>
        <p:spPr>
          <a:xfrm rot="10800000">
            <a:off x="4724475" y="3020913"/>
            <a:ext cx="22002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7" name="Google Shape;417;p25"/>
          <p:cNvCxnSpPr/>
          <p:nvPr/>
        </p:nvCxnSpPr>
        <p:spPr>
          <a:xfrm>
            <a:off x="1752600" y="5181600"/>
            <a:ext cx="381000" cy="38100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8" name="Google Shape;418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Example (cont.)</a:t>
            </a:r>
            <a:endParaRPr/>
          </a:p>
        </p:txBody>
      </p:sp>
      <p:sp>
        <p:nvSpPr>
          <p:cNvPr id="424" name="Google Shape;424;p2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Merge</a:t>
            </a:r>
            <a:endParaRPr/>
          </a:p>
        </p:txBody>
      </p:sp>
      <p:cxnSp>
        <p:nvCxnSpPr>
          <p:cNvPr id="425" name="Google Shape;425;p26"/>
          <p:cNvCxnSpPr>
            <a:stCxn id="426" idx="0"/>
            <a:endCxn id="427" idx="2"/>
          </p:cNvCxnSpPr>
          <p:nvPr/>
        </p:nvCxnSpPr>
        <p:spPr>
          <a:xfrm rot="10800000" flipH="1">
            <a:off x="1447800" y="4044938"/>
            <a:ext cx="10572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8" name="Google Shape;428;p26"/>
          <p:cNvCxnSpPr>
            <a:stCxn id="429" idx="0"/>
            <a:endCxn id="427" idx="2"/>
          </p:cNvCxnSpPr>
          <p:nvPr/>
        </p:nvCxnSpPr>
        <p:spPr>
          <a:xfrm rot="10800000">
            <a:off x="25050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0" name="Google Shape;430;p26"/>
          <p:cNvCxnSpPr>
            <a:stCxn id="431" idx="0"/>
            <a:endCxn id="426" idx="2"/>
          </p:cNvCxnSpPr>
          <p:nvPr/>
        </p:nvCxnSpPr>
        <p:spPr>
          <a:xfrm rot="10800000" flipH="1">
            <a:off x="969962" y="5070463"/>
            <a:ext cx="4779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2" name="Google Shape;432;p26"/>
          <p:cNvCxnSpPr>
            <a:stCxn id="433" idx="0"/>
            <a:endCxn id="429" idx="2"/>
          </p:cNvCxnSpPr>
          <p:nvPr/>
        </p:nvCxnSpPr>
        <p:spPr>
          <a:xfrm rot="10800000" flipH="1">
            <a:off x="3091657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4" name="Google Shape;434;p26"/>
          <p:cNvCxnSpPr>
            <a:stCxn id="426" idx="2"/>
            <a:endCxn id="435" idx="0"/>
          </p:cNvCxnSpPr>
          <p:nvPr/>
        </p:nvCxnSpPr>
        <p:spPr>
          <a:xfrm>
            <a:off x="1447800" y="5070475"/>
            <a:ext cx="495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6" name="Google Shape;436;p26"/>
          <p:cNvCxnSpPr>
            <a:stCxn id="429" idx="2"/>
            <a:endCxn id="437" idx="0"/>
          </p:cNvCxnSpPr>
          <p:nvPr/>
        </p:nvCxnSpPr>
        <p:spPr>
          <a:xfrm>
            <a:off x="35718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7" name="Google Shape;427;p26"/>
          <p:cNvSpPr/>
          <p:nvPr/>
        </p:nvSpPr>
        <p:spPr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7  2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9  4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2  4  7  9</a:t>
            </a:r>
            <a:endParaRPr/>
          </a:p>
        </p:txBody>
      </p:sp>
      <p:sp>
        <p:nvSpPr>
          <p:cNvPr id="438" name="Google Shape;438;p26"/>
          <p:cNvSpPr/>
          <p:nvPr/>
        </p:nvSpPr>
        <p:spPr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1  3  8  6</a:t>
            </a:r>
            <a:endParaRPr/>
          </a:p>
        </p:txBody>
      </p:sp>
      <p:sp>
        <p:nvSpPr>
          <p:cNvPr id="426" name="Google Shape;426;p26"/>
          <p:cNvSpPr/>
          <p:nvPr/>
        </p:nvSpPr>
        <p:spPr>
          <a:xfrm>
            <a:off x="685800" y="4643438"/>
            <a:ext cx="1524000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2  7</a:t>
            </a:r>
            <a:endParaRPr/>
          </a:p>
        </p:txBody>
      </p:sp>
      <p:sp>
        <p:nvSpPr>
          <p:cNvPr id="429" name="Google Shape;429;p26"/>
          <p:cNvSpPr/>
          <p:nvPr/>
        </p:nvSpPr>
        <p:spPr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9  4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4  9</a:t>
            </a:r>
            <a:endParaRPr/>
          </a:p>
        </p:txBody>
      </p:sp>
      <p:sp>
        <p:nvSpPr>
          <p:cNvPr id="439" name="Google Shape;439;p26"/>
          <p:cNvSpPr/>
          <p:nvPr/>
        </p:nvSpPr>
        <p:spPr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3  8</a:t>
            </a:r>
            <a:endParaRPr/>
          </a:p>
        </p:txBody>
      </p:sp>
      <p:sp>
        <p:nvSpPr>
          <p:cNvPr id="440" name="Google Shape;440;p26"/>
          <p:cNvSpPr/>
          <p:nvPr/>
        </p:nvSpPr>
        <p:spPr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1  6</a:t>
            </a:r>
            <a:endParaRPr/>
          </a:p>
        </p:txBody>
      </p:sp>
      <p:sp>
        <p:nvSpPr>
          <p:cNvPr id="431" name="Google Shape;431;p26"/>
          <p:cNvSpPr/>
          <p:nvPr/>
        </p:nvSpPr>
        <p:spPr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35" name="Google Shape;435;p26"/>
          <p:cNvSpPr/>
          <p:nvPr/>
        </p:nvSpPr>
        <p:spPr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33" name="Google Shape;433;p26"/>
          <p:cNvSpPr/>
          <p:nvPr/>
        </p:nvSpPr>
        <p:spPr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9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9</a:t>
            </a:r>
            <a:endParaRPr/>
          </a:p>
        </p:txBody>
      </p:sp>
      <p:sp>
        <p:nvSpPr>
          <p:cNvPr id="437" name="Google Shape;437;p26"/>
          <p:cNvSpPr/>
          <p:nvPr/>
        </p:nvSpPr>
        <p:spPr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/>
          </a:p>
        </p:txBody>
      </p:sp>
      <p:sp>
        <p:nvSpPr>
          <p:cNvPr id="441" name="Google Shape;441;p26"/>
          <p:cNvSpPr/>
          <p:nvPr/>
        </p:nvSpPr>
        <p:spPr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endParaRPr/>
          </a:p>
        </p:txBody>
      </p:sp>
      <p:sp>
        <p:nvSpPr>
          <p:cNvPr id="442" name="Google Shape;442;p26"/>
          <p:cNvSpPr/>
          <p:nvPr/>
        </p:nvSpPr>
        <p:spPr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8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8</a:t>
            </a:r>
            <a:endParaRPr/>
          </a:p>
        </p:txBody>
      </p:sp>
      <p:sp>
        <p:nvSpPr>
          <p:cNvPr id="443" name="Google Shape;443;p26"/>
          <p:cNvSpPr/>
          <p:nvPr/>
        </p:nvSpPr>
        <p:spPr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6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6</a:t>
            </a:r>
            <a:endParaRPr/>
          </a:p>
        </p:txBody>
      </p:sp>
      <p:sp>
        <p:nvSpPr>
          <p:cNvPr id="444" name="Google Shape;444;p26"/>
          <p:cNvSpPr/>
          <p:nvPr/>
        </p:nvSpPr>
        <p:spPr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/>
          </a:p>
        </p:txBody>
      </p:sp>
      <p:cxnSp>
        <p:nvCxnSpPr>
          <p:cNvPr id="445" name="Google Shape;445;p26"/>
          <p:cNvCxnSpPr>
            <a:stCxn id="439" idx="0"/>
            <a:endCxn id="438" idx="2"/>
          </p:cNvCxnSpPr>
          <p:nvPr/>
        </p:nvCxnSpPr>
        <p:spPr>
          <a:xfrm rot="10800000" flipH="1">
            <a:off x="58562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6" name="Google Shape;446;p26"/>
          <p:cNvCxnSpPr>
            <a:stCxn id="440" idx="0"/>
            <a:endCxn id="438" idx="2"/>
          </p:cNvCxnSpPr>
          <p:nvPr/>
        </p:nvCxnSpPr>
        <p:spPr>
          <a:xfrm rot="10800000">
            <a:off x="69246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7" name="Google Shape;447;p26"/>
          <p:cNvCxnSpPr>
            <a:stCxn id="441" idx="0"/>
            <a:endCxn id="439" idx="2"/>
          </p:cNvCxnSpPr>
          <p:nvPr/>
        </p:nvCxnSpPr>
        <p:spPr>
          <a:xfrm rot="10800000" flipH="1">
            <a:off x="53895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8" name="Google Shape;448;p26"/>
          <p:cNvCxnSpPr>
            <a:stCxn id="443" idx="0"/>
            <a:endCxn id="440" idx="2"/>
          </p:cNvCxnSpPr>
          <p:nvPr/>
        </p:nvCxnSpPr>
        <p:spPr>
          <a:xfrm rot="10800000" flipH="1">
            <a:off x="7511257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9" name="Google Shape;449;p26"/>
          <p:cNvCxnSpPr>
            <a:stCxn id="439" idx="2"/>
            <a:endCxn id="442" idx="0"/>
          </p:cNvCxnSpPr>
          <p:nvPr/>
        </p:nvCxnSpPr>
        <p:spPr>
          <a:xfrm>
            <a:off x="5856287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0" name="Google Shape;450;p26"/>
          <p:cNvCxnSpPr>
            <a:stCxn id="440" idx="2"/>
            <a:endCxn id="444" idx="0"/>
          </p:cNvCxnSpPr>
          <p:nvPr/>
        </p:nvCxnSpPr>
        <p:spPr>
          <a:xfrm>
            <a:off x="79914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1" name="Google Shape;451;p26"/>
          <p:cNvSpPr/>
          <p:nvPr/>
        </p:nvSpPr>
        <p:spPr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7  2  9  4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3  8  6  1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1  2  3  4  6  7  8  9</a:t>
            </a:r>
            <a:endParaRPr/>
          </a:p>
        </p:txBody>
      </p:sp>
      <p:cxnSp>
        <p:nvCxnSpPr>
          <p:cNvPr id="452" name="Google Shape;452;p26"/>
          <p:cNvCxnSpPr>
            <a:stCxn id="427" idx="0"/>
            <a:endCxn id="451" idx="2"/>
          </p:cNvCxnSpPr>
          <p:nvPr/>
        </p:nvCxnSpPr>
        <p:spPr>
          <a:xfrm rot="10800000" flipH="1">
            <a:off x="2505076" y="3020913"/>
            <a:ext cx="22194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3" name="Google Shape;453;p26"/>
          <p:cNvCxnSpPr>
            <a:stCxn id="438" idx="0"/>
            <a:endCxn id="451" idx="2"/>
          </p:cNvCxnSpPr>
          <p:nvPr/>
        </p:nvCxnSpPr>
        <p:spPr>
          <a:xfrm rot="10800000">
            <a:off x="4724475" y="3020913"/>
            <a:ext cx="22002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26"/>
          <p:cNvCxnSpPr/>
          <p:nvPr/>
        </p:nvCxnSpPr>
        <p:spPr>
          <a:xfrm flipH="1">
            <a:off x="762000" y="5181600"/>
            <a:ext cx="381000" cy="3810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455" name="Google Shape;455;p26"/>
          <p:cNvCxnSpPr/>
          <p:nvPr/>
        </p:nvCxnSpPr>
        <p:spPr>
          <a:xfrm>
            <a:off x="1752600" y="5181600"/>
            <a:ext cx="381000" cy="3810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456" name="Google Shape;456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Example (cont.)</a:t>
            </a:r>
            <a:endParaRPr/>
          </a:p>
        </p:txBody>
      </p:sp>
      <p:sp>
        <p:nvSpPr>
          <p:cNvPr id="462" name="Google Shape;462;p27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call, …, base case, merge</a:t>
            </a:r>
            <a:endParaRPr/>
          </a:p>
        </p:txBody>
      </p:sp>
      <p:cxnSp>
        <p:nvCxnSpPr>
          <p:cNvPr id="463" name="Google Shape;463;p27"/>
          <p:cNvCxnSpPr>
            <a:stCxn id="464" idx="0"/>
            <a:endCxn id="465" idx="2"/>
          </p:cNvCxnSpPr>
          <p:nvPr/>
        </p:nvCxnSpPr>
        <p:spPr>
          <a:xfrm rot="10800000" flipH="1">
            <a:off x="1447800" y="4044938"/>
            <a:ext cx="10572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27"/>
          <p:cNvCxnSpPr>
            <a:stCxn id="467" idx="0"/>
            <a:endCxn id="465" idx="2"/>
          </p:cNvCxnSpPr>
          <p:nvPr/>
        </p:nvCxnSpPr>
        <p:spPr>
          <a:xfrm rot="10800000">
            <a:off x="25050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8" name="Google Shape;468;p27"/>
          <p:cNvCxnSpPr>
            <a:stCxn id="469" idx="0"/>
            <a:endCxn id="464" idx="2"/>
          </p:cNvCxnSpPr>
          <p:nvPr/>
        </p:nvCxnSpPr>
        <p:spPr>
          <a:xfrm rot="10800000" flipH="1">
            <a:off x="969962" y="5070463"/>
            <a:ext cx="4779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27"/>
          <p:cNvCxnSpPr>
            <a:endCxn id="467" idx="2"/>
          </p:cNvCxnSpPr>
          <p:nvPr/>
        </p:nvCxnSpPr>
        <p:spPr>
          <a:xfrm rot="10800000" flipH="1">
            <a:off x="3092476" y="5070475"/>
            <a:ext cx="479400" cy="57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27"/>
          <p:cNvCxnSpPr>
            <a:stCxn id="464" idx="2"/>
            <a:endCxn id="472" idx="0"/>
          </p:cNvCxnSpPr>
          <p:nvPr/>
        </p:nvCxnSpPr>
        <p:spPr>
          <a:xfrm>
            <a:off x="1447800" y="5070475"/>
            <a:ext cx="495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27"/>
          <p:cNvCxnSpPr>
            <a:stCxn id="467" idx="2"/>
          </p:cNvCxnSpPr>
          <p:nvPr/>
        </p:nvCxnSpPr>
        <p:spPr>
          <a:xfrm>
            <a:off x="3571876" y="5070475"/>
            <a:ext cx="504900" cy="57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5" name="Google Shape;465;p27"/>
          <p:cNvSpPr/>
          <p:nvPr/>
        </p:nvSpPr>
        <p:spPr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7  2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9  4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2  4  7  9</a:t>
            </a:r>
            <a:endParaRPr/>
          </a:p>
        </p:txBody>
      </p:sp>
      <p:sp>
        <p:nvSpPr>
          <p:cNvPr id="474" name="Google Shape;474;p27"/>
          <p:cNvSpPr/>
          <p:nvPr/>
        </p:nvSpPr>
        <p:spPr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1  3  8  6</a:t>
            </a:r>
            <a:endParaRPr/>
          </a:p>
        </p:txBody>
      </p:sp>
      <p:sp>
        <p:nvSpPr>
          <p:cNvPr id="464" name="Google Shape;464;p27"/>
          <p:cNvSpPr/>
          <p:nvPr/>
        </p:nvSpPr>
        <p:spPr>
          <a:xfrm>
            <a:off x="685800" y="4643438"/>
            <a:ext cx="1524000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2  7</a:t>
            </a:r>
            <a:endParaRPr/>
          </a:p>
        </p:txBody>
      </p:sp>
      <p:sp>
        <p:nvSpPr>
          <p:cNvPr id="467" name="Google Shape;467;p27"/>
          <p:cNvSpPr/>
          <p:nvPr/>
        </p:nvSpPr>
        <p:spPr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9  4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4  9</a:t>
            </a:r>
            <a:endParaRPr/>
          </a:p>
        </p:txBody>
      </p:sp>
      <p:sp>
        <p:nvSpPr>
          <p:cNvPr id="475" name="Google Shape;475;p27"/>
          <p:cNvSpPr/>
          <p:nvPr/>
        </p:nvSpPr>
        <p:spPr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3  8</a:t>
            </a:r>
            <a:endParaRPr/>
          </a:p>
        </p:txBody>
      </p:sp>
      <p:sp>
        <p:nvSpPr>
          <p:cNvPr id="476" name="Google Shape;476;p27"/>
          <p:cNvSpPr/>
          <p:nvPr/>
        </p:nvSpPr>
        <p:spPr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1  6</a:t>
            </a:r>
            <a:endParaRPr/>
          </a:p>
        </p:txBody>
      </p:sp>
      <p:sp>
        <p:nvSpPr>
          <p:cNvPr id="469" name="Google Shape;469;p27"/>
          <p:cNvSpPr/>
          <p:nvPr/>
        </p:nvSpPr>
        <p:spPr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72" name="Google Shape;472;p27"/>
          <p:cNvSpPr/>
          <p:nvPr/>
        </p:nvSpPr>
        <p:spPr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77" name="Google Shape;477;p27"/>
          <p:cNvSpPr/>
          <p:nvPr/>
        </p:nvSpPr>
        <p:spPr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endParaRPr/>
          </a:p>
        </p:txBody>
      </p:sp>
      <p:sp>
        <p:nvSpPr>
          <p:cNvPr id="478" name="Google Shape;478;p27"/>
          <p:cNvSpPr/>
          <p:nvPr/>
        </p:nvSpPr>
        <p:spPr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8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8</a:t>
            </a:r>
            <a:endParaRPr/>
          </a:p>
        </p:txBody>
      </p:sp>
      <p:sp>
        <p:nvSpPr>
          <p:cNvPr id="479" name="Google Shape;479;p27"/>
          <p:cNvSpPr/>
          <p:nvPr/>
        </p:nvSpPr>
        <p:spPr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6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6</a:t>
            </a:r>
            <a:endParaRPr/>
          </a:p>
        </p:txBody>
      </p:sp>
      <p:sp>
        <p:nvSpPr>
          <p:cNvPr id="480" name="Google Shape;480;p27"/>
          <p:cNvSpPr/>
          <p:nvPr/>
        </p:nvSpPr>
        <p:spPr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/>
          </a:p>
        </p:txBody>
      </p:sp>
      <p:cxnSp>
        <p:nvCxnSpPr>
          <p:cNvPr id="481" name="Google Shape;481;p27"/>
          <p:cNvCxnSpPr>
            <a:stCxn id="475" idx="0"/>
            <a:endCxn id="474" idx="2"/>
          </p:cNvCxnSpPr>
          <p:nvPr/>
        </p:nvCxnSpPr>
        <p:spPr>
          <a:xfrm rot="10800000" flipH="1">
            <a:off x="58562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2" name="Google Shape;482;p27"/>
          <p:cNvCxnSpPr>
            <a:stCxn id="476" idx="0"/>
            <a:endCxn id="474" idx="2"/>
          </p:cNvCxnSpPr>
          <p:nvPr/>
        </p:nvCxnSpPr>
        <p:spPr>
          <a:xfrm rot="10800000">
            <a:off x="69246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3" name="Google Shape;483;p27"/>
          <p:cNvCxnSpPr>
            <a:stCxn id="477" idx="0"/>
            <a:endCxn id="475" idx="2"/>
          </p:cNvCxnSpPr>
          <p:nvPr/>
        </p:nvCxnSpPr>
        <p:spPr>
          <a:xfrm rot="10800000" flipH="1">
            <a:off x="53895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4" name="Google Shape;484;p27"/>
          <p:cNvCxnSpPr>
            <a:stCxn id="479" idx="0"/>
            <a:endCxn id="476" idx="2"/>
          </p:cNvCxnSpPr>
          <p:nvPr/>
        </p:nvCxnSpPr>
        <p:spPr>
          <a:xfrm rot="10800000" flipH="1">
            <a:off x="7511257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5" name="Google Shape;485;p27"/>
          <p:cNvCxnSpPr>
            <a:stCxn id="475" idx="2"/>
            <a:endCxn id="478" idx="0"/>
          </p:cNvCxnSpPr>
          <p:nvPr/>
        </p:nvCxnSpPr>
        <p:spPr>
          <a:xfrm>
            <a:off x="5856287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6" name="Google Shape;486;p27"/>
          <p:cNvCxnSpPr>
            <a:stCxn id="476" idx="2"/>
            <a:endCxn id="480" idx="0"/>
          </p:cNvCxnSpPr>
          <p:nvPr/>
        </p:nvCxnSpPr>
        <p:spPr>
          <a:xfrm>
            <a:off x="79914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7" name="Google Shape;487;p27"/>
          <p:cNvSpPr/>
          <p:nvPr/>
        </p:nvSpPr>
        <p:spPr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7  2  9  4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3  8  6  1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1  2  3  4  6  7  8  9</a:t>
            </a:r>
            <a:endParaRPr/>
          </a:p>
        </p:txBody>
      </p:sp>
      <p:cxnSp>
        <p:nvCxnSpPr>
          <p:cNvPr id="488" name="Google Shape;488;p27"/>
          <p:cNvCxnSpPr>
            <a:stCxn id="465" idx="0"/>
            <a:endCxn id="487" idx="2"/>
          </p:cNvCxnSpPr>
          <p:nvPr/>
        </p:nvCxnSpPr>
        <p:spPr>
          <a:xfrm rot="10800000" flipH="1">
            <a:off x="2505076" y="3020913"/>
            <a:ext cx="22194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9" name="Google Shape;489;p27"/>
          <p:cNvCxnSpPr>
            <a:stCxn id="474" idx="0"/>
            <a:endCxn id="487" idx="2"/>
          </p:cNvCxnSpPr>
          <p:nvPr/>
        </p:nvCxnSpPr>
        <p:spPr>
          <a:xfrm rot="10800000">
            <a:off x="4724475" y="3020913"/>
            <a:ext cx="22002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0" name="Google Shape;490;p27"/>
          <p:cNvCxnSpPr/>
          <p:nvPr/>
        </p:nvCxnSpPr>
        <p:spPr>
          <a:xfrm flipH="1">
            <a:off x="2895600" y="5181600"/>
            <a:ext cx="381000" cy="3810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491" name="Google Shape;491;p27"/>
          <p:cNvCxnSpPr/>
          <p:nvPr/>
        </p:nvCxnSpPr>
        <p:spPr>
          <a:xfrm>
            <a:off x="3886200" y="5181600"/>
            <a:ext cx="381000" cy="3810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492" name="Google Shape;492;p27"/>
          <p:cNvSpPr/>
          <p:nvPr/>
        </p:nvSpPr>
        <p:spPr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93" name="Google Shape;493;p27"/>
          <p:cNvSpPr/>
          <p:nvPr/>
        </p:nvSpPr>
        <p:spPr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/>
          </a:p>
        </p:txBody>
      </p:sp>
      <p:sp>
        <p:nvSpPr>
          <p:cNvPr id="494" name="Google Shape;494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Example (cont.)</a:t>
            </a:r>
            <a:endParaRPr/>
          </a:p>
        </p:txBody>
      </p:sp>
      <p:sp>
        <p:nvSpPr>
          <p:cNvPr id="500" name="Google Shape;500;p28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Merge</a:t>
            </a:r>
            <a:endParaRPr/>
          </a:p>
        </p:txBody>
      </p:sp>
      <p:cxnSp>
        <p:nvCxnSpPr>
          <p:cNvPr id="501" name="Google Shape;501;p28"/>
          <p:cNvCxnSpPr>
            <a:stCxn id="502" idx="0"/>
            <a:endCxn id="503" idx="2"/>
          </p:cNvCxnSpPr>
          <p:nvPr/>
        </p:nvCxnSpPr>
        <p:spPr>
          <a:xfrm rot="10800000" flipH="1">
            <a:off x="14366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4" name="Google Shape;504;p28"/>
          <p:cNvCxnSpPr>
            <a:stCxn id="505" idx="0"/>
            <a:endCxn id="503" idx="2"/>
          </p:cNvCxnSpPr>
          <p:nvPr/>
        </p:nvCxnSpPr>
        <p:spPr>
          <a:xfrm rot="10800000">
            <a:off x="2505132" y="4044938"/>
            <a:ext cx="10977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6" name="Google Shape;506;p28"/>
          <p:cNvCxnSpPr>
            <a:stCxn id="507" idx="0"/>
            <a:endCxn id="502" idx="2"/>
          </p:cNvCxnSpPr>
          <p:nvPr/>
        </p:nvCxnSpPr>
        <p:spPr>
          <a:xfrm rot="10800000" flipH="1">
            <a:off x="9699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8" name="Google Shape;508;p28"/>
          <p:cNvCxnSpPr>
            <a:stCxn id="509" idx="0"/>
            <a:endCxn id="505" idx="2"/>
          </p:cNvCxnSpPr>
          <p:nvPr/>
        </p:nvCxnSpPr>
        <p:spPr>
          <a:xfrm rot="10800000" flipH="1">
            <a:off x="3091657" y="5070463"/>
            <a:ext cx="5112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0" name="Google Shape;510;p28"/>
          <p:cNvCxnSpPr>
            <a:stCxn id="502" idx="2"/>
            <a:endCxn id="511" idx="0"/>
          </p:cNvCxnSpPr>
          <p:nvPr/>
        </p:nvCxnSpPr>
        <p:spPr>
          <a:xfrm>
            <a:off x="1436687" y="5070475"/>
            <a:ext cx="5064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2" name="Google Shape;512;p28"/>
          <p:cNvCxnSpPr>
            <a:stCxn id="505" idx="2"/>
            <a:endCxn id="513" idx="0"/>
          </p:cNvCxnSpPr>
          <p:nvPr/>
        </p:nvCxnSpPr>
        <p:spPr>
          <a:xfrm>
            <a:off x="3602832" y="5070475"/>
            <a:ext cx="4731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3" name="Google Shape;503;p28"/>
          <p:cNvSpPr/>
          <p:nvPr/>
        </p:nvSpPr>
        <p:spPr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7  2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9  4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2  4  7  9</a:t>
            </a:r>
            <a:endParaRPr/>
          </a:p>
        </p:txBody>
      </p:sp>
      <p:sp>
        <p:nvSpPr>
          <p:cNvPr id="514" name="Google Shape;514;p28"/>
          <p:cNvSpPr/>
          <p:nvPr/>
        </p:nvSpPr>
        <p:spPr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1  3  8  6</a:t>
            </a:r>
            <a:endParaRPr/>
          </a:p>
        </p:txBody>
      </p:sp>
      <p:sp>
        <p:nvSpPr>
          <p:cNvPr id="502" name="Google Shape;502;p28"/>
          <p:cNvSpPr/>
          <p:nvPr/>
        </p:nvSpPr>
        <p:spPr>
          <a:xfrm>
            <a:off x="7429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2  7</a:t>
            </a:r>
            <a:endParaRPr/>
          </a:p>
        </p:txBody>
      </p:sp>
      <p:sp>
        <p:nvSpPr>
          <p:cNvPr id="505" name="Google Shape;505;p28"/>
          <p:cNvSpPr/>
          <p:nvPr/>
        </p:nvSpPr>
        <p:spPr>
          <a:xfrm>
            <a:off x="2805113" y="4643438"/>
            <a:ext cx="1595437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9  4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4  9</a:t>
            </a:r>
            <a:endParaRPr/>
          </a:p>
        </p:txBody>
      </p:sp>
      <p:sp>
        <p:nvSpPr>
          <p:cNvPr id="515" name="Google Shape;515;p28"/>
          <p:cNvSpPr/>
          <p:nvPr/>
        </p:nvSpPr>
        <p:spPr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3  8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3  8</a:t>
            </a:r>
            <a:endParaRPr/>
          </a:p>
        </p:txBody>
      </p:sp>
      <p:sp>
        <p:nvSpPr>
          <p:cNvPr id="516" name="Google Shape;516;p28"/>
          <p:cNvSpPr/>
          <p:nvPr/>
        </p:nvSpPr>
        <p:spPr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6  1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1  6</a:t>
            </a:r>
            <a:endParaRPr/>
          </a:p>
        </p:txBody>
      </p:sp>
      <p:sp>
        <p:nvSpPr>
          <p:cNvPr id="507" name="Google Shape;507;p28"/>
          <p:cNvSpPr/>
          <p:nvPr/>
        </p:nvSpPr>
        <p:spPr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511" name="Google Shape;511;p28"/>
          <p:cNvSpPr/>
          <p:nvPr/>
        </p:nvSpPr>
        <p:spPr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09" name="Google Shape;509;p28"/>
          <p:cNvSpPr/>
          <p:nvPr/>
        </p:nvSpPr>
        <p:spPr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513" name="Google Shape;513;p28"/>
          <p:cNvSpPr/>
          <p:nvPr/>
        </p:nvSpPr>
        <p:spPr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/>
          </a:p>
        </p:txBody>
      </p:sp>
      <p:sp>
        <p:nvSpPr>
          <p:cNvPr id="517" name="Google Shape;517;p28"/>
          <p:cNvSpPr/>
          <p:nvPr/>
        </p:nvSpPr>
        <p:spPr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endParaRPr/>
          </a:p>
        </p:txBody>
      </p:sp>
      <p:sp>
        <p:nvSpPr>
          <p:cNvPr id="518" name="Google Shape;518;p28"/>
          <p:cNvSpPr/>
          <p:nvPr/>
        </p:nvSpPr>
        <p:spPr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8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8</a:t>
            </a:r>
            <a:endParaRPr/>
          </a:p>
        </p:txBody>
      </p:sp>
      <p:sp>
        <p:nvSpPr>
          <p:cNvPr id="519" name="Google Shape;519;p28"/>
          <p:cNvSpPr/>
          <p:nvPr/>
        </p:nvSpPr>
        <p:spPr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6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6</a:t>
            </a:r>
            <a:endParaRPr/>
          </a:p>
        </p:txBody>
      </p:sp>
      <p:sp>
        <p:nvSpPr>
          <p:cNvPr id="520" name="Google Shape;520;p28"/>
          <p:cNvSpPr/>
          <p:nvPr/>
        </p:nvSpPr>
        <p:spPr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1800" b="1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/>
          </a:p>
        </p:txBody>
      </p:sp>
      <p:cxnSp>
        <p:nvCxnSpPr>
          <p:cNvPr id="521" name="Google Shape;521;p28"/>
          <p:cNvCxnSpPr>
            <a:stCxn id="515" idx="0"/>
            <a:endCxn id="514" idx="2"/>
          </p:cNvCxnSpPr>
          <p:nvPr/>
        </p:nvCxnSpPr>
        <p:spPr>
          <a:xfrm rot="10800000" flipH="1">
            <a:off x="58562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2" name="Google Shape;522;p28"/>
          <p:cNvCxnSpPr>
            <a:stCxn id="516" idx="0"/>
            <a:endCxn id="514" idx="2"/>
          </p:cNvCxnSpPr>
          <p:nvPr/>
        </p:nvCxnSpPr>
        <p:spPr>
          <a:xfrm rot="10800000">
            <a:off x="69246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3" name="Google Shape;523;p28"/>
          <p:cNvCxnSpPr>
            <a:stCxn id="517" idx="0"/>
            <a:endCxn id="515" idx="2"/>
          </p:cNvCxnSpPr>
          <p:nvPr/>
        </p:nvCxnSpPr>
        <p:spPr>
          <a:xfrm rot="10800000" flipH="1">
            <a:off x="53895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4" name="Google Shape;524;p28"/>
          <p:cNvCxnSpPr>
            <a:stCxn id="519" idx="0"/>
            <a:endCxn id="516" idx="2"/>
          </p:cNvCxnSpPr>
          <p:nvPr/>
        </p:nvCxnSpPr>
        <p:spPr>
          <a:xfrm rot="10800000" flipH="1">
            <a:off x="7511257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5" name="Google Shape;525;p28"/>
          <p:cNvCxnSpPr>
            <a:stCxn id="515" idx="2"/>
            <a:endCxn id="518" idx="0"/>
          </p:cNvCxnSpPr>
          <p:nvPr/>
        </p:nvCxnSpPr>
        <p:spPr>
          <a:xfrm>
            <a:off x="5856287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6" name="Google Shape;526;p28"/>
          <p:cNvCxnSpPr>
            <a:stCxn id="516" idx="2"/>
            <a:endCxn id="520" idx="0"/>
          </p:cNvCxnSpPr>
          <p:nvPr/>
        </p:nvCxnSpPr>
        <p:spPr>
          <a:xfrm>
            <a:off x="79914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7" name="Google Shape;527;p28"/>
          <p:cNvSpPr/>
          <p:nvPr/>
        </p:nvSpPr>
        <p:spPr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7  2  9  4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3  8  6  1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1  2  3  4  6  7  8  9</a:t>
            </a:r>
            <a:endParaRPr/>
          </a:p>
        </p:txBody>
      </p:sp>
      <p:cxnSp>
        <p:nvCxnSpPr>
          <p:cNvPr id="528" name="Google Shape;528;p28"/>
          <p:cNvCxnSpPr>
            <a:stCxn id="503" idx="0"/>
            <a:endCxn id="527" idx="2"/>
          </p:cNvCxnSpPr>
          <p:nvPr/>
        </p:nvCxnSpPr>
        <p:spPr>
          <a:xfrm rot="10800000" flipH="1">
            <a:off x="2505076" y="3020913"/>
            <a:ext cx="22194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9" name="Google Shape;529;p28"/>
          <p:cNvCxnSpPr>
            <a:stCxn id="514" idx="0"/>
            <a:endCxn id="527" idx="2"/>
          </p:cNvCxnSpPr>
          <p:nvPr/>
        </p:nvCxnSpPr>
        <p:spPr>
          <a:xfrm rot="10800000">
            <a:off x="4724475" y="3020913"/>
            <a:ext cx="22002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0" name="Google Shape;530;p28"/>
          <p:cNvCxnSpPr/>
          <p:nvPr/>
        </p:nvCxnSpPr>
        <p:spPr>
          <a:xfrm flipH="1">
            <a:off x="1143000" y="4191000"/>
            <a:ext cx="609600" cy="3048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31" name="Google Shape;531;p28"/>
          <p:cNvCxnSpPr/>
          <p:nvPr/>
        </p:nvCxnSpPr>
        <p:spPr>
          <a:xfrm>
            <a:off x="3276600" y="4191000"/>
            <a:ext cx="609600" cy="3048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532" name="Google Shape;532;p2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Example (cont.)</a:t>
            </a:r>
            <a:endParaRPr/>
          </a:p>
        </p:txBody>
      </p:sp>
      <p:sp>
        <p:nvSpPr>
          <p:cNvPr id="538" name="Google Shape;538;p29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call, …, merge, merge</a:t>
            </a:r>
            <a:endParaRPr/>
          </a:p>
        </p:txBody>
      </p:sp>
      <p:cxnSp>
        <p:nvCxnSpPr>
          <p:cNvPr id="539" name="Google Shape;539;p29"/>
          <p:cNvCxnSpPr>
            <a:stCxn id="540" idx="0"/>
            <a:endCxn id="541" idx="2"/>
          </p:cNvCxnSpPr>
          <p:nvPr/>
        </p:nvCxnSpPr>
        <p:spPr>
          <a:xfrm rot="10800000" flipH="1">
            <a:off x="14366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2" name="Google Shape;542;p29"/>
          <p:cNvCxnSpPr>
            <a:stCxn id="543" idx="0"/>
            <a:endCxn id="541" idx="2"/>
          </p:cNvCxnSpPr>
          <p:nvPr/>
        </p:nvCxnSpPr>
        <p:spPr>
          <a:xfrm rot="10800000">
            <a:off x="2505132" y="4044938"/>
            <a:ext cx="10977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4" name="Google Shape;544;p29"/>
          <p:cNvCxnSpPr>
            <a:stCxn id="545" idx="0"/>
            <a:endCxn id="540" idx="2"/>
          </p:cNvCxnSpPr>
          <p:nvPr/>
        </p:nvCxnSpPr>
        <p:spPr>
          <a:xfrm rot="10800000" flipH="1">
            <a:off x="9699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6" name="Google Shape;546;p29"/>
          <p:cNvCxnSpPr>
            <a:stCxn id="547" idx="0"/>
            <a:endCxn id="543" idx="2"/>
          </p:cNvCxnSpPr>
          <p:nvPr/>
        </p:nvCxnSpPr>
        <p:spPr>
          <a:xfrm rot="10800000" flipH="1">
            <a:off x="3091657" y="5070463"/>
            <a:ext cx="5112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8" name="Google Shape;548;p29"/>
          <p:cNvCxnSpPr>
            <a:stCxn id="540" idx="2"/>
            <a:endCxn id="549" idx="0"/>
          </p:cNvCxnSpPr>
          <p:nvPr/>
        </p:nvCxnSpPr>
        <p:spPr>
          <a:xfrm>
            <a:off x="1436687" y="5070475"/>
            <a:ext cx="5064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0" name="Google Shape;550;p29"/>
          <p:cNvCxnSpPr>
            <a:stCxn id="543" idx="2"/>
            <a:endCxn id="551" idx="0"/>
          </p:cNvCxnSpPr>
          <p:nvPr/>
        </p:nvCxnSpPr>
        <p:spPr>
          <a:xfrm>
            <a:off x="3602832" y="5070475"/>
            <a:ext cx="4731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1" name="Google Shape;541;p29"/>
          <p:cNvSpPr/>
          <p:nvPr/>
        </p:nvSpPr>
        <p:spPr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7  2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9  4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2  4  7  9</a:t>
            </a:r>
            <a:endParaRPr/>
          </a:p>
        </p:txBody>
      </p:sp>
      <p:sp>
        <p:nvSpPr>
          <p:cNvPr id="552" name="Google Shape;552;p29"/>
          <p:cNvSpPr/>
          <p:nvPr/>
        </p:nvSpPr>
        <p:spPr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3  8  6  1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1  3  6  8</a:t>
            </a:r>
            <a:endParaRPr/>
          </a:p>
        </p:txBody>
      </p:sp>
      <p:sp>
        <p:nvSpPr>
          <p:cNvPr id="540" name="Google Shape;540;p29"/>
          <p:cNvSpPr/>
          <p:nvPr/>
        </p:nvSpPr>
        <p:spPr>
          <a:xfrm>
            <a:off x="7429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2  7</a:t>
            </a:r>
            <a:endParaRPr/>
          </a:p>
        </p:txBody>
      </p:sp>
      <p:sp>
        <p:nvSpPr>
          <p:cNvPr id="543" name="Google Shape;543;p29"/>
          <p:cNvSpPr/>
          <p:nvPr/>
        </p:nvSpPr>
        <p:spPr>
          <a:xfrm>
            <a:off x="2805113" y="4643438"/>
            <a:ext cx="1595437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9  4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4  9</a:t>
            </a:r>
            <a:endParaRPr/>
          </a:p>
        </p:txBody>
      </p:sp>
      <p:sp>
        <p:nvSpPr>
          <p:cNvPr id="553" name="Google Shape;553;p29"/>
          <p:cNvSpPr/>
          <p:nvPr/>
        </p:nvSpPr>
        <p:spPr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3  8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3  8</a:t>
            </a:r>
            <a:endParaRPr/>
          </a:p>
        </p:txBody>
      </p:sp>
      <p:sp>
        <p:nvSpPr>
          <p:cNvPr id="554" name="Google Shape;554;p29"/>
          <p:cNvSpPr/>
          <p:nvPr/>
        </p:nvSpPr>
        <p:spPr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6  1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1  6</a:t>
            </a:r>
            <a:endParaRPr/>
          </a:p>
        </p:txBody>
      </p:sp>
      <p:sp>
        <p:nvSpPr>
          <p:cNvPr id="545" name="Google Shape;545;p29"/>
          <p:cNvSpPr/>
          <p:nvPr/>
        </p:nvSpPr>
        <p:spPr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549" name="Google Shape;549;p29"/>
          <p:cNvSpPr/>
          <p:nvPr/>
        </p:nvSpPr>
        <p:spPr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47" name="Google Shape;547;p29"/>
          <p:cNvSpPr/>
          <p:nvPr/>
        </p:nvSpPr>
        <p:spPr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551" name="Google Shape;551;p29"/>
          <p:cNvSpPr/>
          <p:nvPr/>
        </p:nvSpPr>
        <p:spPr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/>
          </a:p>
        </p:txBody>
      </p:sp>
      <p:sp>
        <p:nvSpPr>
          <p:cNvPr id="555" name="Google Shape;555;p29"/>
          <p:cNvSpPr/>
          <p:nvPr/>
        </p:nvSpPr>
        <p:spPr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56" name="Google Shape;556;p29"/>
          <p:cNvSpPr/>
          <p:nvPr/>
        </p:nvSpPr>
        <p:spPr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57" name="Google Shape;557;p29"/>
          <p:cNvSpPr/>
          <p:nvPr/>
        </p:nvSpPr>
        <p:spPr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58" name="Google Shape;558;p29"/>
          <p:cNvSpPr/>
          <p:nvPr/>
        </p:nvSpPr>
        <p:spPr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559" name="Google Shape;559;p29"/>
          <p:cNvCxnSpPr>
            <a:stCxn id="553" idx="0"/>
            <a:endCxn id="552" idx="2"/>
          </p:cNvCxnSpPr>
          <p:nvPr/>
        </p:nvCxnSpPr>
        <p:spPr>
          <a:xfrm rot="10800000" flipH="1">
            <a:off x="58562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0" name="Google Shape;560;p29"/>
          <p:cNvCxnSpPr>
            <a:stCxn id="554" idx="0"/>
            <a:endCxn id="552" idx="2"/>
          </p:cNvCxnSpPr>
          <p:nvPr/>
        </p:nvCxnSpPr>
        <p:spPr>
          <a:xfrm rot="10800000">
            <a:off x="69246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1" name="Google Shape;561;p29"/>
          <p:cNvCxnSpPr>
            <a:stCxn id="555" idx="0"/>
            <a:endCxn id="553" idx="2"/>
          </p:cNvCxnSpPr>
          <p:nvPr/>
        </p:nvCxnSpPr>
        <p:spPr>
          <a:xfrm rot="10800000" flipH="1">
            <a:off x="53895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2" name="Google Shape;562;p29"/>
          <p:cNvCxnSpPr>
            <a:stCxn id="557" idx="0"/>
            <a:endCxn id="554" idx="2"/>
          </p:cNvCxnSpPr>
          <p:nvPr/>
        </p:nvCxnSpPr>
        <p:spPr>
          <a:xfrm rot="10800000" flipH="1">
            <a:off x="7511257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3" name="Google Shape;563;p29"/>
          <p:cNvCxnSpPr>
            <a:stCxn id="553" idx="2"/>
            <a:endCxn id="556" idx="0"/>
          </p:cNvCxnSpPr>
          <p:nvPr/>
        </p:nvCxnSpPr>
        <p:spPr>
          <a:xfrm>
            <a:off x="5856287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4" name="Google Shape;564;p29"/>
          <p:cNvCxnSpPr>
            <a:stCxn id="554" idx="2"/>
            <a:endCxn id="558" idx="0"/>
          </p:cNvCxnSpPr>
          <p:nvPr/>
        </p:nvCxnSpPr>
        <p:spPr>
          <a:xfrm>
            <a:off x="79914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5" name="Google Shape;565;p29"/>
          <p:cNvSpPr/>
          <p:nvPr/>
        </p:nvSpPr>
        <p:spPr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7  2  9  4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3  8  6  1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1  2  3  4  6  7  8  9</a:t>
            </a:r>
            <a:endParaRPr/>
          </a:p>
        </p:txBody>
      </p:sp>
      <p:cxnSp>
        <p:nvCxnSpPr>
          <p:cNvPr id="566" name="Google Shape;566;p29"/>
          <p:cNvCxnSpPr>
            <a:stCxn id="541" idx="0"/>
            <a:endCxn id="565" idx="2"/>
          </p:cNvCxnSpPr>
          <p:nvPr/>
        </p:nvCxnSpPr>
        <p:spPr>
          <a:xfrm rot="10800000" flipH="1">
            <a:off x="2505076" y="3020913"/>
            <a:ext cx="22194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7" name="Google Shape;567;p29"/>
          <p:cNvCxnSpPr>
            <a:stCxn id="552" idx="0"/>
            <a:endCxn id="565" idx="2"/>
          </p:cNvCxnSpPr>
          <p:nvPr/>
        </p:nvCxnSpPr>
        <p:spPr>
          <a:xfrm rot="10800000">
            <a:off x="4724475" y="3020913"/>
            <a:ext cx="22002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8" name="Google Shape;568;p29"/>
          <p:cNvCxnSpPr/>
          <p:nvPr/>
        </p:nvCxnSpPr>
        <p:spPr>
          <a:xfrm flipH="1">
            <a:off x="5562600" y="4191000"/>
            <a:ext cx="609600" cy="3048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69" name="Google Shape;569;p29"/>
          <p:cNvCxnSpPr/>
          <p:nvPr/>
        </p:nvCxnSpPr>
        <p:spPr>
          <a:xfrm>
            <a:off x="7696200" y="4191000"/>
            <a:ext cx="609600" cy="3048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570" name="Google Shape;570;p2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Example (cont.)</a:t>
            </a:r>
            <a:endParaRPr/>
          </a:p>
        </p:txBody>
      </p:sp>
      <p:sp>
        <p:nvSpPr>
          <p:cNvPr id="576" name="Google Shape;576;p30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Merge</a:t>
            </a:r>
            <a:endParaRPr/>
          </a:p>
        </p:txBody>
      </p:sp>
      <p:cxnSp>
        <p:nvCxnSpPr>
          <p:cNvPr id="577" name="Google Shape;577;p30"/>
          <p:cNvCxnSpPr>
            <a:stCxn id="578" idx="0"/>
            <a:endCxn id="579" idx="2"/>
          </p:cNvCxnSpPr>
          <p:nvPr/>
        </p:nvCxnSpPr>
        <p:spPr>
          <a:xfrm rot="10800000" flipH="1">
            <a:off x="14366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0" name="Google Shape;580;p30"/>
          <p:cNvCxnSpPr>
            <a:stCxn id="581" idx="0"/>
            <a:endCxn id="579" idx="2"/>
          </p:cNvCxnSpPr>
          <p:nvPr/>
        </p:nvCxnSpPr>
        <p:spPr>
          <a:xfrm rot="10800000">
            <a:off x="2505132" y="4044938"/>
            <a:ext cx="10977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2" name="Google Shape;582;p30"/>
          <p:cNvCxnSpPr>
            <a:stCxn id="583" idx="0"/>
            <a:endCxn id="578" idx="2"/>
          </p:cNvCxnSpPr>
          <p:nvPr/>
        </p:nvCxnSpPr>
        <p:spPr>
          <a:xfrm rot="10800000" flipH="1">
            <a:off x="9699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30"/>
          <p:cNvCxnSpPr>
            <a:stCxn id="585" idx="0"/>
            <a:endCxn id="581" idx="2"/>
          </p:cNvCxnSpPr>
          <p:nvPr/>
        </p:nvCxnSpPr>
        <p:spPr>
          <a:xfrm rot="10800000" flipH="1">
            <a:off x="3091657" y="5070463"/>
            <a:ext cx="5112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6" name="Google Shape;586;p30"/>
          <p:cNvCxnSpPr>
            <a:stCxn id="578" idx="2"/>
            <a:endCxn id="587" idx="0"/>
          </p:cNvCxnSpPr>
          <p:nvPr/>
        </p:nvCxnSpPr>
        <p:spPr>
          <a:xfrm>
            <a:off x="1436687" y="5070475"/>
            <a:ext cx="5064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8" name="Google Shape;588;p30"/>
          <p:cNvCxnSpPr>
            <a:stCxn id="581" idx="2"/>
            <a:endCxn id="589" idx="0"/>
          </p:cNvCxnSpPr>
          <p:nvPr/>
        </p:nvCxnSpPr>
        <p:spPr>
          <a:xfrm>
            <a:off x="3602832" y="5070475"/>
            <a:ext cx="4731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9" name="Google Shape;579;p30"/>
          <p:cNvSpPr/>
          <p:nvPr/>
        </p:nvSpPr>
        <p:spPr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7  2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9  4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2  4  7  9</a:t>
            </a:r>
            <a:endParaRPr/>
          </a:p>
        </p:txBody>
      </p:sp>
      <p:sp>
        <p:nvSpPr>
          <p:cNvPr id="590" name="Google Shape;590;p30"/>
          <p:cNvSpPr/>
          <p:nvPr/>
        </p:nvSpPr>
        <p:spPr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3  8  6  1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1  3  6  8</a:t>
            </a:r>
            <a:endParaRPr/>
          </a:p>
        </p:txBody>
      </p:sp>
      <p:sp>
        <p:nvSpPr>
          <p:cNvPr id="578" name="Google Shape;578;p30"/>
          <p:cNvSpPr/>
          <p:nvPr/>
        </p:nvSpPr>
        <p:spPr>
          <a:xfrm>
            <a:off x="7429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2  7</a:t>
            </a:r>
            <a:endParaRPr/>
          </a:p>
        </p:txBody>
      </p:sp>
      <p:sp>
        <p:nvSpPr>
          <p:cNvPr id="581" name="Google Shape;581;p30"/>
          <p:cNvSpPr/>
          <p:nvPr/>
        </p:nvSpPr>
        <p:spPr>
          <a:xfrm>
            <a:off x="2805113" y="4643438"/>
            <a:ext cx="1595437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9  4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4  9</a:t>
            </a:r>
            <a:endParaRPr/>
          </a:p>
        </p:txBody>
      </p:sp>
      <p:sp>
        <p:nvSpPr>
          <p:cNvPr id="591" name="Google Shape;591;p30"/>
          <p:cNvSpPr/>
          <p:nvPr/>
        </p:nvSpPr>
        <p:spPr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3  8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3  8</a:t>
            </a:r>
            <a:endParaRPr/>
          </a:p>
        </p:txBody>
      </p:sp>
      <p:sp>
        <p:nvSpPr>
          <p:cNvPr id="592" name="Google Shape;592;p30"/>
          <p:cNvSpPr/>
          <p:nvPr/>
        </p:nvSpPr>
        <p:spPr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6  1 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1  6</a:t>
            </a:r>
            <a:endParaRPr/>
          </a:p>
        </p:txBody>
      </p:sp>
      <p:sp>
        <p:nvSpPr>
          <p:cNvPr id="583" name="Google Shape;583;p30"/>
          <p:cNvSpPr/>
          <p:nvPr/>
        </p:nvSpPr>
        <p:spPr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587" name="Google Shape;587;p30"/>
          <p:cNvSpPr/>
          <p:nvPr/>
        </p:nvSpPr>
        <p:spPr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85" name="Google Shape;585;p30"/>
          <p:cNvSpPr/>
          <p:nvPr/>
        </p:nvSpPr>
        <p:spPr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589" name="Google Shape;589;p30"/>
          <p:cNvSpPr/>
          <p:nvPr/>
        </p:nvSpPr>
        <p:spPr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/>
          </a:p>
        </p:txBody>
      </p:sp>
      <p:sp>
        <p:nvSpPr>
          <p:cNvPr id="593" name="Google Shape;593;p30"/>
          <p:cNvSpPr/>
          <p:nvPr/>
        </p:nvSpPr>
        <p:spPr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94" name="Google Shape;594;p30"/>
          <p:cNvSpPr/>
          <p:nvPr/>
        </p:nvSpPr>
        <p:spPr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95" name="Google Shape;595;p30"/>
          <p:cNvSpPr/>
          <p:nvPr/>
        </p:nvSpPr>
        <p:spPr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96" name="Google Shape;596;p30"/>
          <p:cNvSpPr/>
          <p:nvPr/>
        </p:nvSpPr>
        <p:spPr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597" name="Google Shape;597;p30"/>
          <p:cNvCxnSpPr>
            <a:stCxn id="591" idx="0"/>
            <a:endCxn id="590" idx="2"/>
          </p:cNvCxnSpPr>
          <p:nvPr/>
        </p:nvCxnSpPr>
        <p:spPr>
          <a:xfrm rot="10800000" flipH="1">
            <a:off x="5856287" y="4044938"/>
            <a:ext cx="1068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8" name="Google Shape;598;p30"/>
          <p:cNvCxnSpPr>
            <a:stCxn id="592" idx="0"/>
            <a:endCxn id="590" idx="2"/>
          </p:cNvCxnSpPr>
          <p:nvPr/>
        </p:nvCxnSpPr>
        <p:spPr>
          <a:xfrm rot="10800000">
            <a:off x="6924676" y="4044938"/>
            <a:ext cx="10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9" name="Google Shape;599;p30"/>
          <p:cNvCxnSpPr>
            <a:stCxn id="593" idx="0"/>
            <a:endCxn id="591" idx="2"/>
          </p:cNvCxnSpPr>
          <p:nvPr/>
        </p:nvCxnSpPr>
        <p:spPr>
          <a:xfrm rot="10800000" flipH="1">
            <a:off x="5389562" y="5070463"/>
            <a:ext cx="4668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0" name="Google Shape;600;p30"/>
          <p:cNvCxnSpPr>
            <a:stCxn id="595" idx="0"/>
            <a:endCxn id="592" idx="2"/>
          </p:cNvCxnSpPr>
          <p:nvPr/>
        </p:nvCxnSpPr>
        <p:spPr>
          <a:xfrm rot="10800000" flipH="1">
            <a:off x="7511257" y="5070463"/>
            <a:ext cx="480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1" name="Google Shape;601;p30"/>
          <p:cNvCxnSpPr>
            <a:stCxn id="591" idx="2"/>
            <a:endCxn id="594" idx="0"/>
          </p:cNvCxnSpPr>
          <p:nvPr/>
        </p:nvCxnSpPr>
        <p:spPr>
          <a:xfrm>
            <a:off x="5856287" y="5070475"/>
            <a:ext cx="5073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2" name="Google Shape;602;p30"/>
          <p:cNvCxnSpPr>
            <a:stCxn id="592" idx="2"/>
            <a:endCxn id="596" idx="0"/>
          </p:cNvCxnSpPr>
          <p:nvPr/>
        </p:nvCxnSpPr>
        <p:spPr>
          <a:xfrm>
            <a:off x="7991476" y="5070475"/>
            <a:ext cx="504000" cy="59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3" name="Google Shape;603;p30"/>
          <p:cNvSpPr/>
          <p:nvPr/>
        </p:nvSpPr>
        <p:spPr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7  2  9  4 </a:t>
            </a:r>
            <a:r>
              <a:rPr lang="en-US" sz="1800" b="1" i="0" u="none" strike="noStrike" cap="non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3  8  6  1</a:t>
            </a:r>
            <a:r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1  2  3  4  6  7  8  9</a:t>
            </a:r>
            <a:endParaRPr/>
          </a:p>
        </p:txBody>
      </p:sp>
      <p:cxnSp>
        <p:nvCxnSpPr>
          <p:cNvPr id="604" name="Google Shape;604;p30"/>
          <p:cNvCxnSpPr>
            <a:stCxn id="579" idx="0"/>
            <a:endCxn id="603" idx="2"/>
          </p:cNvCxnSpPr>
          <p:nvPr/>
        </p:nvCxnSpPr>
        <p:spPr>
          <a:xfrm rot="10800000" flipH="1">
            <a:off x="2505076" y="3020913"/>
            <a:ext cx="22194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5" name="Google Shape;605;p30"/>
          <p:cNvCxnSpPr>
            <a:stCxn id="590" idx="0"/>
            <a:endCxn id="603" idx="2"/>
          </p:cNvCxnSpPr>
          <p:nvPr/>
        </p:nvCxnSpPr>
        <p:spPr>
          <a:xfrm rot="10800000">
            <a:off x="4724475" y="3020913"/>
            <a:ext cx="2200200" cy="59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6" name="Google Shape;606;p30"/>
          <p:cNvCxnSpPr/>
          <p:nvPr/>
        </p:nvCxnSpPr>
        <p:spPr>
          <a:xfrm flipH="1">
            <a:off x="2743200" y="3124200"/>
            <a:ext cx="685800" cy="2286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607" name="Google Shape;607;p30"/>
          <p:cNvCxnSpPr/>
          <p:nvPr/>
        </p:nvCxnSpPr>
        <p:spPr>
          <a:xfrm>
            <a:off x="6019800" y="3124200"/>
            <a:ext cx="685800" cy="2286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08" name="Google Shape;608;p3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Analysis of Merge-Sort</a:t>
            </a:r>
            <a:endParaRPr dirty="0"/>
          </a:p>
        </p:txBody>
      </p:sp>
      <p:sp>
        <p:nvSpPr>
          <p:cNvPr id="614" name="Google Shape;614;p31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31014" y="1828800"/>
            <a:ext cx="79248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height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the merge-sort tree is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(log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 each recursive call we divide in half the sequence,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overall amount or work done at the nodes of depth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partition and merge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800" b="1" i="1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sequences of size </a:t>
            </a: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800" b="1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/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800" b="1" i="1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make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800" b="1" i="1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800" b="0" i="0" u="none" strike="noStrike" cap="none" baseline="30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18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recursive calls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Thus, the total running time of merge-sort is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grpSp>
        <p:nvGrpSpPr>
          <p:cNvPr id="615" name="Google Shape;615;p31"/>
          <p:cNvGrpSpPr/>
          <p:nvPr/>
        </p:nvGrpSpPr>
        <p:grpSpPr>
          <a:xfrm>
            <a:off x="3429000" y="4391025"/>
            <a:ext cx="4191000" cy="1785938"/>
            <a:chOff x="384" y="1632"/>
            <a:chExt cx="5184" cy="2208"/>
          </a:xfrm>
        </p:grpSpPr>
        <p:cxnSp>
          <p:nvCxnSpPr>
            <p:cNvPr id="616" name="Google Shape;616;p31"/>
            <p:cNvCxnSpPr>
              <a:stCxn id="617" idx="0"/>
              <a:endCxn id="618" idx="2"/>
            </p:cNvCxnSpPr>
            <p:nvPr/>
          </p:nvCxnSpPr>
          <p:spPr>
            <a:xfrm rot="10800000" flipH="1">
              <a:off x="905" y="2625"/>
              <a:ext cx="6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9" name="Google Shape;619;p31"/>
            <p:cNvCxnSpPr>
              <a:stCxn id="620" idx="0"/>
              <a:endCxn id="618" idx="2"/>
            </p:cNvCxnSpPr>
            <p:nvPr/>
          </p:nvCxnSpPr>
          <p:spPr>
            <a:xfrm rot="10800000">
              <a:off x="1650" y="2625"/>
              <a:ext cx="6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1" name="Google Shape;621;p31"/>
            <p:cNvCxnSpPr>
              <a:stCxn id="622" idx="0"/>
              <a:endCxn id="617" idx="2"/>
            </p:cNvCxnSpPr>
            <p:nvPr/>
          </p:nvCxnSpPr>
          <p:spPr>
            <a:xfrm rot="10800000" flipH="1">
              <a:off x="611" y="3271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3" name="Google Shape;623;p31"/>
            <p:cNvCxnSpPr>
              <a:stCxn id="624" idx="0"/>
              <a:endCxn id="620" idx="2"/>
            </p:cNvCxnSpPr>
            <p:nvPr/>
          </p:nvCxnSpPr>
          <p:spPr>
            <a:xfrm rot="10800000" flipH="1">
              <a:off x="1948" y="3271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5" name="Google Shape;625;p31"/>
            <p:cNvCxnSpPr>
              <a:stCxn id="617" idx="2"/>
              <a:endCxn id="626" idx="0"/>
            </p:cNvCxnSpPr>
            <p:nvPr/>
          </p:nvCxnSpPr>
          <p:spPr>
            <a:xfrm>
              <a:off x="905" y="3194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7" name="Google Shape;627;p31"/>
            <p:cNvCxnSpPr>
              <a:stCxn id="620" idx="2"/>
              <a:endCxn id="628" idx="0"/>
            </p:cNvCxnSpPr>
            <p:nvPr/>
          </p:nvCxnSpPr>
          <p:spPr>
            <a:xfrm>
              <a:off x="2250" y="3194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18" name="Google Shape;618;p31"/>
            <p:cNvSpPr/>
            <p:nvPr/>
          </p:nvSpPr>
          <p:spPr>
            <a:xfrm>
              <a:off x="771" y="2279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31"/>
            <p:cNvSpPr/>
            <p:nvPr/>
          </p:nvSpPr>
          <p:spPr>
            <a:xfrm>
              <a:off x="3555" y="2279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0" name="Google Shape;630;p31"/>
            <p:cNvGrpSpPr/>
            <p:nvPr/>
          </p:nvGrpSpPr>
          <p:grpSpPr>
            <a:xfrm>
              <a:off x="468" y="2925"/>
              <a:ext cx="5037" cy="269"/>
              <a:chOff x="468" y="3168"/>
              <a:chExt cx="5037" cy="269"/>
            </a:xfrm>
          </p:grpSpPr>
          <p:sp>
            <p:nvSpPr>
              <p:cNvPr id="617" name="Google Shape;617;p31"/>
              <p:cNvSpPr/>
              <p:nvPr/>
            </p:nvSpPr>
            <p:spPr>
              <a:xfrm>
                <a:off x="468" y="3168"/>
                <a:ext cx="874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31"/>
              <p:cNvSpPr/>
              <p:nvPr/>
            </p:nvSpPr>
            <p:spPr>
              <a:xfrm>
                <a:off x="1779" y="3168"/>
                <a:ext cx="942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31"/>
              <p:cNvSpPr/>
              <p:nvPr/>
            </p:nvSpPr>
            <p:spPr>
              <a:xfrm>
                <a:off x="3252" y="3168"/>
                <a:ext cx="874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31"/>
              <p:cNvSpPr/>
              <p:nvPr/>
            </p:nvSpPr>
            <p:spPr>
              <a:xfrm>
                <a:off x="4563" y="3168"/>
                <a:ext cx="942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3" name="Google Shape;633;p31"/>
            <p:cNvGrpSpPr/>
            <p:nvPr/>
          </p:nvGrpSpPr>
          <p:grpSpPr>
            <a:xfrm>
              <a:off x="384" y="3571"/>
              <a:ext cx="5184" cy="269"/>
              <a:chOff x="384" y="3571"/>
              <a:chExt cx="5184" cy="269"/>
            </a:xfrm>
          </p:grpSpPr>
          <p:sp>
            <p:nvSpPr>
              <p:cNvPr id="622" name="Google Shape;622;p31"/>
              <p:cNvSpPr/>
              <p:nvPr/>
            </p:nvSpPr>
            <p:spPr>
              <a:xfrm>
                <a:off x="384" y="3571"/>
                <a:ext cx="454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31"/>
              <p:cNvSpPr/>
              <p:nvPr/>
            </p:nvSpPr>
            <p:spPr>
              <a:xfrm>
                <a:off x="1006" y="3571"/>
                <a:ext cx="437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31"/>
              <p:cNvSpPr/>
              <p:nvPr/>
            </p:nvSpPr>
            <p:spPr>
              <a:xfrm>
                <a:off x="1725" y="3571"/>
                <a:ext cx="445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31"/>
              <p:cNvSpPr/>
              <p:nvPr/>
            </p:nvSpPr>
            <p:spPr>
              <a:xfrm>
                <a:off x="2351" y="3571"/>
                <a:ext cx="433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31"/>
              <p:cNvSpPr/>
              <p:nvPr/>
            </p:nvSpPr>
            <p:spPr>
              <a:xfrm>
                <a:off x="3168" y="3571"/>
                <a:ext cx="454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31"/>
              <p:cNvSpPr/>
              <p:nvPr/>
            </p:nvSpPr>
            <p:spPr>
              <a:xfrm>
                <a:off x="3790" y="3571"/>
                <a:ext cx="437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31"/>
              <p:cNvSpPr/>
              <p:nvPr/>
            </p:nvSpPr>
            <p:spPr>
              <a:xfrm>
                <a:off x="4509" y="3571"/>
                <a:ext cx="445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31"/>
              <p:cNvSpPr/>
              <p:nvPr/>
            </p:nvSpPr>
            <p:spPr>
              <a:xfrm>
                <a:off x="5135" y="3571"/>
                <a:ext cx="433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folHlink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638" name="Google Shape;638;p31"/>
            <p:cNvCxnSpPr>
              <a:stCxn id="631" idx="0"/>
              <a:endCxn id="629" idx="2"/>
            </p:cNvCxnSpPr>
            <p:nvPr/>
          </p:nvCxnSpPr>
          <p:spPr>
            <a:xfrm rot="10800000" flipH="1">
              <a:off x="3689" y="2625"/>
              <a:ext cx="6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9" name="Google Shape;639;p31"/>
            <p:cNvCxnSpPr>
              <a:stCxn id="632" idx="0"/>
              <a:endCxn id="629" idx="2"/>
            </p:cNvCxnSpPr>
            <p:nvPr/>
          </p:nvCxnSpPr>
          <p:spPr>
            <a:xfrm rot="10800000">
              <a:off x="4434" y="2625"/>
              <a:ext cx="6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0" name="Google Shape;640;p31"/>
            <p:cNvCxnSpPr>
              <a:stCxn id="634" idx="0"/>
              <a:endCxn id="631" idx="2"/>
            </p:cNvCxnSpPr>
            <p:nvPr/>
          </p:nvCxnSpPr>
          <p:spPr>
            <a:xfrm rot="10800000" flipH="1">
              <a:off x="3395" y="3271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1" name="Google Shape;641;p31"/>
            <p:cNvCxnSpPr>
              <a:stCxn id="636" idx="0"/>
              <a:endCxn id="632" idx="2"/>
            </p:cNvCxnSpPr>
            <p:nvPr/>
          </p:nvCxnSpPr>
          <p:spPr>
            <a:xfrm rot="10800000" flipH="1">
              <a:off x="4732" y="3271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2" name="Google Shape;642;p31"/>
            <p:cNvCxnSpPr>
              <a:stCxn id="631" idx="2"/>
              <a:endCxn id="635" idx="0"/>
            </p:cNvCxnSpPr>
            <p:nvPr/>
          </p:nvCxnSpPr>
          <p:spPr>
            <a:xfrm>
              <a:off x="3689" y="3194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3" name="Google Shape;643;p31"/>
            <p:cNvCxnSpPr>
              <a:stCxn id="632" idx="2"/>
              <a:endCxn id="637" idx="0"/>
            </p:cNvCxnSpPr>
            <p:nvPr/>
          </p:nvCxnSpPr>
          <p:spPr>
            <a:xfrm>
              <a:off x="5034" y="3194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44" name="Google Shape;644;p31"/>
            <p:cNvSpPr/>
            <p:nvPr/>
          </p:nvSpPr>
          <p:spPr>
            <a:xfrm>
              <a:off x="1440" y="1632"/>
              <a:ext cx="3072" cy="27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45" name="Google Shape;645;p31"/>
            <p:cNvCxnSpPr>
              <a:stCxn id="618" idx="0"/>
              <a:endCxn id="644" idx="2"/>
            </p:cNvCxnSpPr>
            <p:nvPr/>
          </p:nvCxnSpPr>
          <p:spPr>
            <a:xfrm rot="10800000" flipH="1">
              <a:off x="1578" y="1979"/>
              <a:ext cx="15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6" name="Google Shape;646;p31"/>
            <p:cNvCxnSpPr>
              <a:stCxn id="629" idx="0"/>
              <a:endCxn id="644" idx="2"/>
            </p:cNvCxnSpPr>
            <p:nvPr/>
          </p:nvCxnSpPr>
          <p:spPr>
            <a:xfrm rot="10800000">
              <a:off x="2862" y="1979"/>
              <a:ext cx="15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647" name="Google Shape;647;p31"/>
          <p:cNvGraphicFramePr/>
          <p:nvPr/>
        </p:nvGraphicFramePr>
        <p:xfrm>
          <a:off x="1219200" y="4246240"/>
          <a:ext cx="2057400" cy="2381275"/>
        </p:xfrm>
        <a:graphic>
          <a:graphicData uri="http://schemas.openxmlformats.org/drawingml/2006/table">
            <a:tbl>
              <a:tblPr>
                <a:noFill/>
                <a:tableStyleId>{7B1CF65D-FCD2-4DD9-9065-E694EA928A95}</a:tableStyleId>
              </a:tblPr>
              <a:tblGrid>
                <a:gridCol w="685800"/>
                <a:gridCol w="685800"/>
                <a:gridCol w="685800"/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depth</a:t>
                      </a: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#seqs</a:t>
                      </a: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size</a:t>
                      </a: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2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/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b="1" i="1" u="none" strike="noStrike" cap="none" baseline="30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2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18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US" sz="1800" b="1" i="1" u="none" strike="noStrike" cap="none" baseline="30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1800" b="0" i="0" u="none" strike="noStrike" cap="none" baseline="30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/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US" sz="1800" b="1" i="1" u="none" strike="noStrike" cap="none" baseline="30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980"/>
                        <a:buFont typeface="Noto Sans Symbols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648" name="Google Shape;648;p3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50"/>
          <p:cNvSpPr>
            <a:spLocks noChangeArrowheads="1"/>
          </p:cNvSpPr>
          <p:nvPr/>
        </p:nvSpPr>
        <p:spPr bwMode="auto">
          <a:xfrm>
            <a:off x="5816600" y="5670550"/>
            <a:ext cx="228600" cy="342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ＭＳ Ｐゴシック" charset="0"/>
              </a:rPr>
              <a:t>Quick-Sort</a:t>
            </a:r>
          </a:p>
        </p:txBody>
      </p:sp>
      <p:sp>
        <p:nvSpPr>
          <p:cNvPr id="4096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sz="half" idx="1"/>
          </p:nvPr>
        </p:nvSpPr>
        <p:spPr>
          <a:xfrm>
            <a:off x="685800" y="1676400"/>
            <a:ext cx="4114800" cy="4572000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solidFill>
                  <a:schemeClr val="tx2"/>
                </a:solidFill>
                <a:latin typeface="Helvetica" charset="0"/>
                <a:ea typeface="ＭＳ Ｐゴシック" charset="0"/>
                <a:cs typeface="ＭＳ Ｐゴシック" charset="0"/>
              </a:rPr>
              <a:t>Quick-sort</a:t>
            </a:r>
            <a:r>
              <a:rPr lang="en-US" sz="2400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là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thuật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toán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sătps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xếp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ngẫu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nhiên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dựa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trên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chiến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lược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chia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và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 smtClean="0">
                <a:latin typeface="Helvetica" charset="0"/>
                <a:ea typeface="ＭＳ Ｐゴシック" charset="0"/>
                <a:cs typeface="ＭＳ Ｐゴシック" charset="0"/>
              </a:rPr>
              <a:t>trị</a:t>
            </a:r>
            <a:r>
              <a:rPr lang="en-US" sz="2400" dirty="0" smtClean="0">
                <a:latin typeface="Helvetica" charset="0"/>
                <a:ea typeface="ＭＳ Ｐゴシック" charset="0"/>
                <a:cs typeface="ＭＳ Ｐゴシック" charset="0"/>
              </a:rPr>
              <a:t>:</a:t>
            </a:r>
            <a:endParaRPr lang="en-US" sz="2400" dirty="0">
              <a:latin typeface="Helvetica" charset="0"/>
              <a:ea typeface="ＭＳ Ｐゴシック" charset="0"/>
              <a:cs typeface="ＭＳ Ｐゴシック" charset="0"/>
            </a:endParaRPr>
          </a:p>
          <a:p>
            <a:pPr lvl="1"/>
            <a:r>
              <a:rPr lang="en-US" sz="2000" dirty="0" smtClean="0">
                <a:latin typeface="Helvetica" charset="0"/>
                <a:ea typeface="ＭＳ Ｐゴシック" charset="0"/>
              </a:rPr>
              <a:t>Chia: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Chọn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ngẫu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nhiên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một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phần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tử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b="1" i="1" dirty="0" smtClean="0">
                <a:latin typeface="Times New Roman" charset="0"/>
                <a:ea typeface="ＭＳ Ｐゴシック" charset="0"/>
              </a:rPr>
              <a:t>x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(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gọi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là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khoá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)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và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phân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hoạch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b="1" i="1" dirty="0" smtClean="0">
                <a:latin typeface="Times New Roman" charset="0"/>
                <a:ea typeface="ＭＳ Ｐゴシック" charset="0"/>
              </a:rPr>
              <a:t>S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vào</a:t>
            </a:r>
            <a:endParaRPr lang="en-US" sz="2000" dirty="0">
              <a:latin typeface="Helvetica" charset="0"/>
              <a:ea typeface="ＭＳ Ｐゴシック" charset="0"/>
            </a:endParaRPr>
          </a:p>
          <a:p>
            <a:pPr lvl="2"/>
            <a:r>
              <a:rPr lang="en-US" sz="1800" b="1" i="1" dirty="0">
                <a:latin typeface="Times New Roman" charset="0"/>
                <a:ea typeface="ＭＳ Ｐゴシック" charset="0"/>
              </a:rPr>
              <a:t>L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chứa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các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phần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tử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bé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hơn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b="1" i="1" dirty="0">
                <a:latin typeface="Times New Roman" charset="0"/>
                <a:ea typeface="ＭＳ Ｐゴシック" charset="0"/>
              </a:rPr>
              <a:t>x</a:t>
            </a:r>
          </a:p>
          <a:p>
            <a:pPr lvl="2"/>
            <a:r>
              <a:rPr lang="en-US" sz="1800" b="1" i="1" dirty="0">
                <a:latin typeface="Times New Roman" charset="0"/>
                <a:ea typeface="ＭＳ Ｐゴシック" charset="0"/>
              </a:rPr>
              <a:t>E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chứa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các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phần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tử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bằng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b="1" i="1" dirty="0">
                <a:latin typeface="Times New Roman" charset="0"/>
                <a:ea typeface="ＭＳ Ｐゴシック" charset="0"/>
              </a:rPr>
              <a:t>x</a:t>
            </a:r>
            <a:endParaRPr lang="en-US" sz="1800" dirty="0">
              <a:latin typeface="Helvetica" charset="0"/>
              <a:ea typeface="ＭＳ Ｐゴシック" charset="0"/>
            </a:endParaRPr>
          </a:p>
          <a:p>
            <a:pPr lvl="2"/>
            <a:r>
              <a:rPr lang="en-US" sz="1800" b="1" i="1" dirty="0">
                <a:latin typeface="Times New Roman" charset="0"/>
                <a:ea typeface="ＭＳ Ｐゴシック" charset="0"/>
              </a:rPr>
              <a:t>G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chứa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các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phần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tử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lớn</a:t>
            </a:r>
            <a:r>
              <a:rPr lang="en-US" sz="1800" i="1" dirty="0" smtClean="0">
                <a:latin typeface="Times New Roman" charset="0"/>
                <a:ea typeface="ＭＳ Ｐゴシック" charset="0"/>
              </a:rPr>
              <a:t> </a:t>
            </a:r>
            <a:r>
              <a:rPr lang="en-US" sz="1800" i="1" dirty="0" err="1" smtClean="0">
                <a:latin typeface="Times New Roman" charset="0"/>
                <a:ea typeface="ＭＳ Ｐゴシック" charset="0"/>
              </a:rPr>
              <a:t>hơn</a:t>
            </a:r>
            <a:r>
              <a:rPr lang="en-US" sz="18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1800" b="1" i="1" dirty="0">
                <a:latin typeface="Times New Roman" charset="0"/>
                <a:ea typeface="ＭＳ Ｐゴシック" charset="0"/>
              </a:rPr>
              <a:t>x</a:t>
            </a:r>
            <a:endParaRPr lang="en-US" sz="1800" dirty="0">
              <a:latin typeface="Helvetica" charset="0"/>
              <a:ea typeface="ＭＳ Ｐゴシック" charset="0"/>
            </a:endParaRPr>
          </a:p>
          <a:p>
            <a:pPr lvl="1"/>
            <a:r>
              <a:rPr lang="en-US" sz="2000" dirty="0" err="1" smtClean="0">
                <a:latin typeface="Helvetica" charset="0"/>
                <a:ea typeface="ＭＳ Ｐゴシック" charset="0"/>
              </a:rPr>
              <a:t>Đệ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quy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: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Sắp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xếp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b="1" i="1" dirty="0" smtClean="0">
                <a:latin typeface="Times New Roman" charset="0"/>
                <a:ea typeface="ＭＳ Ｐゴシック" charset="0"/>
              </a:rPr>
              <a:t>L </a:t>
            </a:r>
            <a:r>
              <a:rPr lang="en-US" sz="2000" i="1" dirty="0" err="1" smtClean="0">
                <a:latin typeface="Times New Roman" charset="0"/>
                <a:ea typeface="ＭＳ Ｐゴシック" charset="0"/>
              </a:rPr>
              <a:t>và</a:t>
            </a:r>
            <a:r>
              <a:rPr lang="en-US" sz="2000" b="1" i="1" dirty="0" smtClean="0">
                <a:latin typeface="Times New Roman" charset="0"/>
                <a:ea typeface="ＭＳ Ｐゴシック" charset="0"/>
              </a:rPr>
              <a:t> G</a:t>
            </a:r>
            <a:endParaRPr lang="en-US" sz="2000" dirty="0">
              <a:latin typeface="Helvetica" charset="0"/>
              <a:ea typeface="ＭＳ Ｐゴシック" charset="0"/>
            </a:endParaRPr>
          </a:p>
          <a:p>
            <a:pPr lvl="1"/>
            <a:r>
              <a:rPr lang="en-US" sz="2000" dirty="0" err="1" smtClean="0">
                <a:latin typeface="Helvetica" charset="0"/>
                <a:ea typeface="ＭＳ Ｐゴシック" charset="0"/>
              </a:rPr>
              <a:t>Trị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: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Kết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dirty="0" err="1" smtClean="0">
                <a:latin typeface="Helvetica" charset="0"/>
                <a:ea typeface="ＭＳ Ｐゴシック" charset="0"/>
              </a:rPr>
              <a:t>hợp</a:t>
            </a:r>
            <a:r>
              <a:rPr lang="en-US" sz="2000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b="1" i="1" dirty="0" smtClean="0">
                <a:latin typeface="Times New Roman" charset="0"/>
                <a:ea typeface="ＭＳ Ｐゴシック" charset="0"/>
              </a:rPr>
              <a:t>L</a:t>
            </a:r>
            <a:r>
              <a:rPr lang="en-US" sz="2000" dirty="0">
                <a:latin typeface="Helvetica" charset="0"/>
                <a:ea typeface="ＭＳ Ｐゴシック" charset="0"/>
              </a:rPr>
              <a:t>, </a:t>
            </a:r>
            <a:r>
              <a:rPr lang="en-US" sz="2000" b="1" i="1" dirty="0">
                <a:latin typeface="Times New Roman" charset="0"/>
                <a:ea typeface="ＭＳ Ｐゴシック" charset="0"/>
              </a:rPr>
              <a:t>E</a:t>
            </a:r>
            <a:r>
              <a:rPr lang="en-US" sz="2000" b="1" i="1" dirty="0">
                <a:latin typeface="Helvetica" charset="0"/>
                <a:ea typeface="ＭＳ Ｐゴシック" charset="0"/>
              </a:rPr>
              <a:t> </a:t>
            </a:r>
            <a:r>
              <a:rPr lang="en-US" sz="2000" i="1" dirty="0" err="1" smtClean="0">
                <a:latin typeface="Helvetica" charset="0"/>
                <a:ea typeface="ＭＳ Ｐゴシック" charset="0"/>
              </a:rPr>
              <a:t>và</a:t>
            </a:r>
            <a:r>
              <a:rPr lang="en-US" sz="2000" b="1" i="1" dirty="0" smtClean="0">
                <a:latin typeface="Helvetica" charset="0"/>
                <a:ea typeface="ＭＳ Ｐゴシック" charset="0"/>
              </a:rPr>
              <a:t> </a:t>
            </a:r>
            <a:r>
              <a:rPr lang="en-US" sz="2000" b="1" i="1" dirty="0" smtClean="0">
                <a:latin typeface="Times New Roman" charset="0"/>
                <a:ea typeface="ＭＳ Ｐゴシック" charset="0"/>
              </a:rPr>
              <a:t>G</a:t>
            </a:r>
            <a:endParaRPr lang="en-US" sz="2000" b="1" i="1" dirty="0">
              <a:latin typeface="Times New Roman" charset="0"/>
              <a:ea typeface="ＭＳ Ｐゴシック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20</a:t>
            </a:fld>
            <a:endParaRPr lang="vi-VN"/>
          </a:p>
        </p:txBody>
      </p:sp>
      <p:sp>
        <p:nvSpPr>
          <p:cNvPr id="40966" name="Rectangle 6"/>
          <p:cNvSpPr>
            <a:spLocks noChangeArrowheads="1"/>
          </p:cNvSpPr>
          <p:nvPr/>
        </p:nvSpPr>
        <p:spPr bwMode="auto">
          <a:xfrm>
            <a:off x="5410200" y="1635125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67" name="Rectangle 7"/>
          <p:cNvSpPr>
            <a:spLocks noChangeArrowheads="1"/>
          </p:cNvSpPr>
          <p:nvPr/>
        </p:nvSpPr>
        <p:spPr bwMode="auto">
          <a:xfrm>
            <a:off x="5816600" y="2238375"/>
            <a:ext cx="2286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68" name="Rectangle 9"/>
          <p:cNvSpPr>
            <a:spLocks noChangeArrowheads="1"/>
          </p:cNvSpPr>
          <p:nvPr/>
        </p:nvSpPr>
        <p:spPr bwMode="auto">
          <a:xfrm>
            <a:off x="6629400" y="2409825"/>
            <a:ext cx="228600" cy="2857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69" name="Rectangle 10"/>
          <p:cNvSpPr>
            <a:spLocks noChangeArrowheads="1"/>
          </p:cNvSpPr>
          <p:nvPr/>
        </p:nvSpPr>
        <p:spPr bwMode="auto">
          <a:xfrm>
            <a:off x="7035800" y="2066925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000" b="1" i="1">
                <a:latin typeface="Times New Roman" charset="0"/>
              </a:rPr>
              <a:t>x</a:t>
            </a:r>
          </a:p>
        </p:txBody>
      </p:sp>
      <p:sp>
        <p:nvSpPr>
          <p:cNvPr id="40970" name="Rectangle 11"/>
          <p:cNvSpPr>
            <a:spLocks noChangeArrowheads="1"/>
          </p:cNvSpPr>
          <p:nvPr/>
        </p:nvSpPr>
        <p:spPr bwMode="auto">
          <a:xfrm>
            <a:off x="7442200" y="1724025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71" name="Rectangle 12"/>
          <p:cNvSpPr>
            <a:spLocks noChangeArrowheads="1"/>
          </p:cNvSpPr>
          <p:nvPr/>
        </p:nvSpPr>
        <p:spPr bwMode="auto">
          <a:xfrm>
            <a:off x="7848600" y="2352675"/>
            <a:ext cx="228600" cy="342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72" name="Rectangle 23"/>
          <p:cNvSpPr>
            <a:spLocks noChangeArrowheads="1"/>
          </p:cNvSpPr>
          <p:nvPr/>
        </p:nvSpPr>
        <p:spPr bwMode="auto">
          <a:xfrm>
            <a:off x="6223000" y="1895475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73" name="Rectangle 24"/>
          <p:cNvSpPr>
            <a:spLocks noChangeArrowheads="1"/>
          </p:cNvSpPr>
          <p:nvPr/>
        </p:nvSpPr>
        <p:spPr bwMode="auto">
          <a:xfrm>
            <a:off x="7543800" y="3095625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74" name="Rectangle 25"/>
          <p:cNvSpPr>
            <a:spLocks noChangeArrowheads="1"/>
          </p:cNvSpPr>
          <p:nvPr/>
        </p:nvSpPr>
        <p:spPr bwMode="auto">
          <a:xfrm>
            <a:off x="8382000" y="3184525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75" name="Rectangle 26"/>
          <p:cNvSpPr>
            <a:spLocks noChangeArrowheads="1"/>
          </p:cNvSpPr>
          <p:nvPr/>
        </p:nvSpPr>
        <p:spPr bwMode="auto">
          <a:xfrm>
            <a:off x="7962900" y="3355975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5111750" y="3705225"/>
            <a:ext cx="1054100" cy="457200"/>
            <a:chOff x="3320" y="2304"/>
            <a:chExt cx="664" cy="384"/>
          </a:xfrm>
        </p:grpSpPr>
        <p:sp>
          <p:nvSpPr>
            <p:cNvPr id="40988" name="Rectangle 27"/>
            <p:cNvSpPr>
              <a:spLocks noChangeArrowheads="1"/>
            </p:cNvSpPr>
            <p:nvPr/>
          </p:nvSpPr>
          <p:spPr bwMode="auto">
            <a:xfrm>
              <a:off x="3320" y="2304"/>
              <a:ext cx="144" cy="38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40989" name="Rectangle 28"/>
            <p:cNvSpPr>
              <a:spLocks noChangeArrowheads="1"/>
            </p:cNvSpPr>
            <p:nvPr/>
          </p:nvSpPr>
          <p:spPr bwMode="auto">
            <a:xfrm>
              <a:off x="3580" y="2448"/>
              <a:ext cx="144" cy="2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40990" name="Rectangle 29"/>
            <p:cNvSpPr>
              <a:spLocks noChangeArrowheads="1"/>
            </p:cNvSpPr>
            <p:nvPr/>
          </p:nvSpPr>
          <p:spPr bwMode="auto">
            <a:xfrm>
              <a:off x="3840" y="2400"/>
              <a:ext cx="144" cy="28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</p:grpSp>
      <p:sp>
        <p:nvSpPr>
          <p:cNvPr id="40977" name="Rectangle 30"/>
          <p:cNvSpPr>
            <a:spLocks noChangeArrowheads="1"/>
          </p:cNvSpPr>
          <p:nvPr/>
        </p:nvSpPr>
        <p:spPr bwMode="auto">
          <a:xfrm>
            <a:off x="6743700" y="3533775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000" b="1" i="1">
                <a:latin typeface="Times New Roman" charset="0"/>
              </a:rPr>
              <a:t>x</a:t>
            </a:r>
          </a:p>
        </p:txBody>
      </p:sp>
      <p:sp>
        <p:nvSpPr>
          <p:cNvPr id="40978" name="AutoShape 33"/>
          <p:cNvSpPr>
            <a:spLocks/>
          </p:cNvSpPr>
          <p:nvPr/>
        </p:nvSpPr>
        <p:spPr bwMode="auto">
          <a:xfrm rot="-5400000">
            <a:off x="5486400" y="3686175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tIns="0" rIns="548640" bIns="0"/>
          <a:lstStyle/>
          <a:p>
            <a:r>
              <a:rPr lang="en-US" sz="2000" b="1" i="1">
                <a:latin typeface="Times New Roman" charset="0"/>
              </a:rPr>
              <a:t>L</a:t>
            </a:r>
          </a:p>
        </p:txBody>
      </p:sp>
      <p:sp>
        <p:nvSpPr>
          <p:cNvPr id="40979" name="AutoShape 35"/>
          <p:cNvSpPr>
            <a:spLocks/>
          </p:cNvSpPr>
          <p:nvPr/>
        </p:nvSpPr>
        <p:spPr bwMode="auto">
          <a:xfrm rot="-5400000">
            <a:off x="7924800" y="3686175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tIns="0" rIns="548640" bIns="0"/>
          <a:lstStyle/>
          <a:p>
            <a:r>
              <a:rPr lang="en-US" sz="2000" b="1" i="1">
                <a:latin typeface="Times New Roman" charset="0"/>
              </a:rPr>
              <a:t>G</a:t>
            </a:r>
          </a:p>
        </p:txBody>
      </p:sp>
      <p:sp>
        <p:nvSpPr>
          <p:cNvPr id="40980" name="AutoShape 36"/>
          <p:cNvSpPr>
            <a:spLocks/>
          </p:cNvSpPr>
          <p:nvPr/>
        </p:nvSpPr>
        <p:spPr bwMode="auto">
          <a:xfrm rot="-5400000">
            <a:off x="6705600" y="3990975"/>
            <a:ext cx="304800" cy="609600"/>
          </a:xfrm>
          <a:prstGeom prst="leftBrace">
            <a:avLst>
              <a:gd name="adj1" fmla="val 1666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tIns="0" rIns="548640" bIns="0"/>
          <a:lstStyle/>
          <a:p>
            <a:r>
              <a:rPr lang="en-US" sz="2000" b="1" i="1">
                <a:latin typeface="Times New Roman" charset="0"/>
              </a:rPr>
              <a:t>E</a:t>
            </a:r>
          </a:p>
        </p:txBody>
      </p:sp>
      <p:sp>
        <p:nvSpPr>
          <p:cNvPr id="40981" name="Rectangle 38"/>
          <p:cNvSpPr>
            <a:spLocks noChangeArrowheads="1"/>
          </p:cNvSpPr>
          <p:nvPr/>
        </p:nvSpPr>
        <p:spPr bwMode="auto">
          <a:xfrm>
            <a:off x="7442200" y="5041900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82" name="Rectangle 39"/>
          <p:cNvSpPr>
            <a:spLocks noChangeArrowheads="1"/>
          </p:cNvSpPr>
          <p:nvPr/>
        </p:nvSpPr>
        <p:spPr bwMode="auto">
          <a:xfrm>
            <a:off x="7848600" y="4953000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83" name="Rectangle 42"/>
          <p:cNvSpPr>
            <a:spLocks noChangeArrowheads="1"/>
          </p:cNvSpPr>
          <p:nvPr/>
        </p:nvSpPr>
        <p:spPr bwMode="auto">
          <a:xfrm>
            <a:off x="6223000" y="5556250"/>
            <a:ext cx="2286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84" name="Rectangle 45"/>
          <p:cNvSpPr>
            <a:spLocks noChangeArrowheads="1"/>
          </p:cNvSpPr>
          <p:nvPr/>
        </p:nvSpPr>
        <p:spPr bwMode="auto">
          <a:xfrm>
            <a:off x="6629400" y="5384800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000" b="1" i="1">
                <a:latin typeface="Times New Roman" charset="0"/>
              </a:rPr>
              <a:t>x</a:t>
            </a:r>
          </a:p>
        </p:txBody>
      </p:sp>
      <p:sp>
        <p:nvSpPr>
          <p:cNvPr id="40985" name="Rectangle 49"/>
          <p:cNvSpPr>
            <a:spLocks noChangeArrowheads="1"/>
          </p:cNvSpPr>
          <p:nvPr/>
        </p:nvSpPr>
        <p:spPr bwMode="auto">
          <a:xfrm>
            <a:off x="5410200" y="5727700"/>
            <a:ext cx="228600" cy="2857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0986" name="Rectangle 51"/>
          <p:cNvSpPr>
            <a:spLocks noChangeArrowheads="1"/>
          </p:cNvSpPr>
          <p:nvPr/>
        </p:nvSpPr>
        <p:spPr bwMode="auto">
          <a:xfrm>
            <a:off x="7035800" y="5213350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2719862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84144"/>
            <a:ext cx="77724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 smtClean="0"/>
              <a:t>Cho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mảng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r>
              <a:rPr lang="en-US" dirty="0" smtClean="0"/>
              <a:t> n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21</a:t>
            </a:fld>
            <a:endParaRPr lang="vi-VN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1447800" y="2507576"/>
            <a:ext cx="609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2057400" y="2507576"/>
            <a:ext cx="609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2667000" y="2507576"/>
            <a:ext cx="609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3276600" y="2507576"/>
            <a:ext cx="609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3886200" y="2507576"/>
            <a:ext cx="609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4495800" y="2507576"/>
            <a:ext cx="609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5105400" y="2507576"/>
            <a:ext cx="609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4107" name="Rectangle 11"/>
          <p:cNvSpPr>
            <a:spLocks noChangeArrowheads="1"/>
          </p:cNvSpPr>
          <p:nvPr/>
        </p:nvSpPr>
        <p:spPr bwMode="auto">
          <a:xfrm>
            <a:off x="5715000" y="2507576"/>
            <a:ext cx="609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4108" name="Rectangle 12"/>
          <p:cNvSpPr>
            <a:spLocks noChangeArrowheads="1"/>
          </p:cNvSpPr>
          <p:nvPr/>
        </p:nvSpPr>
        <p:spPr bwMode="auto">
          <a:xfrm>
            <a:off x="6324600" y="2507576"/>
            <a:ext cx="609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khoá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96688"/>
            <a:ext cx="77724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sz="2400" dirty="0" err="1" smtClean="0"/>
              <a:t>Sử</a:t>
            </a:r>
            <a:r>
              <a:rPr lang="en-US" sz="2400" dirty="0" smtClean="0"/>
              <a:t> </a:t>
            </a:r>
            <a:r>
              <a:rPr lang="en-US" sz="2400" dirty="0" err="1" smtClean="0"/>
              <a:t>dụng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dirty="0" err="1" smtClean="0"/>
              <a:t>đầu</a:t>
            </a:r>
            <a:r>
              <a:rPr lang="en-US" sz="2400" dirty="0" smtClean="0"/>
              <a:t> </a:t>
            </a:r>
            <a:r>
              <a:rPr lang="en-US" sz="2400" dirty="0" err="1" smtClean="0"/>
              <a:t>tiên</a:t>
            </a:r>
            <a:r>
              <a:rPr lang="en-US" sz="2400" dirty="0" smtClean="0"/>
              <a:t> </a:t>
            </a:r>
            <a:r>
              <a:rPr lang="en-US" sz="2400" dirty="0" err="1" smtClean="0"/>
              <a:t>làm</a:t>
            </a:r>
            <a:r>
              <a:rPr lang="en-US" sz="2400" dirty="0" smtClean="0"/>
              <a:t> </a:t>
            </a:r>
            <a:r>
              <a:rPr lang="en-US" sz="2400" dirty="0" err="1" smtClean="0"/>
              <a:t>khoá</a:t>
            </a:r>
            <a:endParaRPr 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22</a:t>
            </a:fld>
            <a:endParaRPr lang="vi-VN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1447800" y="23622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2057400" y="23622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2667000" y="23622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3276600" y="23622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3886200" y="23622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4495800" y="23622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5105400" y="23622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5131" name="Rectangle 11"/>
          <p:cNvSpPr>
            <a:spLocks noChangeArrowheads="1"/>
          </p:cNvSpPr>
          <p:nvPr/>
        </p:nvSpPr>
        <p:spPr bwMode="auto">
          <a:xfrm>
            <a:off x="5715000" y="23622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5132" name="Rectangle 12"/>
          <p:cNvSpPr>
            <a:spLocks noChangeArrowheads="1"/>
          </p:cNvSpPr>
          <p:nvPr/>
        </p:nvSpPr>
        <p:spPr bwMode="auto">
          <a:xfrm>
            <a:off x="6324600" y="23622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8204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60172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Chỉ</a:t>
            </a:r>
            <a:r>
              <a:rPr lang="en-US" sz="1800" dirty="0" smtClean="0"/>
              <a:t> </a:t>
            </a:r>
            <a:r>
              <a:rPr lang="en-US" sz="1800" dirty="0" err="1" smtClean="0"/>
              <a:t>số</a:t>
            </a:r>
            <a:r>
              <a:rPr lang="en-US" sz="1800" dirty="0" smtClean="0"/>
              <a:t> </a:t>
            </a:r>
            <a:r>
              <a:rPr lang="en-US" sz="1800" dirty="0" err="1" smtClean="0"/>
              <a:t>khoá</a:t>
            </a:r>
            <a:r>
              <a:rPr lang="en-US" sz="1800" dirty="0" smtClean="0"/>
              <a:t> </a:t>
            </a:r>
            <a:r>
              <a:rPr lang="en-US" sz="1800" dirty="0"/>
              <a:t>= 0</a:t>
            </a:r>
          </a:p>
        </p:txBody>
      </p:sp>
      <p:sp>
        <p:nvSpPr>
          <p:cNvPr id="8205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8210" name="Text Box 18"/>
          <p:cNvSpPr txBox="1">
            <a:spLocks noChangeArrowheads="1"/>
          </p:cNvSpPr>
          <p:nvPr/>
        </p:nvSpPr>
        <p:spPr bwMode="auto">
          <a:xfrm>
            <a:off x="2786050" y="5562600"/>
            <a:ext cx="2319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8211" name="Text Box 19"/>
          <p:cNvSpPr txBox="1">
            <a:spLocks noChangeArrowheads="1"/>
          </p:cNvSpPr>
          <p:nvPr/>
        </p:nvSpPr>
        <p:spPr bwMode="auto">
          <a:xfrm>
            <a:off x="7072330" y="5576888"/>
            <a:ext cx="161447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/>
              <a:t>csc</a:t>
            </a:r>
            <a:endParaRPr lang="en-US" sz="1800" dirty="0"/>
          </a:p>
        </p:txBody>
      </p:sp>
      <p:sp>
        <p:nvSpPr>
          <p:cNvPr id="8212" name="Line 20"/>
          <p:cNvSpPr>
            <a:spLocks noChangeShapeType="1"/>
          </p:cNvSpPr>
          <p:nvPr/>
        </p:nvSpPr>
        <p:spPr bwMode="auto">
          <a:xfrm flipV="1">
            <a:off x="7239000" y="5214950"/>
            <a:ext cx="47644" cy="4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8213" name="Line 21"/>
          <p:cNvSpPr>
            <a:spLocks noChangeShapeType="1"/>
          </p:cNvSpPr>
          <p:nvPr/>
        </p:nvSpPr>
        <p:spPr bwMode="auto">
          <a:xfrm flipV="1">
            <a:off x="2971800" y="5214950"/>
            <a:ext cx="100002" cy="4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23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35848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35849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35851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4654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 smtClean="0"/>
              <a:t>chisokhoa</a:t>
            </a:r>
            <a:r>
              <a:rPr lang="en-US" sz="1800" dirty="0" smtClean="0"/>
              <a:t> </a:t>
            </a:r>
            <a:r>
              <a:rPr lang="en-US" sz="1800" dirty="0"/>
              <a:t>= 0</a:t>
            </a:r>
          </a:p>
        </p:txBody>
      </p:sp>
      <p:sp>
        <p:nvSpPr>
          <p:cNvPr id="35853" name="Text Box 13"/>
          <p:cNvSpPr txBox="1">
            <a:spLocks noChangeArrowheads="1"/>
          </p:cNvSpPr>
          <p:nvPr/>
        </p:nvSpPr>
        <p:spPr bwMode="auto">
          <a:xfrm>
            <a:off x="22098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dirty="0" smtClean="0"/>
              <a:t>        </a:t>
            </a:r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35854" name="Text Box 14"/>
          <p:cNvSpPr txBox="1">
            <a:spLocks noChangeArrowheads="1"/>
          </p:cNvSpPr>
          <p:nvPr/>
        </p:nvSpPr>
        <p:spPr bwMode="auto">
          <a:xfrm>
            <a:off x="6858016" y="5576888"/>
            <a:ext cx="1828784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/>
              <a:t>csc</a:t>
            </a:r>
            <a:endParaRPr lang="en-US" sz="1800" dirty="0"/>
          </a:p>
        </p:txBody>
      </p:sp>
      <p:sp>
        <p:nvSpPr>
          <p:cNvPr id="35855" name="Line 15"/>
          <p:cNvSpPr>
            <a:spLocks noChangeShapeType="1"/>
          </p:cNvSpPr>
          <p:nvPr/>
        </p:nvSpPr>
        <p:spPr bwMode="auto">
          <a:xfrm flipV="1">
            <a:off x="7239000" y="5214950"/>
            <a:ext cx="47644" cy="4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5856" name="Line 16"/>
          <p:cNvSpPr>
            <a:spLocks noChangeShapeType="1"/>
          </p:cNvSpPr>
          <p:nvPr/>
        </p:nvSpPr>
        <p:spPr bwMode="auto">
          <a:xfrm flipV="1">
            <a:off x="2971800" y="5143512"/>
            <a:ext cx="45719" cy="495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5857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394826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/>
              <a:t>While </a:t>
            </a:r>
            <a:r>
              <a:rPr lang="en-US" dirty="0" smtClean="0"/>
              <a:t>data[</a:t>
            </a:r>
            <a:r>
              <a:rPr lang="en-US" dirty="0" err="1" smtClean="0"/>
              <a:t>csd</a:t>
            </a:r>
            <a:r>
              <a:rPr lang="en-US" dirty="0" smtClean="0"/>
              <a:t>] </a:t>
            </a:r>
            <a:r>
              <a:rPr lang="en-US" dirty="0"/>
              <a:t>&lt;= </a:t>
            </a:r>
            <a:r>
              <a:rPr lang="en-US" dirty="0" smtClean="0"/>
              <a:t>data[</a:t>
            </a:r>
            <a:r>
              <a:rPr lang="en-US" dirty="0" err="1" smtClean="0"/>
              <a:t>chisokhoa</a:t>
            </a:r>
            <a:r>
              <a:rPr lang="en-US" dirty="0" smtClean="0"/>
              <a:t>]</a:t>
            </a:r>
            <a:endParaRPr lang="en-US" dirty="0"/>
          </a:p>
          <a:p>
            <a:pPr marL="457200" indent="-457200"/>
            <a:r>
              <a:rPr lang="en-US" dirty="0"/>
              <a:t>		</a:t>
            </a:r>
            <a:r>
              <a:rPr lang="en-US" dirty="0" smtClean="0"/>
              <a:t>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  <a:endParaRPr lang="en-US" dirty="0"/>
          </a:p>
          <a:p>
            <a:pPr marL="457200" indent="-457200"/>
            <a:endParaRPr lang="en-US" dirty="0"/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2214546" y="485776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24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Chisokhoa</a:t>
            </a:r>
            <a:r>
              <a:rPr lang="en-US" sz="1800" dirty="0" smtClean="0"/>
              <a:t>=0</a:t>
            </a:r>
            <a:endParaRPr lang="en-US" sz="1800" dirty="0"/>
          </a:p>
        </p:txBody>
      </p:sp>
      <p:sp>
        <p:nvSpPr>
          <p:cNvPr id="11277" name="Text Box 13"/>
          <p:cNvSpPr txBox="1">
            <a:spLocks noChangeArrowheads="1"/>
          </p:cNvSpPr>
          <p:nvPr/>
        </p:nvSpPr>
        <p:spPr bwMode="auto">
          <a:xfrm>
            <a:off x="27432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 smtClean="0"/>
              <a:t>      </a:t>
            </a:r>
            <a:r>
              <a:rPr lang="en-US" dirty="0" err="1"/>
              <a:t>csd</a:t>
            </a:r>
            <a:endParaRPr lang="en-US" sz="1800" dirty="0"/>
          </a:p>
        </p:txBody>
      </p:sp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7000892" y="5576888"/>
            <a:ext cx="168590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/>
              <a:t>csc</a:t>
            </a:r>
            <a:endParaRPr lang="en-US" sz="1800" dirty="0"/>
          </a:p>
        </p:txBody>
      </p:sp>
      <p:sp>
        <p:nvSpPr>
          <p:cNvPr id="11279" name="Line 15"/>
          <p:cNvSpPr>
            <a:spLocks noChangeShapeType="1"/>
          </p:cNvSpPr>
          <p:nvPr/>
        </p:nvSpPr>
        <p:spPr bwMode="auto">
          <a:xfrm flipV="1">
            <a:off x="7239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1280" name="Line 16"/>
          <p:cNvSpPr>
            <a:spLocks noChangeShapeType="1"/>
          </p:cNvSpPr>
          <p:nvPr/>
        </p:nvSpPr>
        <p:spPr bwMode="auto">
          <a:xfrm flipV="1">
            <a:off x="3505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1281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08932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25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2298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12301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</a:t>
            </a:r>
            <a:r>
              <a:rPr lang="en-US" dirty="0" err="1" smtClean="0"/>
              <a:t>csd</a:t>
            </a:r>
            <a:endParaRPr lang="en-US" sz="1800" dirty="0"/>
          </a:p>
        </p:txBody>
      </p:sp>
      <p:sp>
        <p:nvSpPr>
          <p:cNvPr id="12302" name="Text Box 14"/>
          <p:cNvSpPr txBox="1">
            <a:spLocks noChangeArrowheads="1"/>
          </p:cNvSpPr>
          <p:nvPr/>
        </p:nvSpPr>
        <p:spPr bwMode="auto">
          <a:xfrm>
            <a:off x="7000892" y="5576888"/>
            <a:ext cx="168590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/>
              <a:t>csc</a:t>
            </a:r>
            <a:endParaRPr lang="en-US" sz="1800" dirty="0"/>
          </a:p>
        </p:txBody>
      </p:sp>
      <p:sp>
        <p:nvSpPr>
          <p:cNvPr id="12303" name="Line 15"/>
          <p:cNvSpPr>
            <a:spLocks noChangeShapeType="1"/>
          </p:cNvSpPr>
          <p:nvPr/>
        </p:nvSpPr>
        <p:spPr bwMode="auto">
          <a:xfrm flipV="1">
            <a:off x="7239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2304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2305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08932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26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3321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100</a:t>
            </a:r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dirty="0" err="1" smtClean="0"/>
              <a:t>csd</a:t>
            </a:r>
            <a:endParaRPr lang="en-US" sz="1800" dirty="0"/>
          </a:p>
        </p:txBody>
      </p:sp>
      <p:sp>
        <p:nvSpPr>
          <p:cNvPr id="13326" name="Text Box 14"/>
          <p:cNvSpPr txBox="1">
            <a:spLocks noChangeArrowheads="1"/>
          </p:cNvSpPr>
          <p:nvPr/>
        </p:nvSpPr>
        <p:spPr bwMode="auto">
          <a:xfrm>
            <a:off x="7072330" y="5576888"/>
            <a:ext cx="161447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/>
              <a:t>csc</a:t>
            </a:r>
            <a:endParaRPr lang="en-US" sz="1800" dirty="0"/>
          </a:p>
        </p:txBody>
      </p:sp>
      <p:sp>
        <p:nvSpPr>
          <p:cNvPr id="13327" name="Line 15"/>
          <p:cNvSpPr>
            <a:spLocks noChangeShapeType="1"/>
          </p:cNvSpPr>
          <p:nvPr/>
        </p:nvSpPr>
        <p:spPr bwMode="auto">
          <a:xfrm flipV="1">
            <a:off x="7239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3328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3329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604081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27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 smtClean="0"/>
              <a:t>        </a:t>
            </a:r>
            <a:r>
              <a:rPr lang="en-US" dirty="0" err="1"/>
              <a:t>csd</a:t>
            </a:r>
            <a:endParaRPr lang="en-US" sz="1800" dirty="0"/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6286512" y="5576888"/>
            <a:ext cx="17144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/>
              <a:t>csc</a:t>
            </a:r>
            <a:endParaRPr lang="en-US" sz="1800" dirty="0"/>
          </a:p>
        </p:txBody>
      </p:sp>
      <p:sp>
        <p:nvSpPr>
          <p:cNvPr id="15375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5377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604081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28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6391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6392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6393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6394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 smtClean="0"/>
              <a:t>        </a:t>
            </a:r>
            <a:r>
              <a:rPr lang="en-US" dirty="0" err="1"/>
              <a:t>csd</a:t>
            </a:r>
            <a:endParaRPr lang="en-US" sz="1800" dirty="0"/>
          </a:p>
        </p:txBody>
      </p:sp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6215074" y="5576888"/>
            <a:ext cx="1785926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/>
              <a:t>csc</a:t>
            </a:r>
            <a:endParaRPr lang="en-US" sz="1800" dirty="0"/>
          </a:p>
        </p:txBody>
      </p:sp>
      <p:sp>
        <p:nvSpPr>
          <p:cNvPr id="16399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6400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604081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16404" name="Freeform 20"/>
          <p:cNvSpPr>
            <a:spLocks/>
          </p:cNvSpPr>
          <p:nvPr/>
        </p:nvSpPr>
        <p:spPr bwMode="auto">
          <a:xfrm>
            <a:off x="4343400" y="3733800"/>
            <a:ext cx="2527300" cy="457200"/>
          </a:xfrm>
          <a:custGeom>
            <a:avLst/>
            <a:gdLst/>
            <a:ahLst/>
            <a:cxnLst>
              <a:cxn ang="0">
                <a:pos x="0" y="560"/>
              </a:cxn>
              <a:cxn ang="0">
                <a:pos x="384" y="80"/>
              </a:cxn>
              <a:cxn ang="0">
                <a:pos x="1392" y="80"/>
              </a:cxn>
              <a:cxn ang="0">
                <a:pos x="1584" y="560"/>
              </a:cxn>
            </a:cxnLst>
            <a:rect l="0" t="0" r="r" b="b"/>
            <a:pathLst>
              <a:path w="1592" h="560">
                <a:moveTo>
                  <a:pt x="0" y="560"/>
                </a:moveTo>
                <a:cubicBezTo>
                  <a:pt x="76" y="360"/>
                  <a:pt x="152" y="160"/>
                  <a:pt x="384" y="80"/>
                </a:cubicBezTo>
                <a:cubicBezTo>
                  <a:pt x="616" y="0"/>
                  <a:pt x="1192" y="0"/>
                  <a:pt x="1392" y="80"/>
                </a:cubicBezTo>
                <a:cubicBezTo>
                  <a:pt x="1592" y="160"/>
                  <a:pt x="1588" y="360"/>
                  <a:pt x="1584" y="560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29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7417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7418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17421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</a:t>
            </a:r>
            <a:r>
              <a:rPr lang="en-US" dirty="0" err="1" smtClean="0"/>
              <a:t>csd</a:t>
            </a:r>
            <a:endParaRPr lang="en-US" sz="1800" dirty="0"/>
          </a:p>
        </p:txBody>
      </p:sp>
      <p:sp>
        <p:nvSpPr>
          <p:cNvPr id="17422" name="Text Box 14"/>
          <p:cNvSpPr txBox="1">
            <a:spLocks noChangeArrowheads="1"/>
          </p:cNvSpPr>
          <p:nvPr/>
        </p:nvSpPr>
        <p:spPr bwMode="auto">
          <a:xfrm>
            <a:off x="6143636" y="5576888"/>
            <a:ext cx="1857364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/>
              <a:t>csc</a:t>
            </a:r>
            <a:endParaRPr lang="en-US" sz="1800" dirty="0"/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7425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17426" name="Freeform 18"/>
          <p:cNvSpPr>
            <a:spLocks/>
          </p:cNvSpPr>
          <p:nvPr/>
        </p:nvSpPr>
        <p:spPr bwMode="auto">
          <a:xfrm>
            <a:off x="4343400" y="3733800"/>
            <a:ext cx="2527300" cy="457200"/>
          </a:xfrm>
          <a:custGeom>
            <a:avLst/>
            <a:gdLst/>
            <a:ahLst/>
            <a:cxnLst>
              <a:cxn ang="0">
                <a:pos x="0" y="560"/>
              </a:cxn>
              <a:cxn ang="0">
                <a:pos x="384" y="80"/>
              </a:cxn>
              <a:cxn ang="0">
                <a:pos x="1392" y="80"/>
              </a:cxn>
              <a:cxn ang="0">
                <a:pos x="1584" y="560"/>
              </a:cxn>
            </a:cxnLst>
            <a:rect l="0" t="0" r="r" b="b"/>
            <a:pathLst>
              <a:path w="1592" h="560">
                <a:moveTo>
                  <a:pt x="0" y="560"/>
                </a:moveTo>
                <a:cubicBezTo>
                  <a:pt x="76" y="360"/>
                  <a:pt x="152" y="160"/>
                  <a:pt x="384" y="80"/>
                </a:cubicBezTo>
                <a:cubicBezTo>
                  <a:pt x="616" y="0"/>
                  <a:pt x="1192" y="0"/>
                  <a:pt x="1392" y="80"/>
                </a:cubicBezTo>
                <a:cubicBezTo>
                  <a:pt x="1592" y="160"/>
                  <a:pt x="1588" y="360"/>
                  <a:pt x="1584" y="560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30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8441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8442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8443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18445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 smtClean="0"/>
              <a:t>        </a:t>
            </a:r>
            <a:r>
              <a:rPr lang="en-US" dirty="0" err="1"/>
              <a:t>csd</a:t>
            </a:r>
            <a:endParaRPr lang="en-US" sz="1800" dirty="0"/>
          </a:p>
        </p:txBody>
      </p:sp>
      <p:sp>
        <p:nvSpPr>
          <p:cNvPr id="18446" name="Text Box 14"/>
          <p:cNvSpPr txBox="1">
            <a:spLocks noChangeArrowheads="1"/>
          </p:cNvSpPr>
          <p:nvPr/>
        </p:nvSpPr>
        <p:spPr bwMode="auto">
          <a:xfrm>
            <a:off x="6286512" y="5576888"/>
            <a:ext cx="17144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/>
              <a:t>csc</a:t>
            </a:r>
            <a:endParaRPr lang="en-US" sz="1800" dirty="0"/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8448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8449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31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34290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 smtClean="0"/>
              <a:t>        </a:t>
            </a:r>
            <a:r>
              <a:rPr lang="en-US" dirty="0" err="1"/>
              <a:t>csd</a:t>
            </a:r>
            <a:endParaRPr lang="en-US" sz="1800" dirty="0"/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6143636" y="5576888"/>
            <a:ext cx="1857364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/>
              <a:t>csc</a:t>
            </a:r>
            <a:endParaRPr lang="en-US" sz="1800" dirty="0"/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 flipV="1">
            <a:off x="41910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473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19474" name="Line 18"/>
          <p:cNvSpPr>
            <a:spLocks noChangeShapeType="1"/>
          </p:cNvSpPr>
          <p:nvPr/>
        </p:nvSpPr>
        <p:spPr bwMode="auto">
          <a:xfrm>
            <a:off x="609600" y="1143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32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20490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dirty="0" err="1" smtClean="0"/>
              <a:t>csd</a:t>
            </a:r>
            <a:endParaRPr lang="en-US" sz="1800" dirty="0"/>
          </a:p>
        </p:txBody>
      </p:sp>
      <p:sp>
        <p:nvSpPr>
          <p:cNvPr id="20494" name="Text Box 14"/>
          <p:cNvSpPr txBox="1">
            <a:spLocks noChangeArrowheads="1"/>
          </p:cNvSpPr>
          <p:nvPr/>
        </p:nvSpPr>
        <p:spPr bwMode="auto">
          <a:xfrm>
            <a:off x="6357950" y="5576888"/>
            <a:ext cx="1643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20495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0497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20498" name="Line 18"/>
          <p:cNvSpPr>
            <a:spLocks noChangeShapeType="1"/>
          </p:cNvSpPr>
          <p:nvPr/>
        </p:nvSpPr>
        <p:spPr bwMode="auto">
          <a:xfrm>
            <a:off x="609600" y="1143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33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21514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21515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4429124" y="5562600"/>
            <a:ext cx="2428876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6357950" y="5576888"/>
            <a:ext cx="1643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 smtClean="0"/>
              <a:t>cs</a:t>
            </a:r>
            <a:r>
              <a:rPr lang="en-US" sz="1800" dirty="0" err="1" smtClean="0"/>
              <a:t>c</a:t>
            </a:r>
            <a:endParaRPr lang="en-US" sz="1800" dirty="0"/>
          </a:p>
        </p:txBody>
      </p:sp>
      <p:sp>
        <p:nvSpPr>
          <p:cNvPr id="21519" name="Line 15"/>
          <p:cNvSpPr>
            <a:spLocks noChangeShapeType="1"/>
          </p:cNvSpPr>
          <p:nvPr/>
        </p:nvSpPr>
        <p:spPr bwMode="auto">
          <a:xfrm flipV="1">
            <a:off x="65532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1521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21522" name="Line 18"/>
          <p:cNvSpPr>
            <a:spLocks noChangeShapeType="1"/>
          </p:cNvSpPr>
          <p:nvPr/>
        </p:nvSpPr>
        <p:spPr bwMode="auto">
          <a:xfrm>
            <a:off x="609600" y="1905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34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22538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22539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4125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chisokhoa</a:t>
            </a:r>
            <a:r>
              <a:rPr lang="en-US" sz="1800" dirty="0" smtClean="0"/>
              <a:t>= </a:t>
            </a:r>
            <a:r>
              <a:rPr lang="en-US" sz="1800" dirty="0"/>
              <a:t>0</a:t>
            </a:r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4357686" y="5562600"/>
            <a:ext cx="2500314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6500826" y="5576888"/>
            <a:ext cx="1500174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2544" name="Line 16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22546" name="Line 18"/>
          <p:cNvSpPr>
            <a:spLocks noChangeShapeType="1"/>
          </p:cNvSpPr>
          <p:nvPr/>
        </p:nvSpPr>
        <p:spPr bwMode="auto">
          <a:xfrm>
            <a:off x="609600" y="1905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35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23563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23565" name="Text Box 13"/>
          <p:cNvSpPr txBox="1">
            <a:spLocks noChangeArrowheads="1"/>
          </p:cNvSpPr>
          <p:nvPr/>
        </p:nvSpPr>
        <p:spPr bwMode="auto">
          <a:xfrm>
            <a:off x="4572000" y="55626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23566" name="Text Box 14"/>
          <p:cNvSpPr txBox="1">
            <a:spLocks noChangeArrowheads="1"/>
          </p:cNvSpPr>
          <p:nvPr/>
        </p:nvSpPr>
        <p:spPr bwMode="auto">
          <a:xfrm>
            <a:off x="6500826" y="5576888"/>
            <a:ext cx="1500174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23567" name="Line 15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3568" name="Line 16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3569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23570" name="Line 18"/>
          <p:cNvSpPr>
            <a:spLocks noChangeShapeType="1"/>
          </p:cNvSpPr>
          <p:nvPr/>
        </p:nvSpPr>
        <p:spPr bwMode="auto">
          <a:xfrm>
            <a:off x="609600" y="2590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3571" name="Freeform 19"/>
          <p:cNvSpPr>
            <a:spLocks/>
          </p:cNvSpPr>
          <p:nvPr/>
        </p:nvSpPr>
        <p:spPr bwMode="auto">
          <a:xfrm>
            <a:off x="4953000" y="3733800"/>
            <a:ext cx="1219200" cy="457200"/>
          </a:xfrm>
          <a:custGeom>
            <a:avLst/>
            <a:gdLst/>
            <a:ahLst/>
            <a:cxnLst>
              <a:cxn ang="0">
                <a:pos x="0" y="560"/>
              </a:cxn>
              <a:cxn ang="0">
                <a:pos x="384" y="80"/>
              </a:cxn>
              <a:cxn ang="0">
                <a:pos x="1392" y="80"/>
              </a:cxn>
              <a:cxn ang="0">
                <a:pos x="1584" y="560"/>
              </a:cxn>
            </a:cxnLst>
            <a:rect l="0" t="0" r="r" b="b"/>
            <a:pathLst>
              <a:path w="1592" h="560">
                <a:moveTo>
                  <a:pt x="0" y="560"/>
                </a:moveTo>
                <a:cubicBezTo>
                  <a:pt x="76" y="360"/>
                  <a:pt x="152" y="160"/>
                  <a:pt x="384" y="80"/>
                </a:cubicBezTo>
                <a:cubicBezTo>
                  <a:pt x="616" y="0"/>
                  <a:pt x="1192" y="0"/>
                  <a:pt x="1392" y="80"/>
                </a:cubicBezTo>
                <a:cubicBezTo>
                  <a:pt x="1592" y="160"/>
                  <a:pt x="1588" y="360"/>
                  <a:pt x="1584" y="560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36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3" name="Text Box 17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24586" name="Rectangle 10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24587" name="Text Box 11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 smtClean="0"/>
              <a:t>        </a:t>
            </a:r>
            <a:r>
              <a:rPr lang="en-US" dirty="0" err="1"/>
              <a:t>csd</a:t>
            </a:r>
            <a:endParaRPr lang="en-US" sz="1800" dirty="0"/>
          </a:p>
        </p:txBody>
      </p:sp>
      <p:sp>
        <p:nvSpPr>
          <p:cNvPr id="24590" name="Text Box 14"/>
          <p:cNvSpPr txBox="1">
            <a:spLocks noChangeArrowheads="1"/>
          </p:cNvSpPr>
          <p:nvPr/>
        </p:nvSpPr>
        <p:spPr bwMode="auto">
          <a:xfrm>
            <a:off x="6357950" y="5576888"/>
            <a:ext cx="1643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24591" name="Line 15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4592" name="Line 16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4594" name="Line 18"/>
          <p:cNvSpPr>
            <a:spLocks noChangeShapeType="1"/>
          </p:cNvSpPr>
          <p:nvPr/>
        </p:nvSpPr>
        <p:spPr bwMode="auto">
          <a:xfrm>
            <a:off x="609600" y="2590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4595" name="Freeform 19"/>
          <p:cNvSpPr>
            <a:spLocks/>
          </p:cNvSpPr>
          <p:nvPr/>
        </p:nvSpPr>
        <p:spPr bwMode="auto">
          <a:xfrm>
            <a:off x="4953000" y="3733800"/>
            <a:ext cx="1219200" cy="457200"/>
          </a:xfrm>
          <a:custGeom>
            <a:avLst/>
            <a:gdLst/>
            <a:ahLst/>
            <a:cxnLst>
              <a:cxn ang="0">
                <a:pos x="0" y="560"/>
              </a:cxn>
              <a:cxn ang="0">
                <a:pos x="384" y="80"/>
              </a:cxn>
              <a:cxn ang="0">
                <a:pos x="1392" y="80"/>
              </a:cxn>
              <a:cxn ang="0">
                <a:pos x="1584" y="560"/>
              </a:cxn>
            </a:cxnLst>
            <a:rect l="0" t="0" r="r" b="b"/>
            <a:pathLst>
              <a:path w="1592" h="560">
                <a:moveTo>
                  <a:pt x="0" y="560"/>
                </a:moveTo>
                <a:cubicBezTo>
                  <a:pt x="76" y="360"/>
                  <a:pt x="152" y="160"/>
                  <a:pt x="384" y="80"/>
                </a:cubicBezTo>
                <a:cubicBezTo>
                  <a:pt x="616" y="0"/>
                  <a:pt x="1192" y="0"/>
                  <a:pt x="1392" y="80"/>
                </a:cubicBezTo>
                <a:cubicBezTo>
                  <a:pt x="1592" y="160"/>
                  <a:pt x="1588" y="360"/>
                  <a:pt x="1584" y="560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37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25609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25610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25611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25612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385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Chisokhoa</a:t>
            </a:r>
            <a:r>
              <a:rPr lang="en-US" dirty="0"/>
              <a:t>=0</a:t>
            </a:r>
          </a:p>
        </p:txBody>
      </p:sp>
      <p:sp>
        <p:nvSpPr>
          <p:cNvPr id="25614" name="Text Box 14"/>
          <p:cNvSpPr txBox="1">
            <a:spLocks noChangeArrowheads="1"/>
          </p:cNvSpPr>
          <p:nvPr/>
        </p:nvSpPr>
        <p:spPr bwMode="auto">
          <a:xfrm>
            <a:off x="4572000" y="55626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25615" name="Text Box 15"/>
          <p:cNvSpPr txBox="1">
            <a:spLocks noChangeArrowheads="1"/>
          </p:cNvSpPr>
          <p:nvPr/>
        </p:nvSpPr>
        <p:spPr bwMode="auto">
          <a:xfrm>
            <a:off x="6357950" y="5576888"/>
            <a:ext cx="1643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 smtClean="0"/>
              <a:t>csc</a:t>
            </a:r>
            <a:endParaRPr lang="en-US" sz="1800" dirty="0"/>
          </a:p>
        </p:txBody>
      </p:sp>
      <p:sp>
        <p:nvSpPr>
          <p:cNvPr id="25616" name="Line 16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5617" name="Line 17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5618" name="Line 18"/>
          <p:cNvSpPr>
            <a:spLocks noChangeShapeType="1"/>
          </p:cNvSpPr>
          <p:nvPr/>
        </p:nvSpPr>
        <p:spPr bwMode="auto">
          <a:xfrm>
            <a:off x="609600" y="33528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38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26634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26636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4654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chisokhoa</a:t>
            </a:r>
            <a:r>
              <a:rPr lang="en-US" sz="1800" dirty="0" smtClean="0"/>
              <a:t> </a:t>
            </a:r>
            <a:r>
              <a:rPr lang="en-US" sz="1800" dirty="0"/>
              <a:t>= 0</a:t>
            </a:r>
          </a:p>
        </p:txBody>
      </p:sp>
      <p:sp>
        <p:nvSpPr>
          <p:cNvPr id="26638" name="Text Box 14"/>
          <p:cNvSpPr txBox="1">
            <a:spLocks noChangeArrowheads="1"/>
          </p:cNvSpPr>
          <p:nvPr/>
        </p:nvSpPr>
        <p:spPr bwMode="auto">
          <a:xfrm>
            <a:off x="4500562" y="5562600"/>
            <a:ext cx="23574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26639" name="Text Box 15"/>
          <p:cNvSpPr txBox="1">
            <a:spLocks noChangeArrowheads="1"/>
          </p:cNvSpPr>
          <p:nvPr/>
        </p:nvSpPr>
        <p:spPr bwMode="auto">
          <a:xfrm>
            <a:off x="6429388" y="5576888"/>
            <a:ext cx="15716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26640" name="Line 16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6641" name="Line 17"/>
          <p:cNvSpPr>
            <a:spLocks noChangeShapeType="1"/>
          </p:cNvSpPr>
          <p:nvPr/>
        </p:nvSpPr>
        <p:spPr bwMode="auto">
          <a:xfrm flipV="1">
            <a:off x="4724400" y="5257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6642" name="Line 18"/>
          <p:cNvSpPr>
            <a:spLocks noChangeShapeType="1"/>
          </p:cNvSpPr>
          <p:nvPr/>
        </p:nvSpPr>
        <p:spPr bwMode="auto">
          <a:xfrm>
            <a:off x="609600" y="1143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39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27658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27660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4654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chisokhoa</a:t>
            </a:r>
            <a:r>
              <a:rPr lang="en-US" sz="1800" dirty="0" smtClean="0"/>
              <a:t> </a:t>
            </a:r>
            <a:r>
              <a:rPr lang="en-US" sz="1800" dirty="0"/>
              <a:t>= 0</a:t>
            </a:r>
          </a:p>
        </p:txBody>
      </p:sp>
      <p:sp>
        <p:nvSpPr>
          <p:cNvPr id="27662" name="Text Box 14"/>
          <p:cNvSpPr txBox="1">
            <a:spLocks noChangeArrowheads="1"/>
          </p:cNvSpPr>
          <p:nvPr/>
        </p:nvSpPr>
        <p:spPr bwMode="auto">
          <a:xfrm>
            <a:off x="4429124" y="5562600"/>
            <a:ext cx="2428876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27663" name="Text Box 15"/>
          <p:cNvSpPr txBox="1">
            <a:spLocks noChangeArrowheads="1"/>
          </p:cNvSpPr>
          <p:nvPr/>
        </p:nvSpPr>
        <p:spPr bwMode="auto">
          <a:xfrm>
            <a:off x="6357950" y="5576888"/>
            <a:ext cx="1643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27664" name="Line 16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7665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7666" name="Line 18"/>
          <p:cNvSpPr>
            <a:spLocks noChangeShapeType="1"/>
          </p:cNvSpPr>
          <p:nvPr/>
        </p:nvSpPr>
        <p:spPr bwMode="auto">
          <a:xfrm>
            <a:off x="609600" y="1143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40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29705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29708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4125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chisokhoa</a:t>
            </a:r>
            <a:r>
              <a:rPr lang="en-US" sz="1800" dirty="0" smtClean="0"/>
              <a:t>= </a:t>
            </a:r>
            <a:r>
              <a:rPr lang="en-US" sz="1800" dirty="0"/>
              <a:t>0</a:t>
            </a:r>
          </a:p>
        </p:txBody>
      </p:sp>
      <p:sp>
        <p:nvSpPr>
          <p:cNvPr id="29710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29711" name="Text Box 15"/>
          <p:cNvSpPr txBox="1">
            <a:spLocks noChangeArrowheads="1"/>
          </p:cNvSpPr>
          <p:nvPr/>
        </p:nvSpPr>
        <p:spPr bwMode="auto">
          <a:xfrm>
            <a:off x="6286512" y="5576888"/>
            <a:ext cx="17144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29712" name="Line 16"/>
          <p:cNvSpPr>
            <a:spLocks noChangeShapeType="1"/>
          </p:cNvSpPr>
          <p:nvPr/>
        </p:nvSpPr>
        <p:spPr bwMode="auto">
          <a:xfrm flipH="1" flipV="1">
            <a:off x="62484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9713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9714" name="Line 18"/>
          <p:cNvSpPr>
            <a:spLocks noChangeShapeType="1"/>
          </p:cNvSpPr>
          <p:nvPr/>
        </p:nvSpPr>
        <p:spPr bwMode="auto">
          <a:xfrm>
            <a:off x="609600" y="1905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41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28683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28684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4654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chisokhoa</a:t>
            </a:r>
            <a:r>
              <a:rPr lang="en-US" sz="1800" dirty="0" smtClean="0"/>
              <a:t> </a:t>
            </a:r>
            <a:r>
              <a:rPr lang="en-US" sz="1800" dirty="0"/>
              <a:t>= 0</a:t>
            </a:r>
          </a:p>
        </p:txBody>
      </p:sp>
      <p:sp>
        <p:nvSpPr>
          <p:cNvPr id="28686" name="Text Box 14"/>
          <p:cNvSpPr txBox="1">
            <a:spLocks noChangeArrowheads="1"/>
          </p:cNvSpPr>
          <p:nvPr/>
        </p:nvSpPr>
        <p:spPr bwMode="auto">
          <a:xfrm>
            <a:off x="4143372" y="5562600"/>
            <a:ext cx="271462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smtClean="0"/>
              <a:t>   </a:t>
            </a:r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28687" name="Text Box 15"/>
          <p:cNvSpPr txBox="1">
            <a:spLocks noChangeArrowheads="1"/>
          </p:cNvSpPr>
          <p:nvPr/>
        </p:nvSpPr>
        <p:spPr bwMode="auto">
          <a:xfrm>
            <a:off x="6357950" y="5576888"/>
            <a:ext cx="1643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28688" name="Line 16"/>
          <p:cNvSpPr>
            <a:spLocks noChangeShapeType="1"/>
          </p:cNvSpPr>
          <p:nvPr/>
        </p:nvSpPr>
        <p:spPr bwMode="auto">
          <a:xfrm flipH="1" flipV="1">
            <a:off x="5638800" y="52578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8689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28690" name="Line 18"/>
          <p:cNvSpPr>
            <a:spLocks noChangeShapeType="1"/>
          </p:cNvSpPr>
          <p:nvPr/>
        </p:nvSpPr>
        <p:spPr bwMode="auto">
          <a:xfrm>
            <a:off x="609600" y="1905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42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30727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30729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30730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30731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30732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4654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chisokhoa</a:t>
            </a:r>
            <a:r>
              <a:rPr lang="en-US" sz="1800" dirty="0" smtClean="0"/>
              <a:t> </a:t>
            </a:r>
            <a:r>
              <a:rPr lang="en-US" sz="1800" dirty="0"/>
              <a:t>= 0</a:t>
            </a:r>
          </a:p>
        </p:txBody>
      </p:sp>
      <p:sp>
        <p:nvSpPr>
          <p:cNvPr id="30734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30735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30736" name="Line 16"/>
          <p:cNvSpPr>
            <a:spLocks noChangeShapeType="1"/>
          </p:cNvSpPr>
          <p:nvPr/>
        </p:nvSpPr>
        <p:spPr bwMode="auto">
          <a:xfrm flipH="1" flipV="1">
            <a:off x="5029200" y="52578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0737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0738" name="Line 18"/>
          <p:cNvSpPr>
            <a:spLocks noChangeShapeType="1"/>
          </p:cNvSpPr>
          <p:nvPr/>
        </p:nvSpPr>
        <p:spPr bwMode="auto">
          <a:xfrm>
            <a:off x="609600" y="190500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43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 smtClean="0"/>
          </a:p>
          <a:p>
            <a:pPr marL="914400" lvl="1" indent="-457200">
              <a:buFontTx/>
              <a:buAutoNum type="arabicPeriod"/>
            </a:pPr>
            <a:endParaRPr lang="en-US" dirty="0" smtClean="0"/>
          </a:p>
          <a:p>
            <a:pPr marL="457200" indent="-457200"/>
            <a:endParaRPr lang="en-US" dirty="0"/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31752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31753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31755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31756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4654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chisokhoa</a:t>
            </a:r>
            <a:r>
              <a:rPr lang="en-US" sz="1800" dirty="0" smtClean="0"/>
              <a:t> </a:t>
            </a:r>
            <a:r>
              <a:rPr lang="en-US" sz="1800" dirty="0"/>
              <a:t>= 0</a:t>
            </a:r>
          </a:p>
        </p:txBody>
      </p:sp>
      <p:sp>
        <p:nvSpPr>
          <p:cNvPr id="31758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31759" name="Text Box 15"/>
          <p:cNvSpPr txBox="1">
            <a:spLocks noChangeArrowheads="1"/>
          </p:cNvSpPr>
          <p:nvPr/>
        </p:nvSpPr>
        <p:spPr bwMode="auto">
          <a:xfrm>
            <a:off x="5867400" y="5576888"/>
            <a:ext cx="2133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31760" name="Line 16"/>
          <p:cNvSpPr>
            <a:spLocks noChangeShapeType="1"/>
          </p:cNvSpPr>
          <p:nvPr/>
        </p:nvSpPr>
        <p:spPr bwMode="auto">
          <a:xfrm flipH="1" flipV="1">
            <a:off x="5029200" y="52578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1761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1762" name="Line 18"/>
          <p:cNvSpPr>
            <a:spLocks noChangeShapeType="1"/>
          </p:cNvSpPr>
          <p:nvPr/>
        </p:nvSpPr>
        <p:spPr bwMode="auto">
          <a:xfrm>
            <a:off x="714348" y="2500306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44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46040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/>
            <a:endParaRPr lang="en-US" dirty="0"/>
          </a:p>
          <a:p>
            <a:pPr marL="914400" lvl="1" indent="-457200">
              <a:buFontTx/>
              <a:buAutoNum type="arabicPeriod"/>
            </a:pPr>
            <a:endParaRPr lang="en-US" dirty="0"/>
          </a:p>
          <a:p>
            <a:pPr marL="457200" indent="-457200"/>
            <a:endParaRPr lang="en-US" dirty="0"/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32779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4654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chisokhoa</a:t>
            </a:r>
            <a:r>
              <a:rPr lang="en-US" sz="1800" dirty="0" smtClean="0"/>
              <a:t> </a:t>
            </a:r>
            <a:r>
              <a:rPr lang="en-US" sz="1800" dirty="0"/>
              <a:t>= 0</a:t>
            </a:r>
          </a:p>
        </p:txBody>
      </p:sp>
      <p:sp>
        <p:nvSpPr>
          <p:cNvPr id="32782" name="Text Box 14"/>
          <p:cNvSpPr txBox="1">
            <a:spLocks noChangeArrowheads="1"/>
          </p:cNvSpPr>
          <p:nvPr/>
        </p:nvSpPr>
        <p:spPr bwMode="auto">
          <a:xfrm>
            <a:off x="3962400" y="55626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32783" name="Text Box 15"/>
          <p:cNvSpPr txBox="1">
            <a:spLocks noChangeArrowheads="1"/>
          </p:cNvSpPr>
          <p:nvPr/>
        </p:nvSpPr>
        <p:spPr bwMode="auto">
          <a:xfrm>
            <a:off x="6429388" y="5576888"/>
            <a:ext cx="15716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32784" name="Line 16"/>
          <p:cNvSpPr>
            <a:spLocks noChangeShapeType="1"/>
          </p:cNvSpPr>
          <p:nvPr/>
        </p:nvSpPr>
        <p:spPr bwMode="auto">
          <a:xfrm flipH="1" flipV="1">
            <a:off x="5029200" y="52578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2785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2786" name="Line 18"/>
          <p:cNvSpPr>
            <a:spLocks noChangeShapeType="1"/>
          </p:cNvSpPr>
          <p:nvPr/>
        </p:nvSpPr>
        <p:spPr bwMode="auto">
          <a:xfrm>
            <a:off x="571472" y="2786058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45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4604081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 smtClean="0"/>
              <a:t>While (data[</a:t>
            </a:r>
            <a:r>
              <a:rPr lang="en-US" dirty="0" err="1" smtClean="0"/>
              <a:t>csd</a:t>
            </a:r>
            <a:r>
              <a:rPr lang="en-US" dirty="0" smtClean="0"/>
              <a:t>] &lt;= 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</a:p>
          <a:p>
            <a:pPr marL="914400" lvl="1" indent="-457200"/>
            <a:r>
              <a:rPr lang="en-US" dirty="0" smtClean="0"/>
              <a:t>	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data[</a:t>
            </a:r>
            <a:r>
              <a:rPr lang="en-US" dirty="0" err="1" smtClean="0"/>
              <a:t>too_small_index</a:t>
            </a:r>
            <a:r>
              <a:rPr lang="en-US" dirty="0" smtClean="0"/>
              <a:t>] &gt; data[pivot]</a:t>
            </a:r>
          </a:p>
          <a:p>
            <a:pPr marL="914400" lvl="1" indent="-457200"/>
            <a:r>
              <a:rPr lang="en-US" dirty="0" smtClean="0"/>
              <a:t>	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 smtClean="0"/>
          </a:p>
          <a:p>
            <a:pPr marL="914400" lvl="1" indent="-457200"/>
            <a:r>
              <a:rPr lang="en-US" dirty="0" smtClean="0"/>
              <a:t>	swap data[</a:t>
            </a:r>
            <a:r>
              <a:rPr lang="en-US" dirty="0" err="1" smtClean="0"/>
              <a:t>csd</a:t>
            </a:r>
            <a:r>
              <a:rPr lang="en-US" dirty="0" smtClean="0"/>
              <a:t>] and 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go to 1.</a:t>
            </a:r>
          </a:p>
          <a:p>
            <a:pPr marL="457200" indent="-457200">
              <a:buFontTx/>
              <a:buAutoNum type="arabicPeriod"/>
            </a:pPr>
            <a:r>
              <a:rPr lang="en-US" dirty="0" smtClean="0"/>
              <a:t>Swap data[</a:t>
            </a:r>
            <a:r>
              <a:rPr lang="en-US" dirty="0" err="1" smtClean="0"/>
              <a:t>csc</a:t>
            </a:r>
            <a:r>
              <a:rPr lang="en-US" dirty="0" smtClean="0"/>
              <a:t>] and data[</a:t>
            </a:r>
            <a:r>
              <a:rPr lang="en-US" dirty="0" err="1" smtClean="0"/>
              <a:t>chisokhoa</a:t>
            </a:r>
            <a:r>
              <a:rPr lang="en-US" dirty="0" smtClean="0"/>
              <a:t>]</a:t>
            </a:r>
          </a:p>
          <a:p>
            <a:pPr marL="457200" indent="-457200"/>
            <a:endParaRPr lang="en-US" dirty="0"/>
          </a:p>
          <a:p>
            <a:pPr marL="914400" lvl="1" indent="-457200">
              <a:buFontTx/>
              <a:buAutoNum type="arabicPeriod"/>
            </a:pPr>
            <a:endParaRPr lang="en-US" dirty="0"/>
          </a:p>
          <a:p>
            <a:pPr marL="457200" indent="-457200"/>
            <a:endParaRPr lang="en-US" dirty="0"/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33800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33801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33802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33803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33804" name="Text Box 12"/>
          <p:cNvSpPr txBox="1">
            <a:spLocks noChangeArrowheads="1"/>
          </p:cNvSpPr>
          <p:nvPr/>
        </p:nvSpPr>
        <p:spPr bwMode="auto">
          <a:xfrm>
            <a:off x="533400" y="4281488"/>
            <a:ext cx="14654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chisokhoa</a:t>
            </a:r>
            <a:r>
              <a:rPr lang="en-US" sz="1800" dirty="0" smtClean="0"/>
              <a:t> </a:t>
            </a:r>
            <a:r>
              <a:rPr lang="en-US" sz="1800" dirty="0"/>
              <a:t>= 0</a:t>
            </a:r>
          </a:p>
        </p:txBody>
      </p:sp>
      <p:sp>
        <p:nvSpPr>
          <p:cNvPr id="33806" name="Text Box 14"/>
          <p:cNvSpPr txBox="1">
            <a:spLocks noChangeArrowheads="1"/>
          </p:cNvSpPr>
          <p:nvPr/>
        </p:nvSpPr>
        <p:spPr bwMode="auto">
          <a:xfrm>
            <a:off x="4429124" y="5562600"/>
            <a:ext cx="2428876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33807" name="Text Box 15"/>
          <p:cNvSpPr txBox="1">
            <a:spLocks noChangeArrowheads="1"/>
          </p:cNvSpPr>
          <p:nvPr/>
        </p:nvSpPr>
        <p:spPr bwMode="auto">
          <a:xfrm>
            <a:off x="6500826" y="5576888"/>
            <a:ext cx="1500174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33808" name="Line 16"/>
          <p:cNvSpPr>
            <a:spLocks noChangeShapeType="1"/>
          </p:cNvSpPr>
          <p:nvPr/>
        </p:nvSpPr>
        <p:spPr bwMode="auto">
          <a:xfrm flipH="1" flipV="1">
            <a:off x="5029200" y="52578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3809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3810" name="Line 18"/>
          <p:cNvSpPr>
            <a:spLocks noChangeShapeType="1"/>
          </p:cNvSpPr>
          <p:nvPr/>
        </p:nvSpPr>
        <p:spPr bwMode="auto">
          <a:xfrm>
            <a:off x="500034" y="3000372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46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1022350" y="930275"/>
            <a:ext cx="4604081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dirty="0"/>
              <a:t>While </a:t>
            </a:r>
            <a:r>
              <a:rPr lang="en-US" dirty="0" smtClean="0"/>
              <a:t>(data[</a:t>
            </a:r>
            <a:r>
              <a:rPr lang="en-US" dirty="0" err="1" smtClean="0"/>
              <a:t>csd</a:t>
            </a:r>
            <a:r>
              <a:rPr lang="en-US" dirty="0" smtClean="0"/>
              <a:t>] </a:t>
            </a:r>
            <a:r>
              <a:rPr lang="en-US" dirty="0"/>
              <a:t>&lt;= </a:t>
            </a:r>
            <a:r>
              <a:rPr lang="en-US" dirty="0" smtClean="0"/>
              <a:t>data[</a:t>
            </a:r>
            <a:r>
              <a:rPr lang="en-US" dirty="0" err="1" smtClean="0"/>
              <a:t>chisokhoa</a:t>
            </a:r>
            <a:r>
              <a:rPr lang="en-US" dirty="0" smtClean="0"/>
              <a:t>])</a:t>
            </a:r>
            <a:endParaRPr lang="en-US" dirty="0"/>
          </a:p>
          <a:p>
            <a:pPr marL="914400" lvl="1" indent="-457200"/>
            <a:r>
              <a:rPr lang="en-US" dirty="0"/>
              <a:t>	</a:t>
            </a:r>
            <a:r>
              <a:rPr lang="en-US" dirty="0" smtClean="0"/>
              <a:t>++</a:t>
            </a:r>
            <a:r>
              <a:rPr lang="en-US" dirty="0" err="1" smtClean="0"/>
              <a:t>csd</a:t>
            </a:r>
            <a:r>
              <a:rPr lang="en-US" dirty="0" smtClean="0"/>
              <a:t>;</a:t>
            </a:r>
            <a:endParaRPr lang="en-US" dirty="0"/>
          </a:p>
          <a:p>
            <a:pPr marL="457200" indent="-457200">
              <a:buFontTx/>
              <a:buAutoNum type="arabicPeriod"/>
            </a:pPr>
            <a:r>
              <a:rPr lang="en-US" dirty="0"/>
              <a:t>While data[</a:t>
            </a:r>
            <a:r>
              <a:rPr lang="en-US" dirty="0" err="1"/>
              <a:t>too_small_index</a:t>
            </a:r>
            <a:r>
              <a:rPr lang="en-US" dirty="0"/>
              <a:t>] &gt; data[pivot]</a:t>
            </a:r>
          </a:p>
          <a:p>
            <a:pPr marL="914400" lvl="1" indent="-457200"/>
            <a:r>
              <a:rPr lang="en-US" dirty="0"/>
              <a:t>	</a:t>
            </a:r>
            <a:r>
              <a:rPr lang="en-US" dirty="0" smtClean="0"/>
              <a:t>--</a:t>
            </a:r>
            <a:r>
              <a:rPr lang="en-US" dirty="0" err="1" smtClean="0"/>
              <a:t>csc</a:t>
            </a:r>
            <a:r>
              <a:rPr lang="en-US" dirty="0" smtClean="0"/>
              <a:t>;</a:t>
            </a:r>
            <a:endParaRPr lang="en-US" dirty="0"/>
          </a:p>
          <a:p>
            <a:pPr marL="457200" indent="-457200">
              <a:buFontTx/>
              <a:buAutoNum type="arabicPeriod"/>
            </a:pPr>
            <a:r>
              <a:rPr lang="en-US" dirty="0"/>
              <a:t>If </a:t>
            </a:r>
            <a:r>
              <a:rPr lang="en-US" dirty="0" err="1" smtClean="0"/>
              <a:t>csd</a:t>
            </a:r>
            <a:r>
              <a:rPr lang="en-US" dirty="0" smtClean="0"/>
              <a:t>&lt;</a:t>
            </a:r>
            <a:r>
              <a:rPr lang="en-US" dirty="0" err="1" smtClean="0"/>
              <a:t>csc</a:t>
            </a:r>
            <a:endParaRPr lang="en-US" dirty="0"/>
          </a:p>
          <a:p>
            <a:pPr marL="914400" lvl="1" indent="-457200"/>
            <a:r>
              <a:rPr lang="en-US" dirty="0"/>
              <a:t>	swap </a:t>
            </a:r>
            <a:r>
              <a:rPr lang="en-US" dirty="0" smtClean="0"/>
              <a:t>data[</a:t>
            </a:r>
            <a:r>
              <a:rPr lang="en-US" dirty="0" err="1" smtClean="0"/>
              <a:t>csd</a:t>
            </a:r>
            <a:r>
              <a:rPr lang="en-US" dirty="0" smtClean="0"/>
              <a:t>] </a:t>
            </a:r>
            <a:r>
              <a:rPr lang="en-US" dirty="0"/>
              <a:t>and </a:t>
            </a:r>
            <a:r>
              <a:rPr lang="en-US" dirty="0" smtClean="0"/>
              <a:t>data[</a:t>
            </a:r>
            <a:r>
              <a:rPr lang="en-US" dirty="0" err="1" smtClean="0"/>
              <a:t>csc</a:t>
            </a:r>
            <a:r>
              <a:rPr lang="en-US" dirty="0" smtClean="0"/>
              <a:t>]</a:t>
            </a:r>
            <a:endParaRPr lang="en-US" dirty="0"/>
          </a:p>
          <a:p>
            <a:pPr marL="457200" indent="-457200">
              <a:buFontTx/>
              <a:buAutoNum type="arabicPeriod"/>
            </a:pPr>
            <a:r>
              <a:rPr lang="en-US" dirty="0"/>
              <a:t>While </a:t>
            </a:r>
            <a:r>
              <a:rPr lang="en-US" dirty="0" err="1" smtClean="0"/>
              <a:t>csc</a:t>
            </a:r>
            <a:r>
              <a:rPr lang="en-US" dirty="0" smtClean="0"/>
              <a:t>&gt; </a:t>
            </a:r>
            <a:r>
              <a:rPr lang="en-US" dirty="0" err="1" smtClean="0"/>
              <a:t>csd</a:t>
            </a:r>
            <a:r>
              <a:rPr lang="en-US" dirty="0" smtClean="0"/>
              <a:t> </a:t>
            </a:r>
            <a:r>
              <a:rPr lang="en-US" dirty="0"/>
              <a:t>go to 1.</a:t>
            </a:r>
          </a:p>
          <a:p>
            <a:pPr marL="457200" indent="-457200">
              <a:buFontTx/>
              <a:buAutoNum type="arabicPeriod"/>
            </a:pPr>
            <a:r>
              <a:rPr lang="en-US" dirty="0"/>
              <a:t>Swap </a:t>
            </a:r>
            <a:r>
              <a:rPr lang="en-US" dirty="0" smtClean="0"/>
              <a:t>data[</a:t>
            </a:r>
            <a:r>
              <a:rPr lang="en-US" dirty="0" err="1" smtClean="0"/>
              <a:t>csc</a:t>
            </a:r>
            <a:r>
              <a:rPr lang="en-US" dirty="0" smtClean="0"/>
              <a:t>] </a:t>
            </a:r>
            <a:r>
              <a:rPr lang="en-US" dirty="0"/>
              <a:t>and </a:t>
            </a:r>
            <a:r>
              <a:rPr lang="en-US" dirty="0" smtClean="0"/>
              <a:t>data[</a:t>
            </a:r>
            <a:r>
              <a:rPr lang="en-US" dirty="0" err="1" smtClean="0"/>
              <a:t>chisokhoa</a:t>
            </a:r>
            <a:r>
              <a:rPr lang="en-US" dirty="0" smtClean="0"/>
              <a:t>]</a:t>
            </a:r>
            <a:endParaRPr lang="en-US" dirty="0"/>
          </a:p>
          <a:p>
            <a:pPr marL="457200" indent="-457200"/>
            <a:endParaRPr lang="en-US" dirty="0"/>
          </a:p>
          <a:p>
            <a:pPr marL="914400" lvl="1" indent="-457200">
              <a:buFontTx/>
              <a:buAutoNum type="arabicPeriod"/>
            </a:pPr>
            <a:endParaRPr lang="en-US" dirty="0"/>
          </a:p>
          <a:p>
            <a:pPr marL="457200" indent="-457200"/>
            <a:endParaRPr lang="en-US" dirty="0"/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2209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2819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3429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4038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34823" name="Rectangle 7"/>
          <p:cNvSpPr>
            <a:spLocks noChangeArrowheads="1"/>
          </p:cNvSpPr>
          <p:nvPr/>
        </p:nvSpPr>
        <p:spPr bwMode="auto">
          <a:xfrm>
            <a:off x="4648200" y="41910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5257800" y="4191000"/>
            <a:ext cx="609600" cy="609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34825" name="Rectangle 9"/>
          <p:cNvSpPr>
            <a:spLocks noChangeArrowheads="1"/>
          </p:cNvSpPr>
          <p:nvPr/>
        </p:nvSpPr>
        <p:spPr bwMode="auto">
          <a:xfrm>
            <a:off x="58674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34826" name="Rectangle 10"/>
          <p:cNvSpPr>
            <a:spLocks noChangeArrowheads="1"/>
          </p:cNvSpPr>
          <p:nvPr/>
        </p:nvSpPr>
        <p:spPr bwMode="auto">
          <a:xfrm>
            <a:off x="64770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34827" name="Rectangle 11"/>
          <p:cNvSpPr>
            <a:spLocks noChangeArrowheads="1"/>
          </p:cNvSpPr>
          <p:nvPr/>
        </p:nvSpPr>
        <p:spPr bwMode="auto">
          <a:xfrm>
            <a:off x="7086600" y="41910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34828" name="Text Box 12"/>
          <p:cNvSpPr txBox="1">
            <a:spLocks noChangeArrowheads="1"/>
          </p:cNvSpPr>
          <p:nvPr/>
        </p:nvSpPr>
        <p:spPr bwMode="auto">
          <a:xfrm>
            <a:off x="381000" y="4343400"/>
            <a:ext cx="1471878" cy="369332"/>
          </a:xfrm>
          <a:prstGeom prst="rect">
            <a:avLst/>
          </a:prstGeom>
          <a:solidFill>
            <a:srgbClr val="FF3300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/>
              <a:t>khisokhoa</a:t>
            </a:r>
            <a:r>
              <a:rPr lang="en-US" sz="1800" dirty="0" smtClean="0"/>
              <a:t> </a:t>
            </a:r>
            <a:r>
              <a:rPr lang="en-US" sz="1800" dirty="0"/>
              <a:t>= 4</a:t>
            </a:r>
          </a:p>
        </p:txBody>
      </p:sp>
      <p:sp>
        <p:nvSpPr>
          <p:cNvPr id="34830" name="Text Box 14"/>
          <p:cNvSpPr txBox="1">
            <a:spLocks noChangeArrowheads="1"/>
          </p:cNvSpPr>
          <p:nvPr/>
        </p:nvSpPr>
        <p:spPr bwMode="auto">
          <a:xfrm>
            <a:off x="4357686" y="5562600"/>
            <a:ext cx="2500314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csd</a:t>
            </a:r>
            <a:endParaRPr lang="en-US" sz="1800" dirty="0"/>
          </a:p>
        </p:txBody>
      </p:sp>
      <p:sp>
        <p:nvSpPr>
          <p:cNvPr id="34831" name="Text Box 15"/>
          <p:cNvSpPr txBox="1">
            <a:spLocks noChangeArrowheads="1"/>
          </p:cNvSpPr>
          <p:nvPr/>
        </p:nvSpPr>
        <p:spPr bwMode="auto">
          <a:xfrm>
            <a:off x="6286512" y="5576888"/>
            <a:ext cx="17144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 err="1" smtClean="0"/>
              <a:t>csc</a:t>
            </a:r>
            <a:endParaRPr lang="en-US" sz="1800" dirty="0"/>
          </a:p>
        </p:txBody>
      </p:sp>
      <p:sp>
        <p:nvSpPr>
          <p:cNvPr id="34832" name="Line 16"/>
          <p:cNvSpPr>
            <a:spLocks noChangeShapeType="1"/>
          </p:cNvSpPr>
          <p:nvPr/>
        </p:nvSpPr>
        <p:spPr bwMode="auto">
          <a:xfrm flipH="1" flipV="1">
            <a:off x="5029200" y="52578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4833" name="Line 17"/>
          <p:cNvSpPr>
            <a:spLocks noChangeShapeType="1"/>
          </p:cNvSpPr>
          <p:nvPr/>
        </p:nvSpPr>
        <p:spPr bwMode="auto">
          <a:xfrm flipV="1">
            <a:off x="4724400" y="52578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4834" name="Line 18"/>
          <p:cNvSpPr>
            <a:spLocks noChangeShapeType="1"/>
          </p:cNvSpPr>
          <p:nvPr/>
        </p:nvSpPr>
        <p:spPr bwMode="auto">
          <a:xfrm>
            <a:off x="642910" y="3071810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2254250" y="4800600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47</a:t>
            </a:fld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hoạch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48</a:t>
            </a:fld>
            <a:endParaRPr lang="vi-VN"/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18288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24384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30480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36576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37895" name="Rectangle 7"/>
          <p:cNvSpPr>
            <a:spLocks noChangeArrowheads="1"/>
          </p:cNvSpPr>
          <p:nvPr/>
        </p:nvSpPr>
        <p:spPr bwMode="auto">
          <a:xfrm>
            <a:off x="4267200" y="25908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37896" name="Rectangle 8"/>
          <p:cNvSpPr>
            <a:spLocks noChangeArrowheads="1"/>
          </p:cNvSpPr>
          <p:nvPr/>
        </p:nvSpPr>
        <p:spPr bwMode="auto">
          <a:xfrm>
            <a:off x="48768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37897" name="Rectangle 9"/>
          <p:cNvSpPr>
            <a:spLocks noChangeArrowheads="1"/>
          </p:cNvSpPr>
          <p:nvPr/>
        </p:nvSpPr>
        <p:spPr bwMode="auto">
          <a:xfrm>
            <a:off x="54864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37898" name="Rectangle 10"/>
          <p:cNvSpPr>
            <a:spLocks noChangeArrowheads="1"/>
          </p:cNvSpPr>
          <p:nvPr/>
        </p:nvSpPr>
        <p:spPr bwMode="auto">
          <a:xfrm>
            <a:off x="60960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37899" name="Rectangle 11"/>
          <p:cNvSpPr>
            <a:spLocks noChangeArrowheads="1"/>
          </p:cNvSpPr>
          <p:nvPr/>
        </p:nvSpPr>
        <p:spPr bwMode="auto">
          <a:xfrm>
            <a:off x="67056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37901" name="Line 13"/>
          <p:cNvSpPr>
            <a:spLocks noChangeShapeType="1"/>
          </p:cNvSpPr>
          <p:nvPr/>
        </p:nvSpPr>
        <p:spPr bwMode="auto">
          <a:xfrm>
            <a:off x="4267200" y="2590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7902" name="Line 14"/>
          <p:cNvSpPr>
            <a:spLocks noChangeShapeType="1"/>
          </p:cNvSpPr>
          <p:nvPr/>
        </p:nvSpPr>
        <p:spPr bwMode="auto">
          <a:xfrm>
            <a:off x="4876800" y="2590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7903" name="Line 15"/>
          <p:cNvSpPr>
            <a:spLocks noChangeShapeType="1"/>
          </p:cNvSpPr>
          <p:nvPr/>
        </p:nvSpPr>
        <p:spPr bwMode="auto">
          <a:xfrm flipH="1">
            <a:off x="2209800" y="4114800"/>
            <a:ext cx="1981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7904" name="Line 16"/>
          <p:cNvSpPr>
            <a:spLocks noChangeShapeType="1"/>
          </p:cNvSpPr>
          <p:nvPr/>
        </p:nvSpPr>
        <p:spPr bwMode="auto">
          <a:xfrm>
            <a:off x="4953000" y="4114800"/>
            <a:ext cx="1752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7905" name="Text Box 17"/>
          <p:cNvSpPr txBox="1">
            <a:spLocks noChangeArrowheads="1"/>
          </p:cNvSpPr>
          <p:nvPr/>
        </p:nvSpPr>
        <p:spPr bwMode="auto">
          <a:xfrm>
            <a:off x="2286000" y="4191000"/>
            <a:ext cx="196707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&lt;= </a:t>
            </a:r>
            <a:r>
              <a:rPr lang="en-US" dirty="0" smtClean="0"/>
              <a:t>data[</a:t>
            </a:r>
            <a:r>
              <a:rPr lang="en-US" dirty="0" err="1" smtClean="0"/>
              <a:t>chisokhoa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37906" name="Text Box 18"/>
          <p:cNvSpPr txBox="1">
            <a:spLocks noChangeArrowheads="1"/>
          </p:cNvSpPr>
          <p:nvPr/>
        </p:nvSpPr>
        <p:spPr bwMode="auto">
          <a:xfrm>
            <a:off x="4953000" y="4191000"/>
            <a:ext cx="185166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&gt; </a:t>
            </a:r>
            <a:r>
              <a:rPr lang="en-US" dirty="0" smtClean="0"/>
              <a:t>data[</a:t>
            </a:r>
            <a:r>
              <a:rPr lang="en-US" dirty="0" err="1" smtClean="0"/>
              <a:t>chisokhoa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1897060" y="3286124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QuickSort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3FE4B-C8BF-4A07-821C-DD6EAE9D6A91}" type="slidenum">
              <a:rPr lang="vi-VN" smtClean="0"/>
              <a:pPr/>
              <a:t>49</a:t>
            </a:fld>
            <a:endParaRPr lang="vi-VN"/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18288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24384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20</a:t>
            </a: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30480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36576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30</a:t>
            </a:r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auto">
          <a:xfrm>
            <a:off x="4267200" y="2590800"/>
            <a:ext cx="6096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40</a:t>
            </a:r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auto">
          <a:xfrm>
            <a:off x="48768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50</a:t>
            </a: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>
            <a:off x="54864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60</a:t>
            </a:r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60960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80</a:t>
            </a:r>
          </a:p>
        </p:txBody>
      </p:sp>
      <p:sp>
        <p:nvSpPr>
          <p:cNvPr id="38923" name="Rectangle 11"/>
          <p:cNvSpPr>
            <a:spLocks noChangeArrowheads="1"/>
          </p:cNvSpPr>
          <p:nvPr/>
        </p:nvSpPr>
        <p:spPr bwMode="auto">
          <a:xfrm>
            <a:off x="6705600" y="2590800"/>
            <a:ext cx="609600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100</a:t>
            </a:r>
          </a:p>
        </p:txBody>
      </p:sp>
      <p:sp>
        <p:nvSpPr>
          <p:cNvPr id="38925" name="Line 13"/>
          <p:cNvSpPr>
            <a:spLocks noChangeShapeType="1"/>
          </p:cNvSpPr>
          <p:nvPr/>
        </p:nvSpPr>
        <p:spPr bwMode="auto">
          <a:xfrm>
            <a:off x="4267200" y="2590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8926" name="Line 14"/>
          <p:cNvSpPr>
            <a:spLocks noChangeShapeType="1"/>
          </p:cNvSpPr>
          <p:nvPr/>
        </p:nvSpPr>
        <p:spPr bwMode="auto">
          <a:xfrm>
            <a:off x="4876800" y="2590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8927" name="Line 15"/>
          <p:cNvSpPr>
            <a:spLocks noChangeShapeType="1"/>
          </p:cNvSpPr>
          <p:nvPr/>
        </p:nvSpPr>
        <p:spPr bwMode="auto">
          <a:xfrm flipH="1">
            <a:off x="2209800" y="4114800"/>
            <a:ext cx="1981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8928" name="Line 16"/>
          <p:cNvSpPr>
            <a:spLocks noChangeShapeType="1"/>
          </p:cNvSpPr>
          <p:nvPr/>
        </p:nvSpPr>
        <p:spPr bwMode="auto">
          <a:xfrm>
            <a:off x="4953000" y="4114800"/>
            <a:ext cx="1752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38929" name="Text Box 17"/>
          <p:cNvSpPr txBox="1">
            <a:spLocks noChangeArrowheads="1"/>
          </p:cNvSpPr>
          <p:nvPr/>
        </p:nvSpPr>
        <p:spPr bwMode="auto">
          <a:xfrm>
            <a:off x="2286000" y="4191000"/>
            <a:ext cx="196707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&lt;= </a:t>
            </a:r>
            <a:r>
              <a:rPr lang="en-US" dirty="0" smtClean="0"/>
              <a:t>data[</a:t>
            </a:r>
            <a:r>
              <a:rPr lang="en-US" dirty="0" err="1" smtClean="0"/>
              <a:t>chisokhoa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38930" name="Text Box 18"/>
          <p:cNvSpPr txBox="1">
            <a:spLocks noChangeArrowheads="1"/>
          </p:cNvSpPr>
          <p:nvPr/>
        </p:nvSpPr>
        <p:spPr bwMode="auto">
          <a:xfrm>
            <a:off x="4953000" y="4191000"/>
            <a:ext cx="185166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&gt; </a:t>
            </a:r>
            <a:r>
              <a:rPr lang="en-US" dirty="0" smtClean="0"/>
              <a:t>data[</a:t>
            </a:r>
            <a:r>
              <a:rPr lang="en-US" dirty="0" err="1" smtClean="0"/>
              <a:t>chisokhoa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38933" name="AutoShape 21"/>
          <p:cNvSpPr>
            <a:spLocks/>
          </p:cNvSpPr>
          <p:nvPr/>
        </p:nvSpPr>
        <p:spPr bwMode="auto">
          <a:xfrm rot="5400000" flipV="1">
            <a:off x="3009900" y="1257300"/>
            <a:ext cx="152400" cy="2362200"/>
          </a:xfrm>
          <a:prstGeom prst="leftBrace">
            <a:avLst>
              <a:gd name="adj1" fmla="val 129167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38934" name="AutoShape 22"/>
          <p:cNvSpPr>
            <a:spLocks/>
          </p:cNvSpPr>
          <p:nvPr/>
        </p:nvSpPr>
        <p:spPr bwMode="auto">
          <a:xfrm rot="5400000" flipV="1">
            <a:off x="6057900" y="1257300"/>
            <a:ext cx="152400" cy="2362200"/>
          </a:xfrm>
          <a:prstGeom prst="leftBrace">
            <a:avLst>
              <a:gd name="adj1" fmla="val 129167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1857356" y="3214686"/>
            <a:ext cx="6175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[0]   </a:t>
            </a:r>
            <a:r>
              <a:rPr lang="en-US" dirty="0" smtClean="0"/>
              <a:t>    </a:t>
            </a:r>
            <a:r>
              <a:rPr lang="en-US" dirty="0"/>
              <a:t>[1]   </a:t>
            </a:r>
            <a:r>
              <a:rPr lang="en-US" dirty="0" smtClean="0"/>
              <a:t>    [</a:t>
            </a:r>
            <a:r>
              <a:rPr lang="en-US" dirty="0"/>
              <a:t>2]   </a:t>
            </a:r>
            <a:r>
              <a:rPr lang="en-US" dirty="0" smtClean="0"/>
              <a:t>     </a:t>
            </a:r>
            <a:r>
              <a:rPr lang="en-US" dirty="0"/>
              <a:t>[3]   </a:t>
            </a:r>
            <a:r>
              <a:rPr lang="en-US" dirty="0" smtClean="0"/>
              <a:t>   [</a:t>
            </a:r>
            <a:r>
              <a:rPr lang="en-US" dirty="0"/>
              <a:t>4]  </a:t>
            </a:r>
            <a:r>
              <a:rPr lang="en-US" dirty="0" smtClean="0"/>
              <a:t>     </a:t>
            </a:r>
            <a:r>
              <a:rPr lang="en-US" dirty="0"/>
              <a:t>[5]  </a:t>
            </a:r>
            <a:r>
              <a:rPr lang="en-US" dirty="0" smtClean="0"/>
              <a:t>     </a:t>
            </a:r>
            <a:r>
              <a:rPr lang="en-US" dirty="0"/>
              <a:t>[6] </a:t>
            </a:r>
            <a:r>
              <a:rPr lang="en-US" dirty="0" smtClean="0"/>
              <a:t>     </a:t>
            </a:r>
            <a:r>
              <a:rPr lang="en-US" dirty="0"/>
              <a:t>[7]  </a:t>
            </a:r>
            <a:r>
              <a:rPr lang="en-US" dirty="0" smtClean="0"/>
              <a:t>    </a:t>
            </a:r>
            <a:r>
              <a:rPr lang="en-US" dirty="0"/>
              <a:t>[8]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Summary of Sorting Algorithms</a:t>
            </a:r>
            <a:endParaRPr/>
          </a:p>
        </p:txBody>
      </p:sp>
      <p:graphicFrame>
        <p:nvGraphicFramePr>
          <p:cNvPr id="654" name="Google Shape;654;p32"/>
          <p:cNvGraphicFramePr/>
          <p:nvPr/>
        </p:nvGraphicFramePr>
        <p:xfrm>
          <a:off x="1066799" y="1657495"/>
          <a:ext cx="7010400" cy="4648200"/>
        </p:xfrm>
        <a:graphic>
          <a:graphicData uri="http://schemas.openxmlformats.org/drawingml/2006/table">
            <a:tbl>
              <a:tblPr>
                <a:noFill/>
                <a:tableStyleId>{7B1CF65D-FCD2-4DD9-9065-E694EA928A95}</a:tableStyleId>
              </a:tblPr>
              <a:tblGrid>
                <a:gridCol w="1925750"/>
                <a:gridCol w="2008575"/>
                <a:gridCol w="3076075"/>
              </a:tblGrid>
              <a:tr h="840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6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2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Algorithm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6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2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Expected time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6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2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Notes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</a:tr>
              <a:tr h="732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selection-sort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000" b="0" i="0" u="none" strike="noStrike" cap="none" baseline="30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1176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760"/>
                        <a:buFont typeface="Noto Sans Symbols"/>
                        <a:buChar char="•"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slow</a:t>
                      </a:r>
                      <a:endParaRPr/>
                    </a:p>
                    <a:p>
                      <a:pPr marL="0" marR="0" lvl="0" indent="-111760" algn="l" rtl="0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760"/>
                        <a:buFont typeface="Noto Sans Symbols"/>
                        <a:buChar char="•"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for small data sets (&lt; 1K)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</a:tr>
              <a:tr h="732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insertion-sort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000" b="0" i="0" u="none" strike="noStrike" cap="none" baseline="30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1176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760"/>
                        <a:buFont typeface="Noto Sans Symbols"/>
                        <a:buChar char="•"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slow</a:t>
                      </a:r>
                      <a:endParaRPr/>
                    </a:p>
                    <a:p>
                      <a:pPr marL="0" marR="0" lvl="0" indent="-111760" algn="l" rtl="0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760"/>
                        <a:buFont typeface="Noto Sans Symbols"/>
                        <a:buChar char="•"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for small data sets (&lt; 1K)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</a:tr>
              <a:tr h="862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heap-sort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log 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1176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760"/>
                        <a:buFont typeface="Noto Sans Symbols"/>
                        <a:buChar char="•"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fast</a:t>
                      </a:r>
                      <a:endParaRPr/>
                    </a:p>
                    <a:p>
                      <a:pPr marL="0" marR="0" lvl="0" indent="-111760" algn="l" rtl="0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760"/>
                        <a:buFont typeface="Noto Sans Symbols"/>
                        <a:buChar char="•"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for large data sets (1K — 1M)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folHlink"/>
                    </a:solidFill>
                  </a:tcPr>
                </a:tc>
              </a:tr>
              <a:tr h="618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merge-sort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log 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1176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760"/>
                        <a:buFont typeface="Noto Sans Symbols"/>
                        <a:buChar char="•"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fast</a:t>
                      </a:r>
                      <a:endParaRPr/>
                    </a:p>
                    <a:p>
                      <a:pPr marL="0" marR="0" lvl="0" indent="-111760" algn="l" rtl="0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760"/>
                        <a:buFont typeface="Noto Sans Symbols"/>
                        <a:buChar char="•"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for huge data sets (&gt; 1M)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folHlink"/>
                    </a:solidFill>
                  </a:tcPr>
                </a:tc>
              </a:tr>
              <a:tr h="862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Quick-sort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log </a:t>
                      </a:r>
                      <a:r>
                        <a:rPr lang="en-US" sz="20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1176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760"/>
                        <a:buFont typeface="Noto Sans Symbols"/>
                        <a:buChar char="•"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fast and most common in practice</a:t>
                      </a:r>
                      <a:endParaRPr/>
                    </a:p>
                    <a:p>
                      <a:pPr marL="0" marR="0" lvl="0" indent="-111760" algn="l" rtl="0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760"/>
                        <a:buFont typeface="Noto Sans Symbols"/>
                        <a:buChar char="•"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for huge data sets (&gt; 1M)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folHlink"/>
                    </a:solidFill>
                  </a:tcPr>
                </a:tc>
              </a:tr>
            </a:tbl>
          </a:graphicData>
        </a:graphic>
      </p:graphicFrame>
      <p:sp>
        <p:nvSpPr>
          <p:cNvPr id="655" name="Google Shape;655;p3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50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dirty="0"/>
          </a:p>
        </p:txBody>
      </p:sp>
      <p:sp>
        <p:nvSpPr>
          <p:cNvPr id="661" name="Google Shape;661;p33"/>
          <p:cNvSpPr txBox="1">
            <a:spLocks noGrp="1"/>
          </p:cNvSpPr>
          <p:nvPr>
            <p:ph type="body" idx="1"/>
          </p:nvPr>
        </p:nvSpPr>
        <p:spPr>
          <a:xfrm>
            <a:off x="381000" y="1844824"/>
            <a:ext cx="84582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task is to illustrate the execution of the merge-sort algorithm on following numbers: 	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3, 13, 89, 34, 21, 44, 99, 56, 9</a:t>
            </a:r>
            <a:endParaRPr/>
          </a:p>
        </p:txBody>
      </p:sp>
      <p:sp>
        <p:nvSpPr>
          <p:cNvPr id="662" name="Google Shape;662;p3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51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CE63DF93-0EA6-46DB-8FBA-7302F17FB19E}"/>
  <p:tag name="ISPRING_RESOURCE_FOLDER" val="C:\Users\Administrator\Documents\CTDL&amp;GT\Cai tien MH CTDL_GT\CTDL_GT\Slides and exercises\Lecture08_algorithms_part1\Lecture 8_Algorithms_part1\"/>
  <p:tag name="ISPRING_PRESENTATION_PATH" val="C:\Users\Administrator\Documents\CTDL&amp;GT\Cai tien MH CTDL_GT\CTDL_GT\Slides and exercises\Lecture08_algorithms_part1\Lecture 8_Algorithms_part1.pptx"/>
  <p:tag name="ISPRING_PROJECT_VERSION" val="9"/>
  <p:tag name="ISPRING_PROJECT_FOLDER_UPDATED" val="1"/>
  <p:tag name="ISPRING_SCREEN_RECS_UPDATED" val="C:\Users\Administrator\Documents\CTDL&amp;GT\Cai tien MH CTDL_GT\CTDL_GT\Slides and exercises\Lecture08_algorithms_part1\Lecture 8_Algorithms_part1\"/>
  <p:tag name="FLASHSPRING_ZOOM_TAG" val="67"/>
  <p:tag name="ISPRING_PRESENTATION_INFO_2" val="&lt;?xml version=&quot;1.0&quot; encoding=&quot;UTF-8&quot; standalone=&quot;no&quot; ?&gt;&#10;&lt;presentation2&gt;&#10;&#10;  &lt;slides&gt;&#10;    &lt;slide id=&quot;{A6268FD5-D4A4-43FB-8785-2358DD168505}&quot; pptId=&quot;256&quot;/&gt;&#10;    &lt;slide id=&quot;{7A03CE5C-1F80-4DB3-A543-E005CC6EDFFE}&quot; pptId=&quot;257&quot;/&gt;&#10;    &lt;slide id=&quot;{B447BC1D-15EF-478F-9589-D424131A6773}&quot; pptId=&quot;258&quot;/&gt;&#10;    &lt;slide id=&quot;{BE4A7EF2-6895-4AD4-B316-26BC3C66197B}&quot; pptId=&quot;259&quot;/&gt;&#10;    &lt;slide id=&quot;{022411BD-7E2C-43CD-9E02-B69D85D4CF32}&quot; pptId=&quot;260&quot;/&gt;&#10;    &lt;slide id=&quot;{AD09D196-50B2-4772-9AA8-65AABED7D534}&quot; pptId=&quot;261&quot;/&gt;&#10;    &lt;slide id=&quot;{F4521001-FA94-44B9-BEB2-FC758620D656}&quot; pptId=&quot;262&quot;/&gt;&#10;    &lt;slide id=&quot;{74F7C2CE-DA5F-46C4-AE50-8066564B2EFD}&quot; pptId=&quot;263&quot;/&gt;&#10;    &lt;slide id=&quot;{9E0A9522-A7AB-4191-B593-0FFA5DE44B5A}&quot; pptId=&quot;264&quot;/&gt;&#10;    &lt;slide id=&quot;{832C9C0F-832F-46FC-9D39-52EA2E3B4482}&quot; pptId=&quot;265&quot;/&gt;&#10;    &lt;slide id=&quot;{C3296307-8206-492F-B777-47F81E1E2B86}&quot; pptId=&quot;266&quot;/&gt;&#10;    &lt;slide id=&quot;{7BD18773-8A01-4C8F-92FD-850BC7B6A9CD}&quot; pptId=&quot;267&quot;/&gt;&#10;    &lt;slide id=&quot;{093CF2F2-ED0F-41DB-9034-3F3AC1CAF000}&quot; pptId=&quot;268&quot;/&gt;&#10;    &lt;slide id=&quot;{B82439E0-0CE7-4939-B052-96AF4EDCDFD2}&quot; pptId=&quot;269&quot;/&gt;&#10;    &lt;slide id=&quot;{F87AC3A8-0D22-499D-8D2E-F0922EE3372F}&quot; pptId=&quot;270&quot;/&gt;&#10;    &lt;slide id=&quot;{98C7F2E6-863C-492D-9650-5D1DA0D556E2}&quot; pptId=&quot;271&quot;/&gt;&#10;    &lt;slide id=&quot;{AB7CD047-7B45-4137-8A12-29F6A2F17BF1}&quot; pptId=&quot;272&quot;/&gt;&#10;    &lt;slide id=&quot;{8CE21DFC-C487-424F-9E64-016AB56230CD}&quot; pptId=&quot;273&quot;/&gt;&#10;    &lt;slide id=&quot;{FAF9EB0D-3206-4876-8C1E-48BD1292B527}&quot; pptId=&quot;274&quot;/&gt;&#10;    &lt;slide id=&quot;{ACAF6B5B-530E-4A19-9C70-E2B3AED05B18}&quot; pptId=&quot;275&quot;/&gt;&#10;    &lt;slide id=&quot;{A329B3EA-2575-42B1-ABBD-5508DBE2FF09}&quot; pptId=&quot;276&quot;/&gt;&#10;  &lt;/slides&gt;&#10;&#10;  &lt;narration&gt;&#10;    &lt;audioTracks&gt;&#10;      &lt;audioTrack muted=&quot;false&quot; name=&quot;Lect 8&quot; resource=&quot;f9c97d03&quot; slideId=&quot;{A6268FD5-D4A4-43FB-8785-2358DD168505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LMS_API_VERSION" val="SCORM 1.2"/>
  <p:tag name="ISPRING_ULTRA_SCORM_COURSE_ID" val="4E2A34FA-B94B-41B9-8A9A-BDF0A761D166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C:\Users\Administrator\Documents\CTDL&amp;GT\Cai tien MH CTDL_GT\CTDL_GT\Slides and exercises\Script for videos\Lecture 8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8_Algorithms_part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6268FD5-D4A4-43FB-8785-2358DD168505}"/>
  <p:tag name="GENSWF_ADVANCE_TIME" val="3.395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A03CE5C-1F80-4DB3-A543-E005CC6EDFFE}"/>
  <p:tag name="GENSWF_ADVANCE_TIME" val="10.671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447BC1D-15EF-478F-9589-D424131A6773}"/>
  <p:tag name="GENSWF_ADVANCE_TIME" val="24.153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E4A7EF2-6895-4AD4-B316-26BC3C66197B}"/>
  <p:tag name="GENSWF_ADVANCE_TIME" val="5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22411BD-7E2C-43CD-9E02-B69D85D4CF32}"/>
  <p:tag name="GENSWF_ADVANCE_TIME" val="3.181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D09D196-50B2-4772-9AA8-65AABED7D534}"/>
  <p:tag name="GENSWF_ADVANCE_TIME" val="3.609"/>
  <p:tag name="ISPRING_CUSTOM_TIMING_USE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F4521001-FA94-44B9-BEB2-FC758620D656}"/>
  <p:tag name="GENSWF_ADVANCE_TIME" val="17.519"/>
  <p:tag name="ISPRING_CUSTOM_TIMING_US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4F7C2CE-DA5F-46C4-AE50-8066564B2EFD}"/>
  <p:tag name="GENSWF_ADVANCE_TIME" val="15.165"/>
  <p:tag name="ISPRING_CUSTOM_TIMING_US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9E0A9522-A7AB-4191-B593-0FFA5DE44B5A}"/>
  <p:tag name="GENSWF_ADVANCE_TIME" val="9.494"/>
  <p:tag name="ISPRING_CUSTOM_TIMING_US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32C9C0F-832F-46FC-9D39-52EA2E3B4482}"/>
  <p:tag name="GENSWF_ADVANCE_TIME" val="2.325"/>
  <p:tag name="ISPRING_CUSTOM_TIMING_US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3296307-8206-492F-B777-47F81E1E2B86}"/>
  <p:tag name="GENSWF_ADVANCE_TIME" val="2.325"/>
  <p:tag name="ISPRING_CUSTOM_TIMING_US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BD18773-8A01-4C8F-92FD-850BC7B6A9CD}"/>
  <p:tag name="GENSWF_ADVANCE_TIME" val="2.325"/>
  <p:tag name="ISPRING_CUSTOM_TIMING_US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93CF2F2-ED0F-41DB-9034-3F3AC1CAF000}"/>
  <p:tag name="GENSWF_ADVANCE_TIME" val="1.469"/>
  <p:tag name="ISPRING_CUSTOM_TIMING_US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82439E0-0CE7-4939-B052-96AF4EDCDFD2}"/>
  <p:tag name="GENSWF_ADVANCE_TIME" val="1.897"/>
  <p:tag name="ISPRING_CUSTOM_TIMING_USE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F87AC3A8-0D22-499D-8D2E-F0922EE3372F}"/>
  <p:tag name="GENSWF_ADVANCE_TIME" val="3.181"/>
  <p:tag name="ISPRING_CUSTOM_TIMING_USED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98C7F2E6-863C-492D-9650-5D1DA0D556E2}"/>
  <p:tag name="GENSWF_ADVANCE_TIME" val="3.395"/>
  <p:tag name="ISPRING_CUSTOM_TIMING_USED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B7CD047-7B45-4137-8A12-29F6A2F17BF1}"/>
  <p:tag name="GENSWF_ADVANCE_TIME" val="2.539"/>
  <p:tag name="ISPRING_CUSTOM_TIMING_USED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CE21DFC-C487-424F-9E64-016AB56230CD}"/>
  <p:tag name="GENSWF_ADVANCE_TIME" val="1.897"/>
  <p:tag name="ISPRING_CUSTOM_TIMING_USED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FAF9EB0D-3206-4876-8C1E-48BD1292B527}"/>
  <p:tag name="GENSWF_ADVANCE_TIME" val="29.503"/>
  <p:tag name="ISPRING_CUSTOM_TIMING_USED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CAF6B5B-530E-4A19-9C70-E2B3AED05B18}"/>
  <p:tag name="GENSWF_ADVANCE_TIME" val="9.922"/>
  <p:tag name="ISPRING_CUSTOM_TIMING_USED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329B3EA-2575-42B1-ABBD-5508DBE2FF09}"/>
  <p:tag name="GENSWF_ADVANCE_TIME" val="5"/>
  <p:tag name="ISPRING_CUSTOM_TIMING_USED" val="1"/>
</p:tagLst>
</file>

<file path=ppt/theme/theme1.xml><?xml version="1.0" encoding="utf-8"?>
<a:theme xmlns:a="http://schemas.openxmlformats.org/drawingml/2006/main" name="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2950</Words>
  <Application>Microsoft Office PowerPoint</Application>
  <PresentationFormat>On-screen Show (4:3)</PresentationFormat>
  <Paragraphs>958</Paragraphs>
  <Slides>51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0" baseType="lpstr">
      <vt:lpstr>Arial</vt:lpstr>
      <vt:lpstr>Helvetica Neue</vt:lpstr>
      <vt:lpstr>Times New Roman</vt:lpstr>
      <vt:lpstr>Calibri</vt:lpstr>
      <vt:lpstr>Noto Sans Symbols</vt:lpstr>
      <vt:lpstr>Tahoma</vt:lpstr>
      <vt:lpstr>Helvetica</vt:lpstr>
      <vt:lpstr>ＭＳ Ｐゴシック</vt:lpstr>
      <vt:lpstr>Koi</vt:lpstr>
      <vt:lpstr>Advanced algorithms</vt:lpstr>
      <vt:lpstr>Outlines</vt:lpstr>
      <vt:lpstr>Divide-and-Conquer </vt:lpstr>
      <vt:lpstr>Binary Search Algorithm</vt:lpstr>
      <vt:lpstr>Example</vt:lpstr>
      <vt:lpstr>Merge Sort</vt:lpstr>
      <vt:lpstr>Merge-Sort</vt:lpstr>
      <vt:lpstr>Merging Two Sorted Sequences</vt:lpstr>
      <vt:lpstr>Execution Example</vt:lpstr>
      <vt:lpstr>Execution Example (cont.)</vt:lpstr>
      <vt:lpstr>Execution Example (cont.)</vt:lpstr>
      <vt:lpstr>Execution Example (cont.)</vt:lpstr>
      <vt:lpstr>Execution Example (cont.)</vt:lpstr>
      <vt:lpstr>Execution Example (cont.)</vt:lpstr>
      <vt:lpstr>Execution Example (cont.)</vt:lpstr>
      <vt:lpstr>Execution Example (cont.)</vt:lpstr>
      <vt:lpstr>Execution Example (cont.)</vt:lpstr>
      <vt:lpstr>Execution Example (cont.)</vt:lpstr>
      <vt:lpstr>Analysis of Merge-Sort</vt:lpstr>
      <vt:lpstr>Quick-Sort</vt:lpstr>
      <vt:lpstr>Ví dụ</vt:lpstr>
      <vt:lpstr>Phần tử khoá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Kết quả phân hoạch</vt:lpstr>
      <vt:lpstr>Đệ quy: QuickSort các mảng con</vt:lpstr>
      <vt:lpstr>Summary of Sorting Algorithms</vt:lpstr>
      <vt:lpstr>Exercise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8_Algorithms_part1</dc:title>
  <cp:lastModifiedBy>DHQG</cp:lastModifiedBy>
  <cp:revision>13</cp:revision>
  <dcterms:modified xsi:type="dcterms:W3CDTF">2019-11-11T08:11:28Z</dcterms:modified>
</cp:coreProperties>
</file>