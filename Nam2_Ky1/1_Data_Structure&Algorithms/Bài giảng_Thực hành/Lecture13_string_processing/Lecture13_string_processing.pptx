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tags/tag8.xml" ContentType="application/vnd.openxmlformats-officedocument.presentationml.tag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tags/tag18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tags/tag23.xml" ContentType="application/vnd.openxmlformats-officedocument.presentationml.tags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21.xml" ContentType="application/vnd.openxmlformats-officedocument.presentationml.tag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tags/tag7.xml" ContentType="application/vnd.openxmlformats-officedocument.presentationml.tag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tags/tag3.xml" ContentType="application/vnd.openxmlformats-officedocument.presentationml.tags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tags/tag19.xml" ContentType="application/vnd.openxmlformats-officedocument.presentationml.tag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tags/tag17.xml" ContentType="application/vnd.openxmlformats-officedocument.presentationml.tags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15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3.xml" ContentType="application/vnd.openxmlformats-officedocument.presentationml.tags+xml"/>
  <Override PartName="/ppt/tags/tag22.xml" ContentType="application/vnd.openxmlformats-officedocument.presentationml.tags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ppt/tags/tag11.xml" ContentType="application/vnd.openxmlformats-officedocument.presentationml.tags+xml"/>
  <Override PartName="/ppt/tags/tag20.xml" ContentType="application/vnd.openxmlformats-officedocument.presentationml.tag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24"/>
  </p:notesMasterIdLst>
  <p:handoutMasterIdLst>
    <p:handoutMasterId r:id="rId25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7099300" cy="10234613"/>
  <p:embeddedFontLst>
    <p:embeddedFont>
      <p:font typeface="Helvetica" pitchFamily="34" charset="0"/>
      <p:regular r:id="rId26"/>
      <p:bold r:id="rId27"/>
      <p:italic r:id="rId28"/>
      <p:boldItalic r:id="rId29"/>
    </p:embeddedFont>
    <p:embeddedFont>
      <p:font typeface="Calibri" pitchFamily="34" charset="0"/>
      <p:regular r:id="rId30"/>
      <p:bold r:id="rId31"/>
      <p:italic r:id="rId32"/>
      <p:boldItalic r:id="rId33"/>
    </p:embeddedFont>
  </p:embeddedFontLst>
  <p:custDataLst>
    <p:tags r:id="rId34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9AF7ED0B-2553-4681-8127-A0897A46BF43}">
  <a:tblStyle styleId="{9AF7ED0B-2553-4681-8127-A0897A46BF43}" styleName="Table_0">
    <a:wholeTbl>
      <a:tcTxStyle b="off" i="off">
        <a:font>
          <a:latin typeface="Helvetica"/>
          <a:ea typeface="Helvetica"/>
          <a:cs typeface="Helvetica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rgbClr val="E7E7EB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7E7EB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Helvetica"/>
          <a:ea typeface="Helvetica"/>
          <a:cs typeface="Helvetica"/>
        </a:font>
        <a:schemeClr val="lt1"/>
      </a:tcTxStyle>
      <a:tcStyle>
        <a:tcBdr/>
        <a:fill>
          <a:solidFill>
            <a:schemeClr val="dk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EEC2A39-1FFF-4A1B-8636-17AA7E099E35}" styleName="Table_1">
    <a:wholeTbl>
      <a:tcTxStyle b="off" i="off">
        <a:font>
          <a:latin typeface="Helvetica"/>
          <a:ea typeface="Helvetica"/>
          <a:cs typeface="Helvetica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7EB"/>
          </a:solidFill>
        </a:fill>
      </a:tcStyle>
    </a:wholeTbl>
    <a:band1H>
      <a:tcTxStyle/>
      <a:tcStyle>
        <a:tcBdr/>
        <a:fill>
          <a:solidFill>
            <a:srgbClr val="CBCBD5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BCBD5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Helvetica"/>
          <a:ea typeface="Helvetica"/>
          <a:cs typeface="Helvetica"/>
        </a:font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 i="off">
        <a:font>
          <a:latin typeface="Helvetica"/>
          <a:ea typeface="Helvetica"/>
          <a:cs typeface="Helvetica"/>
        </a:font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dk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Helvetica"/>
          <a:ea typeface="Helvetica"/>
          <a:cs typeface="Helvetica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-738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33" Type="http://schemas.openxmlformats.org/officeDocument/2006/relationships/font" Target="fonts/font8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7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32BD71-F2EB-374A-B766-5AF32A17FCEA}" type="datetimeFigureOut">
              <a:rPr lang="en-US" smtClean="0"/>
              <a:pPr/>
              <a:t>3/23/2019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DB6C2B-026E-114A-A0E6-00895E422B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20730449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1294" y="0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22753858"/>
      </p:ext>
    </p:extLst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2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3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5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6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7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8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9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0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1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2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914400" y="1600200"/>
            <a:ext cx="7315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914400" y="2895600"/>
            <a:ext cx="7315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dt" idx="10"/>
          </p:nvPr>
        </p:nvSpPr>
        <p:spPr>
          <a:xfrm>
            <a:off x="9144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ftr" idx="11"/>
          </p:nvPr>
        </p:nvSpPr>
        <p:spPr>
          <a:xfrm>
            <a:off x="3124200" y="60960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ldNum" idx="12"/>
          </p:nvPr>
        </p:nvSpPr>
        <p:spPr>
          <a:xfrm>
            <a:off x="65532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body" idx="2"/>
          </p:nvPr>
        </p:nvSpPr>
        <p:spPr>
          <a:xfrm>
            <a:off x="46482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 rot="5400000">
            <a:off x="2552700" y="114300"/>
            <a:ext cx="4038600" cy="7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>
            <a:spLocks noGrp="1"/>
          </p:cNvSpPr>
          <p:nvPr>
            <p:ph type="title"/>
          </p:nvPr>
        </p:nvSpPr>
        <p:spPr>
          <a:xfrm rot="5400000">
            <a:off x="4705350" y="2266950"/>
            <a:ext cx="5562600" cy="19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body" idx="1"/>
          </p:nvPr>
        </p:nvSpPr>
        <p:spPr>
          <a:xfrm rot="5400000">
            <a:off x="742950" y="400050"/>
            <a:ext cx="5562600" cy="56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EXT_AND_OBJEC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body" idx="1"/>
          </p:nvPr>
        </p:nvSpPr>
        <p:spPr>
          <a:xfrm>
            <a:off x="838200" y="19050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body" idx="2"/>
          </p:nvPr>
        </p:nvSpPr>
        <p:spPr>
          <a:xfrm>
            <a:off x="4800600" y="19050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219200" y="1600200"/>
            <a:ext cx="5926138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ctrTitle"/>
          </p:nvPr>
        </p:nvSpPr>
        <p:spPr>
          <a:xfrm>
            <a:off x="914400" y="1600200"/>
            <a:ext cx="7315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String Processing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1"/>
          </p:nvPr>
        </p:nvSpPr>
        <p:spPr>
          <a:xfrm>
            <a:off x="914400" y="3943565"/>
            <a:ext cx="7315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Helvetica Neue"/>
              <a:buNone/>
            </a:pPr>
            <a:endParaRPr sz="2600" b="0" i="1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endParaRPr sz="2800" b="0" i="1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endParaRPr sz="3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Outlines</a:t>
            </a:r>
            <a:endParaRPr/>
          </a:p>
        </p:txBody>
      </p:sp>
      <p:sp>
        <p:nvSpPr>
          <p:cNvPr id="105" name="Google Shape;105;p15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8145463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String matching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Regular expression</a:t>
            </a:r>
            <a:endParaRPr/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>
            <a:spLocks noGrp="1"/>
          </p:cNvSpPr>
          <p:nvPr>
            <p:ph type="title"/>
          </p:nvPr>
        </p:nvSpPr>
        <p:spPr>
          <a:xfrm>
            <a:off x="457200" y="914400"/>
            <a:ext cx="8229600" cy="563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String</a:t>
            </a:r>
            <a:endParaRPr sz="36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571500" y="1905000"/>
            <a:ext cx="8153400" cy="5069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String is an array of characters. 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For example:  S = “Matching is a string algorithms”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Substring is a continuous part of a string 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Example: s = “a string” is a substring of S.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prefix string is a substring of S that includes the first character of S.</a:t>
            </a:r>
            <a:endParaRPr/>
          </a:p>
          <a:p>
            <a:pPr marL="457200" marR="0" lvl="1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S = “Algorithm”</a:t>
            </a:r>
            <a:endParaRPr/>
          </a:p>
          <a:p>
            <a:pPr marL="457200" marR="0" lvl="1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Prefix of S: A, Al, Alg,....Algorithm</a:t>
            </a: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857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A suffix string is substring of S that includes the last character of S.</a:t>
            </a:r>
            <a:endParaRPr/>
          </a:p>
          <a:p>
            <a:pPr marL="457200" marR="0" lvl="1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S = “Algorithm”</a:t>
            </a:r>
            <a:endParaRPr/>
          </a:p>
          <a:p>
            <a:pPr marL="457200" marR="0" lvl="1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Suffix of S: m, hm, thm, ithm...Algorithm</a:t>
            </a: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1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String matching problem</a:t>
            </a:r>
            <a:endParaRPr/>
          </a:p>
        </p:txBody>
      </p:sp>
      <p:sp>
        <p:nvSpPr>
          <p:cNvPr id="117" name="Google Shape;117;p17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8145463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Problem: Given a short string (pattern) P and a long string S (text), determine whether if the pattern P appears in the text S.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 = “Hello to string algorithms”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 = “algorithm”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Naïve string matching</a:t>
            </a:r>
            <a:endParaRPr/>
          </a:p>
        </p:txBody>
      </p:sp>
      <p:sp>
        <p:nvSpPr>
          <p:cNvPr id="123" name="Google Shape;123;p18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704850" y="2057400"/>
            <a:ext cx="8145463" cy="37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Moving from the begin to the end of the text S, for each position determine if the pattern P appears at the position.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24" name="Google Shape;124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8400" y="3124200"/>
            <a:ext cx="6807200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Naïve string matching</a:t>
            </a:r>
            <a:endParaRPr/>
          </a:p>
        </p:txBody>
      </p:sp>
      <p:sp>
        <p:nvSpPr>
          <p:cNvPr id="130" name="Google Shape;130;p19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1828800" y="2057400"/>
            <a:ext cx="5238750" cy="35814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Algorithm Naïve (P, S):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Let 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be the length of S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Let 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be the length P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For 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from 0 to m – n do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if P = S[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…(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 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 n – 1)]: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return “P in S”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return “P not in S”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Complexity:  O(mn)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Knuth Morris Pratt Algorithm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36" name="Google Shape;136;p20"/>
          <p:cNvPicPr preferRelativeResize="0"/>
          <p:nvPr/>
        </p:nvPicPr>
        <p:blipFill rotWithShape="1">
          <a:blip r:embed="rId4">
            <a:alphaModFix/>
          </a:blip>
          <a:srcRect l="-523" t="9145" r="1068" b="265"/>
          <a:stretch/>
        </p:blipFill>
        <p:spPr>
          <a:xfrm>
            <a:off x="2984313" y="1828800"/>
            <a:ext cx="5778688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0"/>
          <p:cNvSpPr txBox="1"/>
          <p:nvPr/>
        </p:nvSpPr>
        <p:spPr>
          <a:xfrm>
            <a:off x="457200" y="1828800"/>
            <a:ext cx="2514600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Idea: Whenever a mismatch occurs, we shift the pattern as far as possible to avoid redundant comparisons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Complexity: O(m+n)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Exercises on string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3" name="Google Shape;143;p21"/>
          <p:cNvSpPr txBox="1">
            <a:spLocks noGrp="1"/>
          </p:cNvSpPr>
          <p:nvPr>
            <p:ph type="body" idx="1"/>
          </p:nvPr>
        </p:nvSpPr>
        <p:spPr>
          <a:xfrm>
            <a:off x="457200" y="1905000"/>
            <a:ext cx="8001000" cy="4221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Given a string, write an algorithm to determine all duplicate words in the string.</a:t>
            </a:r>
            <a:endParaRPr/>
          </a:p>
          <a:p>
            <a: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endParaRPr sz="2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Given a string, write an algorithm to check if it contains only digits</a:t>
            </a:r>
            <a:endParaRPr/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Regular expression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9" name="Google Shape;149;p22"/>
          <p:cNvSpPr txBox="1"/>
          <p:nvPr/>
        </p:nvSpPr>
        <p:spPr>
          <a:xfrm>
            <a:off x="438150" y="1752600"/>
            <a:ext cx="8401050" cy="4071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Problem: </a:t>
            </a: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 to find patterns such as email addresses, URLs in a string or 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text?</a:t>
            </a:r>
            <a:endParaRPr/>
          </a:p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regular expression (regex) defines a pattern of characters with conditions: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Examples:</a:t>
            </a:r>
            <a:endParaRPr/>
          </a:p>
          <a:p>
            <a:pPr marL="1200150" marR="0" lvl="2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“regular expression” matches exactly the text “regular expression”</a:t>
            </a:r>
            <a:endParaRPr/>
          </a:p>
          <a:p>
            <a:pPr marL="1200150" marR="0" lvl="2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“oo+h!” matches “ooh!”, “oooh!’, “ooooh!”, etc.	</a:t>
            </a:r>
            <a:endParaRPr/>
          </a:p>
          <a:p>
            <a:pPr marL="1200150" marR="0" lvl="2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“colo?r” matches color or colour</a:t>
            </a: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200150" marR="0" lvl="2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“beg.n” matches begin, began, begun, etc.</a:t>
            </a:r>
            <a:endParaRPr/>
          </a:p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search pattern can be anything from a simple character, a fixed string or a complex expression containing special characters. </a:t>
            </a:r>
            <a:endParaRPr/>
          </a:p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pattern defined by the regex may match one or several times or not at all for a given string.</a:t>
            </a:r>
            <a:endParaRPr/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1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Common matching symbols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155" name="Google Shape;155;p23"/>
          <p:cNvGraphicFramePr/>
          <p:nvPr/>
        </p:nvGraphicFramePr>
        <p:xfrm>
          <a:off x="762000" y="1524000"/>
          <a:ext cx="7543800" cy="4915840"/>
        </p:xfrm>
        <a:graphic>
          <a:graphicData uri="http://schemas.openxmlformats.org/drawingml/2006/table">
            <a:tbl>
              <a:tblPr firstRow="1" bandRow="1">
                <a:noFill/>
                <a:tableStyleId>{9AF7ED0B-2553-4681-8127-A0897A46BF43}</a:tableStyleId>
              </a:tblPr>
              <a:tblGrid>
                <a:gridCol w="1844050"/>
                <a:gridCol w="2849875"/>
                <a:gridCol w="2849875"/>
              </a:tblGrid>
              <a:tr h="772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Regular expression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Description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Example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313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Matches any characters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/beg.n/ =&gt; “begin”, “began”, “begun”</a:t>
                      </a:r>
                      <a:endParaRPr sz="160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50" marR="91450" marT="45725" marB="45725"/>
                </a:tc>
              </a:tr>
              <a:tr h="772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^regex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Find the regex that must match at the beginning of the string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/^sit/ =&gt; “site”, “sitcom”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but not “visit”, “deposit”</a:t>
                      </a:r>
                      <a:endParaRPr sz="1600"/>
                    </a:p>
                  </a:txBody>
                  <a:tcPr marL="91450" marR="91450" marT="45725" marB="45725"/>
                </a:tc>
              </a:tr>
              <a:tr h="1004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regex$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1800"/>
                        <a:t>Find the regex that must match at the end of the string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Helvetica Neue"/>
                        <a:buNone/>
                      </a:pPr>
                      <a:r>
                        <a:rPr lang="en-US" sz="1600"/>
                        <a:t>/ext$/ =&gt; “next”, “context”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Helvetica Neue"/>
                        <a:buNone/>
                      </a:pPr>
                      <a:r>
                        <a:rPr lang="en-US" sz="1600"/>
                        <a:t>but not “extra”, “extent”</a:t>
                      </a:r>
                      <a:endParaRPr sz="1600"/>
                    </a:p>
                  </a:txBody>
                  <a:tcPr marL="91450" marR="91450" marT="45725" marB="45725"/>
                </a:tc>
              </a:tr>
              <a:tr h="313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[abc]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Match either a or b or c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/[fg]un/ =&gt; “fun”, “gun”</a:t>
                      </a:r>
                      <a:endParaRPr sz="1600"/>
                    </a:p>
                  </a:txBody>
                  <a:tcPr marL="91450" marR="91450" marT="45725" marB="45725"/>
                </a:tc>
              </a:tr>
              <a:tr h="313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[^abc]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Match any character except a, b, c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/[^fg]un/ =&gt; “run”, “sun”</a:t>
                      </a:r>
                      <a:endParaRPr sz="1600"/>
                    </a:p>
                  </a:txBody>
                  <a:tcPr marL="91450" marR="91450" marT="45725" marB="45725"/>
                </a:tc>
              </a:tr>
              <a:tr h="313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[1-9]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Match any digit from 1 to 9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/any[1-9]/ =&gt; any1, any2</a:t>
                      </a:r>
                      <a:endParaRPr sz="1600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Meta characters</a:t>
            </a:r>
            <a:endParaRPr sz="32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161" name="Google Shape;161;p24"/>
          <p:cNvGraphicFramePr/>
          <p:nvPr/>
        </p:nvGraphicFramePr>
        <p:xfrm>
          <a:off x="914400" y="1828800"/>
          <a:ext cx="7315200" cy="3828855"/>
        </p:xfrm>
        <a:graphic>
          <a:graphicData uri="http://schemas.openxmlformats.org/drawingml/2006/table">
            <a:tbl>
              <a:tblPr firstRow="1" bandRow="1">
                <a:noFill/>
                <a:tableStyleId>{1EEC2A39-1FFF-4A1B-8636-17AA7E099E35}</a:tableStyleId>
              </a:tblPr>
              <a:tblGrid>
                <a:gridCol w="1737350"/>
                <a:gridCol w="2472825"/>
                <a:gridCol w="3105025"/>
              </a:tblGrid>
              <a:tr h="772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Regular expression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Description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Example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313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\d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Any digit, short for [0-9]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/\d\d/ =&gt; “01”, “02” … “99”</a:t>
                      </a:r>
                      <a:endParaRPr sz="1600"/>
                    </a:p>
                  </a:txBody>
                  <a:tcPr marL="91450" marR="91450" marT="45725" marB="45725"/>
                </a:tc>
              </a:tr>
              <a:tr h="772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\D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 non-digit, short for [^0-9]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/c\Dt/ =&gt; “cat”, “cut”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but not “c4t”</a:t>
                      </a:r>
                      <a:endParaRPr sz="1600"/>
                    </a:p>
                  </a:txBody>
                  <a:tcPr marL="91450" marR="91450" marT="45725" marB="45725"/>
                </a:tc>
              </a:tr>
              <a:tr h="1004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\s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1800"/>
                        <a:t>A white space character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/get\sup/ =&gt; “get up”</a:t>
                      </a:r>
                      <a:endParaRPr/>
                    </a:p>
                  </a:txBody>
                  <a:tcPr marL="91450" marR="91450" marT="45725" marB="45725"/>
                </a:tc>
              </a:tr>
              <a:tr h="313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\w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 word character, short for [a-z,A-Z0-9_]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/h\wt/ =&gt; “hAt”, “hot”, “h0t”, “h1t”</a:t>
                      </a:r>
                      <a:endParaRPr sz="1600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>
            <a:spLocks noGrp="1"/>
          </p:cNvSpPr>
          <p:nvPr>
            <p:ph type="title"/>
          </p:nvPr>
        </p:nvSpPr>
        <p:spPr>
          <a:xfrm>
            <a:off x="457200" y="381000"/>
            <a:ext cx="8229600" cy="71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Quantifier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167" name="Google Shape;167;p25"/>
          <p:cNvGraphicFramePr/>
          <p:nvPr/>
        </p:nvGraphicFramePr>
        <p:xfrm>
          <a:off x="990600" y="1371600"/>
          <a:ext cx="7391400" cy="4336710"/>
        </p:xfrm>
        <a:graphic>
          <a:graphicData uri="http://schemas.openxmlformats.org/drawingml/2006/table">
            <a:tbl>
              <a:tblPr firstRow="1" bandRow="1">
                <a:noFill/>
                <a:tableStyleId>{9AF7ED0B-2553-4681-8127-A0897A46BF43}</a:tableStyleId>
              </a:tblPr>
              <a:tblGrid>
                <a:gridCol w="1940250"/>
                <a:gridCol w="2555550"/>
                <a:gridCol w="2895600"/>
              </a:tblGrid>
              <a:tr h="772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Regular expression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Description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Example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313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regex*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Regex occurs zero or more times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/buz*/ =&gt; “bu”, “buz”, “buzz”, “buzzzzzz”</a:t>
                      </a:r>
                      <a:endParaRPr sz="1600"/>
                    </a:p>
                  </a:txBody>
                  <a:tcPr marL="91450" marR="91450" marT="45725" marB="45725"/>
                </a:tc>
              </a:tr>
              <a:tr h="772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regex+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1800"/>
                        <a:t>Regex occurs one or more times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/lo+ng/ =&gt; “long”, “loooooong”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but not “lng”</a:t>
                      </a:r>
                      <a:endParaRPr sz="1600"/>
                    </a:p>
                  </a:txBody>
                  <a:tcPr marL="91450" marR="91450" marT="45725" marB="45725"/>
                </a:tc>
              </a:tr>
              <a:tr h="1004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regex?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1800"/>
                        <a:t>Regex occurs zero or one time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/colou?r/ =&gt; “color”, “colour”</a:t>
                      </a:r>
                      <a:endParaRPr sz="1600"/>
                    </a:p>
                  </a:txBody>
                  <a:tcPr marL="91450" marR="91450" marT="45725" marB="45725"/>
                </a:tc>
              </a:tr>
              <a:tr h="313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regex{X}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regex occurs X times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/\d{3}/ =&gt; “016”, “752”</a:t>
                      </a:r>
                      <a:endParaRPr sz="1600"/>
                    </a:p>
                  </a:txBody>
                  <a:tcPr marL="91450" marR="91450" marT="45725" marB="45725"/>
                </a:tc>
              </a:tr>
              <a:tr h="313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regex{X,Y}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Regex occurs between X and Y times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/\w{3,4}/ =&gt; “int”, “long”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but not “double”</a:t>
                      </a:r>
                      <a:endParaRPr sz="1600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Examples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73" name="Google Shape;173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079500"/>
            <a:ext cx="7620000" cy="469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7"/>
          <p:cNvSpPr txBox="1">
            <a:spLocks noGrp="1"/>
          </p:cNvSpPr>
          <p:nvPr>
            <p:ph type="title"/>
          </p:nvPr>
        </p:nvSpPr>
        <p:spPr>
          <a:xfrm>
            <a:off x="533400" y="2895600"/>
            <a:ext cx="8229600" cy="71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Regular expression </a:t>
            </a:r>
            <a:br>
              <a:rPr lang="en-US" sz="36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36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a password</a:t>
            </a:r>
            <a:endParaRPr sz="36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Regular expression for a password</a:t>
            </a:r>
            <a:endParaRPr sz="36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84" name="Google Shape;184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371600"/>
            <a:ext cx="7620000" cy="469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9"/>
          <p:cNvSpPr txBox="1">
            <a:spLocks noGrp="1"/>
          </p:cNvSpPr>
          <p:nvPr>
            <p:ph type="title"/>
          </p:nvPr>
        </p:nvSpPr>
        <p:spPr>
          <a:xfrm>
            <a:off x="685800" y="26670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Regular expression </a:t>
            </a:r>
            <a:b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an email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0" name="Google Shape;190;p2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Regular expression for an email</a:t>
            </a:r>
            <a:endParaRPr/>
          </a:p>
        </p:txBody>
      </p:sp>
      <p:pic>
        <p:nvPicPr>
          <p:cNvPr id="196" name="Google Shape;196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19200" y="1295400"/>
            <a:ext cx="6324600" cy="527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17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1"/>
          <p:cNvSpPr txBox="1">
            <a:spLocks noGrp="1"/>
          </p:cNvSpPr>
          <p:nvPr>
            <p:ph type="title"/>
          </p:nvPr>
        </p:nvSpPr>
        <p:spPr>
          <a:xfrm>
            <a:off x="685800" y="25146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Regular expression a URL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2" name="Google Shape;202;p3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18</a:t>
            </a:fld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Regular expression a URL</a:t>
            </a:r>
            <a:endParaRPr/>
          </a:p>
        </p:txBody>
      </p:sp>
      <p:pic>
        <p:nvPicPr>
          <p:cNvPr id="208" name="Google Shape;208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95400" y="1193800"/>
            <a:ext cx="6477000" cy="539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19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3"/>
          <p:cNvSpPr txBox="1">
            <a:spLocks noGrp="1"/>
          </p:cNvSpPr>
          <p:nvPr>
            <p:ph type="title"/>
          </p:nvPr>
        </p:nvSpPr>
        <p:spPr>
          <a:xfrm>
            <a:off x="685800" y="26670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Regular expression </a:t>
            </a:r>
            <a:b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an IP address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4" name="Google Shape;214;p3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20</a:t>
            </a:fld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Regular expression for an IP address</a:t>
            </a:r>
            <a:endParaRPr/>
          </a:p>
        </p:txBody>
      </p:sp>
      <p:pic>
        <p:nvPicPr>
          <p:cNvPr id="220" name="Google Shape;220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95400" y="1219200"/>
            <a:ext cx="6477000" cy="539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21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5"/>
          <p:cNvSpPr txBox="1">
            <a:spLocks noGrp="1"/>
          </p:cNvSpPr>
          <p:nvPr>
            <p:ph type="title"/>
          </p:nvPr>
        </p:nvSpPr>
        <p:spPr>
          <a:xfrm>
            <a:off x="685800" y="2743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Regular expression </a:t>
            </a:r>
            <a:br>
              <a:rPr lang="en-US" sz="32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32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a variable</a:t>
            </a:r>
            <a:endParaRPr/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22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UID" val="{6A12F61A-7946-4793-8A08-3089E56530CE}"/>
  <p:tag name="ISPRING_RESOURCE_FOLDER" val="C:\Users\Administrator\Documents\CTDL&amp;GT\Cai tien MH CTDL_GT\CTDL_GT\Slides and exercises\Lecture13_string_processing\Lecture13_string_processing\"/>
  <p:tag name="ISPRING_PRESENTATION_PATH" val="C:\Users\Administrator\Documents\CTDL&amp;GT\Cai tien MH CTDL_GT\CTDL_GT\Slides and exercises\Lecture13_string_processing\Lecture13_string_processing.pptx"/>
  <p:tag name="ISPRING_PROJECT_VERSION" val="9"/>
  <p:tag name="ISPRING_PROJECT_FOLDER_UPDATED" val="1"/>
  <p:tag name="ISPRING_SCREEN_RECS_UPDATED" val="C:\Users\Administrator\Documents\CTDL&amp;GT\Cai tien MH CTDL_GT\CTDL_GT\Slides and exercises\Lecture13_string_processing\Lecture13_string_processing\"/>
  <p:tag name="FLASHSPRING_ZOOM_TAG" val="66"/>
  <p:tag name="ISPRING_PRESENTATION_INFO_2" val="&lt;?xml version=&quot;1.0&quot; encoding=&quot;UTF-8&quot; standalone=&quot;no&quot; ?&gt;&#10;&lt;presentation2&gt;&#10;&#10;  &lt;slides&gt;&#10;    &lt;slide id=&quot;{9B2A64CA-D27F-42FF-8E33-D642EA051DAA}&quot; pptId=&quot;256&quot;/&gt;&#10;    &lt;slide id=&quot;{BDA743BC-A731-4557-A9DA-89B744CD1756}&quot; pptId=&quot;257&quot;/&gt;&#10;    &lt;slide id=&quot;{A7937171-C824-4983-8B0F-34489EBF5C68}&quot; pptId=&quot;258&quot;/&gt;&#10;    &lt;slide id=&quot;{D19A57F1-1515-4BAB-A972-1F650F235AA5}&quot; pptId=&quot;259&quot;/&gt;&#10;    &lt;slide id=&quot;{6F0698F3-6E58-460D-BEA1-31C1919614DC}&quot; pptId=&quot;260&quot;/&gt;&#10;    &lt;slide id=&quot;{74A32E93-DA88-466A-B910-F4492F248E0B}&quot; pptId=&quot;261&quot;/&gt;&#10;    &lt;slide id=&quot;{395789AB-5682-4E54-BEA7-32A29BFDB9B5}&quot; pptId=&quot;262&quot;/&gt;&#10;    &lt;slide id=&quot;{B9C24350-7781-4424-B667-CFF44EA736E9}&quot; pptId=&quot;263&quot;/&gt;&#10;    &lt;slide id=&quot;{8AF52FDC-7BC2-44C3-9D00-B43D316176C8}&quot; pptId=&quot;264&quot;/&gt;&#10;    &lt;slide id=&quot;{F117DA95-61C3-413D-AE38-F712E56CA15E}&quot; pptId=&quot;265&quot;/&gt;&#10;    &lt;slide id=&quot;{F8C55AB7-5386-499E-933E-850F79CFE4D6}&quot; pptId=&quot;266&quot;/&gt;&#10;    &lt;slide id=&quot;{76FC3EA7-3E2B-4B96-B431-B919D28C261B}&quot; pptId=&quot;267&quot;/&gt;&#10;    &lt;slide id=&quot;{D7215082-18AA-41A8-AC2A-CA128F06510F}&quot; pptId=&quot;268&quot;/&gt;&#10;    &lt;slide id=&quot;{02837ADB-8ADB-42EC-8011-8B19353C73A5}&quot; pptId=&quot;269&quot;/&gt;&#10;    &lt;slide id=&quot;{ECC466E2-4386-4323-AC63-75173C0CD3C9}&quot; pptId=&quot;270&quot;/&gt;&#10;    &lt;slide id=&quot;{B6B97D13-709D-4BC8-B566-EC6B3ACB7225}&quot; pptId=&quot;271&quot;/&gt;&#10;    &lt;slide id=&quot;{5811B6A1-3E75-4CA5-92EF-66192D3368BC}&quot; pptId=&quot;272&quot;/&gt;&#10;    &lt;slide id=&quot;{301C4559-E9B5-42AC-A3C2-8E8104C7484A}&quot; pptId=&quot;273&quot;/&gt;&#10;    &lt;slide id=&quot;{08788A9A-0E90-4133-9FED-B5B325699AE0}&quot; pptId=&quot;274&quot;/&gt;&#10;    &lt;slide id=&quot;{918A8F93-0206-475E-9D17-A3D9FA18843A}&quot; pptId=&quot;275&quot;/&gt;&#10;    &lt;slide id=&quot;{83761B3D-D6E0-4691-9385-B8EA8D80D484}&quot; pptId=&quot;276&quot;/&gt;&#10;    &lt;slide id=&quot;{A63E4358-C0E3-4E3E-9E45-486AF35042D2}&quot; pptId=&quot;277&quot;/&gt;&#10;  &lt;/slides&gt;&#10;&#10;  &lt;narration&gt;&#10;    &lt;audioTracks&gt;&#10;      &lt;audioTrack muted=&quot;false&quot; name=&quot;Lect 13&quot; resource=&quot;dc864151&quot; slideId=&quot;{9B2A64CA-D27F-42FF-8E33-D642EA051DAA}&quot; startTime=&quot;0&quot; stepIndex=&quot;0&quot; volume=&quot;1&quot;&gt;&#10;        &lt;audio channels=&quot;1&quot; format=&quot;s16&quot; sampleRate=&quot;48000&quot;/&gt;&#10;      &lt;/audioTrack&gt;&#10;    &lt;/audioTracks&gt;&#10;    &lt;videoTracks/&gt;&#10;  &lt;/narration&gt;&#10;&#10;&lt;/presentation2&gt;&#10;"/>
  <p:tag name="ISPRING_LMS_API_VERSION" val="SCORM 1.2"/>
  <p:tag name="ISPRING_ULTRA_SCORM_COURSE_ID" val="A5D2AF43-988E-4262-8F1D-94D00F7B085A"/>
  <p:tag name="ISPRING_CMI5_LAUNCH_METHOD" val="any window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CLOUDFOLDERID" val="1"/>
  <p:tag name="ISPRINGONLINEFOLDERID" val="1"/>
  <p:tag name="ISPRING_OUTPUT_FOLDER" val="C:\Users\Administrator\Documents\CTDL&amp;GT\Cai tien MH CTDL_GT\CTDL_GT\Slides and exercises\Script for videos\Lecture 13"/>
  <p:tag name="ISPRING_SCORM_RATE_SLIDES" val="0"/>
  <p:tag name="ISPRING_SCORM_RATE_QUIZZES" val="0"/>
  <p:tag name="ISPRING_SCORM_PASSING_SCORE" val="0.000000"/>
  <p:tag name="ISPRING_CURRENT_PLAYER_ID" val="universal"/>
  <p:tag name="ISPRING_PRESENTATION_TITLE" val="Lecture13_string_processing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9B2A64CA-D27F-42FF-8E33-D642EA051DAA}"/>
  <p:tag name="GENSWF_ADVANCE_TIME" val="3.16"/>
  <p:tag name="ISPRING_CUSTOM_TIMING_USED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BDA743BC-A731-4557-A9DA-89B744CD1756}"/>
  <p:tag name="GENSWF_ADVANCE_TIME" val="5.345"/>
  <p:tag name="ISPRING_CUSTOM_TIMING_USED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A7937171-C824-4983-8B0F-34489EBF5C68}"/>
  <p:tag name="GENSWF_ADVANCE_TIME" val="19.145"/>
  <p:tag name="ISPRING_CUSTOM_TIMING_USED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D19A57F1-1515-4BAB-A972-1F650F235AA5}"/>
  <p:tag name="GENSWF_ADVANCE_TIME" val="13.395"/>
  <p:tag name="ISPRING_CUSTOM_TIMING_USED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6F0698F3-6E58-460D-BEA1-31C1919614DC}"/>
  <p:tag name="GENSWF_ADVANCE_TIME" val="7.76"/>
  <p:tag name="ISPRING_CUSTOM_TIMING_USED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74A32E93-DA88-466A-B910-F4492F248E0B}"/>
  <p:tag name="GENSWF_ADVANCE_TIME" val="6.035"/>
  <p:tag name="ISPRING_CUSTOM_TIMING_USED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395789AB-5682-4E54-BEA7-32A29BFDB9B5}"/>
  <p:tag name="GENSWF_ADVANCE_TIME" val="16.04"/>
  <p:tag name="ISPRING_CUSTOM_TIMING_USED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B9C24350-7781-4424-B667-CFF44EA736E9}"/>
  <p:tag name="GENSWF_ADVANCE_TIME" val="11.67"/>
  <p:tag name="ISPRING_CUSTOM_TIMING_USED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8AF52FDC-7BC2-44C3-9D00-B43D316176C8}"/>
  <p:tag name="GENSWF_ADVANCE_TIME" val="19.95"/>
  <p:tag name="ISPRING_CUSTOM_TIMING_USED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F117DA95-61C3-413D-AE38-F712E56CA15E}"/>
  <p:tag name="GENSWF_ADVANCE_TIME" val="2.47"/>
  <p:tag name="ISPRING_CUSTOM_TIMING_USED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F8C55AB7-5386-499E-933E-850F79CFE4D6}"/>
  <p:tag name="GENSWF_ADVANCE_TIME" val="1.78"/>
  <p:tag name="ISPRING_CUSTOM_TIMING_USED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76FC3EA7-3E2B-4B96-B431-B919D28C261B}"/>
  <p:tag name="GENSWF_ADVANCE_TIME" val="2.355"/>
  <p:tag name="ISPRING_CUSTOM_TIMING_USED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D7215082-18AA-41A8-AC2A-CA128F06510F}"/>
  <p:tag name="GENSWF_ADVANCE_TIME" val="5"/>
  <p:tag name="ISPRING_CUSTOM_TIMING_USED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02837ADB-8ADB-42EC-8011-8B19353C73A5}"/>
  <p:tag name="GENSWF_ADVANCE_TIME" val="4.77"/>
  <p:tag name="ISPRING_CUSTOM_TIMING_USED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ECC466E2-4386-4323-AC63-75173C0CD3C9}"/>
  <p:tag name="GENSWF_ADVANCE_TIME" val="3.62"/>
  <p:tag name="ISPRING_CUSTOM_TIMING_USED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B6B97D13-709D-4BC8-B566-EC6B3ACB7225}"/>
  <p:tag name="GENSWF_ADVANCE_TIME" val="3.275"/>
  <p:tag name="ISPRING_CUSTOM_TIMING_USED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5811B6A1-3E75-4CA5-92EF-66192D3368BC}"/>
  <p:tag name="GENSWF_ADVANCE_TIME" val="2.01"/>
  <p:tag name="ISPRING_CUSTOM_TIMING_USED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301C4559-E9B5-42AC-A3C2-8E8104C7484A}"/>
  <p:tag name="GENSWF_ADVANCE_TIME" val="1.895"/>
  <p:tag name="ISPRING_CUSTOM_TIMING_USED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08788A9A-0E90-4133-9FED-B5B325699AE0}"/>
  <p:tag name="GENSWF_ADVANCE_TIME" val="2.24"/>
  <p:tag name="ISPRING_CUSTOM_TIMING_USED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918A8F93-0206-475E-9D17-A3D9FA18843A}"/>
  <p:tag name="GENSWF_ADVANCE_TIME" val="1.895"/>
  <p:tag name="ISPRING_CUSTOM_TIMING_USED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83761B3D-D6E0-4691-9385-B8EA8D80D484}"/>
  <p:tag name="GENSWF_ADVANCE_TIME" val="2.24"/>
  <p:tag name="ISPRING_CUSTOM_TIMING_USED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A63E4358-C0E3-4E3E-9E45-486AF35042D2}"/>
  <p:tag name="GENSWF_ADVANCE_TIME" val="5"/>
  <p:tag name="ISPRING_CUSTOM_TIMING_USED" val="1"/>
</p:tagLst>
</file>

<file path=ppt/theme/theme1.xml><?xml version="1.0" encoding="utf-8"?>
<a:theme xmlns:a="http://schemas.openxmlformats.org/drawingml/2006/main" name="Koi">
  <a:themeElements>
    <a:clrScheme name="Koi 1">
      <a:dk1>
        <a:srgbClr val="272776"/>
      </a:dk1>
      <a:lt1>
        <a:srgbClr val="F3F1E4"/>
      </a:lt1>
      <a:dk2>
        <a:srgbClr val="272776"/>
      </a:dk2>
      <a:lt2>
        <a:srgbClr val="808080"/>
      </a:lt2>
      <a:accent1>
        <a:srgbClr val="B8CFFB"/>
      </a:accent1>
      <a:accent2>
        <a:srgbClr val="DF8F74"/>
      </a:accent2>
      <a:accent3>
        <a:srgbClr val="F8F7EF"/>
      </a:accent3>
      <a:accent4>
        <a:srgbClr val="202064"/>
      </a:accent4>
      <a:accent5>
        <a:srgbClr val="D8E4FD"/>
      </a:accent5>
      <a:accent6>
        <a:srgbClr val="CA8168"/>
      </a:accent6>
      <a:hlink>
        <a:srgbClr val="7F97C2"/>
      </a:hlink>
      <a:folHlink>
        <a:srgbClr val="8BBE8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603</Words>
  <Application>Microsoft Office PowerPoint</Application>
  <PresentationFormat>On-screen Show (4:3)</PresentationFormat>
  <Paragraphs>151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Helvetica Neue</vt:lpstr>
      <vt:lpstr>Times New Roman</vt:lpstr>
      <vt:lpstr>Helvetica</vt:lpstr>
      <vt:lpstr>Calibri</vt:lpstr>
      <vt:lpstr>Noto Sans Symbols</vt:lpstr>
      <vt:lpstr>Koi</vt:lpstr>
      <vt:lpstr>String Processing</vt:lpstr>
      <vt:lpstr>Outlines</vt:lpstr>
      <vt:lpstr>String</vt:lpstr>
      <vt:lpstr>String matching problem</vt:lpstr>
      <vt:lpstr>Naïve string matching</vt:lpstr>
      <vt:lpstr>Naïve string matching</vt:lpstr>
      <vt:lpstr>Knuth Morris Pratt Algorithm</vt:lpstr>
      <vt:lpstr>Exercises on string</vt:lpstr>
      <vt:lpstr>Regular expression</vt:lpstr>
      <vt:lpstr>Common matching symbols</vt:lpstr>
      <vt:lpstr>Meta characters</vt:lpstr>
      <vt:lpstr>Quantifier</vt:lpstr>
      <vt:lpstr>Examples</vt:lpstr>
      <vt:lpstr>Regular expression  for a password</vt:lpstr>
      <vt:lpstr>Regular expression for a password</vt:lpstr>
      <vt:lpstr>Regular expression  for an email</vt:lpstr>
      <vt:lpstr>Regular expression for an email</vt:lpstr>
      <vt:lpstr>Regular expression a URL</vt:lpstr>
      <vt:lpstr>Regular expression a URL</vt:lpstr>
      <vt:lpstr>Regular expression  for an IP address</vt:lpstr>
      <vt:lpstr>Regular expression for an IP address</vt:lpstr>
      <vt:lpstr>Regular expression  for a variable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Lecture13_string_processing</dc:title>
  <cp:lastModifiedBy>DHQG</cp:lastModifiedBy>
  <cp:revision>8</cp:revision>
  <dcterms:modified xsi:type="dcterms:W3CDTF">2019-03-23T09:38:02Z</dcterms:modified>
</cp:coreProperties>
</file>