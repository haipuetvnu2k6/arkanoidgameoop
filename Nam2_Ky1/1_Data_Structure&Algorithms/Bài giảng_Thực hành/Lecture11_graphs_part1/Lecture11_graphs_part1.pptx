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7099300" cy="10234613"/>
  <p:embeddedFontLst>
    <p:embeddedFont>
      <p:font typeface="Cambria" pitchFamily="18" charset="0"/>
      <p:regular r:id="rId20"/>
      <p:bold r:id="rId21"/>
      <p:italic r:id="rId22"/>
      <p:boldItalic r:id="rId23"/>
    </p:embeddedFont>
    <p:embeddedFont>
      <p:font typeface="Calibri" pitchFamily="34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AD0AC-7A99-E24E-99FF-B852DBCEFE7C}" type="datetimeFigureOut">
              <a:rPr lang="en-US" smtClean="0"/>
              <a:pPr/>
              <a:t>3/23/2019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E972B-0467-D848-9A47-C219EAA8B3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69136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51269472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Shortest Path</a:t>
            </a:r>
            <a:endParaRPr/>
          </a:p>
        </p:txBody>
      </p:sp>
      <p:sp>
        <p:nvSpPr>
          <p:cNvPr id="192" name="Google Shape;192;p5:notes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1/31/18 15:19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 on graphs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id="98" name="Google Shape;98;p1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905000"/>
            <a:ext cx="8145463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revisit</a:t>
            </a: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paths</a:t>
            </a: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Graphs</a:t>
            </a:r>
            <a:endParaRPr/>
          </a:p>
        </p:txBody>
      </p:sp>
      <p:sp>
        <p:nvSpPr>
          <p:cNvPr id="105" name="Google Shape;105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7526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 is a pair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where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nodes,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collection of pairs of vertices,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 and edges are positions and store elements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vertex represents an airport and stores the three-letter airport code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edge represents a flight route between two airports and stores the mileage of the route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4800600" y="41148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315200" y="3959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064375" y="5867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4511675" y="562927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2590800" y="4343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2743200" y="5486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6378575" y="4724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2000" y="52578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115" name="Google Shape;115;p15"/>
          <p:cNvCxnSpPr>
            <a:stCxn id="111" idx="6"/>
            <a:endCxn id="107" idx="2"/>
          </p:cNvCxnSpPr>
          <p:nvPr/>
        </p:nvCxnSpPr>
        <p:spPr>
          <a:xfrm rot="10800000" flipH="1">
            <a:off x="3527425" y="4343400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" name="Google Shape;116;p15"/>
          <p:cNvCxnSpPr>
            <a:stCxn id="110" idx="0"/>
            <a:endCxn id="107" idx="4"/>
          </p:cNvCxnSpPr>
          <p:nvPr/>
        </p:nvCxnSpPr>
        <p:spPr>
          <a:xfrm rot="10800000" flipH="1">
            <a:off x="4979987" y="4572075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>
            <a:stCxn id="110" idx="7"/>
            <a:endCxn id="113" idx="3"/>
          </p:cNvCxnSpPr>
          <p:nvPr/>
        </p:nvCxnSpPr>
        <p:spPr>
          <a:xfrm rot="10800000" flipH="1">
            <a:off x="5311134" y="5114530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5"/>
          <p:cNvCxnSpPr>
            <a:stCxn id="113" idx="0"/>
            <a:endCxn id="108" idx="3"/>
          </p:cNvCxnSpPr>
          <p:nvPr/>
        </p:nvCxnSpPr>
        <p:spPr>
          <a:xfrm rot="10800000" flipH="1">
            <a:off x="6846887" y="4349400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5"/>
          <p:cNvCxnSpPr>
            <a:stCxn id="107" idx="6"/>
            <a:endCxn id="108" idx="2"/>
          </p:cNvCxnSpPr>
          <p:nvPr/>
        </p:nvCxnSpPr>
        <p:spPr>
          <a:xfrm rot="10800000" flipH="1">
            <a:off x="5737225" y="4187700"/>
            <a:ext cx="15780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5"/>
          <p:cNvCxnSpPr>
            <a:stCxn id="114" idx="6"/>
            <a:endCxn id="112" idx="2"/>
          </p:cNvCxnSpPr>
          <p:nvPr/>
        </p:nvCxnSpPr>
        <p:spPr>
          <a:xfrm>
            <a:off x="1698625" y="5486400"/>
            <a:ext cx="10446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5"/>
          <p:cNvCxnSpPr>
            <a:stCxn id="111" idx="4"/>
            <a:endCxn id="112" idx="0"/>
          </p:cNvCxnSpPr>
          <p:nvPr/>
        </p:nvCxnSpPr>
        <p:spPr>
          <a:xfrm>
            <a:off x="3059112" y="4800600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5"/>
          <p:cNvCxnSpPr>
            <a:stCxn id="113" idx="4"/>
            <a:endCxn id="109" idx="0"/>
          </p:cNvCxnSpPr>
          <p:nvPr/>
        </p:nvCxnSpPr>
        <p:spPr>
          <a:xfrm>
            <a:off x="6846887" y="5181600"/>
            <a:ext cx="6858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5"/>
          <p:cNvCxnSpPr>
            <a:endCxn id="110" idx="6"/>
          </p:cNvCxnSpPr>
          <p:nvPr/>
        </p:nvCxnSpPr>
        <p:spPr>
          <a:xfrm rot="10800000">
            <a:off x="5448300" y="5857875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5"/>
          <p:cNvCxnSpPr>
            <a:stCxn id="112" idx="6"/>
            <a:endCxn id="110" idx="2"/>
          </p:cNvCxnSpPr>
          <p:nvPr/>
        </p:nvCxnSpPr>
        <p:spPr>
          <a:xfrm>
            <a:off x="3679825" y="5715000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5"/>
          <p:cNvCxnSpPr>
            <a:stCxn id="112" idx="7"/>
            <a:endCxn id="107" idx="3"/>
          </p:cNvCxnSpPr>
          <p:nvPr/>
        </p:nvCxnSpPr>
        <p:spPr>
          <a:xfrm rot="10800000" flipH="1">
            <a:off x="3542659" y="4505155"/>
            <a:ext cx="1395000" cy="104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5"/>
          <p:cNvSpPr txBox="1"/>
          <p:nvPr/>
        </p:nvSpPr>
        <p:spPr>
          <a:xfrm rot="-347285">
            <a:off x="6081713" y="394017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 rot="-4662247">
            <a:off x="4760119" y="4672806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 rot="-1544869">
            <a:off x="5435600" y="50895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 rot="-2136302">
            <a:off x="3622675" y="48514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 rot="-689345">
            <a:off x="3733800" y="4114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 rot="2626382">
            <a:off x="7031038" y="53181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 rot="565849">
            <a:off x="5975350" y="56229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 rot="695916">
            <a:off x="3775075" y="54419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 rot="4665015">
            <a:off x="2994819" y="4979194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 rot="832501">
            <a:off x="1927225" y="5257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 rot="-1891667">
            <a:off x="6783388" y="425132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on graphs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589043" y="3767336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6767260" y="287940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589042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759178" y="3746972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6090677" y="372251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092357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486400" y="45725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4891088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486400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128000" y="4575804"/>
            <a:ext cx="701524" cy="371147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208763" y="5411909"/>
            <a:ext cx="746994" cy="345424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8103810" y="5436099"/>
            <a:ext cx="725714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4" name="Google Shape;154;p16"/>
          <p:cNvCxnSpPr>
            <a:stCxn id="143" idx="4"/>
            <a:endCxn id="145" idx="0"/>
          </p:cNvCxnSpPr>
          <p:nvPr/>
        </p:nvCxnSpPr>
        <p:spPr>
          <a:xfrm flipH="1">
            <a:off x="6942516" y="3246120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16"/>
          <p:cNvCxnSpPr>
            <a:stCxn id="143" idx="3"/>
            <a:endCxn id="146" idx="7"/>
          </p:cNvCxnSpPr>
          <p:nvPr/>
        </p:nvCxnSpPr>
        <p:spPr>
          <a:xfrm flipH="1">
            <a:off x="6403664" y="3192416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16"/>
          <p:cNvCxnSpPr>
            <a:stCxn id="143" idx="5"/>
            <a:endCxn id="142" idx="1"/>
          </p:cNvCxnSpPr>
          <p:nvPr/>
        </p:nvCxnSpPr>
        <p:spPr>
          <a:xfrm>
            <a:off x="7080268" y="3192416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16"/>
          <p:cNvCxnSpPr>
            <a:stCxn id="146" idx="4"/>
            <a:endCxn id="147" idx="0"/>
          </p:cNvCxnSpPr>
          <p:nvPr/>
        </p:nvCxnSpPr>
        <p:spPr>
          <a:xfrm>
            <a:off x="6274033" y="4089231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16"/>
          <p:cNvCxnSpPr>
            <a:stCxn id="146" idx="3"/>
            <a:endCxn id="148" idx="7"/>
          </p:cNvCxnSpPr>
          <p:nvPr/>
        </p:nvCxnSpPr>
        <p:spPr>
          <a:xfrm flipH="1">
            <a:off x="5799381" y="4035527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16"/>
          <p:cNvCxnSpPr>
            <a:stCxn id="148" idx="4"/>
            <a:endCxn id="150" idx="0"/>
          </p:cNvCxnSpPr>
          <p:nvPr/>
        </p:nvCxnSpPr>
        <p:spPr>
          <a:xfrm>
            <a:off x="5669757" y="4939290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16"/>
          <p:cNvCxnSpPr>
            <a:stCxn id="148" idx="3"/>
            <a:endCxn id="149" idx="7"/>
          </p:cNvCxnSpPr>
          <p:nvPr/>
        </p:nvCxnSpPr>
        <p:spPr>
          <a:xfrm flipH="1">
            <a:off x="5204104" y="4885586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61;p16"/>
          <p:cNvCxnSpPr>
            <a:stCxn id="142" idx="4"/>
            <a:endCxn id="144" idx="0"/>
          </p:cNvCxnSpPr>
          <p:nvPr/>
        </p:nvCxnSpPr>
        <p:spPr>
          <a:xfrm>
            <a:off x="7772399" y="4134048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p16"/>
          <p:cNvCxnSpPr>
            <a:stCxn id="142" idx="5"/>
            <a:endCxn id="151" idx="1"/>
          </p:cNvCxnSpPr>
          <p:nvPr/>
        </p:nvCxnSpPr>
        <p:spPr>
          <a:xfrm>
            <a:off x="7902052" y="4080344"/>
            <a:ext cx="328684" cy="54981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16"/>
          <p:cNvCxnSpPr>
            <a:stCxn id="144" idx="4"/>
            <a:endCxn id="152" idx="0"/>
          </p:cNvCxnSpPr>
          <p:nvPr/>
        </p:nvCxnSpPr>
        <p:spPr>
          <a:xfrm flipH="1">
            <a:off x="7582260" y="4942517"/>
            <a:ext cx="190139" cy="469392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16"/>
          <p:cNvCxnSpPr>
            <a:stCxn id="144" idx="5"/>
            <a:endCxn id="153" idx="1"/>
          </p:cNvCxnSpPr>
          <p:nvPr/>
        </p:nvCxnSpPr>
        <p:spPr>
          <a:xfrm>
            <a:off x="7902051" y="4888813"/>
            <a:ext cx="308037" cy="60099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6"/>
          <p:cNvSpPr/>
          <p:nvPr/>
        </p:nvSpPr>
        <p:spPr>
          <a:xfrm>
            <a:off x="3383755" y="37799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561972" y="28919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3383754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553890" y="37595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885389" y="37350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887069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281112" y="45851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85800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1281112" y="5424488"/>
            <a:ext cx="775078" cy="38122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4024312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060095" y="5424488"/>
            <a:ext cx="690373" cy="35703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3870476" y="5424488"/>
            <a:ext cx="701524" cy="35703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77" name="Google Shape;177;p16"/>
          <p:cNvCxnSpPr>
            <a:stCxn id="166" idx="4"/>
            <a:endCxn id="168" idx="0"/>
          </p:cNvCxnSpPr>
          <p:nvPr/>
        </p:nvCxnSpPr>
        <p:spPr>
          <a:xfrm flipH="1">
            <a:off x="2737228" y="32586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8" name="Google Shape;178;p16"/>
          <p:cNvCxnSpPr>
            <a:stCxn id="166" idx="3"/>
            <a:endCxn id="169" idx="7"/>
          </p:cNvCxnSpPr>
          <p:nvPr/>
        </p:nvCxnSpPr>
        <p:spPr>
          <a:xfrm flipH="1">
            <a:off x="2198376" y="32049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9" name="Google Shape;179;p16"/>
          <p:cNvCxnSpPr>
            <a:stCxn id="166" idx="5"/>
            <a:endCxn id="165" idx="1"/>
          </p:cNvCxnSpPr>
          <p:nvPr/>
        </p:nvCxnSpPr>
        <p:spPr>
          <a:xfrm>
            <a:off x="2874980" y="32049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0" name="Google Shape;180;p16"/>
          <p:cNvCxnSpPr>
            <a:stCxn id="169" idx="4"/>
            <a:endCxn id="170" idx="0"/>
          </p:cNvCxnSpPr>
          <p:nvPr/>
        </p:nvCxnSpPr>
        <p:spPr>
          <a:xfrm>
            <a:off x="2068746" y="41018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1" name="Google Shape;181;p16"/>
          <p:cNvCxnSpPr>
            <a:stCxn id="169" idx="3"/>
            <a:endCxn id="171" idx="7"/>
          </p:cNvCxnSpPr>
          <p:nvPr/>
        </p:nvCxnSpPr>
        <p:spPr>
          <a:xfrm flipH="1">
            <a:off x="1594093" y="40481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2" name="Google Shape;182;p16"/>
          <p:cNvCxnSpPr>
            <a:stCxn id="171" idx="4"/>
            <a:endCxn id="173" idx="0"/>
          </p:cNvCxnSpPr>
          <p:nvPr/>
        </p:nvCxnSpPr>
        <p:spPr>
          <a:xfrm>
            <a:off x="1464469" y="4951869"/>
            <a:ext cx="204182" cy="472619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3" name="Google Shape;183;p16"/>
          <p:cNvCxnSpPr>
            <a:stCxn id="171" idx="3"/>
            <a:endCxn id="172" idx="7"/>
          </p:cNvCxnSpPr>
          <p:nvPr/>
        </p:nvCxnSpPr>
        <p:spPr>
          <a:xfrm flipH="1">
            <a:off x="998816" y="48981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" name="Google Shape;184;p16"/>
          <p:cNvCxnSpPr>
            <a:stCxn id="165" idx="4"/>
            <a:endCxn id="167" idx="0"/>
          </p:cNvCxnSpPr>
          <p:nvPr/>
        </p:nvCxnSpPr>
        <p:spPr>
          <a:xfrm>
            <a:off x="3567112" y="41466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16"/>
          <p:cNvCxnSpPr>
            <a:stCxn id="165" idx="5"/>
            <a:endCxn id="174" idx="1"/>
          </p:cNvCxnSpPr>
          <p:nvPr/>
        </p:nvCxnSpPr>
        <p:spPr>
          <a:xfrm>
            <a:off x="3696764" y="4092923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16"/>
          <p:cNvCxnSpPr>
            <a:stCxn id="167" idx="4"/>
            <a:endCxn id="175" idx="0"/>
          </p:cNvCxnSpPr>
          <p:nvPr/>
        </p:nvCxnSpPr>
        <p:spPr>
          <a:xfrm flipH="1">
            <a:off x="3405282" y="4955096"/>
            <a:ext cx="161829" cy="469392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p16"/>
          <p:cNvCxnSpPr>
            <a:stCxn id="167" idx="5"/>
            <a:endCxn id="176" idx="1"/>
          </p:cNvCxnSpPr>
          <p:nvPr/>
        </p:nvCxnSpPr>
        <p:spPr>
          <a:xfrm>
            <a:off x="3696763" y="4901392"/>
            <a:ext cx="276449" cy="57538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16"/>
          <p:cNvSpPr txBox="1"/>
          <p:nvPr/>
        </p:nvSpPr>
        <p:spPr>
          <a:xfrm>
            <a:off x="2438400" y="2209800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6598355" y="2209800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Paths</a:t>
            </a:r>
            <a:endParaRPr/>
          </a:p>
        </p:txBody>
      </p:sp>
      <p:grpSp>
        <p:nvGrpSpPr>
          <p:cNvPr id="198" name="Google Shape;198;p17"/>
          <p:cNvGrpSpPr/>
          <p:nvPr/>
        </p:nvGrpSpPr>
        <p:grpSpPr>
          <a:xfrm>
            <a:off x="4648200" y="3124200"/>
            <a:ext cx="3390900" cy="2227263"/>
            <a:chOff x="3396" y="901"/>
            <a:chExt cx="2136" cy="1403"/>
          </a:xfrm>
        </p:grpSpPr>
        <p:sp>
          <p:nvSpPr>
            <p:cNvPr id="199" name="Google Shape;199;p17"/>
            <p:cNvSpPr/>
            <p:nvPr/>
          </p:nvSpPr>
          <p:spPr>
            <a:xfrm>
              <a:off x="4053" y="901"/>
              <a:ext cx="1479" cy="1042"/>
            </a:xfrm>
            <a:custGeom>
              <a:avLst/>
              <a:gdLst/>
              <a:ahLst/>
              <a:cxnLst/>
              <a:rect l="l" t="t" r="r" b="b"/>
              <a:pathLst>
                <a:path w="1479" h="1042" extrusionOk="0">
                  <a:moveTo>
                    <a:pt x="447" y="23"/>
                  </a:moveTo>
                  <a:cubicBezTo>
                    <a:pt x="622" y="20"/>
                    <a:pt x="952" y="0"/>
                    <a:pt x="1113" y="149"/>
                  </a:cubicBezTo>
                  <a:cubicBezTo>
                    <a:pt x="1274" y="298"/>
                    <a:pt x="1479" y="792"/>
                    <a:pt x="1413" y="917"/>
                  </a:cubicBezTo>
                  <a:cubicBezTo>
                    <a:pt x="1347" y="1042"/>
                    <a:pt x="911" y="888"/>
                    <a:pt x="717" y="899"/>
                  </a:cubicBezTo>
                  <a:cubicBezTo>
                    <a:pt x="523" y="910"/>
                    <a:pt x="357" y="1025"/>
                    <a:pt x="249" y="983"/>
                  </a:cubicBezTo>
                  <a:cubicBezTo>
                    <a:pt x="141" y="941"/>
                    <a:pt x="100" y="782"/>
                    <a:pt x="69" y="646"/>
                  </a:cubicBezTo>
                  <a:cubicBezTo>
                    <a:pt x="38" y="510"/>
                    <a:pt x="0" y="270"/>
                    <a:pt x="63" y="166"/>
                  </a:cubicBezTo>
                  <a:cubicBezTo>
                    <a:pt x="126" y="62"/>
                    <a:pt x="272" y="26"/>
                    <a:pt x="447" y="23"/>
                  </a:cubicBezTo>
                  <a:close/>
                </a:path>
              </a:pathLst>
            </a:cu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4261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3396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4260" y="1056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3780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/>
            </a:p>
          </p:txBody>
        </p:sp>
        <p:cxnSp>
          <p:nvCxnSpPr>
            <p:cNvPr id="204" name="Google Shape;204;p17"/>
            <p:cNvCxnSpPr>
              <a:stCxn id="202" idx="2"/>
              <a:endCxn id="201" idx="0"/>
            </p:cNvCxnSpPr>
            <p:nvPr/>
          </p:nvCxnSpPr>
          <p:spPr>
            <a:xfrm flipH="1">
              <a:off x="3660" y="1172"/>
              <a:ext cx="6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17"/>
            <p:cNvCxnSpPr>
              <a:stCxn id="203" idx="2"/>
              <a:endCxn id="201" idx="4"/>
            </p:cNvCxnSpPr>
            <p:nvPr/>
          </p:nvCxnSpPr>
          <p:spPr>
            <a:xfrm rot="10800000">
              <a:off x="3480" y="1889"/>
              <a:ext cx="300" cy="300"/>
            </a:xfrm>
            <a:prstGeom prst="curved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17"/>
            <p:cNvCxnSpPr>
              <a:stCxn id="203" idx="6"/>
              <a:endCxn id="200" idx="3"/>
            </p:cNvCxnSpPr>
            <p:nvPr/>
          </p:nvCxnSpPr>
          <p:spPr>
            <a:xfrm rot="10800000" flipH="1">
              <a:off x="4011" y="1889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17"/>
            <p:cNvCxnSpPr>
              <a:stCxn id="202" idx="4"/>
              <a:endCxn id="200" idx="0"/>
            </p:cNvCxnSpPr>
            <p:nvPr/>
          </p:nvCxnSpPr>
          <p:spPr>
            <a:xfrm>
              <a:off x="4376" y="1287"/>
              <a:ext cx="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17"/>
            <p:cNvCxnSpPr>
              <a:stCxn id="201" idx="6"/>
              <a:endCxn id="200" idx="2"/>
            </p:cNvCxnSpPr>
            <p:nvPr/>
          </p:nvCxnSpPr>
          <p:spPr>
            <a:xfrm>
              <a:off x="3627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09" name="Google Shape;209;p17"/>
            <p:cNvSpPr/>
            <p:nvPr/>
          </p:nvSpPr>
          <p:spPr>
            <a:xfrm>
              <a:off x="5119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cxnSp>
          <p:nvCxnSpPr>
            <p:cNvPr id="210" name="Google Shape;210;p17"/>
            <p:cNvCxnSpPr>
              <a:stCxn id="211" idx="6"/>
              <a:endCxn id="209" idx="4"/>
            </p:cNvCxnSpPr>
            <p:nvPr/>
          </p:nvCxnSpPr>
          <p:spPr>
            <a:xfrm rot="10800000" flipH="1">
              <a:off x="4965" y="1889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17"/>
            <p:cNvCxnSpPr>
              <a:stCxn id="209" idx="0"/>
              <a:endCxn id="202" idx="6"/>
            </p:cNvCxnSpPr>
            <p:nvPr/>
          </p:nvCxnSpPr>
          <p:spPr>
            <a:xfrm rot="5400000" flipH="1">
              <a:off x="4785" y="1114"/>
              <a:ext cx="300" cy="600"/>
            </a:xfrm>
            <a:prstGeom prst="curvedConnector2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17"/>
            <p:cNvCxnSpPr>
              <a:stCxn id="200" idx="6"/>
              <a:endCxn id="209" idx="2"/>
            </p:cNvCxnSpPr>
            <p:nvPr/>
          </p:nvCxnSpPr>
          <p:spPr>
            <a:xfrm>
              <a:off x="4492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1" name="Google Shape;211;p17"/>
            <p:cNvSpPr/>
            <p:nvPr/>
          </p:nvSpPr>
          <p:spPr>
            <a:xfrm>
              <a:off x="4734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cxnSp>
          <p:nvCxnSpPr>
            <p:cNvPr id="214" name="Google Shape;214;p17"/>
            <p:cNvCxnSpPr>
              <a:stCxn id="200" idx="5"/>
              <a:endCxn id="211" idx="2"/>
            </p:cNvCxnSpPr>
            <p:nvPr/>
          </p:nvCxnSpPr>
          <p:spPr>
            <a:xfrm rot="-5400000" flipH="1">
              <a:off x="4458" y="1761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15" name="Google Shape;215;p17"/>
            <p:cNvSpPr txBox="1"/>
            <p:nvPr/>
          </p:nvSpPr>
          <p:spPr>
            <a:xfrm>
              <a:off x="4408" y="91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5284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4428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3564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219" name="Google Shape;219;p17"/>
            <p:cNvSpPr txBox="1"/>
            <p:nvPr/>
          </p:nvSpPr>
          <p:spPr>
            <a:xfrm>
              <a:off x="3736" y="188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220" name="Google Shape;220;p17"/>
            <p:cNvSpPr txBox="1"/>
            <p:nvPr/>
          </p:nvSpPr>
          <p:spPr>
            <a:xfrm>
              <a:off x="4848" y="188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4936" y="1065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222" name="Google Shape;222;p17"/>
            <p:cNvSpPr txBox="1"/>
            <p:nvPr/>
          </p:nvSpPr>
          <p:spPr>
            <a:xfrm>
              <a:off x="3588" y="110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223" name="Google Shape;223;p17"/>
            <p:cNvSpPr txBox="1"/>
            <p:nvPr/>
          </p:nvSpPr>
          <p:spPr>
            <a:xfrm>
              <a:off x="3828" y="148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</p:txBody>
        </p:sp>
        <p:sp>
          <p:nvSpPr>
            <p:cNvPr id="224" name="Google Shape;224;p17"/>
            <p:cNvSpPr txBox="1"/>
            <p:nvPr/>
          </p:nvSpPr>
          <p:spPr>
            <a:xfrm>
              <a:off x="4740" y="148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225" name="Google Shape;225;p17"/>
            <p:cNvSpPr txBox="1"/>
            <p:nvPr/>
          </p:nvSpPr>
          <p:spPr>
            <a:xfrm>
              <a:off x="3396" y="199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5124" y="199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227" name="Google Shape;227;p17"/>
            <p:cNvSpPr txBox="1"/>
            <p:nvPr/>
          </p:nvSpPr>
          <p:spPr>
            <a:xfrm>
              <a:off x="4164" y="1296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4068" y="182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229" name="Google Shape;229;p17"/>
            <p:cNvSpPr txBox="1"/>
            <p:nvPr/>
          </p:nvSpPr>
          <p:spPr>
            <a:xfrm>
              <a:off x="4476" y="182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Weighted Graphs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5" name="Google Shape;235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weighted graph, each edge has an associated numerical value, called the weight of the edge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 weights may represent, distances, costs, etc.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 flight route graph, the weight of an edge represents the distance in miles between the endpoint airports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4800600" y="39846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7315200" y="382905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7064375" y="5737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4511675" y="54991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2590800" y="4213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2743200" y="5356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6378575" y="4594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762000" y="51276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245" name="Google Shape;245;p18"/>
          <p:cNvCxnSpPr>
            <a:stCxn id="241" idx="6"/>
            <a:endCxn id="237" idx="2"/>
          </p:cNvCxnSpPr>
          <p:nvPr/>
        </p:nvCxnSpPr>
        <p:spPr>
          <a:xfrm rot="10800000" flipH="1">
            <a:off x="3527425" y="4213225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18"/>
          <p:cNvCxnSpPr>
            <a:stCxn id="240" idx="0"/>
            <a:endCxn id="237" idx="4"/>
          </p:cNvCxnSpPr>
          <p:nvPr/>
        </p:nvCxnSpPr>
        <p:spPr>
          <a:xfrm rot="10800000" flipH="1">
            <a:off x="4979987" y="4441900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18"/>
          <p:cNvCxnSpPr>
            <a:stCxn id="240" idx="7"/>
            <a:endCxn id="243" idx="3"/>
          </p:cNvCxnSpPr>
          <p:nvPr/>
        </p:nvCxnSpPr>
        <p:spPr>
          <a:xfrm rot="10800000" flipH="1">
            <a:off x="5311134" y="4984355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18"/>
          <p:cNvCxnSpPr>
            <a:stCxn id="243" idx="0"/>
            <a:endCxn id="238" idx="3"/>
          </p:cNvCxnSpPr>
          <p:nvPr/>
        </p:nvCxnSpPr>
        <p:spPr>
          <a:xfrm rot="10800000" flipH="1">
            <a:off x="6846887" y="4219225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18"/>
          <p:cNvCxnSpPr>
            <a:stCxn id="237" idx="6"/>
            <a:endCxn id="238" idx="2"/>
          </p:cNvCxnSpPr>
          <p:nvPr/>
        </p:nvCxnSpPr>
        <p:spPr>
          <a:xfrm rot="10800000" flipH="1">
            <a:off x="5737225" y="4057525"/>
            <a:ext cx="15780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18"/>
          <p:cNvCxnSpPr>
            <a:stCxn id="244" idx="6"/>
            <a:endCxn id="242" idx="2"/>
          </p:cNvCxnSpPr>
          <p:nvPr/>
        </p:nvCxnSpPr>
        <p:spPr>
          <a:xfrm>
            <a:off x="1698625" y="5356225"/>
            <a:ext cx="10446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18"/>
          <p:cNvCxnSpPr>
            <a:stCxn id="241" idx="4"/>
            <a:endCxn id="242" idx="0"/>
          </p:cNvCxnSpPr>
          <p:nvPr/>
        </p:nvCxnSpPr>
        <p:spPr>
          <a:xfrm>
            <a:off x="3059112" y="4670425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18"/>
          <p:cNvCxnSpPr>
            <a:stCxn id="243" idx="4"/>
            <a:endCxn id="239" idx="0"/>
          </p:cNvCxnSpPr>
          <p:nvPr/>
        </p:nvCxnSpPr>
        <p:spPr>
          <a:xfrm>
            <a:off x="6846887" y="5051425"/>
            <a:ext cx="6858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18"/>
          <p:cNvCxnSpPr>
            <a:endCxn id="240" idx="6"/>
          </p:cNvCxnSpPr>
          <p:nvPr/>
        </p:nvCxnSpPr>
        <p:spPr>
          <a:xfrm rot="10800000">
            <a:off x="5448300" y="5727700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18"/>
          <p:cNvCxnSpPr>
            <a:stCxn id="242" idx="6"/>
            <a:endCxn id="240" idx="2"/>
          </p:cNvCxnSpPr>
          <p:nvPr/>
        </p:nvCxnSpPr>
        <p:spPr>
          <a:xfrm>
            <a:off x="3679825" y="5584825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18"/>
          <p:cNvCxnSpPr>
            <a:stCxn id="242" idx="7"/>
            <a:endCxn id="237" idx="3"/>
          </p:cNvCxnSpPr>
          <p:nvPr/>
        </p:nvCxnSpPr>
        <p:spPr>
          <a:xfrm rot="10800000" flipH="1">
            <a:off x="3542659" y="4374980"/>
            <a:ext cx="1395000" cy="104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18"/>
          <p:cNvSpPr txBox="1"/>
          <p:nvPr/>
        </p:nvSpPr>
        <p:spPr>
          <a:xfrm rot="-347285">
            <a:off x="6081713" y="3810000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 rot="-4662247">
            <a:off x="4760119" y="4542631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 rot="-1544869">
            <a:off x="5435600" y="49593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 rot="-2136302">
            <a:off x="3622675" y="47212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 rot="-689345">
            <a:off x="3733800" y="39846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 rot="2626382">
            <a:off x="7031038" y="51879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 rot="565849">
            <a:off x="5975350" y="54927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 rot="695916">
            <a:off x="3775075" y="531177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 rot="4665015">
            <a:off x="2994819" y="4849019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 rot="832501">
            <a:off x="1927225" y="51276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 rot="-1891667">
            <a:off x="6783388" y="411162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  <p:cxnSp>
        <p:nvCxnSpPr>
          <p:cNvPr id="267" name="Google Shape;267;p18"/>
          <p:cNvCxnSpPr>
            <a:stCxn id="238" idx="4"/>
            <a:endCxn id="239" idx="7"/>
          </p:cNvCxnSpPr>
          <p:nvPr/>
        </p:nvCxnSpPr>
        <p:spPr>
          <a:xfrm>
            <a:off x="7783512" y="4286250"/>
            <a:ext cx="80400" cy="15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18"/>
          <p:cNvSpPr txBox="1"/>
          <p:nvPr/>
        </p:nvSpPr>
        <p:spPr>
          <a:xfrm rot="5207815">
            <a:off x="7662863" y="469741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1205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781175"/>
            <a:ext cx="7848600" cy="286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weighted graph and two vertices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we want to find a path of minimum total weight between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Length of a path is the sum of the weights of its edges.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 between Providence and Honolulu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Internet packet routing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Driving directions</a:t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4800600" y="4213225"/>
            <a:ext cx="936625" cy="457200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7315200" y="4057650"/>
            <a:ext cx="936625" cy="457200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7064375" y="59658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4511675" y="57277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2590800" y="44418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2743200" y="5584825"/>
            <a:ext cx="936625" cy="457200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6378575" y="48228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762000" y="5356225"/>
            <a:ext cx="936625" cy="457200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286" name="Google Shape;286;p19"/>
          <p:cNvCxnSpPr>
            <a:stCxn id="282" idx="6"/>
            <a:endCxn id="278" idx="2"/>
          </p:cNvCxnSpPr>
          <p:nvPr/>
        </p:nvCxnSpPr>
        <p:spPr>
          <a:xfrm rot="10800000" flipH="1">
            <a:off x="3527425" y="4441825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19"/>
          <p:cNvCxnSpPr>
            <a:stCxn id="281" idx="0"/>
            <a:endCxn id="278" idx="4"/>
          </p:cNvCxnSpPr>
          <p:nvPr/>
        </p:nvCxnSpPr>
        <p:spPr>
          <a:xfrm rot="10800000" flipH="1">
            <a:off x="4979987" y="4670500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19"/>
          <p:cNvCxnSpPr>
            <a:stCxn id="281" idx="7"/>
            <a:endCxn id="284" idx="3"/>
          </p:cNvCxnSpPr>
          <p:nvPr/>
        </p:nvCxnSpPr>
        <p:spPr>
          <a:xfrm rot="10800000" flipH="1">
            <a:off x="5311134" y="5212955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19"/>
          <p:cNvCxnSpPr>
            <a:stCxn id="284" idx="0"/>
            <a:endCxn id="279" idx="3"/>
          </p:cNvCxnSpPr>
          <p:nvPr/>
        </p:nvCxnSpPr>
        <p:spPr>
          <a:xfrm rot="10800000" flipH="1">
            <a:off x="6846887" y="4447825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19"/>
          <p:cNvCxnSpPr>
            <a:stCxn id="278" idx="6"/>
            <a:endCxn id="279" idx="2"/>
          </p:cNvCxnSpPr>
          <p:nvPr/>
        </p:nvCxnSpPr>
        <p:spPr>
          <a:xfrm rot="10800000" flipH="1">
            <a:off x="5737225" y="4286125"/>
            <a:ext cx="1578000" cy="155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19"/>
          <p:cNvCxnSpPr>
            <a:stCxn id="285" idx="6"/>
            <a:endCxn id="283" idx="2"/>
          </p:cNvCxnSpPr>
          <p:nvPr/>
        </p:nvCxnSpPr>
        <p:spPr>
          <a:xfrm>
            <a:off x="1698625" y="5584825"/>
            <a:ext cx="1044600" cy="228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19"/>
          <p:cNvCxnSpPr>
            <a:stCxn id="282" idx="4"/>
            <a:endCxn id="283" idx="0"/>
          </p:cNvCxnSpPr>
          <p:nvPr/>
        </p:nvCxnSpPr>
        <p:spPr>
          <a:xfrm>
            <a:off x="3059112" y="4899025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19"/>
          <p:cNvCxnSpPr>
            <a:stCxn id="284" idx="4"/>
            <a:endCxn id="280" idx="0"/>
          </p:cNvCxnSpPr>
          <p:nvPr/>
        </p:nvCxnSpPr>
        <p:spPr>
          <a:xfrm>
            <a:off x="6846887" y="5280025"/>
            <a:ext cx="6858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19"/>
          <p:cNvCxnSpPr>
            <a:endCxn id="281" idx="6"/>
          </p:cNvCxnSpPr>
          <p:nvPr/>
        </p:nvCxnSpPr>
        <p:spPr>
          <a:xfrm rot="10800000">
            <a:off x="5448300" y="5956300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19"/>
          <p:cNvCxnSpPr>
            <a:stCxn id="283" idx="6"/>
            <a:endCxn id="281" idx="2"/>
          </p:cNvCxnSpPr>
          <p:nvPr/>
        </p:nvCxnSpPr>
        <p:spPr>
          <a:xfrm>
            <a:off x="3679825" y="5813425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19"/>
          <p:cNvCxnSpPr>
            <a:stCxn id="283" idx="7"/>
            <a:endCxn id="278" idx="3"/>
          </p:cNvCxnSpPr>
          <p:nvPr/>
        </p:nvCxnSpPr>
        <p:spPr>
          <a:xfrm rot="10800000" flipH="1">
            <a:off x="3542659" y="4603580"/>
            <a:ext cx="1395000" cy="1048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19"/>
          <p:cNvSpPr txBox="1"/>
          <p:nvPr/>
        </p:nvSpPr>
        <p:spPr>
          <a:xfrm rot="-347285">
            <a:off x="6081713" y="4038600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 rot="-4662247">
            <a:off x="4760119" y="4771231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 rot="-1544869">
            <a:off x="5435600" y="51879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 rot="-2136302">
            <a:off x="3622675" y="49498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 rot="-689345">
            <a:off x="3733800" y="42132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 rot="2626382">
            <a:off x="7031038" y="54165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 rot="565849">
            <a:off x="5975350" y="57213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 rot="695916">
            <a:off x="3775075" y="554037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 rot="4665015">
            <a:off x="2994819" y="5077619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 rot="832501">
            <a:off x="1927225" y="53562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 rot="-1891667">
            <a:off x="6783388" y="434022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  <p:cxnSp>
        <p:nvCxnSpPr>
          <p:cNvPr id="308" name="Google Shape;308;p19"/>
          <p:cNvCxnSpPr>
            <a:stCxn id="279" idx="4"/>
            <a:endCxn id="280" idx="7"/>
          </p:cNvCxnSpPr>
          <p:nvPr/>
        </p:nvCxnSpPr>
        <p:spPr>
          <a:xfrm>
            <a:off x="7783512" y="4514850"/>
            <a:ext cx="80400" cy="15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" name="Google Shape;309;p19"/>
          <p:cNvSpPr txBox="1"/>
          <p:nvPr/>
        </p:nvSpPr>
        <p:spPr>
          <a:xfrm rot="5207815">
            <a:off x="7662863" y="492601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1205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216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0"/>
          <p:cNvSpPr txBox="1">
            <a:spLocks noGrp="1"/>
          </p:cNvSpPr>
          <p:nvPr>
            <p:ph type="body" idx="1"/>
          </p:nvPr>
        </p:nvSpPr>
        <p:spPr>
          <a:xfrm>
            <a:off x="76200" y="914400"/>
            <a:ext cx="46482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G=(V, E),  where weight (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&gt;  0 is the weight of edge (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∈ E.  Find the shortest path from s to e.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idea</a:t>
            </a:r>
            <a:endParaRPr sz="185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Known = {the set of vertices which the shortest paths are known}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Unknown = {the set of vertices which the shortest paths are unknown}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 iteratively determine the shortest paths of vertices in Unknown and move them to Known.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Relaxation (s, u, v):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]: the shortest distance from s to v.</a:t>
            </a:r>
            <a:endParaRPr sz="185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the previous vertex of v on               the shortest path from s to v.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 dist 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+ weight (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&lt;  dist 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 	dist 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185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 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+ weight (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 pre[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185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8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Noto Sans Symbols"/>
              <a:buNone/>
            </a:pPr>
            <a:endParaRPr sz="296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0"/>
          <p:cNvSpPr/>
          <p:nvPr/>
        </p:nvSpPr>
        <p:spPr>
          <a:xfrm rot="5400000">
            <a:off x="6654007" y="3931444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8038306" y="2245519"/>
            <a:ext cx="11454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4629944" y="2024857"/>
            <a:ext cx="2844800" cy="1712912"/>
          </a:xfrm>
          <a:custGeom>
            <a:avLst/>
            <a:gdLst/>
            <a:ahLst/>
            <a:cxnLst/>
            <a:rect l="l" t="t" r="r" b="b"/>
            <a:pathLst>
              <a:path w="1792" h="1079" extrusionOk="0">
                <a:moveTo>
                  <a:pt x="1283" y="31"/>
                </a:moveTo>
                <a:cubicBezTo>
                  <a:pt x="1527" y="0"/>
                  <a:pt x="1686" y="67"/>
                  <a:pt x="1739" y="157"/>
                </a:cubicBezTo>
                <a:cubicBezTo>
                  <a:pt x="1792" y="247"/>
                  <a:pt x="1644" y="427"/>
                  <a:pt x="1601" y="571"/>
                </a:cubicBezTo>
                <a:cubicBezTo>
                  <a:pt x="1558" y="715"/>
                  <a:pt x="1621" y="963"/>
                  <a:pt x="1481" y="1021"/>
                </a:cubicBezTo>
                <a:cubicBezTo>
                  <a:pt x="1341" y="1079"/>
                  <a:pt x="979" y="937"/>
                  <a:pt x="761" y="919"/>
                </a:cubicBezTo>
                <a:cubicBezTo>
                  <a:pt x="543" y="901"/>
                  <a:pt x="297" y="965"/>
                  <a:pt x="173" y="916"/>
                </a:cubicBezTo>
                <a:cubicBezTo>
                  <a:pt x="49" y="867"/>
                  <a:pt x="0" y="720"/>
                  <a:pt x="17" y="625"/>
                </a:cubicBezTo>
                <a:cubicBezTo>
                  <a:pt x="34" y="530"/>
                  <a:pt x="64" y="442"/>
                  <a:pt x="275" y="343"/>
                </a:cubicBezTo>
                <a:cubicBezTo>
                  <a:pt x="486" y="244"/>
                  <a:pt x="1029" y="55"/>
                  <a:pt x="1283" y="31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8343106" y="2626519"/>
            <a:ext cx="277813" cy="2778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0" name="Google Shape;320;p20"/>
          <p:cNvCxnSpPr>
            <a:stCxn id="321" idx="6"/>
            <a:endCxn id="319" idx="1"/>
          </p:cNvCxnSpPr>
          <p:nvPr/>
        </p:nvCxnSpPr>
        <p:spPr>
          <a:xfrm>
            <a:off x="7204869" y="2536825"/>
            <a:ext cx="1179000" cy="13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20"/>
          <p:cNvSpPr/>
          <p:nvPr/>
        </p:nvSpPr>
        <p:spPr>
          <a:xfrm>
            <a:off x="4809331" y="3010694"/>
            <a:ext cx="279400" cy="277813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6925469" y="2397919"/>
            <a:ext cx="279400" cy="277813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323806" y="2088357"/>
            <a:ext cx="104616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800" baseline="-25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0"/>
          <p:cNvSpPr/>
          <p:nvPr/>
        </p:nvSpPr>
        <p:spPr>
          <a:xfrm rot="230089">
            <a:off x="7657306" y="2264569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8560594" y="2702719"/>
            <a:ext cx="3187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4810919" y="2717007"/>
            <a:ext cx="2730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6742906" y="2550319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8036719" y="4715669"/>
            <a:ext cx="11454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4628356" y="4495007"/>
            <a:ext cx="2844800" cy="1712912"/>
          </a:xfrm>
          <a:custGeom>
            <a:avLst/>
            <a:gdLst/>
            <a:ahLst/>
            <a:cxnLst/>
            <a:rect l="l" t="t" r="r" b="b"/>
            <a:pathLst>
              <a:path w="1792" h="1079" extrusionOk="0">
                <a:moveTo>
                  <a:pt x="1283" y="31"/>
                </a:moveTo>
                <a:cubicBezTo>
                  <a:pt x="1527" y="0"/>
                  <a:pt x="1686" y="67"/>
                  <a:pt x="1739" y="157"/>
                </a:cubicBezTo>
                <a:cubicBezTo>
                  <a:pt x="1792" y="247"/>
                  <a:pt x="1644" y="427"/>
                  <a:pt x="1601" y="571"/>
                </a:cubicBezTo>
                <a:cubicBezTo>
                  <a:pt x="1558" y="715"/>
                  <a:pt x="1621" y="963"/>
                  <a:pt x="1481" y="1021"/>
                </a:cubicBezTo>
                <a:cubicBezTo>
                  <a:pt x="1341" y="1079"/>
                  <a:pt x="979" y="937"/>
                  <a:pt x="761" y="919"/>
                </a:cubicBezTo>
                <a:cubicBezTo>
                  <a:pt x="543" y="901"/>
                  <a:pt x="297" y="965"/>
                  <a:pt x="173" y="916"/>
                </a:cubicBezTo>
                <a:cubicBezTo>
                  <a:pt x="49" y="867"/>
                  <a:pt x="0" y="720"/>
                  <a:pt x="17" y="625"/>
                </a:cubicBezTo>
                <a:cubicBezTo>
                  <a:pt x="34" y="530"/>
                  <a:pt x="64" y="442"/>
                  <a:pt x="275" y="343"/>
                </a:cubicBezTo>
                <a:cubicBezTo>
                  <a:pt x="486" y="244"/>
                  <a:pt x="1029" y="55"/>
                  <a:pt x="1283" y="31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8341519" y="5096669"/>
            <a:ext cx="277812" cy="2778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1" name="Google Shape;331;p20"/>
          <p:cNvCxnSpPr>
            <a:stCxn id="332" idx="6"/>
            <a:endCxn id="330" idx="1"/>
          </p:cNvCxnSpPr>
          <p:nvPr/>
        </p:nvCxnSpPr>
        <p:spPr>
          <a:xfrm>
            <a:off x="7203281" y="5006976"/>
            <a:ext cx="1179000" cy="130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" name="Google Shape;333;p20"/>
          <p:cNvSpPr/>
          <p:nvPr/>
        </p:nvSpPr>
        <p:spPr>
          <a:xfrm>
            <a:off x="4807744" y="5480844"/>
            <a:ext cx="279400" cy="277813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6923881" y="4868069"/>
            <a:ext cx="279400" cy="277813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6322219" y="4558507"/>
            <a:ext cx="10461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800" baseline="-25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0"/>
          <p:cNvSpPr/>
          <p:nvPr/>
        </p:nvSpPr>
        <p:spPr>
          <a:xfrm rot="230089">
            <a:off x="7655719" y="4734719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 baseline="-25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8559006" y="5172869"/>
            <a:ext cx="3187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4809331" y="5187157"/>
            <a:ext cx="2730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6741319" y="5020469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9" name="Google Shape;339;p20"/>
          <p:cNvCxnSpPr>
            <a:stCxn id="322" idx="7"/>
          </p:cNvCxnSpPr>
          <p:nvPr/>
        </p:nvCxnSpPr>
        <p:spPr>
          <a:xfrm rot="-5400000">
            <a:off x="5700614" y="1861879"/>
            <a:ext cx="536700" cy="18423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20"/>
          <p:cNvCxnSpPr>
            <a:stCxn id="322" idx="5"/>
            <a:endCxn id="319" idx="3"/>
          </p:cNvCxnSpPr>
          <p:nvPr/>
        </p:nvCxnSpPr>
        <p:spPr>
          <a:xfrm rot="-5400000">
            <a:off x="6523664" y="1387672"/>
            <a:ext cx="384300" cy="3336000"/>
          </a:xfrm>
          <a:prstGeom prst="curvedConnector3">
            <a:avLst>
              <a:gd name="adj1" fmla="val -37024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20"/>
          <p:cNvCxnSpPr/>
          <p:nvPr/>
        </p:nvCxnSpPr>
        <p:spPr>
          <a:xfrm rot="10800000" flipH="1">
            <a:off x="5029200" y="4953079"/>
            <a:ext cx="1842300" cy="5367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288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1"/>
          <p:cNvSpPr txBox="1">
            <a:spLocks noGrp="1"/>
          </p:cNvSpPr>
          <p:nvPr>
            <p:ph type="body" idx="1"/>
          </p:nvPr>
        </p:nvSpPr>
        <p:spPr>
          <a:xfrm>
            <a:off x="381000" y="838200"/>
            <a:ext cx="822960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Dijkstra (s, e)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Initialization step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Known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{s}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Unknown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 – {s}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dist[s]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 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dist[u 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Unknown]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weight[s, u]</a:t>
            </a:r>
            <a:endParaRPr sz="1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Relaxation step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Find u 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∈ Unknown with the smallest distance.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if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known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known ∪ {u}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unknown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unknown – {u}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for each edge (</a:t>
            </a:r>
            <a:r>
              <a:rPr lang="en-US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v) do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Relaxation (s, u, v)		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Continue the Relaxation step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Tracing step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while 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!=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do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pre[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path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∪ path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`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2011363" y="1436688"/>
            <a:ext cx="1044575" cy="736600"/>
          </a:xfrm>
          <a:custGeom>
            <a:avLst/>
            <a:gdLst/>
            <a:ahLst/>
            <a:cxnLst/>
            <a:rect l="l" t="t" r="r" b="b"/>
            <a:pathLst>
              <a:path w="658" h="464" extrusionOk="0">
                <a:moveTo>
                  <a:pt x="329" y="13"/>
                </a:moveTo>
                <a:cubicBezTo>
                  <a:pt x="437" y="26"/>
                  <a:pt x="658" y="186"/>
                  <a:pt x="653" y="259"/>
                </a:cubicBezTo>
                <a:cubicBezTo>
                  <a:pt x="647" y="328"/>
                  <a:pt x="407" y="464"/>
                  <a:pt x="299" y="451"/>
                </a:cubicBezTo>
                <a:cubicBezTo>
                  <a:pt x="191" y="438"/>
                  <a:pt x="0" y="254"/>
                  <a:pt x="5" y="181"/>
                </a:cubicBezTo>
                <a:cubicBezTo>
                  <a:pt x="10" y="108"/>
                  <a:pt x="221" y="0"/>
                  <a:pt x="329" y="13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2287588" y="248285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914400" y="248285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2286000" y="167640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1524000" y="32908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359" name="Google Shape;359;p22"/>
          <p:cNvCxnSpPr>
            <a:stCxn id="357" idx="2"/>
            <a:endCxn id="356" idx="0"/>
          </p:cNvCxnSpPr>
          <p:nvPr/>
        </p:nvCxnSpPr>
        <p:spPr>
          <a:xfrm flipH="1">
            <a:off x="1097700" y="1859756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22"/>
          <p:cNvCxnSpPr>
            <a:stCxn id="358" idx="2"/>
            <a:endCxn id="356" idx="4"/>
          </p:cNvCxnSpPr>
          <p:nvPr/>
        </p:nvCxnSpPr>
        <p:spPr>
          <a:xfrm rot="10800000">
            <a:off x="1097700" y="2849644"/>
            <a:ext cx="426300" cy="624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22"/>
          <p:cNvCxnSpPr>
            <a:stCxn id="358" idx="6"/>
            <a:endCxn id="355" idx="3"/>
          </p:cNvCxnSpPr>
          <p:nvPr/>
        </p:nvCxnSpPr>
        <p:spPr>
          <a:xfrm rot="10800000" flipH="1">
            <a:off x="1890713" y="2795944"/>
            <a:ext cx="450600" cy="6783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22"/>
          <p:cNvCxnSpPr>
            <a:stCxn id="357" idx="4"/>
            <a:endCxn id="355" idx="0"/>
          </p:cNvCxnSpPr>
          <p:nvPr/>
        </p:nvCxnSpPr>
        <p:spPr>
          <a:xfrm>
            <a:off x="2469357" y="2043113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22"/>
          <p:cNvCxnSpPr>
            <a:stCxn id="356" idx="6"/>
            <a:endCxn id="355" idx="2"/>
          </p:cNvCxnSpPr>
          <p:nvPr/>
        </p:nvCxnSpPr>
        <p:spPr>
          <a:xfrm>
            <a:off x="1281113" y="2666207"/>
            <a:ext cx="1006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22"/>
          <p:cNvSpPr/>
          <p:nvPr/>
        </p:nvSpPr>
        <p:spPr>
          <a:xfrm>
            <a:off x="3649663" y="248285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365" name="Google Shape;365;p22"/>
          <p:cNvCxnSpPr>
            <a:stCxn id="366" idx="6"/>
            <a:endCxn id="364" idx="4"/>
          </p:cNvCxnSpPr>
          <p:nvPr/>
        </p:nvCxnSpPr>
        <p:spPr>
          <a:xfrm rot="10800000" flipH="1">
            <a:off x="3405188" y="2849644"/>
            <a:ext cx="427800" cy="624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22"/>
          <p:cNvCxnSpPr>
            <a:stCxn id="364" idx="0"/>
            <a:endCxn id="357" idx="6"/>
          </p:cNvCxnSpPr>
          <p:nvPr/>
        </p:nvCxnSpPr>
        <p:spPr>
          <a:xfrm rot="5400000" flipH="1">
            <a:off x="2931369" y="1581200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22"/>
          <p:cNvCxnSpPr>
            <a:stCxn id="355" idx="6"/>
            <a:endCxn id="364" idx="2"/>
          </p:cNvCxnSpPr>
          <p:nvPr/>
        </p:nvCxnSpPr>
        <p:spPr>
          <a:xfrm>
            <a:off x="2654300" y="2666207"/>
            <a:ext cx="995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6" name="Google Shape;366;p22"/>
          <p:cNvSpPr/>
          <p:nvPr/>
        </p:nvSpPr>
        <p:spPr>
          <a:xfrm>
            <a:off x="3038475" y="32908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369" name="Google Shape;369;p22"/>
          <p:cNvCxnSpPr>
            <a:stCxn id="355" idx="5"/>
            <a:endCxn id="366" idx="2"/>
          </p:cNvCxnSpPr>
          <p:nvPr/>
        </p:nvCxnSpPr>
        <p:spPr>
          <a:xfrm rot="-5400000" flipH="1">
            <a:off x="2480446" y="2916009"/>
            <a:ext cx="678300" cy="4380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0" name="Google Shape;370;p22"/>
          <p:cNvSpPr/>
          <p:nvPr/>
        </p:nvSpPr>
        <p:spPr>
          <a:xfrm rot="5400000">
            <a:off x="6710363" y="36433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22"/>
          <p:cNvSpPr/>
          <p:nvPr/>
        </p:nvSpPr>
        <p:spPr>
          <a:xfrm rot="-2700000">
            <a:off x="4167188" y="3619500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p22"/>
          <p:cNvSpPr/>
          <p:nvPr/>
        </p:nvSpPr>
        <p:spPr>
          <a:xfrm rot="5400000">
            <a:off x="2290763" y="36433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2520950" y="14478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3911600" y="22748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2552700" y="22748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1181100" y="22748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1371600" y="2994025"/>
            <a:ext cx="3476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3233738" y="2994025"/>
            <a:ext cx="3476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3359150" y="16906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1219200" y="17526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1600200" y="2362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382" name="Google Shape;382;p22"/>
          <p:cNvSpPr txBox="1"/>
          <p:nvPr/>
        </p:nvSpPr>
        <p:spPr>
          <a:xfrm>
            <a:off x="3048000" y="2362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914400" y="31623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3657600" y="31623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2133600" y="20574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6" name="Google Shape;386;p22"/>
          <p:cNvSpPr txBox="1"/>
          <p:nvPr/>
        </p:nvSpPr>
        <p:spPr>
          <a:xfrm>
            <a:off x="1981200" y="28956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87" name="Google Shape;387;p22"/>
          <p:cNvSpPr txBox="1"/>
          <p:nvPr/>
        </p:nvSpPr>
        <p:spPr>
          <a:xfrm>
            <a:off x="2628900" y="28956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1955800" y="4151313"/>
            <a:ext cx="1073150" cy="1536700"/>
          </a:xfrm>
          <a:custGeom>
            <a:avLst/>
            <a:gdLst/>
            <a:ahLst/>
            <a:cxnLst/>
            <a:rect l="l" t="t" r="r" b="b"/>
            <a:pathLst>
              <a:path w="676" h="968" extrusionOk="0">
                <a:moveTo>
                  <a:pt x="370" y="7"/>
                </a:moveTo>
                <a:cubicBezTo>
                  <a:pt x="468" y="14"/>
                  <a:pt x="604" y="72"/>
                  <a:pt x="640" y="181"/>
                </a:cubicBezTo>
                <a:cubicBezTo>
                  <a:pt x="676" y="290"/>
                  <a:pt x="640" y="531"/>
                  <a:pt x="586" y="661"/>
                </a:cubicBezTo>
                <a:cubicBezTo>
                  <a:pt x="532" y="791"/>
                  <a:pt x="404" y="968"/>
                  <a:pt x="316" y="961"/>
                </a:cubicBezTo>
                <a:cubicBezTo>
                  <a:pt x="228" y="954"/>
                  <a:pt x="102" y="756"/>
                  <a:pt x="58" y="619"/>
                </a:cubicBezTo>
                <a:cubicBezTo>
                  <a:pt x="14" y="482"/>
                  <a:pt x="0" y="241"/>
                  <a:pt x="52" y="139"/>
                </a:cubicBezTo>
                <a:cubicBezTo>
                  <a:pt x="104" y="37"/>
                  <a:pt x="272" y="0"/>
                  <a:pt x="370" y="7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2268538" y="516096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895350" y="516096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2266950" y="4354513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1504950" y="59690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393" name="Google Shape;393;p22"/>
          <p:cNvCxnSpPr>
            <a:stCxn id="391" idx="2"/>
            <a:endCxn id="390" idx="0"/>
          </p:cNvCxnSpPr>
          <p:nvPr/>
        </p:nvCxnSpPr>
        <p:spPr>
          <a:xfrm flipH="1">
            <a:off x="1078650" y="4537869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22"/>
          <p:cNvCxnSpPr>
            <a:stCxn id="392" idx="2"/>
            <a:endCxn id="390" idx="4"/>
          </p:cNvCxnSpPr>
          <p:nvPr/>
        </p:nvCxnSpPr>
        <p:spPr>
          <a:xfrm rot="10800000">
            <a:off x="1078650" y="5527757"/>
            <a:ext cx="426300" cy="624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22"/>
          <p:cNvCxnSpPr>
            <a:stCxn id="392" idx="6"/>
            <a:endCxn id="389" idx="3"/>
          </p:cNvCxnSpPr>
          <p:nvPr/>
        </p:nvCxnSpPr>
        <p:spPr>
          <a:xfrm rot="10800000" flipH="1">
            <a:off x="1871663" y="5474057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6" name="Google Shape;396;p22"/>
          <p:cNvCxnSpPr>
            <a:stCxn id="391" idx="4"/>
            <a:endCxn id="389" idx="0"/>
          </p:cNvCxnSpPr>
          <p:nvPr/>
        </p:nvCxnSpPr>
        <p:spPr>
          <a:xfrm>
            <a:off x="2450307" y="4721225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22"/>
          <p:cNvCxnSpPr>
            <a:stCxn id="390" idx="6"/>
            <a:endCxn id="389" idx="2"/>
          </p:cNvCxnSpPr>
          <p:nvPr/>
        </p:nvCxnSpPr>
        <p:spPr>
          <a:xfrm>
            <a:off x="1262063" y="5344319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8" name="Google Shape;398;p22"/>
          <p:cNvSpPr/>
          <p:nvPr/>
        </p:nvSpPr>
        <p:spPr>
          <a:xfrm>
            <a:off x="3630613" y="5160963"/>
            <a:ext cx="366712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399" name="Google Shape;399;p22"/>
          <p:cNvCxnSpPr>
            <a:stCxn id="400" idx="6"/>
            <a:endCxn id="398" idx="4"/>
          </p:cNvCxnSpPr>
          <p:nvPr/>
        </p:nvCxnSpPr>
        <p:spPr>
          <a:xfrm rot="10800000" flipH="1">
            <a:off x="3386138" y="5527757"/>
            <a:ext cx="427800" cy="624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1" name="Google Shape;401;p22"/>
          <p:cNvCxnSpPr>
            <a:stCxn id="398" idx="0"/>
            <a:endCxn id="391" idx="6"/>
          </p:cNvCxnSpPr>
          <p:nvPr/>
        </p:nvCxnSpPr>
        <p:spPr>
          <a:xfrm rot="5400000" flipH="1">
            <a:off x="2912319" y="4259313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2" name="Google Shape;402;p22"/>
          <p:cNvCxnSpPr>
            <a:stCxn id="389" idx="6"/>
            <a:endCxn id="398" idx="2"/>
          </p:cNvCxnSpPr>
          <p:nvPr/>
        </p:nvCxnSpPr>
        <p:spPr>
          <a:xfrm>
            <a:off x="2635250" y="5344319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0" name="Google Shape;400;p22"/>
          <p:cNvSpPr/>
          <p:nvPr/>
        </p:nvSpPr>
        <p:spPr>
          <a:xfrm>
            <a:off x="3019425" y="59690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403" name="Google Shape;403;p22"/>
          <p:cNvCxnSpPr>
            <a:stCxn id="389" idx="5"/>
            <a:endCxn id="400" idx="2"/>
          </p:cNvCxnSpPr>
          <p:nvPr/>
        </p:nvCxnSpPr>
        <p:spPr>
          <a:xfrm rot="-5400000" flipH="1">
            <a:off x="2461396" y="5594121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4" name="Google Shape;404;p22"/>
          <p:cNvSpPr txBox="1"/>
          <p:nvPr/>
        </p:nvSpPr>
        <p:spPr>
          <a:xfrm>
            <a:off x="2501900" y="41259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3892550" y="49530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2533650" y="49530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07" name="Google Shape;407;p22"/>
          <p:cNvSpPr txBox="1"/>
          <p:nvPr/>
        </p:nvSpPr>
        <p:spPr>
          <a:xfrm>
            <a:off x="1162050" y="49530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08" name="Google Shape;408;p22"/>
          <p:cNvSpPr txBox="1"/>
          <p:nvPr/>
        </p:nvSpPr>
        <p:spPr>
          <a:xfrm>
            <a:off x="1435100" y="56769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09" name="Google Shape;409;p22"/>
          <p:cNvSpPr txBox="1"/>
          <p:nvPr/>
        </p:nvSpPr>
        <p:spPr>
          <a:xfrm>
            <a:off x="3181350" y="5676900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3340100" y="43688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11" name="Google Shape;411;p22"/>
          <p:cNvSpPr txBox="1"/>
          <p:nvPr/>
        </p:nvSpPr>
        <p:spPr>
          <a:xfrm>
            <a:off x="1200150" y="44307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12" name="Google Shape;412;p22"/>
          <p:cNvSpPr txBox="1"/>
          <p:nvPr/>
        </p:nvSpPr>
        <p:spPr>
          <a:xfrm>
            <a:off x="1581150" y="50403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3028950" y="50403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414" name="Google Shape;414;p22"/>
          <p:cNvSpPr txBox="1"/>
          <p:nvPr/>
        </p:nvSpPr>
        <p:spPr>
          <a:xfrm>
            <a:off x="895350" y="58404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15" name="Google Shape;415;p22"/>
          <p:cNvSpPr txBox="1"/>
          <p:nvPr/>
        </p:nvSpPr>
        <p:spPr>
          <a:xfrm>
            <a:off x="3638550" y="58404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16" name="Google Shape;416;p22"/>
          <p:cNvSpPr txBox="1"/>
          <p:nvPr/>
        </p:nvSpPr>
        <p:spPr>
          <a:xfrm>
            <a:off x="2114550" y="47355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17" name="Google Shape;417;p22"/>
          <p:cNvSpPr txBox="1"/>
          <p:nvPr/>
        </p:nvSpPr>
        <p:spPr>
          <a:xfrm>
            <a:off x="1962150" y="55737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2609850" y="55737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grpSp>
        <p:nvGrpSpPr>
          <p:cNvPr id="419" name="Google Shape;419;p22"/>
          <p:cNvGrpSpPr/>
          <p:nvPr/>
        </p:nvGrpSpPr>
        <p:grpSpPr>
          <a:xfrm>
            <a:off x="5391150" y="1430338"/>
            <a:ext cx="3390900" cy="2227262"/>
            <a:chOff x="3396" y="901"/>
            <a:chExt cx="2136" cy="1403"/>
          </a:xfrm>
        </p:grpSpPr>
        <p:sp>
          <p:nvSpPr>
            <p:cNvPr id="420" name="Google Shape;420;p22"/>
            <p:cNvSpPr/>
            <p:nvPr/>
          </p:nvSpPr>
          <p:spPr>
            <a:xfrm>
              <a:off x="4053" y="901"/>
              <a:ext cx="1479" cy="1042"/>
            </a:xfrm>
            <a:custGeom>
              <a:avLst/>
              <a:gdLst/>
              <a:ahLst/>
              <a:cxnLst/>
              <a:rect l="l" t="t" r="r" b="b"/>
              <a:pathLst>
                <a:path w="1479" h="1042" extrusionOk="0">
                  <a:moveTo>
                    <a:pt x="447" y="23"/>
                  </a:moveTo>
                  <a:cubicBezTo>
                    <a:pt x="622" y="20"/>
                    <a:pt x="952" y="0"/>
                    <a:pt x="1113" y="149"/>
                  </a:cubicBezTo>
                  <a:cubicBezTo>
                    <a:pt x="1274" y="298"/>
                    <a:pt x="1479" y="792"/>
                    <a:pt x="1413" y="917"/>
                  </a:cubicBezTo>
                  <a:cubicBezTo>
                    <a:pt x="1347" y="1042"/>
                    <a:pt x="911" y="888"/>
                    <a:pt x="717" y="899"/>
                  </a:cubicBezTo>
                  <a:cubicBezTo>
                    <a:pt x="523" y="910"/>
                    <a:pt x="357" y="1025"/>
                    <a:pt x="249" y="983"/>
                  </a:cubicBezTo>
                  <a:cubicBezTo>
                    <a:pt x="141" y="941"/>
                    <a:pt x="100" y="782"/>
                    <a:pt x="69" y="646"/>
                  </a:cubicBezTo>
                  <a:cubicBezTo>
                    <a:pt x="38" y="510"/>
                    <a:pt x="0" y="270"/>
                    <a:pt x="63" y="166"/>
                  </a:cubicBezTo>
                  <a:cubicBezTo>
                    <a:pt x="126" y="62"/>
                    <a:pt x="272" y="26"/>
                    <a:pt x="447" y="23"/>
                  </a:cubicBezTo>
                  <a:close/>
                </a:path>
              </a:pathLst>
            </a:cu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4261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3396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4260" y="1056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3780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/>
            </a:p>
          </p:txBody>
        </p:sp>
        <p:cxnSp>
          <p:nvCxnSpPr>
            <p:cNvPr id="425" name="Google Shape;425;p22"/>
            <p:cNvCxnSpPr>
              <a:stCxn id="423" idx="2"/>
              <a:endCxn id="422" idx="0"/>
            </p:cNvCxnSpPr>
            <p:nvPr/>
          </p:nvCxnSpPr>
          <p:spPr>
            <a:xfrm flipH="1">
              <a:off x="3660" y="1172"/>
              <a:ext cx="6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2"/>
            <p:cNvCxnSpPr>
              <a:stCxn id="424" idx="2"/>
              <a:endCxn id="422" idx="4"/>
            </p:cNvCxnSpPr>
            <p:nvPr/>
          </p:nvCxnSpPr>
          <p:spPr>
            <a:xfrm rot="10800000">
              <a:off x="3480" y="1889"/>
              <a:ext cx="300" cy="300"/>
            </a:xfrm>
            <a:prstGeom prst="curved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22"/>
            <p:cNvCxnSpPr>
              <a:stCxn id="424" idx="6"/>
              <a:endCxn id="421" idx="3"/>
            </p:cNvCxnSpPr>
            <p:nvPr/>
          </p:nvCxnSpPr>
          <p:spPr>
            <a:xfrm rot="10800000" flipH="1">
              <a:off x="4011" y="1889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22"/>
            <p:cNvCxnSpPr>
              <a:stCxn id="423" idx="4"/>
              <a:endCxn id="421" idx="0"/>
            </p:cNvCxnSpPr>
            <p:nvPr/>
          </p:nvCxnSpPr>
          <p:spPr>
            <a:xfrm>
              <a:off x="4376" y="1287"/>
              <a:ext cx="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22"/>
            <p:cNvCxnSpPr>
              <a:stCxn id="422" idx="6"/>
              <a:endCxn id="421" idx="2"/>
            </p:cNvCxnSpPr>
            <p:nvPr/>
          </p:nvCxnSpPr>
          <p:spPr>
            <a:xfrm>
              <a:off x="3627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30" name="Google Shape;430;p22"/>
            <p:cNvSpPr/>
            <p:nvPr/>
          </p:nvSpPr>
          <p:spPr>
            <a:xfrm>
              <a:off x="5119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cxnSp>
          <p:nvCxnSpPr>
            <p:cNvPr id="431" name="Google Shape;431;p22"/>
            <p:cNvCxnSpPr>
              <a:stCxn id="432" idx="6"/>
              <a:endCxn id="430" idx="4"/>
            </p:cNvCxnSpPr>
            <p:nvPr/>
          </p:nvCxnSpPr>
          <p:spPr>
            <a:xfrm rot="10800000" flipH="1">
              <a:off x="4965" y="1889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3" name="Google Shape;433;p22"/>
            <p:cNvCxnSpPr>
              <a:stCxn id="430" idx="0"/>
              <a:endCxn id="423" idx="6"/>
            </p:cNvCxnSpPr>
            <p:nvPr/>
          </p:nvCxnSpPr>
          <p:spPr>
            <a:xfrm rot="5400000" flipH="1">
              <a:off x="4785" y="1114"/>
              <a:ext cx="300" cy="600"/>
            </a:xfrm>
            <a:prstGeom prst="curvedConnector2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34" name="Google Shape;434;p22"/>
            <p:cNvCxnSpPr>
              <a:stCxn id="421" idx="6"/>
              <a:endCxn id="430" idx="2"/>
            </p:cNvCxnSpPr>
            <p:nvPr/>
          </p:nvCxnSpPr>
          <p:spPr>
            <a:xfrm>
              <a:off x="4492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2" name="Google Shape;432;p22"/>
            <p:cNvSpPr/>
            <p:nvPr/>
          </p:nvSpPr>
          <p:spPr>
            <a:xfrm>
              <a:off x="4734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cxnSp>
          <p:nvCxnSpPr>
            <p:cNvPr id="435" name="Google Shape;435;p22"/>
            <p:cNvCxnSpPr>
              <a:stCxn id="421" idx="5"/>
              <a:endCxn id="432" idx="2"/>
            </p:cNvCxnSpPr>
            <p:nvPr/>
          </p:nvCxnSpPr>
          <p:spPr>
            <a:xfrm rot="-5400000" flipH="1">
              <a:off x="4458" y="1761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36" name="Google Shape;436;p22"/>
            <p:cNvSpPr txBox="1"/>
            <p:nvPr/>
          </p:nvSpPr>
          <p:spPr>
            <a:xfrm>
              <a:off x="4408" y="91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437" name="Google Shape;437;p22"/>
            <p:cNvSpPr txBox="1"/>
            <p:nvPr/>
          </p:nvSpPr>
          <p:spPr>
            <a:xfrm>
              <a:off x="5284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438" name="Google Shape;438;p22"/>
            <p:cNvSpPr txBox="1"/>
            <p:nvPr/>
          </p:nvSpPr>
          <p:spPr>
            <a:xfrm>
              <a:off x="4428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39" name="Google Shape;439;p22"/>
            <p:cNvSpPr txBox="1"/>
            <p:nvPr/>
          </p:nvSpPr>
          <p:spPr>
            <a:xfrm>
              <a:off x="3564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440" name="Google Shape;440;p22"/>
            <p:cNvSpPr txBox="1"/>
            <p:nvPr/>
          </p:nvSpPr>
          <p:spPr>
            <a:xfrm>
              <a:off x="3736" y="188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441" name="Google Shape;441;p22"/>
            <p:cNvSpPr txBox="1"/>
            <p:nvPr/>
          </p:nvSpPr>
          <p:spPr>
            <a:xfrm>
              <a:off x="4848" y="188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442" name="Google Shape;442;p22"/>
            <p:cNvSpPr txBox="1"/>
            <p:nvPr/>
          </p:nvSpPr>
          <p:spPr>
            <a:xfrm>
              <a:off x="4936" y="1065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443" name="Google Shape;443;p22"/>
            <p:cNvSpPr txBox="1"/>
            <p:nvPr/>
          </p:nvSpPr>
          <p:spPr>
            <a:xfrm>
              <a:off x="3588" y="110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444" name="Google Shape;444;p22"/>
            <p:cNvSpPr txBox="1"/>
            <p:nvPr/>
          </p:nvSpPr>
          <p:spPr>
            <a:xfrm>
              <a:off x="3828" y="148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</p:txBody>
        </p:sp>
        <p:sp>
          <p:nvSpPr>
            <p:cNvPr id="445" name="Google Shape;445;p22"/>
            <p:cNvSpPr txBox="1"/>
            <p:nvPr/>
          </p:nvSpPr>
          <p:spPr>
            <a:xfrm>
              <a:off x="4740" y="148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46" name="Google Shape;446;p22"/>
            <p:cNvSpPr txBox="1"/>
            <p:nvPr/>
          </p:nvSpPr>
          <p:spPr>
            <a:xfrm>
              <a:off x="3396" y="199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47" name="Google Shape;447;p22"/>
            <p:cNvSpPr txBox="1"/>
            <p:nvPr/>
          </p:nvSpPr>
          <p:spPr>
            <a:xfrm>
              <a:off x="5124" y="199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448" name="Google Shape;448;p22"/>
            <p:cNvSpPr txBox="1"/>
            <p:nvPr/>
          </p:nvSpPr>
          <p:spPr>
            <a:xfrm>
              <a:off x="4164" y="1296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49" name="Google Shape;449;p22"/>
            <p:cNvSpPr txBox="1"/>
            <p:nvPr/>
          </p:nvSpPr>
          <p:spPr>
            <a:xfrm>
              <a:off x="4068" y="182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450" name="Google Shape;450;p22"/>
            <p:cNvSpPr txBox="1"/>
            <p:nvPr/>
          </p:nvSpPr>
          <p:spPr>
            <a:xfrm>
              <a:off x="4476" y="182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</p:grpSp>
      <p:sp>
        <p:nvSpPr>
          <p:cNvPr id="451" name="Google Shape;451;p22"/>
          <p:cNvSpPr/>
          <p:nvPr/>
        </p:nvSpPr>
        <p:spPr>
          <a:xfrm>
            <a:off x="5756275" y="4114800"/>
            <a:ext cx="3105150" cy="2390775"/>
          </a:xfrm>
          <a:custGeom>
            <a:avLst/>
            <a:gdLst/>
            <a:ahLst/>
            <a:cxnLst/>
            <a:rect l="l" t="t" r="r" b="b"/>
            <a:pathLst>
              <a:path w="1956" h="1506" extrusionOk="0">
                <a:moveTo>
                  <a:pt x="886" y="23"/>
                </a:moveTo>
                <a:cubicBezTo>
                  <a:pt x="1061" y="20"/>
                  <a:pt x="1391" y="0"/>
                  <a:pt x="1552" y="149"/>
                </a:cubicBezTo>
                <a:cubicBezTo>
                  <a:pt x="1713" y="298"/>
                  <a:pt x="1956" y="787"/>
                  <a:pt x="1852" y="917"/>
                </a:cubicBezTo>
                <a:cubicBezTo>
                  <a:pt x="1748" y="1047"/>
                  <a:pt x="1146" y="847"/>
                  <a:pt x="928" y="930"/>
                </a:cubicBezTo>
                <a:cubicBezTo>
                  <a:pt x="710" y="1013"/>
                  <a:pt x="680" y="1330"/>
                  <a:pt x="544" y="1416"/>
                </a:cubicBezTo>
                <a:cubicBezTo>
                  <a:pt x="408" y="1502"/>
                  <a:pt x="197" y="1506"/>
                  <a:pt x="112" y="1446"/>
                </a:cubicBezTo>
                <a:cubicBezTo>
                  <a:pt x="27" y="1386"/>
                  <a:pt x="0" y="1150"/>
                  <a:pt x="34" y="1056"/>
                </a:cubicBezTo>
                <a:cubicBezTo>
                  <a:pt x="68" y="962"/>
                  <a:pt x="237" y="950"/>
                  <a:pt x="316" y="882"/>
                </a:cubicBezTo>
                <a:cubicBezTo>
                  <a:pt x="395" y="814"/>
                  <a:pt x="477" y="765"/>
                  <a:pt x="508" y="646"/>
                </a:cubicBezTo>
                <a:cubicBezTo>
                  <a:pt x="539" y="527"/>
                  <a:pt x="439" y="270"/>
                  <a:pt x="502" y="166"/>
                </a:cubicBezTo>
                <a:cubicBezTo>
                  <a:pt x="565" y="62"/>
                  <a:pt x="711" y="26"/>
                  <a:pt x="886" y="23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6783388" y="516731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5410200" y="516731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6781800" y="4360863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455" name="Google Shape;455;p22"/>
          <p:cNvSpPr/>
          <p:nvPr/>
        </p:nvSpPr>
        <p:spPr>
          <a:xfrm>
            <a:off x="6019800" y="597535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456" name="Google Shape;456;p22"/>
          <p:cNvCxnSpPr>
            <a:stCxn id="454" idx="2"/>
            <a:endCxn id="453" idx="0"/>
          </p:cNvCxnSpPr>
          <p:nvPr/>
        </p:nvCxnSpPr>
        <p:spPr>
          <a:xfrm flipH="1">
            <a:off x="5593500" y="4544219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22"/>
          <p:cNvCxnSpPr>
            <a:stCxn id="455" idx="2"/>
            <a:endCxn id="453" idx="4"/>
          </p:cNvCxnSpPr>
          <p:nvPr/>
        </p:nvCxnSpPr>
        <p:spPr>
          <a:xfrm rot="10800000">
            <a:off x="5593500" y="5534107"/>
            <a:ext cx="4263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8" name="Google Shape;458;p22"/>
          <p:cNvCxnSpPr>
            <a:stCxn id="455" idx="6"/>
            <a:endCxn id="452" idx="3"/>
          </p:cNvCxnSpPr>
          <p:nvPr/>
        </p:nvCxnSpPr>
        <p:spPr>
          <a:xfrm rot="10800000" flipH="1">
            <a:off x="6386513" y="5480407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22"/>
          <p:cNvCxnSpPr>
            <a:stCxn id="454" idx="4"/>
            <a:endCxn id="452" idx="0"/>
          </p:cNvCxnSpPr>
          <p:nvPr/>
        </p:nvCxnSpPr>
        <p:spPr>
          <a:xfrm>
            <a:off x="6965157" y="4727575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22"/>
          <p:cNvCxnSpPr>
            <a:stCxn id="453" idx="6"/>
            <a:endCxn id="452" idx="2"/>
          </p:cNvCxnSpPr>
          <p:nvPr/>
        </p:nvCxnSpPr>
        <p:spPr>
          <a:xfrm>
            <a:off x="5776913" y="5350669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61" name="Google Shape;461;p22"/>
          <p:cNvSpPr/>
          <p:nvPr/>
        </p:nvSpPr>
        <p:spPr>
          <a:xfrm>
            <a:off x="8145463" y="516731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462" name="Google Shape;462;p22"/>
          <p:cNvCxnSpPr>
            <a:stCxn id="463" idx="6"/>
            <a:endCxn id="461" idx="4"/>
          </p:cNvCxnSpPr>
          <p:nvPr/>
        </p:nvCxnSpPr>
        <p:spPr>
          <a:xfrm rot="10800000" flipH="1">
            <a:off x="7900988" y="5534107"/>
            <a:ext cx="4278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22"/>
          <p:cNvCxnSpPr>
            <a:stCxn id="461" idx="0"/>
            <a:endCxn id="454" idx="6"/>
          </p:cNvCxnSpPr>
          <p:nvPr/>
        </p:nvCxnSpPr>
        <p:spPr>
          <a:xfrm rot="5400000" flipH="1">
            <a:off x="7427169" y="4265663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22"/>
          <p:cNvCxnSpPr>
            <a:stCxn id="452" idx="6"/>
            <a:endCxn id="461" idx="2"/>
          </p:cNvCxnSpPr>
          <p:nvPr/>
        </p:nvCxnSpPr>
        <p:spPr>
          <a:xfrm>
            <a:off x="7150100" y="5350669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3" name="Google Shape;463;p22"/>
          <p:cNvSpPr/>
          <p:nvPr/>
        </p:nvSpPr>
        <p:spPr>
          <a:xfrm>
            <a:off x="7534275" y="597535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466" name="Google Shape;466;p22"/>
          <p:cNvCxnSpPr>
            <a:stCxn id="452" idx="5"/>
            <a:endCxn id="463" idx="2"/>
          </p:cNvCxnSpPr>
          <p:nvPr/>
        </p:nvCxnSpPr>
        <p:spPr>
          <a:xfrm rot="-5400000" flipH="1">
            <a:off x="6976247" y="5600471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67" name="Google Shape;467;p22"/>
          <p:cNvSpPr txBox="1"/>
          <p:nvPr/>
        </p:nvSpPr>
        <p:spPr>
          <a:xfrm>
            <a:off x="7016750" y="41322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468" name="Google Shape;468;p22"/>
          <p:cNvSpPr txBox="1"/>
          <p:nvPr/>
        </p:nvSpPr>
        <p:spPr>
          <a:xfrm>
            <a:off x="8407400" y="49593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69" name="Google Shape;469;p22"/>
          <p:cNvSpPr txBox="1"/>
          <p:nvPr/>
        </p:nvSpPr>
        <p:spPr>
          <a:xfrm>
            <a:off x="7048500" y="49593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70" name="Google Shape;470;p22"/>
          <p:cNvSpPr txBox="1"/>
          <p:nvPr/>
        </p:nvSpPr>
        <p:spPr>
          <a:xfrm>
            <a:off x="5676900" y="49593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471" name="Google Shape;471;p22"/>
          <p:cNvSpPr txBox="1"/>
          <p:nvPr/>
        </p:nvSpPr>
        <p:spPr>
          <a:xfrm>
            <a:off x="5949950" y="56832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72" name="Google Shape;472;p22"/>
          <p:cNvSpPr txBox="1"/>
          <p:nvPr/>
        </p:nvSpPr>
        <p:spPr>
          <a:xfrm>
            <a:off x="7715250" y="56832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73" name="Google Shape;473;p22"/>
          <p:cNvSpPr txBox="1"/>
          <p:nvPr/>
        </p:nvSpPr>
        <p:spPr>
          <a:xfrm>
            <a:off x="7854950" y="43751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74" name="Google Shape;474;p22"/>
          <p:cNvSpPr txBox="1"/>
          <p:nvPr/>
        </p:nvSpPr>
        <p:spPr>
          <a:xfrm>
            <a:off x="5715000" y="44370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6096000" y="50466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476" name="Google Shape;476;p22"/>
          <p:cNvSpPr txBox="1"/>
          <p:nvPr/>
        </p:nvSpPr>
        <p:spPr>
          <a:xfrm>
            <a:off x="7543800" y="50466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477" name="Google Shape;477;p22"/>
          <p:cNvSpPr txBox="1"/>
          <p:nvPr/>
        </p:nvSpPr>
        <p:spPr>
          <a:xfrm>
            <a:off x="5410200" y="58467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78" name="Google Shape;478;p22"/>
          <p:cNvSpPr txBox="1"/>
          <p:nvPr/>
        </p:nvSpPr>
        <p:spPr>
          <a:xfrm>
            <a:off x="8153400" y="58467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79" name="Google Shape;479;p22"/>
          <p:cNvSpPr txBox="1"/>
          <p:nvPr/>
        </p:nvSpPr>
        <p:spPr>
          <a:xfrm>
            <a:off x="6629400" y="47418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80" name="Google Shape;480;p22"/>
          <p:cNvSpPr txBox="1"/>
          <p:nvPr/>
        </p:nvSpPr>
        <p:spPr>
          <a:xfrm>
            <a:off x="6477000" y="55800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81" name="Google Shape;481;p22"/>
          <p:cNvSpPr txBox="1"/>
          <p:nvPr/>
        </p:nvSpPr>
        <p:spPr>
          <a:xfrm>
            <a:off x="7124700" y="55800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(cont.)</a:t>
            </a:r>
            <a:endParaRPr/>
          </a:p>
        </p:txBody>
      </p:sp>
      <p:sp>
        <p:nvSpPr>
          <p:cNvPr id="488" name="Google Shape;488;p23"/>
          <p:cNvSpPr/>
          <p:nvPr/>
        </p:nvSpPr>
        <p:spPr>
          <a:xfrm>
            <a:off x="668338" y="1695450"/>
            <a:ext cx="3711575" cy="2387600"/>
          </a:xfrm>
          <a:custGeom>
            <a:avLst/>
            <a:gdLst/>
            <a:ahLst/>
            <a:cxnLst/>
            <a:rect l="l" t="t" r="r" b="b"/>
            <a:pathLst>
              <a:path w="2338" h="1504" extrusionOk="0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2192338" y="2711450"/>
            <a:ext cx="366712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490" name="Google Shape;490;p23"/>
          <p:cNvSpPr/>
          <p:nvPr/>
        </p:nvSpPr>
        <p:spPr>
          <a:xfrm>
            <a:off x="819150" y="271145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91" name="Google Shape;491;p23"/>
          <p:cNvSpPr/>
          <p:nvPr/>
        </p:nvSpPr>
        <p:spPr>
          <a:xfrm>
            <a:off x="2190750" y="190500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492" name="Google Shape;492;p23"/>
          <p:cNvSpPr/>
          <p:nvPr/>
        </p:nvSpPr>
        <p:spPr>
          <a:xfrm>
            <a:off x="1428750" y="3519488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493" name="Google Shape;493;p23"/>
          <p:cNvCxnSpPr>
            <a:stCxn id="491" idx="2"/>
            <a:endCxn id="490" idx="0"/>
          </p:cNvCxnSpPr>
          <p:nvPr/>
        </p:nvCxnSpPr>
        <p:spPr>
          <a:xfrm flipH="1">
            <a:off x="1002450" y="2088357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23"/>
          <p:cNvCxnSpPr>
            <a:stCxn id="492" idx="2"/>
            <a:endCxn id="490" idx="4"/>
          </p:cNvCxnSpPr>
          <p:nvPr/>
        </p:nvCxnSpPr>
        <p:spPr>
          <a:xfrm rot="10800000">
            <a:off x="1002450" y="3078244"/>
            <a:ext cx="4263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5" name="Google Shape;495;p23"/>
          <p:cNvCxnSpPr>
            <a:stCxn id="492" idx="6"/>
            <a:endCxn id="489" idx="3"/>
          </p:cNvCxnSpPr>
          <p:nvPr/>
        </p:nvCxnSpPr>
        <p:spPr>
          <a:xfrm rot="10800000" flipH="1">
            <a:off x="1795463" y="3024544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23"/>
          <p:cNvCxnSpPr>
            <a:stCxn id="491" idx="4"/>
            <a:endCxn id="489" idx="0"/>
          </p:cNvCxnSpPr>
          <p:nvPr/>
        </p:nvCxnSpPr>
        <p:spPr>
          <a:xfrm>
            <a:off x="2374107" y="2271713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23"/>
          <p:cNvCxnSpPr>
            <a:stCxn id="490" idx="6"/>
            <a:endCxn id="489" idx="2"/>
          </p:cNvCxnSpPr>
          <p:nvPr/>
        </p:nvCxnSpPr>
        <p:spPr>
          <a:xfrm>
            <a:off x="1185863" y="2894807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98" name="Google Shape;498;p23"/>
          <p:cNvSpPr/>
          <p:nvPr/>
        </p:nvSpPr>
        <p:spPr>
          <a:xfrm>
            <a:off x="3554413" y="2711450"/>
            <a:ext cx="366712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499" name="Google Shape;499;p23"/>
          <p:cNvCxnSpPr>
            <a:stCxn id="500" idx="6"/>
            <a:endCxn id="498" idx="4"/>
          </p:cNvCxnSpPr>
          <p:nvPr/>
        </p:nvCxnSpPr>
        <p:spPr>
          <a:xfrm rot="10800000" flipH="1">
            <a:off x="3309938" y="3078244"/>
            <a:ext cx="4278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1" name="Google Shape;501;p23"/>
          <p:cNvCxnSpPr>
            <a:stCxn id="498" idx="0"/>
            <a:endCxn id="491" idx="6"/>
          </p:cNvCxnSpPr>
          <p:nvPr/>
        </p:nvCxnSpPr>
        <p:spPr>
          <a:xfrm rot="5400000" flipH="1">
            <a:off x="2836119" y="1809800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02" name="Google Shape;502;p23"/>
          <p:cNvCxnSpPr>
            <a:stCxn id="489" idx="6"/>
            <a:endCxn id="498" idx="2"/>
          </p:cNvCxnSpPr>
          <p:nvPr/>
        </p:nvCxnSpPr>
        <p:spPr>
          <a:xfrm>
            <a:off x="2559050" y="2894807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0" name="Google Shape;500;p23"/>
          <p:cNvSpPr/>
          <p:nvPr/>
        </p:nvSpPr>
        <p:spPr>
          <a:xfrm>
            <a:off x="2943225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503" name="Google Shape;503;p23"/>
          <p:cNvCxnSpPr>
            <a:stCxn id="489" idx="5"/>
            <a:endCxn id="500" idx="2"/>
          </p:cNvCxnSpPr>
          <p:nvPr/>
        </p:nvCxnSpPr>
        <p:spPr>
          <a:xfrm rot="-5400000" flipH="1">
            <a:off x="2385196" y="3144609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04" name="Google Shape;504;p23"/>
          <p:cNvSpPr txBox="1"/>
          <p:nvPr/>
        </p:nvSpPr>
        <p:spPr>
          <a:xfrm>
            <a:off x="2425700" y="16764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05" name="Google Shape;505;p23"/>
          <p:cNvSpPr txBox="1"/>
          <p:nvPr/>
        </p:nvSpPr>
        <p:spPr>
          <a:xfrm>
            <a:off x="3816350" y="25034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06" name="Google Shape;506;p23"/>
          <p:cNvSpPr txBox="1"/>
          <p:nvPr/>
        </p:nvSpPr>
        <p:spPr>
          <a:xfrm>
            <a:off x="2457450" y="25034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07" name="Google Shape;507;p23"/>
          <p:cNvSpPr txBox="1"/>
          <p:nvPr/>
        </p:nvSpPr>
        <p:spPr>
          <a:xfrm>
            <a:off x="1085850" y="25034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08" name="Google Shape;508;p23"/>
          <p:cNvSpPr txBox="1"/>
          <p:nvPr/>
        </p:nvSpPr>
        <p:spPr>
          <a:xfrm>
            <a:off x="1300163" y="32273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09" name="Google Shape;509;p23"/>
          <p:cNvSpPr txBox="1"/>
          <p:nvPr/>
        </p:nvSpPr>
        <p:spPr>
          <a:xfrm>
            <a:off x="3124200" y="32273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10" name="Google Shape;510;p23"/>
          <p:cNvSpPr txBox="1"/>
          <p:nvPr/>
        </p:nvSpPr>
        <p:spPr>
          <a:xfrm>
            <a:off x="3263900" y="19192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11" name="Google Shape;511;p23"/>
          <p:cNvSpPr txBox="1"/>
          <p:nvPr/>
        </p:nvSpPr>
        <p:spPr>
          <a:xfrm>
            <a:off x="1123950" y="1981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12" name="Google Shape;512;p23"/>
          <p:cNvSpPr txBox="1"/>
          <p:nvPr/>
        </p:nvSpPr>
        <p:spPr>
          <a:xfrm>
            <a:off x="1504950" y="25908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13" name="Google Shape;513;p23"/>
          <p:cNvSpPr txBox="1"/>
          <p:nvPr/>
        </p:nvSpPr>
        <p:spPr>
          <a:xfrm>
            <a:off x="2952750" y="25908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14" name="Google Shape;514;p23"/>
          <p:cNvSpPr txBox="1"/>
          <p:nvPr/>
        </p:nvSpPr>
        <p:spPr>
          <a:xfrm>
            <a:off x="819150" y="33909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5" name="Google Shape;515;p23"/>
          <p:cNvSpPr txBox="1"/>
          <p:nvPr/>
        </p:nvSpPr>
        <p:spPr>
          <a:xfrm>
            <a:off x="3562350" y="33909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16" name="Google Shape;516;p23"/>
          <p:cNvSpPr txBox="1"/>
          <p:nvPr/>
        </p:nvSpPr>
        <p:spPr>
          <a:xfrm>
            <a:off x="2038350" y="22860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7" name="Google Shape;517;p23"/>
          <p:cNvSpPr txBox="1"/>
          <p:nvPr/>
        </p:nvSpPr>
        <p:spPr>
          <a:xfrm>
            <a:off x="1885950" y="3124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18" name="Google Shape;518;p23"/>
          <p:cNvSpPr txBox="1"/>
          <p:nvPr/>
        </p:nvSpPr>
        <p:spPr>
          <a:xfrm>
            <a:off x="2533650" y="3124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4930775" y="3810000"/>
            <a:ext cx="3567113" cy="2459038"/>
          </a:xfrm>
          <a:custGeom>
            <a:avLst/>
            <a:gdLst/>
            <a:ahLst/>
            <a:cxnLst/>
            <a:rect l="l" t="t" r="r" b="b"/>
            <a:pathLst>
              <a:path w="2247" h="1549" extrusionOk="0">
                <a:moveTo>
                  <a:pt x="1274" y="23"/>
                </a:moveTo>
                <a:cubicBezTo>
                  <a:pt x="1508" y="25"/>
                  <a:pt x="1779" y="0"/>
                  <a:pt x="1940" y="149"/>
                </a:cubicBezTo>
                <a:cubicBezTo>
                  <a:pt x="2101" y="298"/>
                  <a:pt x="2247" y="698"/>
                  <a:pt x="2240" y="917"/>
                </a:cubicBezTo>
                <a:cubicBezTo>
                  <a:pt x="2233" y="1136"/>
                  <a:pt x="2197" y="1373"/>
                  <a:pt x="1899" y="1461"/>
                </a:cubicBezTo>
                <a:cubicBezTo>
                  <a:pt x="1601" y="1549"/>
                  <a:pt x="760" y="1516"/>
                  <a:pt x="452" y="1446"/>
                </a:cubicBezTo>
                <a:cubicBezTo>
                  <a:pt x="144" y="1376"/>
                  <a:pt x="100" y="1203"/>
                  <a:pt x="50" y="1038"/>
                </a:cubicBezTo>
                <a:cubicBezTo>
                  <a:pt x="0" y="873"/>
                  <a:pt x="71" y="606"/>
                  <a:pt x="152" y="456"/>
                </a:cubicBezTo>
                <a:cubicBezTo>
                  <a:pt x="233" y="306"/>
                  <a:pt x="349" y="210"/>
                  <a:pt x="536" y="138"/>
                </a:cubicBezTo>
                <a:cubicBezTo>
                  <a:pt x="723" y="66"/>
                  <a:pt x="1040" y="21"/>
                  <a:pt x="1274" y="23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6573838" y="486251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21" name="Google Shape;521;p23"/>
          <p:cNvSpPr/>
          <p:nvPr/>
        </p:nvSpPr>
        <p:spPr>
          <a:xfrm>
            <a:off x="5200650" y="4862513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6572250" y="4056063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23" name="Google Shape;523;p23"/>
          <p:cNvSpPr/>
          <p:nvPr/>
        </p:nvSpPr>
        <p:spPr>
          <a:xfrm>
            <a:off x="5810250" y="567055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24" name="Google Shape;524;p23"/>
          <p:cNvCxnSpPr>
            <a:stCxn id="522" idx="2"/>
            <a:endCxn id="521" idx="0"/>
          </p:cNvCxnSpPr>
          <p:nvPr/>
        </p:nvCxnSpPr>
        <p:spPr>
          <a:xfrm flipH="1">
            <a:off x="5383950" y="4239419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23"/>
          <p:cNvCxnSpPr>
            <a:stCxn id="523" idx="2"/>
            <a:endCxn id="521" idx="4"/>
          </p:cNvCxnSpPr>
          <p:nvPr/>
        </p:nvCxnSpPr>
        <p:spPr>
          <a:xfrm rot="10800000">
            <a:off x="5383950" y="5229307"/>
            <a:ext cx="4263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23"/>
          <p:cNvCxnSpPr>
            <a:stCxn id="523" idx="6"/>
            <a:endCxn id="520" idx="3"/>
          </p:cNvCxnSpPr>
          <p:nvPr/>
        </p:nvCxnSpPr>
        <p:spPr>
          <a:xfrm rot="10800000" flipH="1">
            <a:off x="6176963" y="5175607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7" name="Google Shape;527;p23"/>
          <p:cNvCxnSpPr>
            <a:stCxn id="522" idx="4"/>
            <a:endCxn id="520" idx="0"/>
          </p:cNvCxnSpPr>
          <p:nvPr/>
        </p:nvCxnSpPr>
        <p:spPr>
          <a:xfrm>
            <a:off x="6755607" y="4422775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23"/>
          <p:cNvCxnSpPr>
            <a:stCxn id="521" idx="6"/>
            <a:endCxn id="520" idx="2"/>
          </p:cNvCxnSpPr>
          <p:nvPr/>
        </p:nvCxnSpPr>
        <p:spPr>
          <a:xfrm>
            <a:off x="5567363" y="5045869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29" name="Google Shape;529;p23"/>
          <p:cNvSpPr/>
          <p:nvPr/>
        </p:nvSpPr>
        <p:spPr>
          <a:xfrm>
            <a:off x="7935913" y="486251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530" name="Google Shape;530;p23"/>
          <p:cNvCxnSpPr>
            <a:stCxn id="531" idx="6"/>
            <a:endCxn id="529" idx="4"/>
          </p:cNvCxnSpPr>
          <p:nvPr/>
        </p:nvCxnSpPr>
        <p:spPr>
          <a:xfrm rot="10800000" flipH="1">
            <a:off x="7691438" y="5229307"/>
            <a:ext cx="4278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23"/>
          <p:cNvCxnSpPr>
            <a:stCxn id="529" idx="0"/>
            <a:endCxn id="522" idx="6"/>
          </p:cNvCxnSpPr>
          <p:nvPr/>
        </p:nvCxnSpPr>
        <p:spPr>
          <a:xfrm rot="5400000" flipH="1">
            <a:off x="7217619" y="3960863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23"/>
          <p:cNvCxnSpPr>
            <a:stCxn id="520" idx="6"/>
            <a:endCxn id="529" idx="2"/>
          </p:cNvCxnSpPr>
          <p:nvPr/>
        </p:nvCxnSpPr>
        <p:spPr>
          <a:xfrm>
            <a:off x="6940550" y="5045869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1" name="Google Shape;531;p23"/>
          <p:cNvSpPr/>
          <p:nvPr/>
        </p:nvSpPr>
        <p:spPr>
          <a:xfrm>
            <a:off x="7324725" y="567055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534" name="Google Shape;534;p23"/>
          <p:cNvCxnSpPr>
            <a:stCxn id="520" idx="5"/>
            <a:endCxn id="531" idx="2"/>
          </p:cNvCxnSpPr>
          <p:nvPr/>
        </p:nvCxnSpPr>
        <p:spPr>
          <a:xfrm rot="-5400000" flipH="1">
            <a:off x="6766697" y="5295671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5" name="Google Shape;535;p23"/>
          <p:cNvSpPr txBox="1"/>
          <p:nvPr/>
        </p:nvSpPr>
        <p:spPr>
          <a:xfrm>
            <a:off x="6807200" y="38274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36" name="Google Shape;536;p23"/>
          <p:cNvSpPr txBox="1"/>
          <p:nvPr/>
        </p:nvSpPr>
        <p:spPr>
          <a:xfrm>
            <a:off x="8197850" y="46545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37" name="Google Shape;537;p23"/>
          <p:cNvSpPr txBox="1"/>
          <p:nvPr/>
        </p:nvSpPr>
        <p:spPr>
          <a:xfrm>
            <a:off x="6838950" y="46545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38" name="Google Shape;538;p23"/>
          <p:cNvSpPr txBox="1"/>
          <p:nvPr/>
        </p:nvSpPr>
        <p:spPr>
          <a:xfrm>
            <a:off x="5467350" y="46545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39" name="Google Shape;539;p23"/>
          <p:cNvSpPr txBox="1"/>
          <p:nvPr/>
        </p:nvSpPr>
        <p:spPr>
          <a:xfrm>
            <a:off x="5681663" y="53784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40" name="Google Shape;540;p23"/>
          <p:cNvSpPr txBox="1"/>
          <p:nvPr/>
        </p:nvSpPr>
        <p:spPr>
          <a:xfrm>
            <a:off x="7505700" y="53784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1" name="Google Shape;541;p23"/>
          <p:cNvSpPr txBox="1"/>
          <p:nvPr/>
        </p:nvSpPr>
        <p:spPr>
          <a:xfrm>
            <a:off x="7645400" y="40703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5505450" y="41322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3" name="Google Shape;543;p23"/>
          <p:cNvSpPr txBox="1"/>
          <p:nvPr/>
        </p:nvSpPr>
        <p:spPr>
          <a:xfrm>
            <a:off x="5886450" y="47418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44" name="Google Shape;544;p23"/>
          <p:cNvSpPr txBox="1"/>
          <p:nvPr/>
        </p:nvSpPr>
        <p:spPr>
          <a:xfrm>
            <a:off x="7334250" y="47418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45" name="Google Shape;545;p23"/>
          <p:cNvSpPr txBox="1"/>
          <p:nvPr/>
        </p:nvSpPr>
        <p:spPr>
          <a:xfrm>
            <a:off x="5200650" y="55419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46" name="Google Shape;546;p23"/>
          <p:cNvSpPr txBox="1"/>
          <p:nvPr/>
        </p:nvSpPr>
        <p:spPr>
          <a:xfrm>
            <a:off x="7943850" y="55419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47" name="Google Shape;547;p23"/>
          <p:cNvSpPr txBox="1"/>
          <p:nvPr/>
        </p:nvSpPr>
        <p:spPr>
          <a:xfrm>
            <a:off x="6419850" y="44370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48" name="Google Shape;548;p23"/>
          <p:cNvSpPr txBox="1"/>
          <p:nvPr/>
        </p:nvSpPr>
        <p:spPr>
          <a:xfrm>
            <a:off x="6267450" y="52752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49" name="Google Shape;549;p23"/>
          <p:cNvSpPr txBox="1"/>
          <p:nvPr/>
        </p:nvSpPr>
        <p:spPr>
          <a:xfrm>
            <a:off x="6915150" y="52752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 rot="2700000">
            <a:off x="4510088" y="3871912"/>
            <a:ext cx="609600" cy="333375"/>
          </a:xfrm>
          <a:prstGeom prst="rightArrow">
            <a:avLst>
              <a:gd name="adj1" fmla="val 50000"/>
              <a:gd name="adj2" fmla="val 4571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It Doesn’t Work for Negative-Weight Edges</a:t>
            </a:r>
            <a:endParaRPr/>
          </a:p>
        </p:txBody>
      </p:sp>
      <p:pic>
        <p:nvPicPr>
          <p:cNvPr id="557" name="Google Shape;557;p24" descr="NA01595_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92950" y="228600"/>
            <a:ext cx="1630363" cy="16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24"/>
          <p:cNvSpPr/>
          <p:nvPr/>
        </p:nvSpPr>
        <p:spPr>
          <a:xfrm>
            <a:off x="2619375" y="2297906"/>
            <a:ext cx="3711575" cy="2387600"/>
          </a:xfrm>
          <a:custGeom>
            <a:avLst/>
            <a:gdLst/>
            <a:ahLst/>
            <a:cxnLst/>
            <a:rect l="l" t="t" r="r" b="b"/>
            <a:pathLst>
              <a:path w="2338" h="1504" extrusionOk="0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4143375" y="3313906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60" name="Google Shape;560;p24"/>
          <p:cNvSpPr/>
          <p:nvPr/>
        </p:nvSpPr>
        <p:spPr>
          <a:xfrm>
            <a:off x="2770188" y="3313906"/>
            <a:ext cx="366712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4141788" y="2507456"/>
            <a:ext cx="366712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3379788" y="4121944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63" name="Google Shape;563;p24"/>
          <p:cNvCxnSpPr>
            <a:stCxn id="561" idx="2"/>
            <a:endCxn id="560" idx="0"/>
          </p:cNvCxnSpPr>
          <p:nvPr/>
        </p:nvCxnSpPr>
        <p:spPr>
          <a:xfrm flipH="1">
            <a:off x="2953488" y="2690813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24"/>
          <p:cNvCxnSpPr>
            <a:stCxn id="562" idx="2"/>
            <a:endCxn id="560" idx="4"/>
          </p:cNvCxnSpPr>
          <p:nvPr/>
        </p:nvCxnSpPr>
        <p:spPr>
          <a:xfrm rot="10800000">
            <a:off x="2953488" y="3680700"/>
            <a:ext cx="4263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5" name="Google Shape;565;p24"/>
          <p:cNvCxnSpPr>
            <a:stCxn id="562" idx="6"/>
            <a:endCxn id="559" idx="3"/>
          </p:cNvCxnSpPr>
          <p:nvPr/>
        </p:nvCxnSpPr>
        <p:spPr>
          <a:xfrm rot="10800000" flipH="1">
            <a:off x="3746500" y="3627000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6" name="Google Shape;566;p24"/>
          <p:cNvCxnSpPr>
            <a:stCxn id="561" idx="4"/>
            <a:endCxn id="559" idx="0"/>
          </p:cNvCxnSpPr>
          <p:nvPr/>
        </p:nvCxnSpPr>
        <p:spPr>
          <a:xfrm>
            <a:off x="4325144" y="2874169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67" name="Google Shape;567;p24"/>
          <p:cNvCxnSpPr>
            <a:stCxn id="560" idx="6"/>
            <a:endCxn id="559" idx="2"/>
          </p:cNvCxnSpPr>
          <p:nvPr/>
        </p:nvCxnSpPr>
        <p:spPr>
          <a:xfrm>
            <a:off x="3136900" y="3497262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68" name="Google Shape;568;p24"/>
          <p:cNvSpPr/>
          <p:nvPr/>
        </p:nvSpPr>
        <p:spPr>
          <a:xfrm>
            <a:off x="5505450" y="3313906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569" name="Google Shape;569;p24"/>
          <p:cNvCxnSpPr>
            <a:stCxn id="570" idx="6"/>
            <a:endCxn id="568" idx="4"/>
          </p:cNvCxnSpPr>
          <p:nvPr/>
        </p:nvCxnSpPr>
        <p:spPr>
          <a:xfrm rot="10800000" flipH="1">
            <a:off x="5260975" y="3680700"/>
            <a:ext cx="4278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1" name="Google Shape;571;p24"/>
          <p:cNvCxnSpPr>
            <a:stCxn id="568" idx="0"/>
            <a:endCxn id="561" idx="6"/>
          </p:cNvCxnSpPr>
          <p:nvPr/>
        </p:nvCxnSpPr>
        <p:spPr>
          <a:xfrm rot="5400000" flipH="1">
            <a:off x="4787157" y="2412256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2" name="Google Shape;572;p24"/>
          <p:cNvCxnSpPr>
            <a:stCxn id="559" idx="6"/>
            <a:endCxn id="568" idx="2"/>
          </p:cNvCxnSpPr>
          <p:nvPr/>
        </p:nvCxnSpPr>
        <p:spPr>
          <a:xfrm>
            <a:off x="4510088" y="3497262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0" name="Google Shape;570;p24"/>
          <p:cNvSpPr/>
          <p:nvPr/>
        </p:nvSpPr>
        <p:spPr>
          <a:xfrm>
            <a:off x="4894263" y="4121944"/>
            <a:ext cx="366712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573" name="Google Shape;573;p24"/>
          <p:cNvCxnSpPr>
            <a:stCxn id="559" idx="5"/>
            <a:endCxn id="570" idx="2"/>
          </p:cNvCxnSpPr>
          <p:nvPr/>
        </p:nvCxnSpPr>
        <p:spPr>
          <a:xfrm rot="-5400000" flipH="1">
            <a:off x="4336234" y="3747065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74" name="Google Shape;574;p24"/>
          <p:cNvSpPr txBox="1"/>
          <p:nvPr/>
        </p:nvSpPr>
        <p:spPr>
          <a:xfrm>
            <a:off x="4376738" y="22788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75" name="Google Shape;575;p24"/>
          <p:cNvSpPr txBox="1"/>
          <p:nvPr/>
        </p:nvSpPr>
        <p:spPr>
          <a:xfrm>
            <a:off x="5767388" y="31059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76" name="Google Shape;576;p24"/>
          <p:cNvSpPr txBox="1"/>
          <p:nvPr/>
        </p:nvSpPr>
        <p:spPr>
          <a:xfrm>
            <a:off x="4408488" y="31059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77" name="Google Shape;577;p24"/>
          <p:cNvSpPr txBox="1"/>
          <p:nvPr/>
        </p:nvSpPr>
        <p:spPr>
          <a:xfrm>
            <a:off x="3036888" y="31059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78" name="Google Shape;578;p24"/>
          <p:cNvSpPr txBox="1"/>
          <p:nvPr/>
        </p:nvSpPr>
        <p:spPr>
          <a:xfrm>
            <a:off x="3251200" y="38298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79" name="Google Shape;579;p24"/>
          <p:cNvSpPr txBox="1"/>
          <p:nvPr/>
        </p:nvSpPr>
        <p:spPr>
          <a:xfrm>
            <a:off x="5075238" y="38298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80" name="Google Shape;580;p24"/>
          <p:cNvSpPr txBox="1"/>
          <p:nvPr/>
        </p:nvSpPr>
        <p:spPr>
          <a:xfrm>
            <a:off x="5214938" y="25217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81" name="Google Shape;581;p24"/>
          <p:cNvSpPr txBox="1"/>
          <p:nvPr/>
        </p:nvSpPr>
        <p:spPr>
          <a:xfrm>
            <a:off x="3074988" y="25836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82" name="Google Shape;582;p24"/>
          <p:cNvSpPr txBox="1"/>
          <p:nvPr/>
        </p:nvSpPr>
        <p:spPr>
          <a:xfrm>
            <a:off x="3455988" y="31932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83" name="Google Shape;583;p24"/>
          <p:cNvSpPr txBox="1"/>
          <p:nvPr/>
        </p:nvSpPr>
        <p:spPr>
          <a:xfrm>
            <a:off x="4903788" y="31932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84" name="Google Shape;584;p24"/>
          <p:cNvSpPr txBox="1"/>
          <p:nvPr/>
        </p:nvSpPr>
        <p:spPr>
          <a:xfrm>
            <a:off x="2770188" y="39933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85" name="Google Shape;585;p24"/>
          <p:cNvSpPr txBox="1"/>
          <p:nvPr/>
        </p:nvSpPr>
        <p:spPr>
          <a:xfrm>
            <a:off x="5513388" y="39933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86" name="Google Shape;586;p24"/>
          <p:cNvSpPr txBox="1"/>
          <p:nvPr/>
        </p:nvSpPr>
        <p:spPr>
          <a:xfrm>
            <a:off x="3989388" y="28884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87" name="Google Shape;587;p24"/>
          <p:cNvSpPr txBox="1"/>
          <p:nvPr/>
        </p:nvSpPr>
        <p:spPr>
          <a:xfrm>
            <a:off x="3836988" y="37266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88" name="Google Shape;588;p24"/>
          <p:cNvSpPr txBox="1"/>
          <p:nvPr/>
        </p:nvSpPr>
        <p:spPr>
          <a:xfrm>
            <a:off x="4508500" y="3726656"/>
            <a:ext cx="3746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-8</a:t>
            </a:r>
            <a:endParaRPr/>
          </a:p>
        </p:txBody>
      </p:sp>
      <p:sp>
        <p:nvSpPr>
          <p:cNvPr id="589" name="Google Shape;589;p24"/>
          <p:cNvSpPr txBox="1"/>
          <p:nvPr/>
        </p:nvSpPr>
        <p:spPr>
          <a:xfrm>
            <a:off x="1447800" y="4837906"/>
            <a:ext cx="5715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minimal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of C is 1, but it is already in the cloud with dist(C)=5!</a:t>
            </a:r>
            <a:endParaRPr/>
          </a:p>
        </p:txBody>
      </p:sp>
      <p:cxnSp>
        <p:nvCxnSpPr>
          <p:cNvPr id="590" name="Google Shape;590;p24"/>
          <p:cNvCxnSpPr/>
          <p:nvPr/>
        </p:nvCxnSpPr>
        <p:spPr>
          <a:xfrm rot="10800000">
            <a:off x="4287838" y="3771106"/>
            <a:ext cx="38100" cy="1160463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6" name="Google Shape;596;p2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out the shortest path from A to H for the following graph 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25"/>
          <p:cNvSpPr/>
          <p:nvPr/>
        </p:nvSpPr>
        <p:spPr>
          <a:xfrm>
            <a:off x="1981200" y="3167062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98" name="Google Shape;598;p25"/>
          <p:cNvSpPr/>
          <p:nvPr/>
        </p:nvSpPr>
        <p:spPr>
          <a:xfrm>
            <a:off x="5333996" y="3167062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99" name="Google Shape;599;p25"/>
          <p:cNvCxnSpPr>
            <a:stCxn id="598" idx="2"/>
            <a:endCxn id="597" idx="6"/>
          </p:cNvCxnSpPr>
          <p:nvPr/>
        </p:nvCxnSpPr>
        <p:spPr>
          <a:xfrm rot="10800000">
            <a:off x="2536796" y="3450431"/>
            <a:ext cx="279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sp>
        <p:nvSpPr>
          <p:cNvPr id="600" name="Google Shape;600;p25"/>
          <p:cNvSpPr/>
          <p:nvPr/>
        </p:nvSpPr>
        <p:spPr>
          <a:xfrm>
            <a:off x="3657600" y="4191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5333997" y="4191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p25"/>
          <p:cNvSpPr/>
          <p:nvPr/>
        </p:nvSpPr>
        <p:spPr>
          <a:xfrm>
            <a:off x="1981200" y="5181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3657599" y="5181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p25"/>
          <p:cNvSpPr/>
          <p:nvPr/>
        </p:nvSpPr>
        <p:spPr>
          <a:xfrm>
            <a:off x="5333998" y="5181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7086600" y="5181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06" name="Google Shape;606;p25"/>
          <p:cNvCxnSpPr>
            <a:stCxn id="602" idx="0"/>
            <a:endCxn id="597" idx="4"/>
          </p:cNvCxnSpPr>
          <p:nvPr/>
        </p:nvCxnSpPr>
        <p:spPr>
          <a:xfrm rot="10800000">
            <a:off x="2259013" y="3733800"/>
            <a:ext cx="0" cy="144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07" name="Google Shape;607;p25"/>
          <p:cNvCxnSpPr>
            <a:stCxn id="600" idx="1"/>
            <a:endCxn id="597" idx="5"/>
          </p:cNvCxnSpPr>
          <p:nvPr/>
        </p:nvCxnSpPr>
        <p:spPr>
          <a:xfrm rot="10800000">
            <a:off x="2455569" y="3650897"/>
            <a:ext cx="1283400" cy="62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08" name="Google Shape;608;p25"/>
          <p:cNvCxnSpPr>
            <a:stCxn id="602" idx="6"/>
            <a:endCxn id="603" idx="2"/>
          </p:cNvCxnSpPr>
          <p:nvPr/>
        </p:nvCxnSpPr>
        <p:spPr>
          <a:xfrm>
            <a:off x="2536825" y="5464969"/>
            <a:ext cx="112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09" name="Google Shape;609;p25"/>
          <p:cNvCxnSpPr>
            <a:stCxn id="603" idx="0"/>
            <a:endCxn id="600" idx="4"/>
          </p:cNvCxnSpPr>
          <p:nvPr/>
        </p:nvCxnSpPr>
        <p:spPr>
          <a:xfrm rot="10800000">
            <a:off x="3935411" y="4757700"/>
            <a:ext cx="0" cy="4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0" name="Google Shape;610;p25"/>
          <p:cNvCxnSpPr>
            <a:stCxn id="600" idx="6"/>
            <a:endCxn id="601" idx="2"/>
          </p:cNvCxnSpPr>
          <p:nvPr/>
        </p:nvCxnSpPr>
        <p:spPr>
          <a:xfrm>
            <a:off x="4213225" y="4474369"/>
            <a:ext cx="112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1" name="Google Shape;611;p25"/>
          <p:cNvCxnSpPr>
            <a:stCxn id="604" idx="0"/>
            <a:endCxn id="601" idx="4"/>
          </p:cNvCxnSpPr>
          <p:nvPr/>
        </p:nvCxnSpPr>
        <p:spPr>
          <a:xfrm rot="10800000">
            <a:off x="5611811" y="4757700"/>
            <a:ext cx="0" cy="4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2" name="Google Shape;612;p25"/>
          <p:cNvCxnSpPr>
            <a:stCxn id="603" idx="6"/>
            <a:endCxn id="604" idx="2"/>
          </p:cNvCxnSpPr>
          <p:nvPr/>
        </p:nvCxnSpPr>
        <p:spPr>
          <a:xfrm>
            <a:off x="4213224" y="5464969"/>
            <a:ext cx="112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3" name="Google Shape;613;p25"/>
          <p:cNvCxnSpPr>
            <a:stCxn id="598" idx="4"/>
            <a:endCxn id="601" idx="0"/>
          </p:cNvCxnSpPr>
          <p:nvPr/>
        </p:nvCxnSpPr>
        <p:spPr>
          <a:xfrm>
            <a:off x="5611809" y="3733800"/>
            <a:ext cx="0" cy="4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4" name="Google Shape;614;p25"/>
          <p:cNvCxnSpPr>
            <a:stCxn id="601" idx="6"/>
            <a:endCxn id="605" idx="1"/>
          </p:cNvCxnSpPr>
          <p:nvPr/>
        </p:nvCxnSpPr>
        <p:spPr>
          <a:xfrm>
            <a:off x="5889622" y="4474369"/>
            <a:ext cx="1278300" cy="79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5" name="Google Shape;615;p25"/>
          <p:cNvCxnSpPr>
            <a:stCxn id="604" idx="6"/>
            <a:endCxn id="605" idx="2"/>
          </p:cNvCxnSpPr>
          <p:nvPr/>
        </p:nvCxnSpPr>
        <p:spPr>
          <a:xfrm>
            <a:off x="5889623" y="5464969"/>
            <a:ext cx="119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sp>
        <p:nvSpPr>
          <p:cNvPr id="616" name="Google Shape;616;p25"/>
          <p:cNvSpPr txBox="1"/>
          <p:nvPr/>
        </p:nvSpPr>
        <p:spPr>
          <a:xfrm>
            <a:off x="3863974" y="308371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17" name="Google Shape;617;p25"/>
          <p:cNvSpPr txBox="1"/>
          <p:nvPr/>
        </p:nvSpPr>
        <p:spPr>
          <a:xfrm>
            <a:off x="3109911" y="365080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25"/>
          <p:cNvSpPr txBox="1"/>
          <p:nvPr/>
        </p:nvSpPr>
        <p:spPr>
          <a:xfrm>
            <a:off x="2238375" y="421788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19" name="Google Shape;619;p25"/>
          <p:cNvSpPr txBox="1"/>
          <p:nvPr/>
        </p:nvSpPr>
        <p:spPr>
          <a:xfrm>
            <a:off x="2940050" y="5098257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25"/>
          <p:cNvSpPr txBox="1"/>
          <p:nvPr/>
        </p:nvSpPr>
        <p:spPr>
          <a:xfrm>
            <a:off x="3657600" y="47863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25"/>
          <p:cNvSpPr txBox="1"/>
          <p:nvPr/>
        </p:nvSpPr>
        <p:spPr>
          <a:xfrm>
            <a:off x="4624386" y="416004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25"/>
          <p:cNvSpPr txBox="1"/>
          <p:nvPr/>
        </p:nvSpPr>
        <p:spPr>
          <a:xfrm>
            <a:off x="5587993" y="379333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3" name="Google Shape;623;p25"/>
          <p:cNvSpPr txBox="1"/>
          <p:nvPr/>
        </p:nvSpPr>
        <p:spPr>
          <a:xfrm>
            <a:off x="4648200" y="51196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25"/>
          <p:cNvSpPr txBox="1"/>
          <p:nvPr/>
        </p:nvSpPr>
        <p:spPr>
          <a:xfrm>
            <a:off x="6189661" y="5098257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25"/>
          <p:cNvSpPr txBox="1"/>
          <p:nvPr/>
        </p:nvSpPr>
        <p:spPr>
          <a:xfrm>
            <a:off x="6488111" y="452675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626" name="Google Shape;626;p25"/>
          <p:cNvSpPr txBox="1"/>
          <p:nvPr/>
        </p:nvSpPr>
        <p:spPr>
          <a:xfrm>
            <a:off x="5340350" y="48148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 shortest paths for all pairs of vertices</a:t>
            </a:r>
            <a:endParaRPr/>
          </a:p>
        </p:txBody>
      </p:sp>
      <p:sp>
        <p:nvSpPr>
          <p:cNvPr id="632" name="Google Shape;632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81200"/>
            <a:ext cx="79248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Floyd (G)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	Let D[u,v]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weight(u,v) be  the minimum distance between u and v.</a:t>
            </a:r>
            <a:endParaRPr sz="16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each vertex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for each vertex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for each vertex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 D[u,v] &gt; D[u,k] + D[k,v] then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D[u,v] = D[u,k] + D[k,v]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O(n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800" b="0" i="0" u="none" strike="noStrike" cap="none" baseline="30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7"/>
          <p:cNvSpPr txBox="1">
            <a:spLocks noGrp="1"/>
          </p:cNvSpPr>
          <p:nvPr>
            <p:ph type="title"/>
          </p:nvPr>
        </p:nvSpPr>
        <p:spPr>
          <a:xfrm>
            <a:off x="5334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Floyd algorithm Example</a:t>
            </a:r>
            <a:endParaRPr/>
          </a:p>
        </p:txBody>
      </p:sp>
      <p:pic>
        <p:nvPicPr>
          <p:cNvPr id="640" name="Google Shape;64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706" y="2220274"/>
            <a:ext cx="4970292" cy="105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3352800"/>
            <a:ext cx="2573961" cy="1150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30759" y="3352800"/>
            <a:ext cx="2455239" cy="122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9758" y="4667250"/>
            <a:ext cx="4982002" cy="1215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057400"/>
            <a:ext cx="26670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0" name="Google Shape;650;p28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out the matrix obtained from Floyd algorithm for the following graph.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1952625" y="4245769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3200400" y="2971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3200399" y="5486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4495800" y="4221957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5943600" y="2971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6" name="Google Shape;656;p28"/>
          <p:cNvSpPr/>
          <p:nvPr/>
        </p:nvSpPr>
        <p:spPr>
          <a:xfrm>
            <a:off x="5943599" y="5486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57" name="Google Shape;657;p28"/>
          <p:cNvCxnSpPr>
            <a:stCxn id="651" idx="7"/>
            <a:endCxn id="652" idx="3"/>
          </p:cNvCxnSpPr>
          <p:nvPr/>
        </p:nvCxnSpPr>
        <p:spPr>
          <a:xfrm rot="10800000" flipH="1">
            <a:off x="2426881" y="3455466"/>
            <a:ext cx="855000" cy="8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8" name="Google Shape;658;p28"/>
          <p:cNvCxnSpPr>
            <a:stCxn id="651" idx="5"/>
            <a:endCxn id="653" idx="1"/>
          </p:cNvCxnSpPr>
          <p:nvPr/>
        </p:nvCxnSpPr>
        <p:spPr>
          <a:xfrm>
            <a:off x="2426881" y="4729510"/>
            <a:ext cx="855000" cy="84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9" name="Google Shape;659;p28"/>
          <p:cNvCxnSpPr>
            <a:stCxn id="652" idx="4"/>
            <a:endCxn id="653" idx="0"/>
          </p:cNvCxnSpPr>
          <p:nvPr/>
        </p:nvCxnSpPr>
        <p:spPr>
          <a:xfrm>
            <a:off x="3478213" y="3538538"/>
            <a:ext cx="0" cy="1947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" name="Google Shape;660;p28"/>
          <p:cNvCxnSpPr>
            <a:stCxn id="652" idx="6"/>
            <a:endCxn id="655" idx="2"/>
          </p:cNvCxnSpPr>
          <p:nvPr/>
        </p:nvCxnSpPr>
        <p:spPr>
          <a:xfrm>
            <a:off x="3756025" y="3255169"/>
            <a:ext cx="218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1" name="Google Shape;661;p28"/>
          <p:cNvCxnSpPr>
            <a:stCxn id="652" idx="5"/>
            <a:endCxn id="654" idx="1"/>
          </p:cNvCxnSpPr>
          <p:nvPr/>
        </p:nvCxnSpPr>
        <p:spPr>
          <a:xfrm>
            <a:off x="3674656" y="3455541"/>
            <a:ext cx="902400" cy="84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" name="Google Shape;662;p28"/>
          <p:cNvCxnSpPr>
            <a:stCxn id="655" idx="3"/>
            <a:endCxn id="654" idx="7"/>
          </p:cNvCxnSpPr>
          <p:nvPr/>
        </p:nvCxnSpPr>
        <p:spPr>
          <a:xfrm flipH="1">
            <a:off x="4970169" y="3455541"/>
            <a:ext cx="1054800" cy="84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" name="Google Shape;663;p28"/>
          <p:cNvCxnSpPr>
            <a:stCxn id="653" idx="7"/>
            <a:endCxn id="654" idx="3"/>
          </p:cNvCxnSpPr>
          <p:nvPr/>
        </p:nvCxnSpPr>
        <p:spPr>
          <a:xfrm rot="10800000" flipH="1">
            <a:off x="3674655" y="4705697"/>
            <a:ext cx="902400" cy="86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" name="Google Shape;664;p28"/>
          <p:cNvCxnSpPr>
            <a:stCxn id="654" idx="5"/>
            <a:endCxn id="656" idx="1"/>
          </p:cNvCxnSpPr>
          <p:nvPr/>
        </p:nvCxnSpPr>
        <p:spPr>
          <a:xfrm>
            <a:off x="4970056" y="4705698"/>
            <a:ext cx="1054800" cy="86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5" name="Google Shape;665;p28"/>
          <p:cNvCxnSpPr>
            <a:stCxn id="656" idx="2"/>
            <a:endCxn id="653" idx="6"/>
          </p:cNvCxnSpPr>
          <p:nvPr/>
        </p:nvCxnSpPr>
        <p:spPr>
          <a:xfrm rot="10800000">
            <a:off x="3755999" y="5769769"/>
            <a:ext cx="218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" name="Google Shape;666;p28"/>
          <p:cNvCxnSpPr>
            <a:stCxn id="655" idx="4"/>
            <a:endCxn id="656" idx="0"/>
          </p:cNvCxnSpPr>
          <p:nvPr/>
        </p:nvCxnSpPr>
        <p:spPr>
          <a:xfrm>
            <a:off x="6221413" y="3538538"/>
            <a:ext cx="0" cy="1947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7" name="Google Shape;667;p28"/>
          <p:cNvSpPr/>
          <p:nvPr/>
        </p:nvSpPr>
        <p:spPr>
          <a:xfrm>
            <a:off x="6505575" y="3238500"/>
            <a:ext cx="590550" cy="2533650"/>
          </a:xfrm>
          <a:custGeom>
            <a:avLst/>
            <a:gdLst/>
            <a:ahLst/>
            <a:cxnLst/>
            <a:rect l="l" t="t" r="r" b="b"/>
            <a:pathLst>
              <a:path w="590550" h="2533650" extrusionOk="0">
                <a:moveTo>
                  <a:pt x="0" y="2533650"/>
                </a:moveTo>
                <a:cubicBezTo>
                  <a:pt x="295275" y="2039937"/>
                  <a:pt x="590550" y="1546225"/>
                  <a:pt x="590550" y="1123950"/>
                </a:cubicBezTo>
                <a:cubicBezTo>
                  <a:pt x="590550" y="701675"/>
                  <a:pt x="295275" y="350837"/>
                  <a:pt x="0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3600450" y="2647939"/>
            <a:ext cx="2495550" cy="333386"/>
          </a:xfrm>
          <a:custGeom>
            <a:avLst/>
            <a:gdLst/>
            <a:ahLst/>
            <a:cxnLst/>
            <a:rect l="l" t="t" r="r" b="b"/>
            <a:pathLst>
              <a:path w="2495550" h="333386" extrusionOk="0">
                <a:moveTo>
                  <a:pt x="2495550" y="333386"/>
                </a:moveTo>
                <a:cubicBezTo>
                  <a:pt x="2070100" y="167492"/>
                  <a:pt x="1644650" y="1598"/>
                  <a:pt x="1228725" y="11"/>
                </a:cubicBezTo>
                <a:cubicBezTo>
                  <a:pt x="812800" y="-1577"/>
                  <a:pt x="406400" y="161142"/>
                  <a:pt x="0" y="323861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8"/>
          <p:cNvSpPr txBox="1"/>
          <p:nvPr/>
        </p:nvSpPr>
        <p:spPr>
          <a:xfrm>
            <a:off x="2508250" y="369558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70" name="Google Shape;670;p28"/>
          <p:cNvSpPr txBox="1"/>
          <p:nvPr/>
        </p:nvSpPr>
        <p:spPr>
          <a:xfrm>
            <a:off x="2499541" y="5088612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71" name="Google Shape;671;p28"/>
          <p:cNvSpPr txBox="1"/>
          <p:nvPr/>
        </p:nvSpPr>
        <p:spPr>
          <a:xfrm>
            <a:off x="3178129" y="432065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672" name="Google Shape;672;p28"/>
          <p:cNvSpPr txBox="1"/>
          <p:nvPr/>
        </p:nvSpPr>
        <p:spPr>
          <a:xfrm>
            <a:off x="3873455" y="478012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673" name="Google Shape;673;p28"/>
          <p:cNvSpPr txBox="1"/>
          <p:nvPr/>
        </p:nvSpPr>
        <p:spPr>
          <a:xfrm>
            <a:off x="4125912" y="362164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74" name="Google Shape;674;p28"/>
          <p:cNvSpPr txBox="1"/>
          <p:nvPr/>
        </p:nvSpPr>
        <p:spPr>
          <a:xfrm>
            <a:off x="4583563" y="28858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675" name="Google Shape;675;p28"/>
          <p:cNvSpPr txBox="1"/>
          <p:nvPr/>
        </p:nvSpPr>
        <p:spPr>
          <a:xfrm>
            <a:off x="4669974" y="227384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76" name="Google Shape;676;p28"/>
          <p:cNvSpPr txBox="1"/>
          <p:nvPr/>
        </p:nvSpPr>
        <p:spPr>
          <a:xfrm>
            <a:off x="7096125" y="420526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77" name="Google Shape;677;p28"/>
          <p:cNvSpPr txBox="1"/>
          <p:nvPr/>
        </p:nvSpPr>
        <p:spPr>
          <a:xfrm>
            <a:off x="5921331" y="416933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678" name="Google Shape;678;p28"/>
          <p:cNvSpPr txBox="1"/>
          <p:nvPr/>
        </p:nvSpPr>
        <p:spPr>
          <a:xfrm>
            <a:off x="5414918" y="478012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79" name="Google Shape;679;p28"/>
          <p:cNvSpPr txBox="1"/>
          <p:nvPr/>
        </p:nvSpPr>
        <p:spPr>
          <a:xfrm>
            <a:off x="4783093" y="538473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80" name="Google Shape;680;p28"/>
          <p:cNvSpPr txBox="1"/>
          <p:nvPr/>
        </p:nvSpPr>
        <p:spPr>
          <a:xfrm>
            <a:off x="5197430" y="362164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6377331B-2149-4F29-AB55-3778CDF6541C}"/>
  <p:tag name="ISPRING_RESOURCE_FOLDER" val="C:\Users\Administrator\Documents\CTDL&amp;GT\Cai tien MH CTDL_GT\CTDL_GT\Slides and exercises\Lecture11_graphs_part1\Lecture11_graphs_part1\"/>
  <p:tag name="ISPRING_PRESENTATION_PATH" val="C:\Users\Administrator\Documents\CTDL&amp;GT\Cai tien MH CTDL_GT\CTDL_GT\Slides and exercises\Lecture11_graphs_part1\Lecture11_graphs_part1.pptx"/>
  <p:tag name="ISPRING_PROJECT_VERSION" val="9"/>
  <p:tag name="ISPRING_PROJECT_FOLDER_UPDATED" val="1"/>
  <p:tag name="ISPRING_SCREEN_RECS_UPDATED" val="C:\Users\Administrator\Documents\CTDL&amp;GT\Cai tien MH CTDL_GT\CTDL_GT\Slides and exercises\Lecture11_graphs_part1\Lecture11_graphs_part1\"/>
  <p:tag name="FLASHSPRING_ZOOM_TAG" val="70"/>
  <p:tag name="ISPRING_PRESENTATION_INFO_2" val="&lt;?xml version=&quot;1.0&quot; encoding=&quot;UTF-8&quot; standalone=&quot;no&quot; ?&gt;&#10;&lt;presentation2&gt;&#10;&#10;  &lt;slides&gt;&#10;    &lt;slide id=&quot;{13008C1B-EF9E-4B73-AFB4-AD661C935667}&quot; pptId=&quot;256&quot;/&gt;&#10;    &lt;slide id=&quot;{A106C316-320C-497E-99A6-15655B070E62}&quot; pptId=&quot;257&quot;/&gt;&#10;    &lt;slide id=&quot;{087A901A-DBB4-4D49-A37D-8A27BAA22DC6}&quot; pptId=&quot;258&quot;/&gt;&#10;    &lt;slide id=&quot;{BF59D313-17C8-4110-AEA9-D37AB3A27E21}&quot; pptId=&quot;259&quot;/&gt;&#10;    &lt;slide id=&quot;{4B493451-2407-493B-966A-34C7F2C7B2CA}&quot; pptId=&quot;260&quot;/&gt;&#10;    &lt;slide id=&quot;{2F8B51E6-33F4-4663-9871-63C718483030}&quot; pptId=&quot;261&quot;/&gt;&#10;    &lt;slide id=&quot;{68584D8C-E6A3-4268-8FBA-26302F3F0D34}&quot; pptId=&quot;262&quot;/&gt;&#10;    &lt;slide id=&quot;{83168130-836F-41DC-8B87-2C0030C46132}&quot; pptId=&quot;263&quot;/&gt;&#10;    &lt;slide id=&quot;{498C6505-DCF3-4721-87B4-09FBCC37A474}&quot; pptId=&quot;264&quot;/&gt;&#10;    &lt;slide id=&quot;{9A1E0022-3CCF-46AD-B94A-88D78F356299}&quot; pptId=&quot;265&quot;/&gt;&#10;    &lt;slide id=&quot;{F191951B-06AB-4C88-B9B1-799DF88F7B96}&quot; pptId=&quot;266&quot;/&gt;&#10;    &lt;slide id=&quot;{EF73D2EA-D495-4EFF-9E00-85435D87776A}&quot; pptId=&quot;267&quot;/&gt;&#10;    &lt;slide id=&quot;{5B144D1E-B822-4328-8D1A-E51DF3013F23}&quot; pptId=&quot;268&quot;/&gt;&#10;    &lt;slide id=&quot;{CBD3FCAA-68C0-4CE1-8C32-F792AD8F59B0}&quot; pptId=&quot;269&quot;/&gt;&#10;    &lt;slide id=&quot;{0C285663-79F1-445A-8D1F-140DDC6CB302}&quot; pptId=&quot;270&quot;/&gt;&#10;    &lt;slide id=&quot;{D71AC1AD-7677-46D9-A30A-4CED39517819}&quot; pptId=&quot;271&quot;/&gt;&#10;  &lt;/slides&gt;&#10;&#10;  &lt;narration&gt;&#10;    &lt;audioTracks&gt;&#10;      &lt;audioTrack muted=&quot;false&quot; name=&quot;Lect 11&quot; resource=&quot;d170cd81&quot; slideId=&quot;{13008C1B-EF9E-4B73-AFB4-AD661C935667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86DF06FE-ED49-4D03-97B0-52932E048B46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11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11_graphs_part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3008C1B-EF9E-4B73-AFB4-AD661C935667}"/>
  <p:tag name="GENSWF_ADVANCE_TIME" val="1.43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106C316-320C-497E-99A6-15655B070E62}"/>
  <p:tag name="GENSWF_ADVANCE_TIME" val="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87A901A-DBB4-4D49-A37D-8A27BAA22DC6}"/>
  <p:tag name="GENSWF_ADVANCE_TIME" val="20.3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F59D313-17C8-4110-AEA9-D37AB3A27E21}"/>
  <p:tag name="GENSWF_ADVANCE_TIME" val="33.05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B493451-2407-493B-966A-34C7F2C7B2CA}"/>
  <p:tag name="GENSWF_ADVANCE_TIME" val="5.17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F8B51E6-33F4-4663-9871-63C718483030}"/>
  <p:tag name="GENSWF_ADVANCE_TIME" val="12.225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8584D8C-E6A3-4268-8FBA-26302F3F0D34}"/>
  <p:tag name="GENSWF_ADVANCE_TIME" val="19.45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3168130-836F-41DC-8B87-2C0030C46132}"/>
  <p:tag name="GENSWF_ADVANCE_TIME" val="60.42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98C6505-DCF3-4721-87B4-09FBCC37A474}"/>
  <p:tag name="GENSWF_ADVANCE_TIME" val="28.375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A1E0022-3CCF-46AD-B94A-88D78F356299}"/>
  <p:tag name="GENSWF_ADVANCE_TIME" val="1.43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191951B-06AB-4C88-B9B1-799DF88F7B96}"/>
  <p:tag name="GENSWF_ADVANCE_TIME" val="2.96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F73D2EA-D495-4EFF-9E00-85435D87776A}"/>
  <p:tag name="GENSWF_ADVANCE_TIME" val="12.055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B144D1E-B822-4328-8D1A-E51DF3013F23}"/>
  <p:tag name="GENSWF_ADVANCE_TIME" val="4.32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BD3FCAA-68C0-4CE1-8C32-F792AD8F59B0}"/>
  <p:tag name="GENSWF_ADVANCE_TIME" val="8.315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C285663-79F1-445A-8D1F-140DDC6CB302}"/>
  <p:tag name="GENSWF_ADVANCE_TIME" val="5.85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71AC1AD-7677-46D9-A30A-4CED39517819}"/>
  <p:tag name="GENSWF_ADVANCE_TIME" val="7.11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736</Words>
  <Application>Microsoft Office PowerPoint</Application>
  <PresentationFormat>On-screen Show (4:3)</PresentationFormat>
  <Paragraphs>409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Helvetica Neue</vt:lpstr>
      <vt:lpstr>Times New Roman</vt:lpstr>
      <vt:lpstr>Noto Sans Symbols</vt:lpstr>
      <vt:lpstr>Cambria</vt:lpstr>
      <vt:lpstr>Calibri</vt:lpstr>
      <vt:lpstr>Koi</vt:lpstr>
      <vt:lpstr>Algorithms on graphs</vt:lpstr>
      <vt:lpstr>Outlines</vt:lpstr>
      <vt:lpstr>Graphs</vt:lpstr>
      <vt:lpstr>Travel on graphs</vt:lpstr>
      <vt:lpstr>Shortest Paths</vt:lpstr>
      <vt:lpstr>Weighted Graphs</vt:lpstr>
      <vt:lpstr>Shortest Paths</vt:lpstr>
      <vt:lpstr>Dijkstra Algorithm</vt:lpstr>
      <vt:lpstr>Dijkstra algorithm</vt:lpstr>
      <vt:lpstr>Example</vt:lpstr>
      <vt:lpstr>Example (cont.)</vt:lpstr>
      <vt:lpstr>Why It Doesn’t Work for Negative-Weight Edges</vt:lpstr>
      <vt:lpstr>Exercises </vt:lpstr>
      <vt:lpstr>Finding shortest paths for all pairs of vertices</vt:lpstr>
      <vt:lpstr>Floyd algorithm Example</vt:lpstr>
      <vt:lpstr>Exercise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Lecture11_graphs_part1</dc:title>
  <cp:lastModifiedBy>DHQG</cp:lastModifiedBy>
  <cp:revision>10</cp:revision>
  <dcterms:modified xsi:type="dcterms:W3CDTF">2019-03-23T09:24:16Z</dcterms:modified>
</cp:coreProperties>
</file>