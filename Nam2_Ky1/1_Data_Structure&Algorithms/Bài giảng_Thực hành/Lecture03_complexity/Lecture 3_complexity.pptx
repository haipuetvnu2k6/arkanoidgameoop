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embeddedFontLst>
    <p:embeddedFont>
      <p:font typeface="Arial Narrow" pitchFamily="34" charset="0"/>
      <p:regular r:id="rId34"/>
      <p:bold r:id="rId35"/>
      <p:italic r:id="rId36"/>
      <p:boldItalic r:id="rId37"/>
    </p:embeddedFont>
    <p:embeddedFont>
      <p:font typeface="Calibri" pitchFamily="34" charset="0"/>
      <p:regular r:id="rId38"/>
      <p:bold r:id="rId39"/>
      <p:italic r:id="rId40"/>
      <p:boldItalic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77853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Analysis</a:t>
            </a:r>
            <a:endParaRPr sz="54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analysis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problem can be solved by different algorithms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 of “goodness”:</a:t>
            </a:r>
            <a:endParaRPr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time</a:t>
            </a:r>
            <a:endParaRPr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</a:t>
            </a:r>
            <a:endParaRPr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Traffic network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time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running time of an algorithm typically grows with different factors:</a:t>
            </a:r>
            <a:endParaRPr sz="2400" b="0" i="0" u="none" strike="noStrike" cap="none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data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capacity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languages/techniques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Compilers/Operating systems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etc.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Focus: input data versus running time</a:t>
            </a:r>
            <a:endParaRPr dirty="0"/>
          </a:p>
          <a:p>
            <a:pPr marL="914400" marR="0" lvl="1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time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on size of input data</a:t>
            </a:r>
            <a:endParaRPr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 student from a list of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students</a:t>
            </a:r>
            <a:endParaRPr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 a list of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numbers increasingly</a:t>
            </a:r>
            <a:endParaRPr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saleman problem with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cities</a:t>
            </a:r>
            <a:endParaRPr/>
          </a:p>
          <a:p>
            <a:pPr marL="857250" marR="0" lvl="1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on particular data sets</a:t>
            </a:r>
            <a:endParaRPr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complexity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457200" y="1752601"/>
            <a:ext cx="4572000" cy="472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Worse-case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Best-case run time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Notes: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case time is often difficult to determine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focus on the worst case running time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Easier to analyze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Crucial to applications such as games, finance and robotics</a:t>
            </a:r>
            <a:endParaRPr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2057400"/>
            <a:ext cx="4005943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analysis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necessary to implement algorithms, which may be difficult and time consuming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may not be indicative of the running time on other inputs not included in the experiment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order to compare two algorithms, the same hardware and software environments must be used.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Theoretical Analysis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Ideally: characterizes running time as a function of the input size</a:t>
            </a: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a high-level description of the algorithm instead of an implementation</a:t>
            </a: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Takes into account all possible inputs</a:t>
            </a:r>
            <a:endParaRPr/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us to evaluate the speed of algorithms independent of the hardware/software environment.</a:t>
            </a: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0066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None/>
            </a:pP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Pseudo code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4267200" y="1981200"/>
            <a:ext cx="4648200" cy="3676649"/>
            <a:chOff x="2640" y="1299"/>
            <a:chExt cx="2928" cy="2316"/>
          </a:xfrm>
        </p:grpSpPr>
        <p:sp>
          <p:nvSpPr>
            <p:cNvPr id="144" name="Google Shape;144;p20"/>
            <p:cNvSpPr txBox="1"/>
            <p:nvPr/>
          </p:nvSpPr>
          <p:spPr>
            <a:xfrm>
              <a:off x="2688" y="1299"/>
              <a:ext cx="2832" cy="2019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Algorithm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integers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maximum element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2000" dirty="0"/>
            </a:p>
            <a:p>
              <a:pPr marL="0" marR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[0];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− 1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0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 </a:t>
              </a:r>
              <a:r>
                <a:rPr lang="en-US" sz="2000" b="0" i="0" u="none" strike="noStrike" cap="none" dirty="0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&gt;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then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</a:t>
              </a:r>
              <a:r>
                <a:rPr lang="en-US" sz="2000" b="1" i="1" u="none" strike="noStrike" cap="none" dirty="0" err="1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 smtClean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2640" y="3363"/>
              <a:ext cx="2928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Example: find maximum element of A</a:t>
              </a:r>
              <a:endPara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46" name="Google Shape;146;p20" descr="Rectangle: Click to edit Master text styles&#10;Second level&#10;Third level&#10;Fourth level&#10;Fifth level"/>
          <p:cNvSpPr txBox="1"/>
          <p:nvPr/>
        </p:nvSpPr>
        <p:spPr>
          <a:xfrm>
            <a:off x="304800" y="1752600"/>
            <a:ext cx="4191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Mix of natural language and programming constructs: human reader oriented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High-level description of an algorithm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detailed than a program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Preferred notation for describing algorithms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Hides program design issues.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Primitive Operations</a:t>
            </a: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8153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operations performed by an algorithm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 +, -, *, /, &lt;, &gt;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Largely independent from the programming language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Assumed to take a constant amount of time in the RAM model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complexity analysis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447964" y="1752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 the maximum number of primitive operations as a function of the input size.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T(n) = the number of primitive operations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T(n) = n + 1</a:t>
            </a:r>
            <a:endParaRPr dirty="0"/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4495800" y="1981200"/>
            <a:ext cx="4114800" cy="323165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integers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elements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0;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 i="1" u="none" strike="noStrike" cap="none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+ A[</a:t>
            </a:r>
            <a:r>
              <a:rPr lang="en-US" sz="2000" b="0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complexity analysis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8305800" cy="422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Analyze the shape of function T(n) .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2286000"/>
            <a:ext cx="5785338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1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524000" y="2971800"/>
            <a:ext cx="5334000" cy="2514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(int n):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sum = 0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for (int num = 0; num &lt; n; num++)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sum = sum + num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return sum 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838200" y="1828800"/>
            <a:ext cx="72788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the number of of primitive operations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Count function: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066800" y="2971800"/>
            <a:ext cx="7010400" cy="2819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Multiple (int num_rows,  num_cols, Matrix A):</a:t>
            </a:r>
            <a:endParaRPr sz="24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product = 0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for (int row = 0; row &lt; num_rows; row +)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for (col = 0; col &lt; num_cols; col ++)</a:t>
            </a:r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	product = (sum * A[row][col]) mod 1000</a:t>
            </a:r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return product</a:t>
            </a:r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838200" y="1828800"/>
            <a:ext cx="72366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the number of of 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primitive operations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Multiple function: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complexity analysis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3810000" cy="24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 time complexity of two algorithms to solve the same problem:</a:t>
            </a:r>
            <a:endParaRPr/>
          </a:p>
          <a:p>
            <a:pPr marL="742950" marR="0" lvl="1" indent="-28575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1:  T1(n) = f(n) = n + 100</a:t>
            </a:r>
            <a:endParaRPr/>
          </a:p>
          <a:p>
            <a:pPr marL="742950" marR="0" lvl="1" indent="-28575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2:  T2(n) = g(n) = n</a:t>
            </a:r>
            <a:r>
              <a:rPr lang="en-US" sz="1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 </a:t>
            </a: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+ 10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38200" y="4114801"/>
            <a:ext cx="77724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Analyses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 time complexity of Algorithm 1 increases linearly with the input size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 time complexity of Algorithm 2 increases quadratic with the input size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1 is better than algorithm 2 when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greater than 10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Ignore constants from the run time complexity analysis.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5" name="Google Shape;195;p26"/>
          <p:cNvCxnSpPr/>
          <p:nvPr/>
        </p:nvCxnSpPr>
        <p:spPr>
          <a:xfrm rot="10800000">
            <a:off x="4724400" y="1828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4419600" y="3962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p26"/>
          <p:cNvSpPr/>
          <p:nvPr/>
        </p:nvSpPr>
        <p:spPr>
          <a:xfrm>
            <a:off x="4724400" y="2689412"/>
            <a:ext cx="3299012" cy="950259"/>
          </a:xfrm>
          <a:custGeom>
            <a:avLst/>
            <a:gdLst/>
            <a:ahLst/>
            <a:cxnLst/>
            <a:rect l="l" t="t" r="r" b="b"/>
            <a:pathLst>
              <a:path w="3299012" h="950259" extrusionOk="0">
                <a:moveTo>
                  <a:pt x="0" y="950259"/>
                </a:moveTo>
                <a:cubicBezTo>
                  <a:pt x="455706" y="688788"/>
                  <a:pt x="911412" y="427317"/>
                  <a:pt x="1461247" y="268941"/>
                </a:cubicBezTo>
                <a:cubicBezTo>
                  <a:pt x="2011082" y="110565"/>
                  <a:pt x="2994212" y="46318"/>
                  <a:pt x="3299012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4733365" y="1954306"/>
            <a:ext cx="3227294" cy="1674332"/>
          </a:xfrm>
          <a:custGeom>
            <a:avLst/>
            <a:gdLst/>
            <a:ahLst/>
            <a:cxnLst/>
            <a:rect l="l" t="t" r="r" b="b"/>
            <a:pathLst>
              <a:path w="3227294" h="1674332" extrusionOk="0">
                <a:moveTo>
                  <a:pt x="0" y="1066800"/>
                </a:moveTo>
                <a:cubicBezTo>
                  <a:pt x="270435" y="1419412"/>
                  <a:pt x="540871" y="1772024"/>
                  <a:pt x="914400" y="1649506"/>
                </a:cubicBezTo>
                <a:cubicBezTo>
                  <a:pt x="1287929" y="1526988"/>
                  <a:pt x="1855694" y="606612"/>
                  <a:pt x="2241176" y="331694"/>
                </a:cubicBezTo>
                <a:cubicBezTo>
                  <a:pt x="2626658" y="56776"/>
                  <a:pt x="2926976" y="28388"/>
                  <a:pt x="322729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>
            <a:off x="6373906" y="2895600"/>
            <a:ext cx="0" cy="1066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26"/>
          <p:cNvSpPr txBox="1"/>
          <p:nvPr/>
        </p:nvSpPr>
        <p:spPr>
          <a:xfrm>
            <a:off x="4724400" y="1828800"/>
            <a:ext cx="522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7315200" y="3959423"/>
            <a:ext cx="8787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size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7543800" y="1676400"/>
            <a:ext cx="5020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g(n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7651339" y="2362200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6177032" y="3959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complexity analysis</a:t>
            </a:r>
            <a:endParaRPr/>
          </a:p>
        </p:txBody>
      </p:sp>
      <p:sp>
        <p:nvSpPr>
          <p:cNvPr id="210" name="Google Shape;210;p27" descr="Rectangle: Click to edit Master text styles&#10;Second level&#10;Third level&#10;Fourth level&#10;Fifth level"/>
          <p:cNvSpPr txBox="1"/>
          <p:nvPr/>
        </p:nvSpPr>
        <p:spPr>
          <a:xfrm>
            <a:off x="609600" y="1905000"/>
            <a:ext cx="3581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 time complexity of three algorithms: </a:t>
            </a:r>
            <a:endParaRPr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endParaRPr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2n+ 10</a:t>
            </a:r>
            <a:endParaRPr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endParaRPr/>
          </a:p>
          <a:p>
            <a:pPr marL="342900" marR="0" lvl="0" indent="-2019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endParaRPr sz="222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Analyses</a:t>
            </a:r>
            <a:r>
              <a:rPr lang="en-US" sz="222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functions increase linearly with the size of input</a:t>
            </a:r>
            <a:endParaRPr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Disregard constant factors from the run time complexity analysis</a:t>
            </a:r>
            <a:endParaRPr/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7273" y="2133600"/>
            <a:ext cx="53244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complexity analysis</a:t>
            </a:r>
            <a:endParaRPr/>
          </a:p>
        </p:txBody>
      </p:sp>
      <p:sp>
        <p:nvSpPr>
          <p:cNvPr id="218" name="Google Shape;218;p28" descr="Rectangle: Click to edit Master text styles&#10;Second level&#10;Third level&#10;Fourth level&#10;Fifth level"/>
          <p:cNvSpPr txBox="1"/>
          <p:nvPr/>
        </p:nvSpPr>
        <p:spPr>
          <a:xfrm>
            <a:off x="304800" y="1905000"/>
            <a:ext cx="3505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run time complexity of two algorithms: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+ 2n 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Analyses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functions increase quadratic with the input size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Disregard lower-order terms</a:t>
            </a:r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0" name="Google Shape;220;p28"/>
          <p:cNvCxnSpPr/>
          <p:nvPr/>
        </p:nvCxnSpPr>
        <p:spPr>
          <a:xfrm rot="10800000">
            <a:off x="3836895" y="1714500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28"/>
          <p:cNvCxnSpPr/>
          <p:nvPr/>
        </p:nvCxnSpPr>
        <p:spPr>
          <a:xfrm>
            <a:off x="3657600" y="6019800"/>
            <a:ext cx="5410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28"/>
          <p:cNvCxnSpPr/>
          <p:nvPr/>
        </p:nvCxnSpPr>
        <p:spPr>
          <a:xfrm>
            <a:off x="3850340" y="19722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28"/>
          <p:cNvCxnSpPr/>
          <p:nvPr/>
        </p:nvCxnSpPr>
        <p:spPr>
          <a:xfrm>
            <a:off x="3850340" y="24787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28"/>
          <p:cNvCxnSpPr/>
          <p:nvPr/>
        </p:nvCxnSpPr>
        <p:spPr>
          <a:xfrm>
            <a:off x="3850340" y="29852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8"/>
          <p:cNvCxnSpPr/>
          <p:nvPr/>
        </p:nvCxnSpPr>
        <p:spPr>
          <a:xfrm>
            <a:off x="3850340" y="349175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28"/>
          <p:cNvCxnSpPr/>
          <p:nvPr/>
        </p:nvCxnSpPr>
        <p:spPr>
          <a:xfrm>
            <a:off x="3850340" y="39982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28"/>
          <p:cNvCxnSpPr/>
          <p:nvPr/>
        </p:nvCxnSpPr>
        <p:spPr>
          <a:xfrm>
            <a:off x="3850340" y="45047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28"/>
          <p:cNvCxnSpPr/>
          <p:nvPr/>
        </p:nvCxnSpPr>
        <p:spPr>
          <a:xfrm>
            <a:off x="3850340" y="50112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28"/>
          <p:cNvCxnSpPr/>
          <p:nvPr/>
        </p:nvCxnSpPr>
        <p:spPr>
          <a:xfrm>
            <a:off x="3850340" y="551777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8"/>
          <p:cNvCxnSpPr/>
          <p:nvPr/>
        </p:nvCxnSpPr>
        <p:spPr>
          <a:xfrm rot="-5400000">
            <a:off x="43053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8"/>
          <p:cNvCxnSpPr/>
          <p:nvPr/>
        </p:nvCxnSpPr>
        <p:spPr>
          <a:xfrm rot="-5400000">
            <a:off x="482077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8"/>
          <p:cNvCxnSpPr/>
          <p:nvPr/>
        </p:nvCxnSpPr>
        <p:spPr>
          <a:xfrm rot="-5400000">
            <a:off x="532279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28"/>
          <p:cNvCxnSpPr/>
          <p:nvPr/>
        </p:nvCxnSpPr>
        <p:spPr>
          <a:xfrm rot="-5400000">
            <a:off x="582482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28"/>
          <p:cNvCxnSpPr/>
          <p:nvPr/>
        </p:nvCxnSpPr>
        <p:spPr>
          <a:xfrm rot="-5400000">
            <a:off x="632684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8"/>
          <p:cNvCxnSpPr/>
          <p:nvPr/>
        </p:nvCxnSpPr>
        <p:spPr>
          <a:xfrm rot="-5400000">
            <a:off x="68512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28"/>
          <p:cNvCxnSpPr/>
          <p:nvPr/>
        </p:nvCxnSpPr>
        <p:spPr>
          <a:xfrm rot="-5400000">
            <a:off x="737570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28"/>
          <p:cNvCxnSpPr/>
          <p:nvPr/>
        </p:nvCxnSpPr>
        <p:spPr>
          <a:xfrm rot="-5400000">
            <a:off x="787324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28"/>
          <p:cNvCxnSpPr/>
          <p:nvPr/>
        </p:nvCxnSpPr>
        <p:spPr>
          <a:xfrm rot="-5400000">
            <a:off x="83707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28"/>
          <p:cNvSpPr/>
          <p:nvPr/>
        </p:nvSpPr>
        <p:spPr>
          <a:xfrm>
            <a:off x="3845859" y="1855694"/>
            <a:ext cx="4948517" cy="3856128"/>
          </a:xfrm>
          <a:custGeom>
            <a:avLst/>
            <a:gdLst/>
            <a:ahLst/>
            <a:cxnLst/>
            <a:rect l="l" t="t" r="r" b="b"/>
            <a:pathLst>
              <a:path w="4948517" h="3856128" extrusionOk="0">
                <a:moveTo>
                  <a:pt x="0" y="3854824"/>
                </a:moveTo>
                <a:cubicBezTo>
                  <a:pt x="177053" y="3857812"/>
                  <a:pt x="354106" y="3860800"/>
                  <a:pt x="609600" y="3801035"/>
                </a:cubicBezTo>
                <a:cubicBezTo>
                  <a:pt x="865094" y="3741270"/>
                  <a:pt x="1240118" y="3635188"/>
                  <a:pt x="1532965" y="3496235"/>
                </a:cubicBezTo>
                <a:cubicBezTo>
                  <a:pt x="1825812" y="3357282"/>
                  <a:pt x="2091765" y="3172012"/>
                  <a:pt x="2366682" y="2967318"/>
                </a:cubicBezTo>
                <a:cubicBezTo>
                  <a:pt x="2641600" y="2762624"/>
                  <a:pt x="2946399" y="2496671"/>
                  <a:pt x="3182470" y="2268071"/>
                </a:cubicBezTo>
                <a:cubicBezTo>
                  <a:pt x="3418541" y="2039471"/>
                  <a:pt x="3593353" y="1822824"/>
                  <a:pt x="3783106" y="1595718"/>
                </a:cubicBezTo>
                <a:cubicBezTo>
                  <a:pt x="3972859" y="1368612"/>
                  <a:pt x="4126753" y="1171388"/>
                  <a:pt x="4320988" y="905435"/>
                </a:cubicBezTo>
                <a:cubicBezTo>
                  <a:pt x="4515223" y="639482"/>
                  <a:pt x="4731870" y="319741"/>
                  <a:pt x="4948517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3944471" y="1855694"/>
            <a:ext cx="4437529" cy="4150659"/>
          </a:xfrm>
          <a:custGeom>
            <a:avLst/>
            <a:gdLst/>
            <a:ahLst/>
            <a:cxnLst/>
            <a:rect l="l" t="t" r="r" b="b"/>
            <a:pathLst>
              <a:path w="4437529" h="4150659" extrusionOk="0">
                <a:moveTo>
                  <a:pt x="0" y="4150659"/>
                </a:moveTo>
                <a:cubicBezTo>
                  <a:pt x="86658" y="4135717"/>
                  <a:pt x="173317" y="4120776"/>
                  <a:pt x="349623" y="4052047"/>
                </a:cubicBezTo>
                <a:cubicBezTo>
                  <a:pt x="525929" y="3983317"/>
                  <a:pt x="811306" y="3880223"/>
                  <a:pt x="1057835" y="3738282"/>
                </a:cubicBezTo>
                <a:cubicBezTo>
                  <a:pt x="1304364" y="3596341"/>
                  <a:pt x="1576294" y="3403600"/>
                  <a:pt x="1828800" y="3200400"/>
                </a:cubicBezTo>
                <a:cubicBezTo>
                  <a:pt x="2081306" y="2997200"/>
                  <a:pt x="2347258" y="2749176"/>
                  <a:pt x="2572870" y="2519082"/>
                </a:cubicBezTo>
                <a:cubicBezTo>
                  <a:pt x="2798482" y="2288988"/>
                  <a:pt x="2953870" y="2108200"/>
                  <a:pt x="3182470" y="1819835"/>
                </a:cubicBezTo>
                <a:cubicBezTo>
                  <a:pt x="3411070" y="1531470"/>
                  <a:pt x="3735294" y="1092200"/>
                  <a:pt x="3944470" y="788894"/>
                </a:cubicBezTo>
                <a:cubicBezTo>
                  <a:pt x="4153646" y="485588"/>
                  <a:pt x="4295587" y="242794"/>
                  <a:pt x="443752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3840366" y="5363881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3845860" y="486485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3851354" y="435687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3856848" y="3848882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3862342" y="334089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867836" y="283290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3873330" y="232491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3878824" y="181693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150660" y="5712023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657165" y="5706035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5162479" y="570305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5660019" y="5697070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6157559" y="569108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6681994" y="5685094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7210924" y="568512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7695029" y="568516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8188099" y="5685196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 O notation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09600" y="2014478"/>
            <a:ext cx="3810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two functions f(n) and g(n) where n&gt;=0, we denote: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= O(g(n))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exist two positive numbers c and n</a:t>
            </a:r>
            <a:r>
              <a:rPr lang="en-US" sz="20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&lt;= c*g(n) when n &gt;= n</a:t>
            </a:r>
            <a:r>
              <a:rPr lang="en-US" sz="20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264" name="Google Shape;26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5" name="Google Shape;265;p29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" name="Google Shape;267;p29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1" name="Google Shape;271;p29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29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Big-Oh Example</a:t>
            </a:r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0" name="Google Shape;280;p30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1" name="Google Shape;281;p30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2" name="Google Shape;282;p30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6" name="Google Shape;286;p30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30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609600" y="2286000"/>
            <a:ext cx="39624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+ 9 = O(n)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 + 1 = O(n)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+ 7 = O(n</a:t>
            </a:r>
            <a:r>
              <a:rPr lang="en-US" sz="24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+ 2n + 1 = O(n</a:t>
            </a:r>
            <a:r>
              <a:rPr lang="en-US" sz="24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1" descr="Rectangle: Click to edit Master text styles&#10;Second level&#10;Third level&#10;Fourth level&#10;Fifth level"/>
          <p:cNvSpPr txBox="1"/>
          <p:nvPr/>
        </p:nvSpPr>
        <p:spPr>
          <a:xfrm>
            <a:off x="838199" y="1825274"/>
            <a:ext cx="2932545" cy="4575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073" t="-1597" r="-12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Seven Important Functions</a:t>
            </a:r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8" name="Google Shape;298;p31"/>
          <p:cNvCxnSpPr/>
          <p:nvPr/>
        </p:nvCxnSpPr>
        <p:spPr>
          <a:xfrm rot="10800000">
            <a:off x="4527175" y="1723465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4343400" y="6019800"/>
            <a:ext cx="4648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31"/>
          <p:cNvCxnSpPr/>
          <p:nvPr/>
        </p:nvCxnSpPr>
        <p:spPr>
          <a:xfrm>
            <a:off x="4536140" y="23711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31"/>
          <p:cNvCxnSpPr/>
          <p:nvPr/>
        </p:nvCxnSpPr>
        <p:spPr>
          <a:xfrm>
            <a:off x="4536140" y="26580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4536140" y="29314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31"/>
          <p:cNvCxnSpPr/>
          <p:nvPr/>
        </p:nvCxnSpPr>
        <p:spPr>
          <a:xfrm>
            <a:off x="4536140" y="32048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p31"/>
          <p:cNvCxnSpPr/>
          <p:nvPr/>
        </p:nvCxnSpPr>
        <p:spPr>
          <a:xfrm>
            <a:off x="4536140" y="34962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4536140" y="378759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31"/>
          <p:cNvCxnSpPr/>
          <p:nvPr/>
        </p:nvCxnSpPr>
        <p:spPr>
          <a:xfrm>
            <a:off x="4536140" y="40699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31"/>
          <p:cNvCxnSpPr/>
          <p:nvPr/>
        </p:nvCxnSpPr>
        <p:spPr>
          <a:xfrm>
            <a:off x="4536140" y="435237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31"/>
          <p:cNvCxnSpPr/>
          <p:nvPr/>
        </p:nvCxnSpPr>
        <p:spPr>
          <a:xfrm>
            <a:off x="4536140" y="46347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31"/>
          <p:cNvCxnSpPr/>
          <p:nvPr/>
        </p:nvCxnSpPr>
        <p:spPr>
          <a:xfrm>
            <a:off x="4536140" y="49171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31"/>
          <p:cNvCxnSpPr/>
          <p:nvPr/>
        </p:nvCxnSpPr>
        <p:spPr>
          <a:xfrm>
            <a:off x="4536140" y="51995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31"/>
          <p:cNvCxnSpPr/>
          <p:nvPr/>
        </p:nvCxnSpPr>
        <p:spPr>
          <a:xfrm>
            <a:off x="4536140" y="54819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31"/>
          <p:cNvCxnSpPr/>
          <p:nvPr/>
        </p:nvCxnSpPr>
        <p:spPr>
          <a:xfrm>
            <a:off x="4536140" y="576432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31"/>
          <p:cNvCxnSpPr/>
          <p:nvPr/>
        </p:nvCxnSpPr>
        <p:spPr>
          <a:xfrm rot="5400000">
            <a:off x="508523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31"/>
          <p:cNvCxnSpPr/>
          <p:nvPr/>
        </p:nvCxnSpPr>
        <p:spPr>
          <a:xfrm rot="5400000">
            <a:off x="56769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p31"/>
          <p:cNvCxnSpPr/>
          <p:nvPr/>
        </p:nvCxnSpPr>
        <p:spPr>
          <a:xfrm rot="5400000">
            <a:off x="626857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" name="Google Shape;316;p31"/>
          <p:cNvCxnSpPr/>
          <p:nvPr/>
        </p:nvCxnSpPr>
        <p:spPr>
          <a:xfrm rot="5400000">
            <a:off x="686024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31"/>
          <p:cNvCxnSpPr/>
          <p:nvPr/>
        </p:nvCxnSpPr>
        <p:spPr>
          <a:xfrm rot="5400000">
            <a:off x="745191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8" name="Google Shape;318;p31"/>
          <p:cNvCxnSpPr/>
          <p:nvPr/>
        </p:nvCxnSpPr>
        <p:spPr>
          <a:xfrm rot="5400000">
            <a:off x="804358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9" name="Google Shape;319;p31"/>
          <p:cNvCxnSpPr/>
          <p:nvPr/>
        </p:nvCxnSpPr>
        <p:spPr>
          <a:xfrm>
            <a:off x="4536140" y="5764325"/>
            <a:ext cx="3693460" cy="0"/>
          </a:xfrm>
          <a:prstGeom prst="straightConnector1">
            <a:avLst/>
          </a:pr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31"/>
          <p:cNvSpPr/>
          <p:nvPr/>
        </p:nvSpPr>
        <p:spPr>
          <a:xfrm>
            <a:off x="4536141" y="5342965"/>
            <a:ext cx="3693459" cy="421341"/>
          </a:xfrm>
          <a:custGeom>
            <a:avLst/>
            <a:gdLst/>
            <a:ahLst/>
            <a:cxnLst/>
            <a:rect l="l" t="t" r="r" b="b"/>
            <a:pathLst>
              <a:path w="3693459" h="421341" extrusionOk="0">
                <a:moveTo>
                  <a:pt x="0" y="421341"/>
                </a:moveTo>
                <a:cubicBezTo>
                  <a:pt x="230841" y="334682"/>
                  <a:pt x="461682" y="248024"/>
                  <a:pt x="699247" y="188259"/>
                </a:cubicBezTo>
                <a:cubicBezTo>
                  <a:pt x="936812" y="128494"/>
                  <a:pt x="1128059" y="92635"/>
                  <a:pt x="1425388" y="62753"/>
                </a:cubicBezTo>
                <a:cubicBezTo>
                  <a:pt x="1722717" y="32871"/>
                  <a:pt x="2105212" y="19423"/>
                  <a:pt x="2483224" y="8964"/>
                </a:cubicBezTo>
                <a:cubicBezTo>
                  <a:pt x="2861236" y="-1495"/>
                  <a:pt x="3491753" y="8965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4536141" y="4948518"/>
            <a:ext cx="3693459" cy="528917"/>
          </a:xfrm>
          <a:custGeom>
            <a:avLst/>
            <a:gdLst/>
            <a:ahLst/>
            <a:cxnLst/>
            <a:rect l="l" t="t" r="r" b="b"/>
            <a:pathLst>
              <a:path w="3693459" h="528917" extrusionOk="0">
                <a:moveTo>
                  <a:pt x="0" y="528917"/>
                </a:moveTo>
                <a:cubicBezTo>
                  <a:pt x="129241" y="479611"/>
                  <a:pt x="258483" y="430305"/>
                  <a:pt x="466165" y="376517"/>
                </a:cubicBezTo>
                <a:cubicBezTo>
                  <a:pt x="673847" y="322729"/>
                  <a:pt x="929341" y="259976"/>
                  <a:pt x="1246094" y="206188"/>
                </a:cubicBezTo>
                <a:cubicBezTo>
                  <a:pt x="1562847" y="152400"/>
                  <a:pt x="1958789" y="88153"/>
                  <a:pt x="2366683" y="53788"/>
                </a:cubicBezTo>
                <a:cubicBezTo>
                  <a:pt x="2774577" y="19423"/>
                  <a:pt x="3234018" y="9711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4527176" y="4643718"/>
            <a:ext cx="3702424" cy="824753"/>
          </a:xfrm>
          <a:custGeom>
            <a:avLst/>
            <a:gdLst/>
            <a:ahLst/>
            <a:cxnLst/>
            <a:rect l="l" t="t" r="r" b="b"/>
            <a:pathLst>
              <a:path w="3702424" h="824753" extrusionOk="0">
                <a:moveTo>
                  <a:pt x="0" y="824753"/>
                </a:moveTo>
                <a:cubicBezTo>
                  <a:pt x="100853" y="746311"/>
                  <a:pt x="201706" y="667870"/>
                  <a:pt x="322730" y="600635"/>
                </a:cubicBezTo>
                <a:cubicBezTo>
                  <a:pt x="443754" y="533400"/>
                  <a:pt x="561789" y="479612"/>
                  <a:pt x="726142" y="421341"/>
                </a:cubicBezTo>
                <a:cubicBezTo>
                  <a:pt x="890495" y="363070"/>
                  <a:pt x="1056342" y="309282"/>
                  <a:pt x="1308848" y="251011"/>
                </a:cubicBezTo>
                <a:cubicBezTo>
                  <a:pt x="1561354" y="192740"/>
                  <a:pt x="1842248" y="113552"/>
                  <a:pt x="2241177" y="71717"/>
                </a:cubicBezTo>
                <a:cubicBezTo>
                  <a:pt x="2640106" y="29882"/>
                  <a:pt x="3171265" y="14941"/>
                  <a:pt x="370242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527176" y="2061882"/>
            <a:ext cx="2537012" cy="3397624"/>
          </a:xfrm>
          <a:custGeom>
            <a:avLst/>
            <a:gdLst/>
            <a:ahLst/>
            <a:cxnLst/>
            <a:rect l="l" t="t" r="r" b="b"/>
            <a:pathLst>
              <a:path w="2537012" h="3397624" extrusionOk="0">
                <a:moveTo>
                  <a:pt x="0" y="3397624"/>
                </a:moveTo>
                <a:cubicBezTo>
                  <a:pt x="146423" y="3304242"/>
                  <a:pt x="292847" y="3210860"/>
                  <a:pt x="439271" y="3101789"/>
                </a:cubicBezTo>
                <a:cubicBezTo>
                  <a:pt x="585695" y="2992718"/>
                  <a:pt x="723154" y="2892612"/>
                  <a:pt x="878542" y="2743200"/>
                </a:cubicBezTo>
                <a:cubicBezTo>
                  <a:pt x="1033930" y="2593788"/>
                  <a:pt x="1196788" y="2432424"/>
                  <a:pt x="1371600" y="2205318"/>
                </a:cubicBezTo>
                <a:cubicBezTo>
                  <a:pt x="1546412" y="1978212"/>
                  <a:pt x="1766047" y="1668930"/>
                  <a:pt x="1927412" y="1380565"/>
                </a:cubicBezTo>
                <a:cubicBezTo>
                  <a:pt x="2088777" y="1092200"/>
                  <a:pt x="2238189" y="705224"/>
                  <a:pt x="2339789" y="475130"/>
                </a:cubicBezTo>
                <a:cubicBezTo>
                  <a:pt x="2441389" y="245036"/>
                  <a:pt x="2504142" y="79188"/>
                  <a:pt x="2537012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527176" y="3325906"/>
            <a:ext cx="3711389" cy="1864659"/>
          </a:xfrm>
          <a:custGeom>
            <a:avLst/>
            <a:gdLst/>
            <a:ahLst/>
            <a:cxnLst/>
            <a:rect l="l" t="t" r="r" b="b"/>
            <a:pathLst>
              <a:path w="3711389" h="1864659" extrusionOk="0">
                <a:moveTo>
                  <a:pt x="0" y="1864659"/>
                </a:moveTo>
                <a:lnTo>
                  <a:pt x="3711389" y="0"/>
                </a:ln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4545106" y="4078941"/>
            <a:ext cx="3693459" cy="1084730"/>
          </a:xfrm>
          <a:custGeom>
            <a:avLst/>
            <a:gdLst/>
            <a:ahLst/>
            <a:cxnLst/>
            <a:rect l="l" t="t" r="r" b="b"/>
            <a:pathLst>
              <a:path w="3693459" h="1084730" extrusionOk="0">
                <a:moveTo>
                  <a:pt x="0" y="1084730"/>
                </a:moveTo>
                <a:cubicBezTo>
                  <a:pt x="103094" y="1009276"/>
                  <a:pt x="206189" y="933823"/>
                  <a:pt x="376518" y="851647"/>
                </a:cubicBezTo>
                <a:cubicBezTo>
                  <a:pt x="546847" y="769471"/>
                  <a:pt x="736600" y="681318"/>
                  <a:pt x="1021976" y="591671"/>
                </a:cubicBezTo>
                <a:cubicBezTo>
                  <a:pt x="1307352" y="502024"/>
                  <a:pt x="1769035" y="389965"/>
                  <a:pt x="2088776" y="313765"/>
                </a:cubicBezTo>
                <a:cubicBezTo>
                  <a:pt x="2408517" y="237565"/>
                  <a:pt x="2672976" y="186765"/>
                  <a:pt x="2940423" y="134471"/>
                </a:cubicBezTo>
                <a:cubicBezTo>
                  <a:pt x="3207870" y="82177"/>
                  <a:pt x="3450664" y="41088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7976101" y="548193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7848600" y="5029200"/>
            <a:ext cx="5485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8001000" y="4648200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696200" y="4340423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7972054" y="38070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7895854" y="30480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6705600" y="19812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n!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238254" y="561341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4235825" y="532055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4233396" y="5036662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4230967" y="47527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4150660" y="446887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4150660" y="419995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150660" y="393103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4065495" y="3635218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065495" y="3348367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4074460" y="3061516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3989295" y="27836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1024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998255" y="2505744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2048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4001366" y="220980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4096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4996811" y="599889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5571565" y="598842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6155284" y="5977957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6744931" y="598096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7352508" y="59839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/>
        </p:nvSpPr>
        <p:spPr>
          <a:xfrm>
            <a:off x="609600" y="609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3</a:t>
            </a:r>
            <a:endParaRPr sz="4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04091" y="1905000"/>
            <a:ext cx="845820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+ 1 = O(? 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= O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 + 5 =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 - 20 = O(?)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+ 20n – 100 = O(?) 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609600" y="533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Asymptotic Algorithm Analysis</a:t>
            </a:r>
            <a:endParaRPr/>
          </a:p>
        </p:txBody>
      </p:sp>
      <p:sp>
        <p:nvSpPr>
          <p:cNvPr id="363" name="Google Shape;363;p33" descr="Rectangle: Click to edit Master text styles&#10;Second level&#10;Third level&#10;Fourth level&#10;Fifth level"/>
          <p:cNvSpPr txBox="1"/>
          <p:nvPr/>
        </p:nvSpPr>
        <p:spPr>
          <a:xfrm>
            <a:off x="810491" y="18288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asymptotic analysis of an algorithm determines the running time in big-Oh notation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perform the asymptotic analysis: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find the worst-case number of primitive operations executed as a function of the input size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express this function with big-Oh notation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determine that algorithm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executes at most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primitive operations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say that algorithm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“runs in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time”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Since constant factors and lower-order terms are eventually dropped anyhow, we can disregard them when analyzing the run time complexity</a:t>
            </a:r>
            <a:endParaRPr dirty="0"/>
          </a:p>
        </p:txBody>
      </p:sp>
      <p:sp>
        <p:nvSpPr>
          <p:cNvPr id="364" name="Google Shape;364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Big-Oh Rules</a:t>
            </a:r>
            <a:endParaRPr/>
          </a:p>
        </p:txBody>
      </p:sp>
      <p:sp>
        <p:nvSpPr>
          <p:cNvPr id="370" name="Google Shape;370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200" dirty="0" smtClean="0"/>
              <a:t>is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polynomial of degree 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1" i="1" u="none" strike="noStrike" cap="none" baseline="30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i.e.,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lower-order terms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constant factors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smallest possible class of functions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Say 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of 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lang="en-US" sz="2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30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simplest expression of the class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Say 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is O(n)” instead of 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is O(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+ O( g(n) ) = O( f(n) + g(n) )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× O( g(n) ) = O( f(n) × g(n) )</a:t>
            </a: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85850" marR="0" lvl="1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analysis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4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Assignment operation</a:t>
            </a:r>
            <a:endParaRPr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X = expression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The run time of assignment operation is the run time of expression</a:t>
            </a:r>
            <a:endParaRPr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if-then operation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 (condition) 	→  	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1		→  	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else 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2		→  	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Complexity:   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+ max (T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(n),  T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(n))</a:t>
            </a:r>
            <a:endParaRPr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time of loops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for, while, do-while</a:t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2438400"/>
            <a:ext cx="3417888" cy="2141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1143000" y="4038600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X(n):    # iterations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run time of loop condition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run time of iteration </a:t>
            </a:r>
            <a:r>
              <a:rPr lang="en-US" sz="20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20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matrix of size n.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(i = 0 ; i &lt; n ;  i++)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(2)		 for (j = 0 ; j &lt; n ; j++)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(3)			    A[i][j] = 0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    for (i = 0 ; i &lt; n ; i++)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(5)	    	A[i][i] = 1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4267200" y="1908321"/>
            <a:ext cx="4343400" cy="33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T3 = O(1)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O(1)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30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T5 = O(1)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 = O(n)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T45 = O(n) x O(1) = O(n)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T12345 = T123 + T45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+ O(n)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n) = O(n</a:t>
            </a:r>
            <a:r>
              <a:rPr lang="en-US" sz="2000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95" name="Google Shape;395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4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matrix of size n.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(i = 0 ; i &lt; n ;  i++)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for (j = 0 ; j &lt; n ; j++)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if (i == j)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1;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else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0; </a:t>
            </a:r>
            <a:endParaRPr/>
          </a:p>
          <a:p>
            <a:pPr marL="857250" marR="0" lvl="1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5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8" name="Google Shape;408;p39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10; k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;</a:t>
            </a:r>
            <a:endParaRPr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6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40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m; k + +) {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x = 2*y;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7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4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 = 0; i &lt; n; i ++) 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(j = 0; j &lt; m; j ++) {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x = 0;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		for (k = 0; k &lt; n; k ++)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			x = x + 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		for (k = 0; k &lt; m; k++)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7)			x = x +k;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8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p42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7772400" cy="406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the pseudo codes and calculate the complexity of following functions on an array: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 return the element at position p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insert x into position p, elements from p are moved backward one position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delete the element at position p, elements after p are moved forward one position.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9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43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the pseudo codes and calculate the complexity of following functions on a singly linked list: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(head, p) :  return element at position p.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x):  insert element x into position p.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 delete element  at position p.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45182E5-4779-432A-84DD-1F8ABEC579CA}"/>
  <p:tag name="ISPRING_RESOURCE_FOLDER" val="C:\Users\Administrator\Documents\CTDL&amp;GT\Cai tien MH CTDL_GT\CTDL_GT\Slides and exercises\Lecture03_complexity\Lecture 3_complexity\"/>
  <p:tag name="ISPRING_PRESENTATION_PATH" val="C:\Users\Administrator\Documents\CTDL&amp;GT\Cai tien MH CTDL_GT\CTDL_GT\Slides and exercises\Lecture03_complexity\Lecture 3_complexity.pptx"/>
  <p:tag name="ISPRING_PROJECT_VERSION" val="9"/>
  <p:tag name="ISPRING_PROJECT_FOLDER_UPDATED" val="1"/>
  <p:tag name="ISPRING_SCREEN_RECS_UPDATED" val="C:\Users\Administrator\Documents\CTDL&amp;GT\Cai tien MH CTDL_GT\CTDL_GT\Slides and exercises\Lecture03_complexity\Lecture 3_complexity\"/>
  <p:tag name="FLASHSPRING_ZOOM_TAG" val="61"/>
  <p:tag name="ISPRING_PRESENTATION_INFO_2" val="&lt;?xml version=&quot;1.0&quot; encoding=&quot;UTF-8&quot; standalone=&quot;no&quot; ?&gt;&#10;&lt;presentation2&gt;&#10;&#10;  &lt;slides&gt;&#10;    &lt;slide id=&quot;{492E4A2E-E9E9-4FD0-B4B7-B7E76903ED88}&quot; pptId=&quot;256&quot;/&gt;&#10;    &lt;slide id=&quot;{239F2178-4ACE-4771-BF7A-5F57AB267824}&quot; pptId=&quot;257&quot;/&gt;&#10;    &lt;slide id=&quot;{C8F5CECB-D726-45D9-90C0-795D59FAA05D}&quot; pptId=&quot;258&quot;/&gt;&#10;    &lt;slide id=&quot;{79B5AC0C-179E-4D05-9DA9-DACE654522E0}&quot; pptId=&quot;259&quot;/&gt;&#10;    &lt;slide id=&quot;{54180641-FFCA-4DC9-A315-48D2F0CFE8ED}&quot; pptId=&quot;260&quot;/&gt;&#10;    &lt;slide id=&quot;{F1CD91F8-EEAD-46F0-B255-1B8AC43A0B74}&quot; pptId=&quot;261&quot;/&gt;&#10;    &lt;slide id=&quot;{EACE66B8-8460-49C4-A028-2847CF9AFEF8}&quot; pptId=&quot;262&quot;/&gt;&#10;    &lt;slide id=&quot;{8E90B172-D771-4AF0-A16E-A257121EF833}&quot; pptId=&quot;263&quot;/&gt;&#10;    &lt;slide id=&quot;{C729D9CF-E7B5-455B-B2BA-E7AEB8A46EF6}&quot; pptId=&quot;264&quot;/&gt;&#10;    &lt;slide id=&quot;{57748A63-4854-4B53-A4B2-7D3D5D250E9C}&quot; pptId=&quot;265&quot;/&gt;&#10;    &lt;slide id=&quot;{25F2D470-4552-419A-BFAF-F6B7A2E1A79C}&quot; pptId=&quot;266&quot;/&gt;&#10;    &lt;slide id=&quot;{4B6252FA-584B-4111-97E8-08CFBDC08F45}&quot; pptId=&quot;267&quot;/&gt;&#10;    &lt;slide id=&quot;{58BE2990-74DD-4F95-9AC3-79D46869AB62}&quot; pptId=&quot;268&quot;/&gt;&#10;    &lt;slide id=&quot;{3F14454A-268C-4066-96A2-283F153AC337}&quot; pptId=&quot;269&quot;/&gt;&#10;    &lt;slide id=&quot;{DEE85002-F021-4383-8118-C682659E292E}&quot; pptId=&quot;270&quot;/&gt;&#10;    &lt;slide id=&quot;{2CFCA1BE-1356-48DC-8CCA-3B5B32FE9B36}&quot; pptId=&quot;271&quot;/&gt;&#10;    &lt;slide id=&quot;{55466F1F-E439-4676-8AD9-1637717E1CA0}&quot; pptId=&quot;272&quot;/&gt;&#10;    &lt;slide id=&quot;{DA1FECFA-501F-4E7B-9264-3B3973D7057F}&quot; pptId=&quot;273&quot;/&gt;&#10;    &lt;slide id=&quot;{A96F0703-7D8B-41A3-B97C-9D349EEB7360}&quot; pptId=&quot;274&quot;/&gt;&#10;    &lt;slide id=&quot;{764DAF1B-26C5-4801-84D1-6B71ADA505F9}&quot; pptId=&quot;275&quot;/&gt;&#10;    &lt;slide id=&quot;{7E103C47-B250-4201-B5BD-709E2EB61263}&quot; pptId=&quot;276&quot;/&gt;&#10;    &lt;slide id=&quot;{24E3103E-542A-4C09-9414-B4409C873A8D}&quot; pptId=&quot;277&quot;/&gt;&#10;    &lt;slide id=&quot;{B8278E58-275A-4BAF-A7A8-DDE97811BCD0}&quot; pptId=&quot;278&quot;/&gt;&#10;    &lt;slide id=&quot;{3F88918A-0EC4-4FA2-B213-83EB55C87EA7}&quot; pptId=&quot;279&quot;/&gt;&#10;    &lt;slide id=&quot;{897D558D-14A0-42B8-BF3C-703329410A5C}&quot; pptId=&quot;280&quot;/&gt;&#10;    &lt;slide id=&quot;{66F50DA2-44C9-4BBE-A862-CE43CDE25C91}&quot; pptId=&quot;281&quot;/&gt;&#10;    &lt;slide id=&quot;{7EA052D5-5049-43C0-953A-268D9CD78BF2}&quot; pptId=&quot;282&quot;/&gt;&#10;    &lt;slide id=&quot;{AE1A5ECE-CE05-4EBC-8616-D6F4039B54F3}&quot; pptId=&quot;283&quot;/&gt;&#10;    &lt;slide id=&quot;{2CBCFE7D-38F2-4B78-86BD-00F2E8FE117C}&quot; pptId=&quot;284&quot;/&gt;&#10;    &lt;slide id=&quot;{C7D22A46-F3E2-4F1C-BF62-CF35F2618AB0}&quot; pptId=&quot;285&quot;/&gt;&#10;    &lt;slide id=&quot;{47726AB9-9BAF-4B2A-B37F-2A7BDBFC01C5}&quot; pptId=&quot;286&quot;/&gt;&#10;  &lt;/slides&gt;&#10;&#10;  &lt;narration&gt;&#10;    &lt;audioTracks&gt;&#10;      &lt;audioTrack muted=&quot;false&quot; name=&quot;Lect 3 part 1&quot; resource=&quot;c035dade&quot; slideId=&quot;{492E4A2E-E9E9-4FD0-B4B7-B7E76903ED88}&quot; startTime=&quot;0&quot; stepIndex=&quot;0&quot; volume=&quot;1&quot;&gt;&#10;        &lt;audio channels=&quot;1&quot; format=&quot;s16&quot; sampleRate=&quot;48000&quot;/&gt;&#10;      &lt;/audioTrack&gt;&#10;      &lt;audioTrack muted=&quot;false&quot; name=&quot;Lect 3 part 2&quot; resource=&quot;0b80a100&quot; slideId=&quot;{4B6252FA-584B-4111-97E8-08CFBDC08F45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75649B1-CF88-4C17-9D61-3E9EEB6C261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3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3_complexi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2E4A2E-E9E9-4FD0-B4B7-B7E76903ED88}"/>
  <p:tag name="GENSWF_ADVANCE_TIME" val="3.672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9F2178-4ACE-4771-BF7A-5F57AB267824}"/>
  <p:tag name="GENSWF_ADVANCE_TIME" val="20.604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F5CECB-D726-45D9-90C0-795D59FAA05D}"/>
  <p:tag name="GENSWF_ADVANCE_TIME" val="24.92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9B5AC0C-179E-4D05-9DA9-DACE654522E0}"/>
  <p:tag name="GENSWF_ADVANCE_TIME" val="8.3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4180641-FFCA-4DC9-A315-48D2F0CFE8ED}"/>
  <p:tag name="GENSWF_ADVANCE_TIME" val="37.3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CD91F8-EEAD-46F0-B255-1B8AC43A0B74}"/>
  <p:tag name="GENSWF_ADVANCE_TIME" val="23.59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ACE66B8-8460-49C4-A028-2847CF9AFEF8}"/>
  <p:tag name="GENSWF_ADVANCE_TIME" val="22.928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E90B172-D771-4AF0-A16E-A257121EF833}"/>
  <p:tag name="GENSWF_ADVANCE_TIME" val="12.304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29D9CF-E7B5-455B-B2BA-E7AEB8A46EF6}"/>
  <p:tag name="GENSWF_ADVANCE_TIME" val="23.2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748A63-4854-4B53-A4B2-7D3D5D250E9C}"/>
  <p:tag name="GENSWF_ADVANCE_TIME" val="18.77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5F2D470-4552-419A-BFAF-F6B7A2E1A79C}"/>
  <p:tag name="GENSWF_ADVANCE_TIME" val="13.497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B6252FA-584B-4111-97E8-08CFBDC08F45}"/>
  <p:tag name="GENSWF_ADVANCE_TIME" val="4.004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8BE2990-74DD-4F95-9AC3-79D46869AB62}"/>
  <p:tag name="GENSWF_ADVANCE_TIME" val="2.178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14454A-268C-4066-96A2-283F153AC337}"/>
  <p:tag name="GENSWF_ADVANCE_TIME" val="26.74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EE85002-F021-4383-8118-C682659E292E}"/>
  <p:tag name="GENSWF_ADVANCE_TIME" val="15.458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FCA1BE-1356-48DC-8CCA-3B5B32FE9B36}"/>
  <p:tag name="GENSWF_ADVANCE_TIME" val="5.996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5466F1F-E439-4676-8AD9-1637717E1CA0}"/>
  <p:tag name="GENSWF_ADVANCE_TIME" val="25.25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A1FECFA-501F-4E7B-9264-3B3973D7057F}"/>
  <p:tag name="GENSWF_ADVANCE_TIME" val="4.502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96F0703-7D8B-41A3-B97C-9D349EEB7360}"/>
  <p:tag name="GENSWF_ADVANCE_TIME" val="23.426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4DAF1B-26C5-4801-84D1-6B71ADA505F9}"/>
  <p:tag name="GENSWF_ADVANCE_TIME" val="6.49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103C47-B250-4201-B5BD-709E2EB61263}"/>
  <p:tag name="GENSWF_ADVANCE_TIME" val="11.142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4E3103E-542A-4C09-9414-B4409C873A8D}"/>
  <p:tag name="GENSWF_ADVANCE_TIME" val="12.636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8278E58-275A-4BAF-A7A8-DDE97811BCD0}"/>
  <p:tag name="GENSWF_ADVANCE_TIME" val="17.118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88918A-0EC4-4FA2-B213-83EB55C87EA7}"/>
  <p:tag name="GENSWF_ADVANCE_TIME" val="10.146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97D558D-14A0-42B8-BF3C-703329410A5C}"/>
  <p:tag name="GENSWF_ADVANCE_TIME" val="10.81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6F50DA2-44C9-4BBE-A862-CE43CDE25C91}"/>
  <p:tag name="GENSWF_ADVANCE_TIME" val="2.012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A052D5-5049-43C0-953A-268D9CD78BF2}"/>
  <p:tag name="GENSWF_ADVANCE_TIME" val="5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1A5ECE-CE05-4EBC-8616-D6F4039B54F3}"/>
  <p:tag name="GENSWF_ADVANCE_TIME" val="5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BCFE7D-38F2-4B78-86BD-00F2E8FE117C}"/>
  <p:tag name="GENSWF_ADVANCE_TIME" val="5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D22A46-F3E2-4F1C-BF62-CF35F2618AB0}"/>
  <p:tag name="GENSWF_ADVANCE_TIME" val="5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726AB9-9BAF-4B2A-B37F-2A7BDBFC01C5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1399</Words>
  <Application>Microsoft Office PowerPoint</Application>
  <PresentationFormat>On-screen Show (4:3)</PresentationFormat>
  <Paragraphs>355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Helvetica Neue</vt:lpstr>
      <vt:lpstr>Times New Roman</vt:lpstr>
      <vt:lpstr>Noto Sans Symbols</vt:lpstr>
      <vt:lpstr>Arial Narrow</vt:lpstr>
      <vt:lpstr>Calibri</vt:lpstr>
      <vt:lpstr>Koi</vt:lpstr>
      <vt:lpstr>Algorithm Analysis</vt:lpstr>
      <vt:lpstr>Algorithm analysis</vt:lpstr>
      <vt:lpstr>Running time</vt:lpstr>
      <vt:lpstr>Running time</vt:lpstr>
      <vt:lpstr>Time complexity</vt:lpstr>
      <vt:lpstr>Experimental analysis</vt:lpstr>
      <vt:lpstr>Theoretical Analysis</vt:lpstr>
      <vt:lpstr>Pseudo code</vt:lpstr>
      <vt:lpstr>Primitive Operations</vt:lpstr>
      <vt:lpstr>Run time complexity analysis</vt:lpstr>
      <vt:lpstr>Run time complexity analysis</vt:lpstr>
      <vt:lpstr>Exercise 1</vt:lpstr>
      <vt:lpstr>Exercise 2</vt:lpstr>
      <vt:lpstr>Run time complexity analysis</vt:lpstr>
      <vt:lpstr>Run time complexity analysis</vt:lpstr>
      <vt:lpstr>Run time complexity analysis</vt:lpstr>
      <vt:lpstr> Big O notation</vt:lpstr>
      <vt:lpstr>Big-Oh Example</vt:lpstr>
      <vt:lpstr>Slide 19</vt:lpstr>
      <vt:lpstr>Slide 20</vt:lpstr>
      <vt:lpstr>Slide 21</vt:lpstr>
      <vt:lpstr>Big-Oh Rules</vt:lpstr>
      <vt:lpstr>Algorithm analysis</vt:lpstr>
      <vt:lpstr>Run time of loops</vt:lpstr>
      <vt:lpstr>Example</vt:lpstr>
      <vt:lpstr>Exercise 4</vt:lpstr>
      <vt:lpstr>Exercise 5</vt:lpstr>
      <vt:lpstr>Exercise 6</vt:lpstr>
      <vt:lpstr>Exercise 7</vt:lpstr>
      <vt:lpstr>Exercise 8</vt:lpstr>
      <vt:lpstr>Exercise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3_complexity</dc:title>
  <dc:creator>Administrator</dc:creator>
  <cp:lastModifiedBy>DHQG</cp:lastModifiedBy>
  <cp:revision>16</cp:revision>
  <dcterms:modified xsi:type="dcterms:W3CDTF">2019-03-22T09:00:22Z</dcterms:modified>
</cp:coreProperties>
</file>