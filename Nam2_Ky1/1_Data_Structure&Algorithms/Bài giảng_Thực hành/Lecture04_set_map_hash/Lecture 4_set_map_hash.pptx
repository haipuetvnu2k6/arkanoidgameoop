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29.xml" ContentType="application/vnd.openxmlformats-officedocument.presentationml.tags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notesSlides/notesSlide23.xml" ContentType="application/vnd.openxmlformats-officedocument.presentationml.notesSlide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tags/tag2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tags/tag26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embeddedFontLst>
    <p:embeddedFont>
      <p:font typeface="Verdana" pitchFamily="34" charset="0"/>
      <p:regular r:id="rId32"/>
      <p:bold r:id="rId33"/>
      <p:italic r:id="rId34"/>
      <p:boldItalic r:id="rId35"/>
    </p:embeddedFont>
    <p:embeddedFont>
      <p:font typeface="Helvetica" pitchFamily="34" charset="0"/>
      <p:regular r:id="rId36"/>
      <p:bold r:id="rId37"/>
      <p:italic r:id="rId38"/>
      <p:boldItalic r:id="rId39"/>
    </p:embeddedFont>
  </p:embeddedFontLst>
  <p:custDataLst>
    <p:tags r:id="rId40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C0A538C6-32B3-4E5F-A80F-B44198F3D54E}">
  <a:tblStyle styleId="{C0A538C6-32B3-4E5F-A80F-B44198F3D5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FD1FBFC-49AE-4151-AE41-D187641FCE7F}" styleName="Table_1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7E7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E7E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8447AB1-F131-4BD1-A201-F5CB30871751}" styleName="Table_2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8FAFF"/>
          </a:solidFill>
        </a:fill>
      </a:tcStyle>
    </a:wholeTbl>
    <a:band1H>
      <a:tcTxStyle/>
      <a:tcStyle>
        <a:tcBdr/>
        <a:fill>
          <a:solidFill>
            <a:srgbClr val="F0F5F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0F5FE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8FAFF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8FAFF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D9FBFB1-054C-4FA9-A618-B47986797892}" styleName="Table_3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6FE"/>
          </a:solidFill>
        </a:fill>
      </a:tcStyle>
    </a:wholeTbl>
    <a:band1H>
      <a:tcTxStyle/>
      <a:tcStyle>
        <a:tcBdr/>
        <a:fill>
          <a:solidFill>
            <a:srgbClr val="E6EDF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EDF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-73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096407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Dictionaries</a:t>
            </a:r>
            <a:endParaRPr/>
          </a:p>
        </p:txBody>
      </p:sp>
      <p:sp>
        <p:nvSpPr>
          <p:cNvPr id="285" name="Google Shape;285;p19:notes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4/25/18 11:30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9:notes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250825" y="1143000"/>
            <a:ext cx="86423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Set, Map and Hash table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914400" y="38862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 dirty="0"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</a:t>
            </a:r>
            <a:r>
              <a:rPr lang="en-US" sz="26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University, 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Hanoi</a:t>
            </a:r>
            <a:endParaRPr dirty="0"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3744913" cy="309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set is a collection of elements which are not in any particular order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elements of a set are different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7984" y="1979035"/>
            <a:ext cx="3993151" cy="425827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operations</a:t>
            </a:r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3550" y="2425799"/>
            <a:ext cx="5676900" cy="301942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operations Union</a:t>
            </a:r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Definition</a:t>
            </a: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Let A and B be sets, the union of two sets A and B is the set that contains all elements in A, B, or both. </a:t>
            </a:r>
            <a:endParaRPr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A={0,1,3, 5,8} 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B= {2,5,8,9} 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A∪B = {0,1,2,3,5,8,9}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A∪B  = B∪A </a:t>
            </a:r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4343" y="2932628"/>
            <a:ext cx="4363676" cy="32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762058" y="3846239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799988" y="4551511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4716016" y="3733824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4217201" y="4557125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4860032" y="4941168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6808100" y="4221088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7380312" y="4424486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operations Intersection</a:t>
            </a:r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Definition</a:t>
            </a: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Let A and B be sets, the intersection of two sets A and B is the set of elements that are in both A and B. </a:t>
            </a:r>
            <a:endParaRPr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A={1,2, 3,4,5} 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B= {1,3,9,12} 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∩B = {1,3}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A∩B  = B∩A </a:t>
            </a:r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1920" y="2924944"/>
            <a:ext cx="4320480" cy="326436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762058" y="3846239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5799988" y="4551511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716016" y="3733824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4217201" y="4557125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860032" y="4941168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808100" y="4221088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380312" y="4424486"/>
            <a:ext cx="52770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operations Minus</a:t>
            </a:r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Definition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Let A and B be sets, the difference of A minus B (A – B) is the set of elements that are in A, but not in B. </a:t>
            </a:r>
            <a:endParaRPr dirty="0"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A={1,2,3} 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B= {2,3,4} 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- B = {1}</a:t>
            </a:r>
            <a:endParaRPr dirty="0"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3928" y="3284984"/>
            <a:ext cx="4098103" cy="309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4539063" y="4170275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586987" y="3849290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5543135" y="4401108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6732240" y="4401106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set library</a:t>
            </a:r>
            <a:endParaRPr/>
          </a:p>
        </p:txBody>
      </p:sp>
      <p:sp>
        <p:nvSpPr>
          <p:cNvPr id="156" name="Google Shape;156;p19"/>
          <p:cNvSpPr txBox="1">
            <a:spLocks noGrp="1"/>
          </p:cNvSpPr>
          <p:nvPr>
            <p:ph type="body" idx="1"/>
          </p:nvPr>
        </p:nvSpPr>
        <p:spPr>
          <a:xfrm>
            <a:off x="539750" y="1628105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Unordered sets are containers that store unique elements in no particular order</a:t>
            </a:r>
            <a:b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8" name="Google Shape;158;p19"/>
          <p:cNvGraphicFramePr/>
          <p:nvPr/>
        </p:nvGraphicFramePr>
        <p:xfrm>
          <a:off x="2123728" y="2636912"/>
          <a:ext cx="4968550" cy="3246500"/>
        </p:xfrm>
        <a:graphic>
          <a:graphicData uri="http://schemas.openxmlformats.org/drawingml/2006/table">
            <a:tbl>
              <a:tblPr>
                <a:noFill/>
                <a:tableStyleId>{C0A538C6-32B3-4E5F-A80F-B44198F3D54E}</a:tableStyleId>
              </a:tblPr>
              <a:tblGrid>
                <a:gridCol w="4968550"/>
              </a:tblGrid>
              <a:tr h="3246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// unordered_set::insert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0007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&lt;iostream&gt;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0007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&lt;string&gt;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0007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&lt;array&gt;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0007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&lt;unordered_set&gt;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B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main () {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std::unordered_set&lt;std::string&gt; myset = {"yellow","green","blue"};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std::array&lt;std::string,2&gt; myarray = {"black","white"};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std::string mystring = "red";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myset.insert (mystring); </a:t>
                      </a:r>
                      <a:r>
                        <a:rPr lang="en-US" sz="1000" b="0" i="0" u="none" strike="noStrike" cap="none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// copy insertion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myset.insert (myarray.begin(), myarray.end()); </a:t>
                      </a:r>
                      <a:r>
                        <a:rPr lang="en-US" sz="1000" b="0" i="0" u="none" strike="noStrike" cap="none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// range insertion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myset.insert ( {"purple","orange"} ); </a:t>
                      </a:r>
                      <a:r>
                        <a:rPr lang="en-US" sz="1000" b="0" i="0" u="none" strike="noStrike" cap="none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// initializer list insertion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std::cout &lt;&lt; "myset contains:";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</a:t>
                      </a:r>
                      <a:r>
                        <a:rPr lang="en-US" sz="1000" b="0" i="0" u="none" strike="noStrike" cap="none">
                          <a:solidFill>
                            <a:srgbClr val="0000B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for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(</a:t>
                      </a:r>
                      <a:r>
                        <a:rPr lang="en-US" sz="1000" b="0" i="0" u="none" strike="noStrike" cap="none">
                          <a:solidFill>
                            <a:srgbClr val="0000B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const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std::string&amp; x: myset) std::cout &lt;&lt; " " &lt;&lt; x;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std::cout &lt;&lt; std::endl;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</a:t>
                      </a:r>
                      <a:r>
                        <a:rPr lang="en-US" sz="1000" b="0" i="0" u="none" strike="noStrike" cap="none">
                          <a:solidFill>
                            <a:srgbClr val="0000B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return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0;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}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3150" marR="53150" marT="26575" marB="2657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19"/>
          <p:cNvSpPr txBox="1"/>
          <p:nvPr/>
        </p:nvSpPr>
        <p:spPr>
          <a:xfrm>
            <a:off x="2339752" y="5877272"/>
            <a:ext cx="44644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Insert elements to a set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Maps</a:t>
            </a:r>
            <a:endParaRPr/>
          </a:p>
        </p:txBody>
      </p:sp>
      <p:pic>
        <p:nvPicPr>
          <p:cNvPr id="165" name="Google Shape;165;p20" descr="j031217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304800"/>
            <a:ext cx="1425575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 descr="Rectangle: Click to edit Master text styles&#10;Second level&#10;Third level&#10;Fourth level&#10;Fifth level"/>
          <p:cNvSpPr txBox="1">
            <a:spLocks noGrp="1"/>
          </p:cNvSpPr>
          <p:nvPr>
            <p:ph type="body" idx="4294967295"/>
          </p:nvPr>
        </p:nvSpPr>
        <p:spPr>
          <a:xfrm>
            <a:off x="755650" y="1989138"/>
            <a:ext cx="7848600" cy="433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map models a searchable collection of key-value entries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 entries with the same key are </a:t>
            </a:r>
            <a:r>
              <a:rPr lang="en-US" sz="2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allowed</a:t>
            </a:r>
            <a:endParaRPr/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67" name="Google Shape;167;p20"/>
          <p:cNvGraphicFramePr/>
          <p:nvPr/>
        </p:nvGraphicFramePr>
        <p:xfrm>
          <a:off x="1403648" y="3573016"/>
          <a:ext cx="6096000" cy="2248925"/>
        </p:xfrm>
        <a:graphic>
          <a:graphicData uri="http://schemas.openxmlformats.org/drawingml/2006/table">
            <a:tbl>
              <a:tblPr firstRow="1" bandRow="1">
                <a:noFill/>
                <a:tableStyleId>{3FD1FBFC-49AE-4151-AE41-D187641FCE7F}</a:tableStyleId>
              </a:tblPr>
              <a:tblGrid>
                <a:gridCol w="3048000"/>
                <a:gridCol w="3048000"/>
              </a:tblGrid>
              <a:tr h="36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Key</a:t>
                      </a: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 sz="1800"/>
                    </a:p>
                  </a:txBody>
                  <a:tcPr marL="91450" marR="91450" marT="45675" marB="45675"/>
                </a:tc>
              </a:tr>
              <a:tr h="36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0000001</a:t>
                      </a: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 Sy Vinh</a:t>
                      </a:r>
                      <a:endParaRPr sz="1800"/>
                    </a:p>
                  </a:txBody>
                  <a:tcPr marL="91450" marR="91450" marT="45675" marB="45675"/>
                </a:tc>
              </a:tr>
              <a:tr h="42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0000002</a:t>
                      </a: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Nguyen Van An</a:t>
                      </a:r>
                      <a:endParaRPr sz="1800"/>
                    </a:p>
                  </a:txBody>
                  <a:tcPr marL="91450" marR="91450" marT="45675" marB="45675"/>
                </a:tc>
              </a:tr>
              <a:tr h="36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0000003</a:t>
                      </a: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 Quoc Hung</a:t>
                      </a:r>
                      <a:endParaRPr sz="1800"/>
                    </a:p>
                  </a:txBody>
                  <a:tcPr marL="91450" marR="91450" marT="45675" marB="45675"/>
                </a:tc>
              </a:tr>
              <a:tr h="36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675" marB="45675"/>
                </a:tc>
              </a:tr>
              <a:tr h="36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675" marB="45675"/>
                </a:tc>
              </a:tr>
            </a:tbl>
          </a:graphicData>
        </a:graphic>
      </p:graphicFrame>
      <p:sp>
        <p:nvSpPr>
          <p:cNvPr id="168" name="Google Shape;168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map operations</a:t>
            </a:r>
            <a:endParaRPr/>
          </a:p>
        </p:txBody>
      </p:sp>
      <p:sp>
        <p:nvSpPr>
          <p:cNvPr id="174" name="Google Shape;174;p21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16113"/>
            <a:ext cx="7772400" cy="448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if the map M has an entry with key k, return its associated value; else, return null 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(k, v): insert entry (k, v) into the map M; if key k is not already in M, then return null; else, return old value associated with k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if the map M has an entry with key k, remove it from M and return its associated value; else, return null </a:t>
            </a:r>
            <a:endParaRPr/>
          </a:p>
        </p:txBody>
      </p:sp>
      <p:sp>
        <p:nvSpPr>
          <p:cNvPr id="175" name="Google Shape;175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/>
          </a:p>
        </p:txBody>
      </p:sp>
      <p:sp>
        <p:nvSpPr>
          <p:cNvPr id="181" name="Google Shape;181;p22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89138"/>
            <a:ext cx="7848600" cy="4030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	Output		Map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,C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,C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,C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		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get(7)		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get(4)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get(2)		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remove(5)	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remove(2)	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get(2)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3"/>
          <p:cNvGrpSpPr/>
          <p:nvPr/>
        </p:nvGrpSpPr>
        <p:grpSpPr>
          <a:xfrm>
            <a:off x="2225675" y="4500563"/>
            <a:ext cx="609600" cy="304800"/>
            <a:chOff x="4992" y="3456"/>
            <a:chExt cx="384" cy="192"/>
          </a:xfrm>
        </p:grpSpPr>
        <p:sp>
          <p:nvSpPr>
            <p:cNvPr id="189" name="Google Shape;189;p23"/>
            <p:cNvSpPr/>
            <p:nvPr/>
          </p:nvSpPr>
          <p:spPr>
            <a:xfrm>
              <a:off x="4992" y="3456"/>
              <a:ext cx="384" cy="192"/>
            </a:xfrm>
            <a:prstGeom prst="roundRect">
              <a:avLst>
                <a:gd name="adj" fmla="val 16667"/>
              </a:avLst>
            </a:prstGeom>
            <a:solidFill>
              <a:srgbClr val="F8F0D0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0" name="Google Shape;190;p23"/>
            <p:cNvCxnSpPr/>
            <p:nvPr/>
          </p:nvCxnSpPr>
          <p:spPr>
            <a:xfrm>
              <a:off x="5184" y="3456"/>
              <a:ext cx="0" cy="192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1" name="Google Shape;191;p23"/>
          <p:cNvGrpSpPr/>
          <p:nvPr/>
        </p:nvGrpSpPr>
        <p:grpSpPr>
          <a:xfrm>
            <a:off x="3825875" y="4500563"/>
            <a:ext cx="609600" cy="304800"/>
            <a:chOff x="4992" y="3456"/>
            <a:chExt cx="384" cy="192"/>
          </a:xfrm>
        </p:grpSpPr>
        <p:sp>
          <p:nvSpPr>
            <p:cNvPr id="192" name="Google Shape;192;p23"/>
            <p:cNvSpPr/>
            <p:nvPr/>
          </p:nvSpPr>
          <p:spPr>
            <a:xfrm>
              <a:off x="4992" y="3456"/>
              <a:ext cx="384" cy="192"/>
            </a:xfrm>
            <a:prstGeom prst="roundRect">
              <a:avLst>
                <a:gd name="adj" fmla="val 16667"/>
              </a:avLst>
            </a:prstGeom>
            <a:solidFill>
              <a:srgbClr val="F8F0D0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3" name="Google Shape;193;p23"/>
            <p:cNvCxnSpPr/>
            <p:nvPr/>
          </p:nvCxnSpPr>
          <p:spPr>
            <a:xfrm>
              <a:off x="5184" y="3456"/>
              <a:ext cx="0" cy="192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4" name="Google Shape;194;p23"/>
          <p:cNvGrpSpPr/>
          <p:nvPr/>
        </p:nvGrpSpPr>
        <p:grpSpPr>
          <a:xfrm>
            <a:off x="5273675" y="4500563"/>
            <a:ext cx="609600" cy="304800"/>
            <a:chOff x="4992" y="3456"/>
            <a:chExt cx="384" cy="192"/>
          </a:xfrm>
        </p:grpSpPr>
        <p:sp>
          <p:nvSpPr>
            <p:cNvPr id="195" name="Google Shape;195;p23"/>
            <p:cNvSpPr/>
            <p:nvPr/>
          </p:nvSpPr>
          <p:spPr>
            <a:xfrm>
              <a:off x="4992" y="3456"/>
              <a:ext cx="384" cy="192"/>
            </a:xfrm>
            <a:prstGeom prst="roundRect">
              <a:avLst>
                <a:gd name="adj" fmla="val 16667"/>
              </a:avLst>
            </a:prstGeom>
            <a:solidFill>
              <a:srgbClr val="F8F0D0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6" name="Google Shape;196;p23"/>
            <p:cNvCxnSpPr/>
            <p:nvPr/>
          </p:nvCxnSpPr>
          <p:spPr>
            <a:xfrm>
              <a:off x="5184" y="3456"/>
              <a:ext cx="0" cy="192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7" name="Google Shape;197;p2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Simple List-Based Map</a:t>
            </a:r>
            <a:endParaRPr/>
          </a:p>
        </p:txBody>
      </p:sp>
      <p:sp>
        <p:nvSpPr>
          <p:cNvPr id="198" name="Google Shape;198;p2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696200" cy="1389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can easily implement a map using a singly linked list</a:t>
            </a:r>
            <a:endParaRPr/>
          </a:p>
        </p:txBody>
      </p:sp>
      <p:sp>
        <p:nvSpPr>
          <p:cNvPr id="199" name="Google Shape;199;p23"/>
          <p:cNvSpPr/>
          <p:nvPr/>
        </p:nvSpPr>
        <p:spPr>
          <a:xfrm>
            <a:off x="22256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25304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2682875" y="3752850"/>
            <a:ext cx="1039813" cy="133350"/>
          </a:xfrm>
          <a:custGeom>
            <a:avLst/>
            <a:gdLst/>
            <a:ahLst/>
            <a:cxnLst/>
            <a:rect l="l" t="t" r="r" b="b"/>
            <a:pathLst>
              <a:path w="480" h="88" extrusionOk="0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37496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40544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4206875" y="3752850"/>
            <a:ext cx="1028700" cy="133350"/>
          </a:xfrm>
          <a:custGeom>
            <a:avLst/>
            <a:gdLst/>
            <a:ahLst/>
            <a:cxnLst/>
            <a:rect l="l" t="t" r="r" b="b"/>
            <a:pathLst>
              <a:path w="480" h="88" extrusionOk="0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52736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55784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5730875" y="3752850"/>
            <a:ext cx="1089025" cy="133350"/>
          </a:xfrm>
          <a:custGeom>
            <a:avLst/>
            <a:gdLst/>
            <a:ahLst/>
            <a:cxnLst/>
            <a:rect l="l" t="t" r="r" b="b"/>
            <a:pathLst>
              <a:path w="480" h="88" extrusionOk="0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67976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71024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2305050" y="3890963"/>
            <a:ext cx="168275" cy="552450"/>
          </a:xfrm>
          <a:custGeom>
            <a:avLst/>
            <a:gdLst/>
            <a:ahLst/>
            <a:cxnLst/>
            <a:rect l="l" t="t" r="r" b="b"/>
            <a:pathLst>
              <a:path w="106" h="348" extrusionOk="0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3825875" y="3890963"/>
            <a:ext cx="168275" cy="552450"/>
          </a:xfrm>
          <a:custGeom>
            <a:avLst/>
            <a:gdLst/>
            <a:ahLst/>
            <a:cxnLst/>
            <a:rect l="l" t="t" r="r" b="b"/>
            <a:pathLst>
              <a:path w="106" h="348" extrusionOk="0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5346700" y="3890963"/>
            <a:ext cx="168275" cy="552450"/>
          </a:xfrm>
          <a:custGeom>
            <a:avLst/>
            <a:gdLst/>
            <a:ahLst/>
            <a:cxnLst/>
            <a:rect l="l" t="t" r="r" b="b"/>
            <a:pathLst>
              <a:path w="106" h="348" extrusionOk="0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6867525" y="3890963"/>
            <a:ext cx="168275" cy="552450"/>
          </a:xfrm>
          <a:custGeom>
            <a:avLst/>
            <a:gdLst/>
            <a:ahLst/>
            <a:cxnLst/>
            <a:rect l="l" t="t" r="r" b="b"/>
            <a:pathLst>
              <a:path w="106" h="348" extrusionOk="0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1490663" y="3743325"/>
            <a:ext cx="762000" cy="139700"/>
          </a:xfrm>
          <a:custGeom>
            <a:avLst/>
            <a:gdLst/>
            <a:ahLst/>
            <a:cxnLst/>
            <a:rect l="l" t="t" r="r" b="b"/>
            <a:pathLst>
              <a:path w="480" h="88" extrusionOk="0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684213" y="3644900"/>
            <a:ext cx="75406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1692275" y="3357563"/>
            <a:ext cx="5867400" cy="838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1920875" y="4348163"/>
            <a:ext cx="5638800" cy="914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6492874" y="4881564"/>
            <a:ext cx="1089611" cy="36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entries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2195513" y="4440238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2484438" y="4438650"/>
            <a:ext cx="2968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3795713" y="4440238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4084638" y="4438650"/>
            <a:ext cx="2968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5243513" y="442595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5532438" y="4424363"/>
            <a:ext cx="2968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grpSp>
        <p:nvGrpSpPr>
          <p:cNvPr id="225" name="Google Shape;225;p23"/>
          <p:cNvGrpSpPr/>
          <p:nvPr/>
        </p:nvGrpSpPr>
        <p:grpSpPr>
          <a:xfrm>
            <a:off x="6721475" y="4500563"/>
            <a:ext cx="609600" cy="304800"/>
            <a:chOff x="4992" y="3456"/>
            <a:chExt cx="384" cy="192"/>
          </a:xfrm>
        </p:grpSpPr>
        <p:sp>
          <p:nvSpPr>
            <p:cNvPr id="226" name="Google Shape;226;p23"/>
            <p:cNvSpPr/>
            <p:nvPr/>
          </p:nvSpPr>
          <p:spPr>
            <a:xfrm>
              <a:off x="4992" y="3456"/>
              <a:ext cx="384" cy="192"/>
            </a:xfrm>
            <a:prstGeom prst="roundRect">
              <a:avLst>
                <a:gd name="adj" fmla="val 16667"/>
              </a:avLst>
            </a:prstGeom>
            <a:solidFill>
              <a:srgbClr val="F8F0D0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7" name="Google Shape;227;p23"/>
            <p:cNvCxnSpPr/>
            <p:nvPr/>
          </p:nvCxnSpPr>
          <p:spPr>
            <a:xfrm>
              <a:off x="5184" y="3456"/>
              <a:ext cx="0" cy="192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8" name="Google Shape;228;p23"/>
          <p:cNvSpPr txBox="1"/>
          <p:nvPr/>
        </p:nvSpPr>
        <p:spPr>
          <a:xfrm>
            <a:off x="6767513" y="442595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7056438" y="4424363"/>
            <a:ext cx="2968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230" name="Google Shape;230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get(k) Algorithm</a:t>
            </a:r>
            <a:endParaRPr/>
          </a:p>
        </p:txBody>
      </p:sp>
      <p:sp>
        <p:nvSpPr>
          <p:cNvPr id="236" name="Google Shape;236;p2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8001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p = head;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while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is not null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p→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=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	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return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p→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p = p→next;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null </a:t>
            </a: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{there is no entry with key equal to </a:t>
            </a:r>
            <a:r>
              <a:rPr lang="en-US" sz="24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1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Complexity?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7" name="Google Shape;237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put(k,v) Algorithm</a:t>
            </a:r>
            <a:endParaRPr/>
          </a:p>
        </p:txBody>
      </p:sp>
      <p:sp>
        <p:nvSpPr>
          <p:cNvPr id="243" name="Google Shape;243;p2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8001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k,v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			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p = head;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while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is not null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p.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=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	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p→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value;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p→element.value = v;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	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{return the old value};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p = p→next;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insertLast((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k,v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));		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null	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{there was no previous entry with key equal to </a:t>
            </a:r>
            <a:r>
              <a:rPr lang="en-US" sz="20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};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Complexity?</a:t>
            </a:r>
            <a:endParaRPr sz="18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4" name="Google Shape;244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 txBox="1">
            <a:spLocks noGrp="1"/>
          </p:cNvSpPr>
          <p:nvPr>
            <p:ph type="title"/>
          </p:nvPr>
        </p:nvSpPr>
        <p:spPr>
          <a:xfrm>
            <a:off x="685800" y="422275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remove(k) Algorithm</a:t>
            </a:r>
            <a:endParaRPr/>
          </a:p>
        </p:txBody>
      </p:sp>
      <p:sp>
        <p:nvSpPr>
          <p:cNvPr id="250" name="Google Shape;250;p2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remove(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	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p = head;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while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is not null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p.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=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 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	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p→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value;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remove (p);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 </a:t>
            </a: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{return the old value};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p = p→next; 	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null </a:t>
            </a: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{there is no entry with key equal to </a:t>
            </a:r>
            <a:r>
              <a:rPr lang="en-US" sz="24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Complexity?</a:t>
            </a:r>
            <a:endParaRPr/>
          </a:p>
        </p:txBody>
      </p:sp>
      <p:sp>
        <p:nvSpPr>
          <p:cNvPr id="251" name="Google Shape;251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Performance of a List-Based Map</a:t>
            </a:r>
            <a:endParaRPr/>
          </a:p>
        </p:txBody>
      </p:sp>
      <p:sp>
        <p:nvSpPr>
          <p:cNvPr id="257" name="Google Shape;257;p2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89138"/>
            <a:ext cx="7772400" cy="410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 O(n)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(k, v):  O(n)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O(n)</a:t>
            </a:r>
            <a:endParaRPr/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a data structure to implement map efficiently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8" name="Google Shape;258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map library</a:t>
            </a:r>
            <a:endParaRPr/>
          </a:p>
        </p:txBody>
      </p:sp>
      <p:sp>
        <p:nvSpPr>
          <p:cNvPr id="264" name="Google Shape;264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5" name="Google Shape;265;p28"/>
          <p:cNvGraphicFramePr/>
          <p:nvPr/>
        </p:nvGraphicFramePr>
        <p:xfrm>
          <a:off x="2051720" y="2204864"/>
          <a:ext cx="4896550" cy="3561925"/>
        </p:xfrm>
        <a:graphic>
          <a:graphicData uri="http://schemas.openxmlformats.org/drawingml/2006/table">
            <a:tbl>
              <a:tblPr>
                <a:noFill/>
                <a:tableStyleId>{C0A538C6-32B3-4E5F-A80F-B44198F3D54E}</a:tableStyleId>
              </a:tblPr>
              <a:tblGrid>
                <a:gridCol w="4896550"/>
              </a:tblGrid>
              <a:tr h="3561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&lt;iostream&gt;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&lt;string&gt;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&lt;map&gt;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>
                        <a:solidFill>
                          <a:srgbClr val="007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 main (){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std::map&lt;char,int&gt; mymap;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mymap['a']=10;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mymap['b']=20;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mymap['c']=30;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>
                        <a:solidFill>
                          <a:srgbClr val="007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mymap.at('a') = 15;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mymap.at('b') = 50;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std::map&lt;char,int&gt;::iterator it;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for (it=mymap.begin(); it!=mymap.end(); ++it)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std::cout &lt;&lt; it-&gt;first &lt;&lt; ": " &lt;&lt; it-&gt;second &lt;&lt; '\n';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return 0;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}</a:t>
                      </a:r>
                      <a:endParaRPr sz="1200" b="0" i="0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7850" marR="27850" marT="13925" marB="139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 map</a:t>
            </a:r>
            <a:endParaRPr/>
          </a:p>
        </p:txBody>
      </p:sp>
      <p:sp>
        <p:nvSpPr>
          <p:cNvPr id="271" name="Google Shape;271;p2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55576" y="2078757"/>
            <a:ext cx="7772400" cy="4086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implement a simple map whose keys are integer numbers in range 0…1000?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72" name="Google Shape;272;p29"/>
          <p:cNvGraphicFramePr/>
          <p:nvPr/>
        </p:nvGraphicFramePr>
        <p:xfrm>
          <a:off x="1572344" y="2996952"/>
          <a:ext cx="6096000" cy="741350"/>
        </p:xfrm>
        <a:graphic>
          <a:graphicData uri="http://schemas.openxmlformats.org/drawingml/2006/table">
            <a:tbl>
              <a:tblPr firstRow="1" bandRow="1">
                <a:noFill/>
                <a:tableStyleId>{88447AB1-F131-4BD1-A201-F5CB30871751}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Key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</a:t>
                      </a:r>
                      <a:endParaRPr sz="1800"/>
                    </a:p>
                  </a:txBody>
                  <a:tcPr marL="91450" marR="91450" marT="45700" marB="45700"/>
                </a:tc>
              </a:tr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00" marB="45700"/>
                </a:tc>
              </a:tr>
            </a:tbl>
          </a:graphicData>
        </a:graphic>
      </p:graphicFrame>
      <p:graphicFrame>
        <p:nvGraphicFramePr>
          <p:cNvPr id="273" name="Google Shape;273;p29"/>
          <p:cNvGraphicFramePr/>
          <p:nvPr/>
        </p:nvGraphicFramePr>
        <p:xfrm>
          <a:off x="1042988" y="4076700"/>
          <a:ext cx="7129500" cy="741350"/>
        </p:xfrm>
        <a:graphic>
          <a:graphicData uri="http://schemas.openxmlformats.org/drawingml/2006/table">
            <a:tbl>
              <a:tblPr firstRow="1" bandRow="1">
                <a:noFill/>
                <a:tableStyleId>{FD9FBFB1-054C-4FA9-A618-B47986797892}</a:tableStyleId>
              </a:tblPr>
              <a:tblGrid>
                <a:gridCol w="712950"/>
                <a:gridCol w="712950"/>
                <a:gridCol w="712950"/>
                <a:gridCol w="712950"/>
                <a:gridCol w="712950"/>
                <a:gridCol w="712950"/>
                <a:gridCol w="712950"/>
                <a:gridCol w="712950"/>
                <a:gridCol w="712950"/>
                <a:gridCol w="712950"/>
              </a:tblGrid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</a:t>
                      </a:r>
                      <a:endParaRPr sz="1800"/>
                    </a:p>
                  </a:txBody>
                  <a:tcPr marL="91450" marR="91450" marT="45700" marB="45700"/>
                </a:tc>
              </a:tr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00" marB="45700"/>
                </a:tc>
              </a:tr>
            </a:tbl>
          </a:graphicData>
        </a:graphic>
      </p:graphicFrame>
      <p:sp>
        <p:nvSpPr>
          <p:cNvPr id="274" name="Google Shape;274;p29"/>
          <p:cNvSpPr txBox="1"/>
          <p:nvPr/>
        </p:nvSpPr>
        <p:spPr>
          <a:xfrm>
            <a:off x="1331913" y="4941888"/>
            <a:ext cx="69850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an array of 1001 elements to store a map</a:t>
            </a:r>
            <a:endParaRPr/>
          </a:p>
        </p:txBody>
      </p:sp>
      <p:sp>
        <p:nvSpPr>
          <p:cNvPr id="275" name="Google Shape;275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>
            <a:spLocks noGrp="1"/>
          </p:cNvSpPr>
          <p:nvPr>
            <p:ph type="title"/>
          </p:nvPr>
        </p:nvSpPr>
        <p:spPr>
          <a:xfrm>
            <a:off x="107950" y="457200"/>
            <a:ext cx="8640763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 of simple map operations</a:t>
            </a:r>
            <a:endParaRPr/>
          </a:p>
        </p:txBody>
      </p:sp>
      <p:sp>
        <p:nvSpPr>
          <p:cNvPr id="281" name="Google Shape;281;p3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844675"/>
            <a:ext cx="7772400" cy="455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</a:t>
            </a: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M[k];	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Complexity: O(1)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</a:t>
            </a: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(k, v): 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old_value = M[k]; 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M[k] = v; 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old_value;</a:t>
            </a:r>
            <a:endParaRPr sz="2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 O(1)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</a:t>
            </a: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M[k] = Null;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Complexity: O(1)</a:t>
            </a:r>
            <a:endParaRPr sz="2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>
            <a:spLocks noGrp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 Tables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 txBox="1">
            <a:spLocks noGrp="1"/>
          </p:cNvSpPr>
          <p:nvPr>
            <p:ph type="title"/>
          </p:nvPr>
        </p:nvSpPr>
        <p:spPr>
          <a:xfrm>
            <a:off x="609600" y="381000"/>
            <a:ext cx="5715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 Functions</a:t>
            </a:r>
            <a:endParaRPr/>
          </a:p>
        </p:txBody>
      </p:sp>
      <p:sp>
        <p:nvSpPr>
          <p:cNvPr id="296" name="Google Shape;296;p32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3568" y="2060848"/>
            <a:ext cx="8001000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 function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maps keys of a given type to integers in a fixed interval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[0,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1" i="1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1]. </a:t>
            </a: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integer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called the </a:t>
            </a:r>
            <a:r>
              <a:rPr lang="en-US" sz="2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hash value</a:t>
            </a: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of key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Example: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0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b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b="1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7" name="Google Shape;297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77013" y="130175"/>
            <a:ext cx="2109787" cy="1774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8" name="Google Shape;298;p32"/>
          <p:cNvGraphicFramePr/>
          <p:nvPr/>
        </p:nvGraphicFramePr>
        <p:xfrm>
          <a:off x="1187624" y="4077072"/>
          <a:ext cx="6096000" cy="1112850"/>
        </p:xfrm>
        <a:graphic>
          <a:graphicData uri="http://schemas.openxmlformats.org/drawingml/2006/table">
            <a:tbl>
              <a:tblPr firstRow="1" bandRow="1">
                <a:noFill/>
                <a:tableStyleId>{88447AB1-F131-4BD1-A201-F5CB30871751}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Key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h(key)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99" name="Google Shape;299;p32"/>
          <p:cNvSpPr txBox="1"/>
          <p:nvPr/>
        </p:nvSpPr>
        <p:spPr>
          <a:xfrm>
            <a:off x="2411413" y="5229225"/>
            <a:ext cx="3529012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h(key) = key mod 1000</a:t>
            </a:r>
            <a:endParaRPr/>
          </a:p>
        </p:txBody>
      </p:sp>
      <p:sp>
        <p:nvSpPr>
          <p:cNvPr id="300" name="Google Shape;300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3"/>
          <p:cNvSpPr txBox="1">
            <a:spLocks noGrp="1"/>
          </p:cNvSpPr>
          <p:nvPr>
            <p:ph type="title"/>
          </p:nvPr>
        </p:nvSpPr>
        <p:spPr>
          <a:xfrm>
            <a:off x="2339975" y="381000"/>
            <a:ext cx="39846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 Tables </a:t>
            </a:r>
            <a:endParaRPr/>
          </a:p>
        </p:txBody>
      </p:sp>
      <p:graphicFrame>
        <p:nvGraphicFramePr>
          <p:cNvPr id="306" name="Google Shape;306;p33"/>
          <p:cNvGraphicFramePr/>
          <p:nvPr/>
        </p:nvGraphicFramePr>
        <p:xfrm>
          <a:off x="1619668" y="5373688"/>
          <a:ext cx="6912750" cy="741350"/>
        </p:xfrm>
        <a:graphic>
          <a:graphicData uri="http://schemas.openxmlformats.org/drawingml/2006/table">
            <a:tbl>
              <a:tblPr firstRow="1" bandRow="1">
                <a:noFill/>
                <a:tableStyleId>{FD9FBFB1-054C-4FA9-A618-B47986797892}</a:tableStyleId>
              </a:tblPr>
              <a:tblGrid>
                <a:gridCol w="691275"/>
                <a:gridCol w="691275"/>
                <a:gridCol w="691275"/>
                <a:gridCol w="691275"/>
                <a:gridCol w="691275"/>
                <a:gridCol w="691275"/>
                <a:gridCol w="691275"/>
                <a:gridCol w="691275"/>
                <a:gridCol w="691275"/>
                <a:gridCol w="691275"/>
              </a:tblGrid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</a:t>
                      </a:r>
                      <a:endParaRPr sz="1800"/>
                    </a:p>
                  </a:txBody>
                  <a:tcPr marL="91450" marR="91450" marT="45700" marB="45700"/>
                </a:tc>
              </a:tr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</a:tr>
            </a:tbl>
          </a:graphicData>
        </a:graphic>
      </p:graphicFrame>
      <p:sp>
        <p:nvSpPr>
          <p:cNvPr id="307" name="Google Shape;307;p33"/>
          <p:cNvSpPr txBox="1"/>
          <p:nvPr/>
        </p:nvSpPr>
        <p:spPr>
          <a:xfrm>
            <a:off x="684213" y="2060575"/>
            <a:ext cx="8101012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hash table is used to store a map after hashing the keys</a:t>
            </a:r>
            <a:endParaRPr/>
          </a:p>
        </p:txBody>
      </p:sp>
      <p:graphicFrame>
        <p:nvGraphicFramePr>
          <p:cNvPr id="308" name="Google Shape;308;p33"/>
          <p:cNvGraphicFramePr/>
          <p:nvPr/>
        </p:nvGraphicFramePr>
        <p:xfrm>
          <a:off x="1475656" y="3284984"/>
          <a:ext cx="6096000" cy="1112850"/>
        </p:xfrm>
        <a:graphic>
          <a:graphicData uri="http://schemas.openxmlformats.org/drawingml/2006/table">
            <a:tbl>
              <a:tblPr firstRow="1" bandRow="1">
                <a:noFill/>
                <a:tableStyleId>{88447AB1-F131-4BD1-A201-F5CB30871751}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Key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h(key)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309" name="Google Shape;309;p33"/>
          <p:cNvSpPr txBox="1"/>
          <p:nvPr/>
        </p:nvSpPr>
        <p:spPr>
          <a:xfrm>
            <a:off x="1476375" y="4868863"/>
            <a:ext cx="352742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Hash table</a:t>
            </a:r>
            <a:endParaRPr/>
          </a:p>
        </p:txBody>
      </p:sp>
      <p:sp>
        <p:nvSpPr>
          <p:cNvPr id="310" name="Google Shape;310;p33"/>
          <p:cNvSpPr txBox="1"/>
          <p:nvPr/>
        </p:nvSpPr>
        <p:spPr>
          <a:xfrm>
            <a:off x="755650" y="2708275"/>
            <a:ext cx="7920038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Example: Hashing keys by a hash function</a:t>
            </a:r>
            <a:endParaRPr/>
          </a:p>
        </p:txBody>
      </p:sp>
      <p:sp>
        <p:nvSpPr>
          <p:cNvPr id="311" name="Google Shape;311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Collision</a:t>
            </a:r>
            <a:endParaRPr/>
          </a:p>
        </p:txBody>
      </p:sp>
      <p:graphicFrame>
        <p:nvGraphicFramePr>
          <p:cNvPr id="317" name="Google Shape;317;p34"/>
          <p:cNvGraphicFramePr/>
          <p:nvPr/>
        </p:nvGraphicFramePr>
        <p:xfrm>
          <a:off x="1403350" y="3789363"/>
          <a:ext cx="6096000" cy="1112850"/>
        </p:xfrm>
        <a:graphic>
          <a:graphicData uri="http://schemas.openxmlformats.org/drawingml/2006/table">
            <a:tbl>
              <a:tblPr firstRow="1" bandRow="1">
                <a:noFill/>
                <a:tableStyleId>{88447AB1-F131-4BD1-A201-F5CB30871751}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Key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h(key)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318" name="Google Shape;318;p34"/>
          <p:cNvSpPr txBox="1"/>
          <p:nvPr/>
        </p:nvSpPr>
        <p:spPr>
          <a:xfrm>
            <a:off x="2700338" y="5013325"/>
            <a:ext cx="3527425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h(key) = key mod 1000</a:t>
            </a:r>
            <a:endParaRPr/>
          </a:p>
        </p:txBody>
      </p:sp>
      <p:sp>
        <p:nvSpPr>
          <p:cNvPr id="319" name="Google Shape;319;p34"/>
          <p:cNvSpPr txBox="1"/>
          <p:nvPr/>
        </p:nvSpPr>
        <p:spPr>
          <a:xfrm>
            <a:off x="611188" y="2060575"/>
            <a:ext cx="7921625" cy="157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hash values of two keys might have the same value (collision) causing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different elements are mapped to the same cell on the hash table.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"/>
          <p:cNvSpPr txBox="1">
            <a:spLocks noGrp="1"/>
          </p:cNvSpPr>
          <p:nvPr>
            <p:ph type="title"/>
          </p:nvPr>
        </p:nvSpPr>
        <p:spPr>
          <a:xfrm>
            <a:off x="2411413" y="333375"/>
            <a:ext cx="5029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Collision Handling</a:t>
            </a:r>
            <a:endParaRPr/>
          </a:p>
        </p:txBody>
      </p:sp>
      <p:sp>
        <p:nvSpPr>
          <p:cNvPr id="326" name="Google Shape;326;p3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7634288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Separate Chaining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let each cell in the table point to a linked list of entries that map there</a:t>
            </a:r>
            <a:endParaRPr/>
          </a:p>
        </p:txBody>
      </p:sp>
      <p:grpSp>
        <p:nvGrpSpPr>
          <p:cNvPr id="327" name="Google Shape;327;p35"/>
          <p:cNvGrpSpPr/>
          <p:nvPr/>
        </p:nvGrpSpPr>
        <p:grpSpPr>
          <a:xfrm>
            <a:off x="6011863" y="3273425"/>
            <a:ext cx="1800225" cy="1676400"/>
            <a:chOff x="2155" y="2160"/>
            <a:chExt cx="1195" cy="1056"/>
          </a:xfrm>
        </p:grpSpPr>
        <p:sp>
          <p:nvSpPr>
            <p:cNvPr id="328" name="Google Shape;328;p35"/>
            <p:cNvSpPr/>
            <p:nvPr/>
          </p:nvSpPr>
          <p:spPr>
            <a:xfrm>
              <a:off x="2372" y="2208"/>
              <a:ext cx="192" cy="19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5"/>
            <p:cNvSpPr/>
            <p:nvPr/>
          </p:nvSpPr>
          <p:spPr>
            <a:xfrm>
              <a:off x="2372" y="2400"/>
              <a:ext cx="192" cy="19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5"/>
            <p:cNvSpPr/>
            <p:nvPr/>
          </p:nvSpPr>
          <p:spPr>
            <a:xfrm>
              <a:off x="2372" y="2592"/>
              <a:ext cx="192" cy="19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5"/>
            <p:cNvSpPr/>
            <p:nvPr/>
          </p:nvSpPr>
          <p:spPr>
            <a:xfrm>
              <a:off x="2372" y="2784"/>
              <a:ext cx="192" cy="19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5"/>
            <p:cNvSpPr/>
            <p:nvPr/>
          </p:nvSpPr>
          <p:spPr>
            <a:xfrm>
              <a:off x="2372" y="2976"/>
              <a:ext cx="192" cy="19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5"/>
            <p:cNvSpPr txBox="1"/>
            <p:nvPr/>
          </p:nvSpPr>
          <p:spPr>
            <a:xfrm>
              <a:off x="2155" y="2160"/>
              <a:ext cx="22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</p:txBody>
        </p:sp>
        <p:sp>
          <p:nvSpPr>
            <p:cNvPr id="334" name="Google Shape;334;p35"/>
            <p:cNvSpPr txBox="1"/>
            <p:nvPr/>
          </p:nvSpPr>
          <p:spPr>
            <a:xfrm>
              <a:off x="2155" y="2352"/>
              <a:ext cx="22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335" name="Google Shape;335;p35"/>
            <p:cNvSpPr txBox="1"/>
            <p:nvPr/>
          </p:nvSpPr>
          <p:spPr>
            <a:xfrm>
              <a:off x="2155" y="2544"/>
              <a:ext cx="22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336" name="Google Shape;336;p35"/>
            <p:cNvSpPr txBox="1"/>
            <p:nvPr/>
          </p:nvSpPr>
          <p:spPr>
            <a:xfrm>
              <a:off x="2155" y="2736"/>
              <a:ext cx="22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337" name="Google Shape;337;p35"/>
            <p:cNvSpPr txBox="1"/>
            <p:nvPr/>
          </p:nvSpPr>
          <p:spPr>
            <a:xfrm>
              <a:off x="2155" y="2928"/>
              <a:ext cx="22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cxnSp>
          <p:nvCxnSpPr>
            <p:cNvPr id="338" name="Google Shape;338;p35"/>
            <p:cNvCxnSpPr/>
            <p:nvPr/>
          </p:nvCxnSpPr>
          <p:spPr>
            <a:xfrm>
              <a:off x="3063" y="2893"/>
              <a:ext cx="287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  <p:cxnSp>
          <p:nvCxnSpPr>
            <p:cNvPr id="339" name="Google Shape;339;p35"/>
            <p:cNvCxnSpPr/>
            <p:nvPr/>
          </p:nvCxnSpPr>
          <p:spPr>
            <a:xfrm>
              <a:off x="2468" y="2496"/>
              <a:ext cx="268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sp>
        <p:nvSpPr>
          <p:cNvPr id="340" name="Google Shape;340;p35"/>
          <p:cNvSpPr/>
          <p:nvPr/>
        </p:nvSpPr>
        <p:spPr>
          <a:xfrm>
            <a:off x="6875463" y="3357563"/>
            <a:ext cx="707023" cy="24376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0,A</a:t>
            </a:r>
            <a:endParaRPr dirty="0"/>
          </a:p>
        </p:txBody>
      </p:sp>
      <p:cxnSp>
        <p:nvCxnSpPr>
          <p:cNvPr id="341" name="Google Shape;341;p35"/>
          <p:cNvCxnSpPr/>
          <p:nvPr/>
        </p:nvCxnSpPr>
        <p:spPr>
          <a:xfrm>
            <a:off x="6472238" y="3509963"/>
            <a:ext cx="4032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42" name="Google Shape;342;p35"/>
          <p:cNvSpPr/>
          <p:nvPr/>
        </p:nvSpPr>
        <p:spPr>
          <a:xfrm>
            <a:off x="6875463" y="3716338"/>
            <a:ext cx="1114986" cy="29295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1001,B</a:t>
            </a:r>
            <a:endParaRPr/>
          </a:p>
        </p:txBody>
      </p:sp>
      <p:cxnSp>
        <p:nvCxnSpPr>
          <p:cNvPr id="343" name="Google Shape;343;p35"/>
          <p:cNvCxnSpPr/>
          <p:nvPr/>
        </p:nvCxnSpPr>
        <p:spPr>
          <a:xfrm>
            <a:off x="6516688" y="4437063"/>
            <a:ext cx="4032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44" name="Google Shape;344;p35"/>
          <p:cNvSpPr/>
          <p:nvPr/>
        </p:nvSpPr>
        <p:spPr>
          <a:xfrm>
            <a:off x="6875463" y="4292600"/>
            <a:ext cx="622617" cy="26533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3,B</a:t>
            </a:r>
            <a:endParaRPr/>
          </a:p>
        </p:txBody>
      </p:sp>
      <p:sp>
        <p:nvSpPr>
          <p:cNvPr id="345" name="Google Shape;345;p35"/>
          <p:cNvSpPr/>
          <p:nvPr/>
        </p:nvSpPr>
        <p:spPr>
          <a:xfrm>
            <a:off x="7812088" y="4292601"/>
            <a:ext cx="980220" cy="26533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1003,G</a:t>
            </a:r>
            <a:endParaRPr dirty="0"/>
          </a:p>
        </p:txBody>
      </p:sp>
      <p:graphicFrame>
        <p:nvGraphicFramePr>
          <p:cNvPr id="346" name="Google Shape;346;p35"/>
          <p:cNvGraphicFramePr/>
          <p:nvPr/>
        </p:nvGraphicFramePr>
        <p:xfrm>
          <a:off x="684213" y="3573463"/>
          <a:ext cx="4967250" cy="1112850"/>
        </p:xfrm>
        <a:graphic>
          <a:graphicData uri="http://schemas.openxmlformats.org/drawingml/2006/table">
            <a:tbl>
              <a:tblPr firstRow="1" bandRow="1">
                <a:noFill/>
                <a:tableStyleId>{88447AB1-F131-4BD1-A201-F5CB30871751}</a:tableStyleId>
              </a:tblPr>
              <a:tblGrid>
                <a:gridCol w="827875"/>
                <a:gridCol w="827875"/>
                <a:gridCol w="827875"/>
                <a:gridCol w="827875"/>
                <a:gridCol w="827875"/>
                <a:gridCol w="827875"/>
              </a:tblGrid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Key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1001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1003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1005</a:t>
                      </a:r>
                      <a:endParaRPr sz="1800"/>
                    </a:p>
                  </a:txBody>
                  <a:tcPr marL="91425" marR="91425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h(key)</a:t>
                      </a:r>
                      <a:endParaRPr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25" marR="91425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25" marR="91425" marT="45725" marB="45725"/>
                </a:tc>
              </a:tr>
            </a:tbl>
          </a:graphicData>
        </a:graphic>
      </p:graphicFrame>
      <p:sp>
        <p:nvSpPr>
          <p:cNvPr id="347" name="Google Shape;347;p35"/>
          <p:cNvSpPr/>
          <p:nvPr/>
        </p:nvSpPr>
        <p:spPr>
          <a:xfrm>
            <a:off x="6337300" y="4868863"/>
            <a:ext cx="288925" cy="30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5"/>
          <p:cNvSpPr txBox="1"/>
          <p:nvPr/>
        </p:nvSpPr>
        <p:spPr>
          <a:xfrm>
            <a:off x="6005513" y="4772025"/>
            <a:ext cx="338137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49" name="Google Shape;349;p35"/>
          <p:cNvSpPr/>
          <p:nvPr/>
        </p:nvSpPr>
        <p:spPr>
          <a:xfrm>
            <a:off x="6875463" y="4852988"/>
            <a:ext cx="936625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1005, F</a:t>
            </a:r>
            <a:endParaRPr/>
          </a:p>
        </p:txBody>
      </p:sp>
      <p:cxnSp>
        <p:nvCxnSpPr>
          <p:cNvPr id="350" name="Google Shape;350;p35"/>
          <p:cNvCxnSpPr/>
          <p:nvPr/>
        </p:nvCxnSpPr>
        <p:spPr>
          <a:xfrm>
            <a:off x="6472238" y="5013325"/>
            <a:ext cx="4032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51" name="Google Shape;351;p35"/>
          <p:cNvSpPr/>
          <p:nvPr/>
        </p:nvSpPr>
        <p:spPr>
          <a:xfrm>
            <a:off x="1547813" y="4797425"/>
            <a:ext cx="3324225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h(key) = key mod 1000</a:t>
            </a:r>
            <a:endParaRPr/>
          </a:p>
        </p:txBody>
      </p:sp>
      <p:sp>
        <p:nvSpPr>
          <p:cNvPr id="352" name="Google Shape;352;p35"/>
          <p:cNvSpPr/>
          <p:nvPr/>
        </p:nvSpPr>
        <p:spPr>
          <a:xfrm>
            <a:off x="6443663" y="5373688"/>
            <a:ext cx="16573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Hash table</a:t>
            </a:r>
            <a:endParaRPr/>
          </a:p>
        </p:txBody>
      </p:sp>
      <p:sp>
        <p:nvSpPr>
          <p:cNvPr id="353" name="Google Shape;353;p3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>
            <a:spLocks noGrp="1"/>
          </p:cNvSpPr>
          <p:nvPr>
            <p:ph type="title"/>
          </p:nvPr>
        </p:nvSpPr>
        <p:spPr>
          <a:xfrm>
            <a:off x="1187624" y="764703"/>
            <a:ext cx="6984775" cy="711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Linear probing collions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9" name="Google Shape;359;p3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323528" y="1905000"/>
            <a:ext cx="4032448" cy="433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Open addressing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colliding item is placed in a different cell of the table</a:t>
            </a:r>
            <a:endParaRPr sz="2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probing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handles collisions by placing the colliding item in the next (circularly) available table cell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table cell inspected is referred to as a “probe”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Colliding items lump together, causing future collisions to cause a longer sequence of probes</a:t>
            </a:r>
            <a:endParaRPr dirty="0"/>
          </a:p>
        </p:txBody>
      </p:sp>
      <p:sp>
        <p:nvSpPr>
          <p:cNvPr id="360" name="Google Shape;360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6" descr="Rectangle: Click to edit Master text styles&#10;Second level&#10;Third level&#10;Fourth level&#10;Fifth level"/>
          <p:cNvSpPr txBox="1"/>
          <p:nvPr/>
        </p:nvSpPr>
        <p:spPr>
          <a:xfrm>
            <a:off x="4644008" y="1700808"/>
            <a:ext cx="38100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r>
              <a:rPr lang="en-US" sz="20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</a:t>
            </a:r>
            <a:r>
              <a:rPr lang="en-US" sz="20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keys 18, 41, 22, 44, 59, 32, 31, 73</a:t>
            </a:r>
            <a:endParaRPr/>
          </a:p>
          <a:p>
            <a:pPr marL="742950" marR="0" lvl="1" indent="-158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6"/>
          <p:cNvSpPr/>
          <p:nvPr/>
        </p:nvSpPr>
        <p:spPr>
          <a:xfrm>
            <a:off x="47202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3" name="Google Shape;363;p36"/>
          <p:cNvSpPr/>
          <p:nvPr/>
        </p:nvSpPr>
        <p:spPr>
          <a:xfrm>
            <a:off x="50250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4" name="Google Shape;364;p36"/>
          <p:cNvSpPr/>
          <p:nvPr/>
        </p:nvSpPr>
        <p:spPr>
          <a:xfrm>
            <a:off x="53298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5" name="Google Shape;365;p36"/>
          <p:cNvSpPr/>
          <p:nvPr/>
        </p:nvSpPr>
        <p:spPr>
          <a:xfrm>
            <a:off x="56346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6" name="Google Shape;366;p36"/>
          <p:cNvSpPr/>
          <p:nvPr/>
        </p:nvSpPr>
        <p:spPr>
          <a:xfrm>
            <a:off x="59394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7" name="Google Shape;367;p36"/>
          <p:cNvSpPr/>
          <p:nvPr/>
        </p:nvSpPr>
        <p:spPr>
          <a:xfrm>
            <a:off x="62442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8" name="Google Shape;368;p36"/>
          <p:cNvSpPr/>
          <p:nvPr/>
        </p:nvSpPr>
        <p:spPr>
          <a:xfrm>
            <a:off x="65490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68538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70" name="Google Shape;370;p36"/>
          <p:cNvSpPr/>
          <p:nvPr/>
        </p:nvSpPr>
        <p:spPr>
          <a:xfrm>
            <a:off x="71586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  <p:sp>
        <p:nvSpPr>
          <p:cNvPr id="371" name="Google Shape;371;p36"/>
          <p:cNvSpPr/>
          <p:nvPr/>
        </p:nvSpPr>
        <p:spPr>
          <a:xfrm>
            <a:off x="74634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72" name="Google Shape;372;p36"/>
          <p:cNvSpPr/>
          <p:nvPr/>
        </p:nvSpPr>
        <p:spPr>
          <a:xfrm>
            <a:off x="77682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73" name="Google Shape;373;p36"/>
          <p:cNvSpPr/>
          <p:nvPr/>
        </p:nvSpPr>
        <p:spPr>
          <a:xfrm>
            <a:off x="80730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74" name="Google Shape;374;p36"/>
          <p:cNvSpPr/>
          <p:nvPr/>
        </p:nvSpPr>
        <p:spPr>
          <a:xfrm>
            <a:off x="83778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75" name="Google Shape;375;p36"/>
          <p:cNvSpPr txBox="1"/>
          <p:nvPr/>
        </p:nvSpPr>
        <p:spPr>
          <a:xfrm>
            <a:off x="4723383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376" name="Google Shape;376;p36"/>
          <p:cNvSpPr txBox="1"/>
          <p:nvPr/>
        </p:nvSpPr>
        <p:spPr>
          <a:xfrm>
            <a:off x="5025008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77" name="Google Shape;377;p36"/>
          <p:cNvSpPr txBox="1"/>
          <p:nvPr/>
        </p:nvSpPr>
        <p:spPr>
          <a:xfrm>
            <a:off x="5326633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78" name="Google Shape;378;p36"/>
          <p:cNvSpPr txBox="1"/>
          <p:nvPr/>
        </p:nvSpPr>
        <p:spPr>
          <a:xfrm>
            <a:off x="5628258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79" name="Google Shape;379;p36"/>
          <p:cNvSpPr txBox="1"/>
          <p:nvPr/>
        </p:nvSpPr>
        <p:spPr>
          <a:xfrm>
            <a:off x="5929883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80" name="Google Shape;380;p36"/>
          <p:cNvSpPr txBox="1"/>
          <p:nvPr/>
        </p:nvSpPr>
        <p:spPr>
          <a:xfrm>
            <a:off x="6231508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81" name="Google Shape;381;p36"/>
          <p:cNvSpPr txBox="1"/>
          <p:nvPr/>
        </p:nvSpPr>
        <p:spPr>
          <a:xfrm>
            <a:off x="6533133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382" name="Google Shape;382;p36"/>
          <p:cNvSpPr txBox="1"/>
          <p:nvPr/>
        </p:nvSpPr>
        <p:spPr>
          <a:xfrm>
            <a:off x="6834758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383" name="Google Shape;383;p36"/>
          <p:cNvSpPr txBox="1"/>
          <p:nvPr/>
        </p:nvSpPr>
        <p:spPr>
          <a:xfrm>
            <a:off x="7136383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384" name="Google Shape;384;p36"/>
          <p:cNvSpPr txBox="1"/>
          <p:nvPr/>
        </p:nvSpPr>
        <p:spPr>
          <a:xfrm>
            <a:off x="7438008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385" name="Google Shape;385;p36"/>
          <p:cNvSpPr txBox="1"/>
          <p:nvPr/>
        </p:nvSpPr>
        <p:spPr>
          <a:xfrm>
            <a:off x="7682483" y="45583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386" name="Google Shape;386;p36"/>
          <p:cNvSpPr txBox="1"/>
          <p:nvPr/>
        </p:nvSpPr>
        <p:spPr>
          <a:xfrm>
            <a:off x="7984108" y="45583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387" name="Google Shape;387;p36"/>
          <p:cNvSpPr txBox="1"/>
          <p:nvPr/>
        </p:nvSpPr>
        <p:spPr>
          <a:xfrm>
            <a:off x="8285733" y="45583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/>
          </a:p>
        </p:txBody>
      </p:sp>
      <p:sp>
        <p:nvSpPr>
          <p:cNvPr id="388" name="Google Shape;388;p36"/>
          <p:cNvSpPr/>
          <p:nvPr/>
        </p:nvSpPr>
        <p:spPr>
          <a:xfrm>
            <a:off x="45016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389" name="Google Shape;389;p36"/>
          <p:cNvSpPr/>
          <p:nvPr/>
        </p:nvSpPr>
        <p:spPr>
          <a:xfrm>
            <a:off x="48064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390" name="Google Shape;390;p36"/>
          <p:cNvSpPr/>
          <p:nvPr/>
        </p:nvSpPr>
        <p:spPr>
          <a:xfrm>
            <a:off x="51112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sz="1200" dirty="0"/>
          </a:p>
        </p:txBody>
      </p:sp>
      <p:sp>
        <p:nvSpPr>
          <p:cNvPr id="391" name="Google Shape;391;p36"/>
          <p:cNvSpPr/>
          <p:nvPr/>
        </p:nvSpPr>
        <p:spPr>
          <a:xfrm>
            <a:off x="54160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392" name="Google Shape;392;p36"/>
          <p:cNvSpPr/>
          <p:nvPr/>
        </p:nvSpPr>
        <p:spPr>
          <a:xfrm>
            <a:off x="57208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393" name="Google Shape;393;p36"/>
          <p:cNvSpPr/>
          <p:nvPr/>
        </p:nvSpPr>
        <p:spPr>
          <a:xfrm>
            <a:off x="60256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200"/>
          </a:p>
        </p:txBody>
      </p:sp>
      <p:sp>
        <p:nvSpPr>
          <p:cNvPr id="394" name="Google Shape;394;p36"/>
          <p:cNvSpPr/>
          <p:nvPr/>
        </p:nvSpPr>
        <p:spPr>
          <a:xfrm>
            <a:off x="63304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sz="1200"/>
          </a:p>
        </p:txBody>
      </p:sp>
      <p:sp>
        <p:nvSpPr>
          <p:cNvPr id="395" name="Google Shape;395;p36"/>
          <p:cNvSpPr/>
          <p:nvPr/>
        </p:nvSpPr>
        <p:spPr>
          <a:xfrm>
            <a:off x="66352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59</a:t>
            </a:r>
            <a:endParaRPr sz="1200"/>
          </a:p>
        </p:txBody>
      </p:sp>
      <p:sp>
        <p:nvSpPr>
          <p:cNvPr id="396" name="Google Shape;396;p36"/>
          <p:cNvSpPr/>
          <p:nvPr/>
        </p:nvSpPr>
        <p:spPr>
          <a:xfrm>
            <a:off x="69400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200"/>
          </a:p>
        </p:txBody>
      </p:sp>
      <p:sp>
        <p:nvSpPr>
          <p:cNvPr id="397" name="Google Shape;397;p36"/>
          <p:cNvSpPr/>
          <p:nvPr/>
        </p:nvSpPr>
        <p:spPr>
          <a:xfrm>
            <a:off x="72448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200"/>
          </a:p>
        </p:txBody>
      </p:sp>
      <p:sp>
        <p:nvSpPr>
          <p:cNvPr id="398" name="Google Shape;398;p36"/>
          <p:cNvSpPr/>
          <p:nvPr/>
        </p:nvSpPr>
        <p:spPr>
          <a:xfrm>
            <a:off x="75496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1200"/>
          </a:p>
        </p:txBody>
      </p:sp>
      <p:sp>
        <p:nvSpPr>
          <p:cNvPr id="399" name="Google Shape;399;p36"/>
          <p:cNvSpPr/>
          <p:nvPr/>
        </p:nvSpPr>
        <p:spPr>
          <a:xfrm>
            <a:off x="78544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sz="1200"/>
          </a:p>
        </p:txBody>
      </p:sp>
      <p:sp>
        <p:nvSpPr>
          <p:cNvPr id="400" name="Google Shape;400;p36"/>
          <p:cNvSpPr/>
          <p:nvPr/>
        </p:nvSpPr>
        <p:spPr>
          <a:xfrm>
            <a:off x="81592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401" name="Google Shape;401;p36"/>
          <p:cNvSpPr txBox="1"/>
          <p:nvPr/>
        </p:nvSpPr>
        <p:spPr>
          <a:xfrm>
            <a:off x="4540499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4842124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dirty="0"/>
          </a:p>
        </p:txBody>
      </p:sp>
      <p:sp>
        <p:nvSpPr>
          <p:cNvPr id="403" name="Google Shape;403;p36"/>
          <p:cNvSpPr txBox="1"/>
          <p:nvPr/>
        </p:nvSpPr>
        <p:spPr>
          <a:xfrm>
            <a:off x="5143749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04" name="Google Shape;404;p36"/>
          <p:cNvSpPr txBox="1"/>
          <p:nvPr/>
        </p:nvSpPr>
        <p:spPr>
          <a:xfrm>
            <a:off x="5445374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405" name="Google Shape;405;p36"/>
          <p:cNvSpPr txBox="1"/>
          <p:nvPr/>
        </p:nvSpPr>
        <p:spPr>
          <a:xfrm>
            <a:off x="5746999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406" name="Google Shape;406;p36"/>
          <p:cNvSpPr txBox="1"/>
          <p:nvPr/>
        </p:nvSpPr>
        <p:spPr>
          <a:xfrm>
            <a:off x="6048624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407" name="Google Shape;407;p36"/>
          <p:cNvSpPr txBox="1"/>
          <p:nvPr/>
        </p:nvSpPr>
        <p:spPr>
          <a:xfrm>
            <a:off x="6350249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408" name="Google Shape;408;p36"/>
          <p:cNvSpPr txBox="1"/>
          <p:nvPr/>
        </p:nvSpPr>
        <p:spPr>
          <a:xfrm>
            <a:off x="6651874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409" name="Google Shape;409;p36"/>
          <p:cNvSpPr txBox="1"/>
          <p:nvPr/>
        </p:nvSpPr>
        <p:spPr>
          <a:xfrm>
            <a:off x="6953499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410" name="Google Shape;410;p36"/>
          <p:cNvSpPr txBox="1"/>
          <p:nvPr/>
        </p:nvSpPr>
        <p:spPr>
          <a:xfrm>
            <a:off x="7255124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411" name="Google Shape;411;p36"/>
          <p:cNvSpPr txBox="1"/>
          <p:nvPr/>
        </p:nvSpPr>
        <p:spPr>
          <a:xfrm>
            <a:off x="7499599" y="57775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412" name="Google Shape;412;p36"/>
          <p:cNvSpPr txBox="1"/>
          <p:nvPr/>
        </p:nvSpPr>
        <p:spPr>
          <a:xfrm>
            <a:off x="7801224" y="57775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413" name="Google Shape;413;p36"/>
          <p:cNvSpPr txBox="1"/>
          <p:nvPr/>
        </p:nvSpPr>
        <p:spPr>
          <a:xfrm>
            <a:off x="8102849" y="57775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/>
          </a:p>
        </p:txBody>
      </p:sp>
      <p:sp>
        <p:nvSpPr>
          <p:cNvPr id="414" name="Google Shape;414;p36"/>
          <p:cNvSpPr/>
          <p:nvPr/>
        </p:nvSpPr>
        <p:spPr>
          <a:xfrm>
            <a:off x="6549008" y="4977408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 Functions</a:t>
            </a:r>
            <a:endParaRPr/>
          </a:p>
        </p:txBody>
      </p:sp>
      <p:sp>
        <p:nvSpPr>
          <p:cNvPr id="420" name="Google Shape;420;p3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2057400"/>
            <a:ext cx="813048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hash function: </a:t>
            </a:r>
            <a:r>
              <a:rPr lang="en-US" sz="2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h(key)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mod </a:t>
            </a:r>
            <a:r>
              <a:rPr lang="en-US" sz="2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endParaRPr sz="2800" b="0" i="1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number </a:t>
            </a:r>
            <a:r>
              <a:rPr lang="en-US" sz="2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should be a prime number to avoid 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many collisions as possible.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342900" marR="0" lvl="1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{200, 205, 210, 215,.., 600}: 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collisions with N=100</a:t>
            </a:r>
            <a:endParaRPr/>
          </a:p>
          <a:p>
            <a:pPr marL="74295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collision with N=101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</a:t>
            </a:r>
            <a:endParaRPr/>
          </a:p>
        </p:txBody>
      </p:sp>
      <p:graphicFrame>
        <p:nvGraphicFramePr>
          <p:cNvPr id="427" name="Google Shape;427;p38"/>
          <p:cNvGraphicFramePr/>
          <p:nvPr/>
        </p:nvGraphicFramePr>
        <p:xfrm>
          <a:off x="685800" y="1966277"/>
          <a:ext cx="7630625" cy="3931930"/>
        </p:xfrm>
        <a:graphic>
          <a:graphicData uri="http://schemas.openxmlformats.org/drawingml/2006/table">
            <a:tbl>
              <a:tblPr>
                <a:noFill/>
                <a:tableStyleId>{C0A538C6-32B3-4E5F-A80F-B44198F3D54E}</a:tableStyleId>
              </a:tblPr>
              <a:tblGrid>
                <a:gridCol w="7630625"/>
              </a:tblGrid>
              <a:tr h="3838975"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Char char="➢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Digital signatures </a:t>
                      </a:r>
                      <a:endParaRPr/>
                    </a:p>
                    <a:p>
                      <a:pPr marL="285750" marR="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Char char="➢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Message-authentication code (MAC)</a:t>
                      </a:r>
                      <a:endParaRPr/>
                    </a:p>
                    <a:p>
                      <a:pPr marL="285750" marR="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Char char="➢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Password tables </a:t>
                      </a:r>
                      <a:endParaRPr/>
                    </a:p>
                    <a:p>
                      <a:pPr marL="285750" marR="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Char char="➢"/>
                      </a:pPr>
                      <a:r>
                        <a:rPr lang="en-US" sz="2800" b="0" i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Key updating: key is hashed at specific intervals resulting in new key</a:t>
                      </a:r>
                      <a:endParaRPr/>
                    </a:p>
                    <a:p>
                      <a:pPr marL="285750" marR="0" lvl="0" indent="-1079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endParaRPr sz="2800" b="0" i="0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28" name="Google Shape;428;p3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9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 operations with Separate Chaining used for Collisions</a:t>
            </a:r>
            <a:endParaRPr/>
          </a:p>
        </p:txBody>
      </p:sp>
      <p:sp>
        <p:nvSpPr>
          <p:cNvPr id="434" name="Google Shape;434;p3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524000"/>
            <a:ext cx="777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A[h(k)] 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a linked list to store the map of all elements whose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 values are h(k).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sz="2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		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)]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);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sz="2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k,v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)]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k,v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);	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	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)]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k);</a:t>
            </a:r>
            <a:endParaRPr sz="2000" b="0" i="1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5" name="Google Shape;435;p3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0"/>
          <p:cNvSpPr txBox="1">
            <a:spLocks noGrp="1"/>
          </p:cNvSpPr>
          <p:nvPr>
            <p:ph type="title"/>
          </p:nvPr>
        </p:nvSpPr>
        <p:spPr>
          <a:xfrm>
            <a:off x="900113" y="908050"/>
            <a:ext cx="5562600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Performance and applications</a:t>
            </a:r>
            <a:endParaRPr/>
          </a:p>
        </p:txBody>
      </p:sp>
      <p:sp>
        <p:nvSpPr>
          <p:cNvPr id="441" name="Google Shape;441;p4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16113"/>
            <a:ext cx="7262813" cy="417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the worst case, searches, insertions and removals on a hash table take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load factor </a:t>
            </a:r>
            <a:r>
              <a:rPr lang="en-US" sz="2000" b="1" i="1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/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affects the performance of a hash table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practice, hashing is very fast provided the load factor is not close to 100%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expected running time of map operations in a hash table is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442" name="Google Shape;442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76200"/>
            <a:ext cx="2462213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1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</a:t>
            </a:r>
            <a:endParaRPr/>
          </a:p>
        </p:txBody>
      </p:sp>
      <p:sp>
        <p:nvSpPr>
          <p:cNvPr id="449" name="Google Shape;449;p41"/>
          <p:cNvSpPr txBox="1">
            <a:spLocks noGrp="1"/>
          </p:cNvSpPr>
          <p:nvPr>
            <p:ph type="body" idx="1"/>
          </p:nvPr>
        </p:nvSpPr>
        <p:spPr>
          <a:xfrm>
            <a:off x="685800" y="1844675"/>
            <a:ext cx="7772400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Noto Sans Symbols"/>
              <a:buChar char="➢"/>
            </a:pPr>
            <a:r>
              <a:rPr lang="en-US" sz="204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list of students (id, name): 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Noto Sans Symbols"/>
              <a:buNone/>
            </a:pPr>
            <a:r>
              <a:rPr lang="en-US" sz="204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(1,A), (3,B), (10, C), (54, D) , (9, A)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task is to propose a hash function, and draw the hash table with the proposed hash function using both collision handling methods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endParaRPr sz="1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Noto Sans Symbols"/>
              <a:buChar char="➢"/>
            </a:pPr>
            <a:r>
              <a:rPr lang="en-US" sz="204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list of students (id, name): 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Noto Sans Symbols"/>
              <a:buNone/>
            </a:pPr>
            <a:r>
              <a:rPr lang="en-US" sz="204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(7,A), (3,B), (11, C), (4, D) , (8, G), (16, E), (21, B), (5, G)</a:t>
            </a:r>
            <a:endParaRPr sz="204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task is to propose a hash function, and draw the hash table with the proposed hash function using both collision handling methods</a:t>
            </a:r>
            <a:endParaRPr sz="1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endParaRPr sz="1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0" name="Google Shape;450;p4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4E2D2A5E-DF4E-4141-AB83-A9EFA91FA8CB}"/>
  <p:tag name="ISPRING_RESOURCE_FOLDER" val="C:\Users\Administrator\Documents\CTDL&amp;GT\Cai tien MH CTDL_GT\CTDL_GT\Slides and exercises\Lecture04_set_map_hash\Lecture 4_set_map_hash\"/>
  <p:tag name="ISPRING_PRESENTATION_PATH" val="C:\Users\Administrator\Documents\CTDL&amp;GT\Cai tien MH CTDL_GT\CTDL_GT\Slides and exercises\Lecture04_set_map_hash\Lecture 4_set_map_hash.pptx"/>
  <p:tag name="ISPRING_PROJECT_VERSION" val="9"/>
  <p:tag name="ISPRING_PROJECT_FOLDER_UPDATED" val="1"/>
  <p:tag name="ISPRING_SCREEN_RECS_UPDATED" val="C:\Users\Administrator\Documents\CTDL&amp;GT\Cai tien MH CTDL_GT\CTDL_GT\Slides and exercises\Lecture04_set_map_hash\Lecture 4_set_map_hash\"/>
  <p:tag name="FLASHSPRING_ZOOM_TAG" val="62"/>
  <p:tag name="ISPRING_PRESENTATION_INFO_2" val="&lt;?xml version=&quot;1.0&quot; encoding=&quot;UTF-8&quot; standalone=&quot;no&quot; ?&gt;&#10;&lt;presentation2&gt;&#10;&#10;  &lt;slides&gt;&#10;    &lt;slide id=&quot;{B2A589BD-37AA-41D0-BD93-8C639D4CB025}&quot; pptId=&quot;256&quot;/&gt;&#10;    &lt;slide id=&quot;{C8053346-FCB3-493B-A4E8-4992D7188ED8}&quot; pptId=&quot;257&quot;/&gt;&#10;    &lt;slide id=&quot;{429CBAFF-E5E0-4382-A38C-04BDDDE44AD7}&quot; pptId=&quot;258&quot;/&gt;&#10;    &lt;slide id=&quot;{BB7C671D-42A9-4DC1-B676-B9FC9B99932F}&quot; pptId=&quot;259&quot;/&gt;&#10;    &lt;slide id=&quot;{B4D1C66E-7A15-41AE-9081-D6DB9D9D3F2E}&quot; pptId=&quot;260&quot;/&gt;&#10;    &lt;slide id=&quot;{C11155B0-8B19-4F2E-91ED-08CAD777B128}&quot; pptId=&quot;261&quot;/&gt;&#10;    &lt;slide id=&quot;{567AA22A-52FA-4BA9-A252-F172E67BCC84}&quot; pptId=&quot;262&quot;/&gt;&#10;    &lt;slide id=&quot;{9F319187-8A13-4DFF-A4BB-D11F8DCA38BE}&quot; pptId=&quot;263&quot;/&gt;&#10;    &lt;slide id=&quot;{1FB628C7-AA08-4B43-8E15-1D838AC913DB}&quot; pptId=&quot;264&quot;/&gt;&#10;    &lt;slide id=&quot;{C24E37F8-481D-49E9-8DA3-B8ED8E95F651}&quot; pptId=&quot;265&quot;/&gt;&#10;    &lt;slide id=&quot;{AF345620-E5A2-498E-B593-E03F1A0162B1}&quot; pptId=&quot;266&quot;/&gt;&#10;    &lt;slide id=&quot;{CBD499CC-B548-4640-A47E-900022AA4A0B}&quot; pptId=&quot;267&quot;/&gt;&#10;    &lt;slide id=&quot;{E57B0586-910D-4D85-A62E-179ABAB26B4E}&quot; pptId=&quot;268&quot;/&gt;&#10;    &lt;slide id=&quot;{97950C9C-EF93-46E5-BE47-D71EB6B1F9F5}&quot; pptId=&quot;269&quot;/&gt;&#10;    &lt;slide id=&quot;{C8892267-7AAE-4223-98DC-2B3EE0810C1B}&quot; pptId=&quot;270&quot;/&gt;&#10;    &lt;slide id=&quot;{3B5C659A-72AC-4C99-98B1-D5ABE1E1651B}&quot; pptId=&quot;271&quot;/&gt;&#10;    &lt;slide id=&quot;{BB6F961F-E919-4F2E-B4FC-36CF45DF5D5A}&quot; pptId=&quot;272&quot;/&gt;&#10;    &lt;slide id=&quot;{3066890C-833D-4934-B334-2A727568CE29}&quot; pptId=&quot;273&quot;/&gt;&#10;    &lt;slide id=&quot;{577898D8-A27C-45A0-AE84-16DE9A465BE7}&quot; pptId=&quot;274&quot;/&gt;&#10;    &lt;slide id=&quot;{CB869CBC-EFA1-4EC2-B1D9-CF730E350DFB}&quot; pptId=&quot;275&quot;/&gt;&#10;    &lt;slide id=&quot;{6A1B3F13-F29A-4EE8-8995-9C162EB357FF}&quot; pptId=&quot;276&quot;/&gt;&#10;    &lt;slide id=&quot;{DFCEBE5B-7CD2-40CA-AF1D-0F82E30A87B6}&quot; pptId=&quot;277&quot;/&gt;&#10;    &lt;slide id=&quot;{C29E51CC-5127-41CB-9E97-91EFEB508279}&quot; pptId=&quot;278&quot;/&gt;&#10;    &lt;slide id=&quot;{B6DE34C1-5E12-4E8D-87CA-02AA0F1D909E}&quot; pptId=&quot;279&quot;/&gt;&#10;    &lt;slide id=&quot;{852C5FFA-6A2D-40BC-AD90-6F53487FB9B0}&quot; pptId=&quot;280&quot;/&gt;&#10;    &lt;slide id=&quot;{2C5A6156-D87E-481E-BDB2-8C1B24928A39}&quot; pptId=&quot;281&quot;/&gt;&#10;    &lt;slide id=&quot;{2E392512-8ADB-400C-9F79-103849C79362}&quot; pptId=&quot;282&quot;/&gt;&#10;    &lt;slide id=&quot;{00A5C82D-7F29-4AAD-8C36-4CBCE1F28BA0}&quot; pptId=&quot;283&quot;/&gt;&#10;    &lt;slide id=&quot;{2DFE6AFB-E4CC-4C66-898A-884233D4BDAE}&quot; pptId=&quot;284&quot;/&gt;&#10;  &lt;/slides&gt;&#10;&#10;  &lt;narration&gt;&#10;    &lt;audioTracks&gt;&#10;      &lt;audioTrack muted=&quot;false&quot; name=&quot;Lect 4 part 1&quot; resource=&quot;e2ed68d4&quot; slideId=&quot;{B2A589BD-37AA-41D0-BD93-8C639D4CB025}&quot; startTime=&quot;0&quot; stepIndex=&quot;0&quot; volume=&quot;1&quot;&gt;&#10;        &lt;audio channels=&quot;1&quot; format=&quot;s16&quot; sampleRate=&quot;48000&quot;/&gt;&#10;      &lt;/audioTrack&gt;&#10;      &lt;audioTrack muted=&quot;false&quot; name=&quot;Lect 2 part 2&quot; resource=&quot;fc5fc86c&quot; slideId=&quot;{577898D8-A27C-45A0-AE84-16DE9A465BE7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1045997C-D085-4ADF-8DBB-285F79F2EF6D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4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4_set_map_hash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2A589BD-37AA-41D0-BD93-8C639D4CB025}"/>
  <p:tag name="GENSWF_ADVANCE_TIME" val="4.538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8053346-FCB3-493B-A4E8-4992D7188ED8}"/>
  <p:tag name="GENSWF_ADVANCE_TIME" val="4.846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29CBAFF-E5E0-4382-A38C-04BDDDE44AD7}"/>
  <p:tag name="GENSWF_ADVANCE_TIME" val="6.694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B7C671D-42A9-4DC1-B676-B9FC9B99932F}"/>
  <p:tag name="GENSWF_ADVANCE_TIME" val="18.398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4D1C66E-7A15-41AE-9081-D6DB9D9D3F2E}"/>
  <p:tag name="GENSWF_ADVANCE_TIME" val="14.856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11155B0-8B19-4F2E-91ED-08CAD777B128}"/>
  <p:tag name="GENSWF_ADVANCE_TIME" val="12.854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67AA22A-52FA-4BA9-A252-F172E67BCC84}"/>
  <p:tag name="GENSWF_ADVANCE_TIME" val="10.544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F319187-8A13-4DFF-A4BB-D11F8DCA38BE}"/>
  <p:tag name="GENSWF_ADVANCE_TIME" val="11.468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FB628C7-AA08-4B43-8E15-1D838AC913DB}"/>
  <p:tag name="GENSWF_ADVANCE_TIME" val="9.466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24E37F8-481D-49E9-8DA3-B8ED8E95F651}"/>
  <p:tag name="GENSWF_ADVANCE_TIME" val="19.322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F345620-E5A2-498E-B593-E03F1A0162B1}"/>
  <p:tag name="GENSWF_ADVANCE_TIME" val="6.54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BD499CC-B548-4640-A47E-900022AA4A0B}"/>
  <p:tag name="GENSWF_ADVANCE_TIME" val="15.318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57B0586-910D-4D85-A62E-179ABAB26B4E}"/>
  <p:tag name="GENSWF_ADVANCE_TIME" val="24.404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7950C9C-EF93-46E5-BE47-D71EB6B1F9F5}"/>
  <p:tag name="GENSWF_ADVANCE_TIME" val="7.926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8892267-7AAE-4223-98DC-2B3EE0810C1B}"/>
  <p:tag name="GENSWF_ADVANCE_TIME" val="8.542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B5C659A-72AC-4C99-98B1-D5ABE1E1651B}"/>
  <p:tag name="GENSWF_ADVANCE_TIME" val="6.694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B6F961F-E919-4F2E-B4FC-36CF45DF5D5A}"/>
  <p:tag name="GENSWF_ADVANCE_TIME" val="8.091"/>
  <p:tag name="ISPRING_CUSTOM_TIMING_US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066890C-833D-4934-B334-2A727568CE29}"/>
  <p:tag name="GENSWF_ADVANCE_TIME" val="3.234"/>
  <p:tag name="ISPRING_CUSTOM_TIMING_USED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77898D8-A27C-45A0-AE84-16DE9A465BE7}"/>
  <p:tag name="GENSWF_ADVANCE_TIME" val="2.074"/>
  <p:tag name="ISPRING_CUSTOM_TIMING_USE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B869CBC-EFA1-4EC2-B1D9-CF730E350DFB}"/>
  <p:tag name="GENSWF_ADVANCE_TIME" val="36.108"/>
  <p:tag name="ISPRING_CUSTOM_TIMING_US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A1B3F13-F29A-4EE8-8995-9C162EB357FF}"/>
  <p:tag name="GENSWF_ADVANCE_TIME" val="13.316"/>
  <p:tag name="ISPRING_CUSTOM_TIMING_USED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FCEBE5B-7CD2-40CA-AF1D-0F82E30A87B6}"/>
  <p:tag name="GENSWF_ADVANCE_TIME" val="13.008"/>
  <p:tag name="ISPRING_CUSTOM_TIMING_USED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29E51CC-5127-41CB-9E97-91EFEB508279}"/>
  <p:tag name="GENSWF_ADVANCE_TIME" val="9.774"/>
  <p:tag name="ISPRING_CUSTOM_TIMING_USED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6DE34C1-5E12-4E8D-87CA-02AA0F1D909E}"/>
  <p:tag name="GENSWF_ADVANCE_TIME" val="27.33"/>
  <p:tag name="ISPRING_CUSTOM_TIMING_USED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52C5FFA-6A2D-40BC-AD90-6F53487FB9B0}"/>
  <p:tag name="GENSWF_ADVANCE_TIME" val="5"/>
  <p:tag name="ISPRING_CUSTOM_TIMING_USED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C5A6156-D87E-481E-BDB2-8C1B24928A39}"/>
  <p:tag name="GENSWF_ADVANCE_TIME" val="8.234"/>
  <p:tag name="ISPRING_CUSTOM_TIMING_USED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E392512-8ADB-400C-9F79-103849C79362}"/>
  <p:tag name="GENSWF_ADVANCE_TIME" val="9.466"/>
  <p:tag name="ISPRING_CUSTOM_TIMING_USED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0A5C82D-7F29-4AAD-8C36-4CBCE1F28BA0}"/>
  <p:tag name="GENSWF_ADVANCE_TIME" val="28.254"/>
  <p:tag name="ISPRING_CUSTOM_TIMING_USED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DFE6AFB-E4CC-4C66-898A-884233D4BDAE}"/>
  <p:tag name="GENSWF_ADVANCE_TIME" val="5"/>
  <p:tag name="ISPRING_CUSTOM_TIMING_USED" val="1"/>
</p:tagLst>
</file>

<file path=ppt/theme/theme1.xml><?xml version="1.0" encoding="utf-8"?>
<a:theme xmlns:a="http://schemas.openxmlformats.org/drawingml/2006/main" name="1_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1349</Words>
  <Application>Microsoft Office PowerPoint</Application>
  <PresentationFormat>On-screen Show (4:3)</PresentationFormat>
  <Paragraphs>463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Helvetica Neue</vt:lpstr>
      <vt:lpstr>Times New Roman</vt:lpstr>
      <vt:lpstr>Noto Sans Symbols</vt:lpstr>
      <vt:lpstr>Verdana</vt:lpstr>
      <vt:lpstr>Helvetica</vt:lpstr>
      <vt:lpstr>1_Koi</vt:lpstr>
      <vt:lpstr>Set, Map and Hash table</vt:lpstr>
      <vt:lpstr>Set</vt:lpstr>
      <vt:lpstr>Set operations</vt:lpstr>
      <vt:lpstr>Set operations Union</vt:lpstr>
      <vt:lpstr>Set operations Intersection</vt:lpstr>
      <vt:lpstr>Set operations Minus</vt:lpstr>
      <vt:lpstr>Using set library</vt:lpstr>
      <vt:lpstr>Maps</vt:lpstr>
      <vt:lpstr>The map operations</vt:lpstr>
      <vt:lpstr>Example</vt:lpstr>
      <vt:lpstr>A Simple List-Based Map</vt:lpstr>
      <vt:lpstr>The get(k) Algorithm</vt:lpstr>
      <vt:lpstr>The put(k,v) Algorithm</vt:lpstr>
      <vt:lpstr>The remove(k) Algorithm</vt:lpstr>
      <vt:lpstr>Performance of a List-Based Map</vt:lpstr>
      <vt:lpstr>Using map library</vt:lpstr>
      <vt:lpstr>Simple map</vt:lpstr>
      <vt:lpstr>Complexity of simple map operations</vt:lpstr>
      <vt:lpstr>Hash Tables</vt:lpstr>
      <vt:lpstr>Hash Functions</vt:lpstr>
      <vt:lpstr>Hash Tables </vt:lpstr>
      <vt:lpstr>Collision</vt:lpstr>
      <vt:lpstr>Collision Handling</vt:lpstr>
      <vt:lpstr>Linear probing collions</vt:lpstr>
      <vt:lpstr>Hash Functions</vt:lpstr>
      <vt:lpstr>Applications</vt:lpstr>
      <vt:lpstr>Map operations with Separate Chaining used for Collisions</vt:lpstr>
      <vt:lpstr>Performance and applications</vt:lpstr>
      <vt:lpstr>Exercises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4_set_map_hash</dc:title>
  <cp:lastModifiedBy>DHQG</cp:lastModifiedBy>
  <cp:revision>23</cp:revision>
  <dcterms:modified xsi:type="dcterms:W3CDTF">2019-03-22T12:20:57Z</dcterms:modified>
</cp:coreProperties>
</file>