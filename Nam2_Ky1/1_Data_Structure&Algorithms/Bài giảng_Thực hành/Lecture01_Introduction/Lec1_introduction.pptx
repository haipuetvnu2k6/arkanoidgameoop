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embeddedFontLst>
    <p:embeddedFont>
      <p:font typeface="Helvetica Neue" charset="0"/>
      <p:regular r:id="rId26"/>
      <p:bold r:id="rId27"/>
      <p:italic r:id="rId28"/>
      <p:bold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A3D5AA8C-0ECF-4D8A-974D-29C5856CC0C8}">
  <a:tblStyle styleId="{A3D5AA8C-0ECF-4D8A-974D-29C5856CC0C8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1: Introduction to data structures and algorithms</a:t>
            </a:r>
            <a:endParaRPr sz="24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and algorithms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Industrial problems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types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data structures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description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programs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382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Char char="➢"/>
            </a:pPr>
            <a:r>
              <a:rPr lang="en-US" sz="248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computer program? </a:t>
            </a:r>
            <a:endParaRPr/>
          </a:p>
          <a:p>
            <a:pPr marL="400050" marR="0" lvl="1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None/>
            </a:pPr>
            <a:r>
              <a:rPr lang="en-US" sz="217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computer program </a:t>
            </a:r>
            <a:r>
              <a:rPr lang="en-US" sz="217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set of instructions that perform specific tasks when executed by computers.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Char char="➢"/>
            </a:pPr>
            <a:r>
              <a:rPr lang="en-US" sz="248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good computer program?	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Simple/Understandable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change/maintain and upgrade</a:t>
            </a:r>
            <a:endParaRPr/>
          </a:p>
          <a:p>
            <a:pPr marL="457200" marR="0" lvl="0" indent="-2997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Helvetica Neue"/>
              <a:buNone/>
            </a:pPr>
            <a:endParaRPr sz="24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FF0000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“Program = Algorithms + Data structures”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N. Wirth</a:t>
            </a:r>
            <a:endParaRPr/>
          </a:p>
          <a:p>
            <a:pPr marL="457200" marR="0" lvl="0" indent="-2997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Helvetica Neue"/>
              <a:buNone/>
            </a:pPr>
            <a:endParaRPr sz="24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1143000" marR="0" lvl="2" indent="-110489" algn="l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endParaRPr sz="186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147955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None/>
            </a:pPr>
            <a:endParaRPr sz="21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structures?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data structure? </a:t>
            </a:r>
            <a:endParaRPr/>
          </a:p>
          <a:p>
            <a:pPr marL="400050" marR="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None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 structure is a particular way of storing and organizing data so that they can be used efficiently.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None/>
            </a:pP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good data structure?</a:t>
            </a: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Correctness (satisfy requirements)</a:t>
            </a:r>
            <a:endParaRPr/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efficiency </a:t>
            </a:r>
            <a:endParaRPr/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Simple/understandable </a:t>
            </a:r>
            <a:endParaRPr/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Implementable	</a:t>
            </a: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None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data structures</a:t>
            </a:r>
            <a:endParaRPr/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</a:t>
            </a: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</a:t>
            </a: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57250" marR="0" lvl="1" indent="-45720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❖"/>
            </a:pPr>
            <a:r>
              <a:rPr lang="en-US" sz="1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Map/Dictionary</a:t>
            </a: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None/>
            </a:pPr>
            <a:endParaRPr sz="1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None/>
            </a:pPr>
            <a:endParaRPr sz="22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Algorithms?	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algorithm?</a:t>
            </a:r>
            <a:endParaRPr/>
          </a:p>
          <a:p>
            <a:pPr marL="342900" marR="0" lvl="0" indent="-34290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 algorithm is a step by step procedure to solve a problem. An algorithm can be described by nature languages (English, Vietnamese...) or programming languages (C++, Java, Python…)</a:t>
            </a:r>
            <a:endParaRPr/>
          </a:p>
          <a:p>
            <a:pPr marL="342900" marR="0" lvl="0" indent="-34290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Example:  How to cook rice?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Get rice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Rinse the rice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Put the rice and water into a rice cooker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Turn on the rice cooker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Check the rice when the rice cooker turns off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good algorithm?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Simple/understandable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Implementable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Searching problem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endParaRPr sz="24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Given a list of numbers sorted increasingly, describe an algorithm to check if a number </a:t>
            </a:r>
            <a:r>
              <a:rPr lang="en-US" sz="248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the list.</a:t>
            </a:r>
            <a:endParaRPr sz="248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endParaRPr sz="248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Char char="➢"/>
            </a:pPr>
            <a:r>
              <a:rPr lang="en-US" sz="248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Naïve searching algorithm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r>
              <a:rPr lang="en-US" sz="24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Moving from the begin to the end of the list to check if </a:t>
            </a:r>
            <a:r>
              <a:rPr lang="en-US" sz="248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the list.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None/>
            </a:pPr>
            <a:endParaRPr sz="24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Font typeface="Noto Sans Symbols"/>
              <a:buChar char="➢"/>
            </a:pPr>
            <a:r>
              <a:rPr lang="en-US" sz="248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algorithm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None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</a:t>
            </a:r>
            <a:r>
              <a:rPr lang="en-US" sz="217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number at the middle of the list: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they are equal, finish the searching process.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17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smaller, perform the search in the first half of the list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Noto Sans Symbols"/>
              <a:buChar char="❖"/>
            </a:pP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17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17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greater, perform the search in the last half of the list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279"/>
              </a:spcBef>
              <a:spcAft>
                <a:spcPts val="0"/>
              </a:spcAft>
              <a:buClr>
                <a:schemeClr val="dk1"/>
              </a:buClr>
              <a:buSzPts val="1395"/>
              <a:buFont typeface="Noto Sans Symbols"/>
              <a:buNone/>
            </a:pPr>
            <a:endParaRPr sz="1395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838200"/>
            <a:ext cx="73152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1447800" y="228600"/>
            <a:ext cx="62484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Google search</a:t>
            </a:r>
            <a:endParaRPr sz="32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shortest path (Google map)</a:t>
            </a:r>
            <a:endParaRPr/>
          </a:p>
        </p:txBody>
      </p:sp>
      <p:pic>
        <p:nvPicPr>
          <p:cNvPr id="146" name="Google Shape;146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204118"/>
            <a:ext cx="7948931" cy="4968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457200" y="1524001"/>
            <a:ext cx="85344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A salesman needs to visit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customers 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different locations. Find the shortest path for the salesman such as he visits each location exactly once and finally returns to the start location.</a:t>
            </a:r>
            <a:endParaRPr/>
          </a:p>
          <a:p>
            <a:pPr marL="857250" marR="0" lvl="1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3047678"/>
            <a:ext cx="4800600" cy="319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8077200" cy="117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 1: The roles of data structures and algorithms 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2743200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1600" y="3048000"/>
            <a:ext cx="2730500" cy="15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 2: The roles of data structures and algorithms </a:t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19812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0" y="2819400"/>
            <a:ext cx="4711700" cy="17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types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24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 type is specified by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range of values or the values it can hold.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 on values</a:t>
            </a:r>
            <a:endParaRPr/>
          </a:p>
          <a:p>
            <a: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84" name="Google Shape;184;p24"/>
          <p:cNvGraphicFramePr/>
          <p:nvPr/>
        </p:nvGraphicFramePr>
        <p:xfrm>
          <a:off x="990600" y="3733800"/>
          <a:ext cx="7086600" cy="2541200"/>
        </p:xfrm>
        <a:graphic>
          <a:graphicData uri="http://schemas.openxmlformats.org/drawingml/2006/table">
            <a:tbl>
              <a:tblPr firstRow="1" bandRow="1">
                <a:noFill/>
                <a:tableStyleId>{A3D5AA8C-0ECF-4D8A-974D-29C5856CC0C8}</a:tableStyleId>
              </a:tblPr>
              <a:tblGrid>
                <a:gridCol w="880375"/>
                <a:gridCol w="2745250"/>
                <a:gridCol w="3460975"/>
              </a:tblGrid>
              <a:tr h="1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range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</a:tr>
              <a:tr h="305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/ false		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and, or, not, 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[-127, 127]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‘&lt;‘,  ‘&gt;’, ‘=’, ‘+’,  ‘-’,  ‘*’,  ‘/’ 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-32,767 -&gt; 32,767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‘&lt;‘,   ‘&gt;’,  ‘=’, ‘+’,  ‘-’,  ‘*’,  ‘/’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05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~1E-37 -&gt; ~1E+37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‘&lt;‘,  ‘&gt;’, ‘=’, ‘+’,  ‘-’,  ‘*’,  ‘/’ 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05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~1.7E-308 -&gt;  ~1.7E+308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‘&lt;‘,  ‘&gt;’, ‘=’, ‘+’,  ‘-’,  ‘*’,  ‘/’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data types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What data type to present a point on the plane?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Programming languages provide rules to define a new data type T from defined data types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in C++: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 PersonType {				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string	name;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	age;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bool	gender;	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 sz="20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Structured data types</a:t>
            </a:r>
            <a:endParaRPr sz="32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present a point on the plane?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  PointType {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double 	x;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double 	y;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present a line on the plane?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struct  LineType {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PointType	start;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PointType	end;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Structured data types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33400" y="1676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 data structure to present student information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1360"/>
              <a:buFont typeface="Noto Sans Symbols"/>
              <a:buNone/>
            </a:pPr>
            <a:r>
              <a:rPr lang="en-US" sz="13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3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 StudentType {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None/>
            </a:pPr>
            <a:r>
              <a:rPr lang="en-US" sz="23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string 	name;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None/>
            </a:pPr>
            <a:r>
              <a:rPr lang="en-US" sz="23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	age;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None/>
            </a:pPr>
            <a:r>
              <a:rPr lang="en-US" sz="23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bool	gender;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None/>
            </a:pPr>
            <a:r>
              <a:rPr lang="en-US" sz="238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 data structure to present our class information</a:t>
            </a:r>
            <a:endParaRPr/>
          </a:p>
          <a:p>
            <a:pPr marL="1143000" marR="0" lvl="2" indent="-2286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 ClassType{</a:t>
            </a:r>
            <a:endParaRPr/>
          </a:p>
          <a:p>
            <a:pPr marL="1143000" marR="0" lvl="2" indent="-2286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string		className;</a:t>
            </a:r>
            <a:endParaRPr/>
          </a:p>
          <a:p>
            <a:pPr marL="1143000" marR="0" lvl="2" indent="-2286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		numberStudents;</a:t>
            </a:r>
            <a:endParaRPr/>
          </a:p>
          <a:p>
            <a:pPr marL="1143000" marR="0" lvl="2" indent="-2286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StudentType	students[100];</a:t>
            </a:r>
            <a:endParaRPr/>
          </a:p>
          <a:p>
            <a:pPr marL="1143000" marR="0" lvl="2" indent="-228600" algn="l" rtl="0">
              <a:lnSpc>
                <a:spcPct val="8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Times New Roman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of structured data types</a:t>
            </a:r>
            <a:endParaRPr sz="32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➢"/>
            </a:pPr>
            <a:r>
              <a:rPr lang="en-US" sz="259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of a structured data type T is determined by the ranges of  data types that are used to construct T.</a:t>
            </a:r>
            <a:endParaRPr sz="296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struct  ComplexType {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double 	real;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double	image; 	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};</a:t>
            </a:r>
            <a:endParaRPr sz="222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Char char="➢"/>
            </a:pPr>
            <a:r>
              <a:rPr lang="en-US" sz="29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of ComplextType: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❖"/>
            </a:pPr>
            <a:r>
              <a:rPr lang="en-US" sz="259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real:  The range of ‘double’ type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❖"/>
            </a:pPr>
            <a:r>
              <a:rPr lang="en-US" sz="259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image: The range of  ‘double’ type</a:t>
            </a:r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 on structured data types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381000" y="1371600"/>
            <a:ext cx="8458200" cy="469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on a structured data type of a program are defined by the program.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 ComplexType {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double 	real;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double	image; 	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ComplexType 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ComplexType  &amp;c1,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ComplextType &amp;c2) {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ComplexType  sum;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sum.real = c1.real + c2.real;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sumimage = c1.image + c2.image;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sum;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ComplexType 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ComplexType  &amp;c1,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ComplextType &amp;c2) {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ComplexType  product;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product.real = (c1.real * c2.real) – (c1.image * c2.image);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product.image = (c1.real * c2.image) + (c1.image * c2.real);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product;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data types</a:t>
            </a:r>
            <a:endParaRPr sz="28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components of a structured data type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ComplexType</a:t>
            </a:r>
            <a:endParaRPr sz="21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❖"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	//the real component of complex number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❖"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	//the image component of complex number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operations of a structured data type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ComplexType</a:t>
            </a: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(c1, c2): Add two complex numbers c1 and c2 and return their sum.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❖"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multiply (c1, c2): Multiply two complex numbers c1 and c2 and return their product.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data types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3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Student data type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Abstract data type components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5"/>
              <a:buFont typeface="Helvetica Neue"/>
              <a:buChar char="»"/>
            </a:pPr>
            <a:r>
              <a:rPr lang="en-US" sz="1785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5"/>
              <a:buFont typeface="Helvetica Neue"/>
              <a:buChar char="»"/>
            </a:pPr>
            <a:r>
              <a:rPr lang="en-US" sz="1785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5"/>
              <a:buFont typeface="Helvetica Neue"/>
              <a:buChar char="»"/>
            </a:pPr>
            <a:r>
              <a:rPr lang="en-US" sz="1785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DOB 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5"/>
              <a:buFont typeface="Helvetica Neue"/>
              <a:buChar char="»"/>
            </a:pPr>
            <a:r>
              <a:rPr lang="en-US" sz="1785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</a:t>
            </a:r>
            <a:endParaRPr/>
          </a:p>
          <a:p>
            <a:pPr marL="914400" marR="0" lvl="1" indent="-306069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None/>
            </a:pPr>
            <a:endParaRPr sz="238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operations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initializeStudent (ID, Name, DOB, Address)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compareStudents (student1, student2)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getID (student)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getName (student)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getDOB (student)</a:t>
            </a:r>
            <a:endParaRPr/>
          </a:p>
          <a:p>
            <a:pPr marL="1657350" marR="0" lvl="4" indent="-342900" algn="l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»"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getAddress (student)</a:t>
            </a: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3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 3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3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TEACHER data type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COMPUTER data type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 RECTANGLE data type </a:t>
            </a:r>
            <a:endParaRPr/>
          </a:p>
          <a:p>
            <a:pPr marL="342900" marR="0" lvl="0" indent="-1397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3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description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3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Description: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the nature of problem?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questions need to be solved?</a:t>
            </a:r>
            <a:endParaRPr sz="238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data and constrains are given?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results are expected?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Noto Sans Symbols"/>
              <a:buChar char="❖"/>
            </a:pPr>
            <a:r>
              <a:rPr lang="en-US" sz="238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marL="342900" marR="0" lvl="0" indent="-17018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None/>
            </a:pPr>
            <a:endParaRPr sz="272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Input:</a:t>
            </a:r>
            <a:r>
              <a:rPr lang="en-US" sz="272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Describe the input and their specific constrains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Noto Sans Symbols"/>
              <a:buChar char="➢"/>
            </a:pPr>
            <a:r>
              <a:rPr lang="en-US" sz="272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Output:</a:t>
            </a:r>
            <a:r>
              <a:rPr lang="en-US" sz="272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Describe the output and their specific requirements</a:t>
            </a:r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Birthday cake selection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81000" y="1371600"/>
            <a:ext cx="8458200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Today is Anna’s birthday and she is going to buy a birthday cake. The cake shop has many birthday cakes with different sizes. As a kid, Anna wants to pick the largest one. For example, if there are 4 birthday cakes with sizes 1, 5, 3, and 7, Anna will pick the cake with size 7.  Your task is to write a program to find the largest birthday cake for Anna.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Input: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come from file BirthdayCakes.txt as following: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first line contains a single integer number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denoting the number of birthday cakes at the shop (0 &lt; n &lt; 10000).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second line contains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space-separated integer numbers each describes the size of one cake.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Output: 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to file BirthdayCakes.out an integer number which is the size of the largest birthday cake.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BirthdayCakes.txt			BirthdayCakes.out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				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1 5 3 7				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 4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3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Char char="➢"/>
            </a:pPr>
            <a:r>
              <a:rPr lang="en-US" sz="2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Describe the problem of finding the product of two big integer numbers</a:t>
            </a:r>
            <a:endParaRPr/>
          </a:p>
          <a:p>
            <a:pPr marL="342900" marR="0" lvl="0" indent="-342900" algn="l" rtl="0">
              <a:lnSpc>
                <a:spcPct val="14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Char char="➢"/>
            </a:pPr>
            <a:r>
              <a:rPr lang="en-US" sz="2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Describe the problem of sorting students according to their final examinations </a:t>
            </a:r>
            <a:endParaRPr sz="29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Char char="➢"/>
            </a:pPr>
            <a:r>
              <a:rPr lang="en-US" sz="29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Describe the problem of finding the shortest path between two locations</a:t>
            </a:r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Structures and Algorithms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PATH" val="C:\Users\Administrator\Documents\CTDL&amp;GT\Cai tien MH CTDL_GT\CTDL_GT\Slides and exercises\Lecture01_Introduction\Lec1_introduction.pptx"/>
  <p:tag name="ISPRING_PROJECT_VERSION" val="9"/>
  <p:tag name="ISPRING_PROJECT_FOLDER_UPDATED" val="1"/>
  <p:tag name="FLASHSPRING_ZOOM_TAG" val="55"/>
  <p:tag name="ISPRING_LMS_API_VERSION" val="SCORM 1.2"/>
  <p:tag name="ISPRING_ULTRA_SCORM_COURSE_ID" val="0876A753-9EFC-47B8-A60A-881C6E2DC435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SCORM_RATE_SLIDES" val="0"/>
  <p:tag name="ISPRING_SCORM_PASSING_SCORE" val="0.000000"/>
  <p:tag name="ISPRING_CURRENT_PLAYER_ID" val="universal"/>
  <p:tag name="ISPRING_PRESENTATION_TITLE" val="Lec1_introduction"/>
  <p:tag name="ISPRING_PRESENTATION_INFO_2" val="&lt;?xml version=&quot;1.0&quot; encoding=&quot;UTF-8&quot; standalone=&quot;no&quot; ?&gt;&#10;&lt;presentation2&gt;&#10;&#10;  &lt;slides&gt;&#10;    &lt;slide id=&quot;{5BD59F96-6369-4D20-85C7-C9139BF792BD}&quot; pptId=&quot;256&quot;/&gt;&#10;    &lt;slide id=&quot;{492D1E85-6F4A-409E-8D86-98B0385D509F}&quot; pptId=&quot;257&quot;/&gt;&#10;    &lt;slide id=&quot;{FDED6FF0-31C5-4E94-ADBF-1B0F7FC216CF}&quot; pptId=&quot;258&quot;/&gt;&#10;    &lt;slide id=&quot;{006D1409-DA23-4EDF-8639-66B42FFEAFF0}&quot; pptId=&quot;259&quot;/&gt;&#10;    &lt;slide id=&quot;{1F97B337-6EA7-48FD-A1C0-131AAF4831E4}&quot; pptId=&quot;260&quot;/&gt;&#10;    &lt;slide id=&quot;{4EDB579E-00CA-4922-859D-541C0A9FD264}&quot; pptId=&quot;261&quot;/&gt;&#10;    &lt;slide id=&quot;{DF796378-D705-4847-9D9F-E7960E9B6C61}&quot; pptId=&quot;262&quot;/&gt;&#10;    &lt;slide id=&quot;{101A1C4F-88C4-4015-8CB8-D3F82A106A25}&quot; pptId=&quot;263&quot;/&gt;&#10;    &lt;slide id=&quot;{DE9571C4-10AB-472D-9F2F-8B8283BDEC1A}&quot; pptId=&quot;264&quot;/&gt;&#10;    &lt;slide id=&quot;{9723E6C8-DBAF-48CB-A543-DBE1A7BD5296}&quot; pptId=&quot;265&quot;/&gt;&#10;    &lt;slide id=&quot;{6589AB08-A802-48CE-ADDE-B13C8F915111}&quot; pptId=&quot;266&quot;/&gt;&#10;    &lt;slide id=&quot;{E580CE69-4274-4C04-9020-7427D27DA599}&quot; pptId=&quot;267&quot;/&gt;&#10;    &lt;slide id=&quot;{301E5606-CB73-4BDC-AA0A-3643E1C0B1FF}&quot; pptId=&quot;268&quot;/&gt;&#10;    &lt;slide id=&quot;{E6FE1D5F-8922-47C7-90EA-DF024DEB88CA}&quot; pptId=&quot;269&quot;/&gt;&#10;    &lt;slide id=&quot;{D439989B-BF1B-42BE-A36D-BFDA7E6EF299}&quot; pptId=&quot;270&quot;/&gt;&#10;    &lt;slide id=&quot;{76443757-27CA-4FE5-AB73-2813F6FD3625}&quot; pptId=&quot;271&quot;/&gt;&#10;    &lt;slide id=&quot;{4B619077-5069-42DB-82D7-F4D9176F0BB0}&quot; pptId=&quot;272&quot;/&gt;&#10;    &lt;slide id=&quot;{4C5A402F-7606-45A8-9A00-273364B83D6F}&quot; pptId=&quot;273&quot;/&gt;&#10;    &lt;slide id=&quot;{3ACA922E-C070-4D09-A966-55D983BE5C4C}&quot; pptId=&quot;274&quot;/&gt;&#10;    &lt;slide id=&quot;{27E9C749-7269-4433-BF57-1AEE818123AF}&quot; pptId=&quot;275&quot;/&gt;&#10;    &lt;slide id=&quot;{1C691BAE-DED3-4011-9F0A-58C050591B70}&quot; pptId=&quot;276&quot;/&gt;&#10;    &lt;slide id=&quot;{1E989A88-8929-4717-BCBB-EE575B4394E8}&quot; pptId=&quot;277&quot;/&gt;&#10;    &lt;slide id=&quot;{D60775A7-788E-4ABC-8C47-015288D7204C}&quot; pptId=&quot;278&quot;/&gt;&#10;  &lt;/slides&gt;&#10;&#10;  &lt;narration&gt;&#10;    &lt;audioTracks&gt;&#10;      &lt;audioTrack muted=&quot;false&quot; name=&quot;Lect1_part 1&quot; resource=&quot;c5caade5&quot; slideId=&quot;{5BD59F96-6369-4D20-85C7-C9139BF792BD}&quot; startTime=&quot;0&quot; stepIndex=&quot;0&quot; volume=&quot;1&quot;&gt;&#10;        &lt;audio channels=&quot;1&quot; format=&quot;s16&quot; sampleRate=&quot;48000&quot;/&gt;&#10;      &lt;/audioTrack&gt;&#10;      &lt;audioTrack muted=&quot;false&quot; name=&quot;Lect 1_part 2&quot; resource=&quot;03039499&quot; slideId=&quot;{9723E6C8-DBAF-48CB-A543-DBE1A7BD5296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OUTPUT_FOLDER" val="C:\Users\Administrator\Documents\CTDL&amp;GT\Cai tien MH CTDL_GT\CTDL_GT\Slides and exercises\Script for videos\Lecture 1"/>
  <p:tag name="ISPRING_SCORM_RATE_QUIZZES" val="0"/>
  <p:tag name="ISPRING_UUID" val="{3EEA7A74-6BB6-4836-AE92-150B6879696F}"/>
  <p:tag name="ISPRING_RESOURCE_FOLDER" val="C:\Users\Administrator\Documents\CTDL&amp;GT\Cai tien MH CTDL_GT\CTDL_GT\Slides and exercises\Lecture01_Introduction\Lec1_introduction\"/>
  <p:tag name="ISPRING_SCREEN_RECS_UPDATED" val="C:\Users\Administrator\Documents\CTDL&amp;GT\Cai tien MH CTDL_GT\CTDL_GT\Slides and exercises\Lecture01_Introduction\Lec1_introduction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"/>
  <p:tag name="ISPRING_CUSTOM_TIMING_USED" val="1"/>
  <p:tag name="ISPRING_SLIDE_ID_2" val="{5BD59F96-6369-4D20-85C7-C9139BF792BD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3.481"/>
  <p:tag name="ISPRING_CUSTOM_TIMING_USED" val="1"/>
  <p:tag name="ISPRING_SLIDE_ID_2" val="{492D1E85-6F4A-409E-8D86-98B0385D509F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0.981"/>
  <p:tag name="ISPRING_CUSTOM_TIMING_USED" val="1"/>
  <p:tag name="ISPRING_SLIDE_ID_2" val="{FDED6FF0-31C5-4E94-ADBF-1B0F7FC216CF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6.309"/>
  <p:tag name="ISPRING_CUSTOM_TIMING_USED" val="1"/>
  <p:tag name="ISPRING_SLIDE_ID_2" val="{006D1409-DA23-4EDF-8639-66B42FFEAFF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9.337"/>
  <p:tag name="ISPRING_CUSTOM_TIMING_USED" val="1"/>
  <p:tag name="ISPRING_SLIDE_ID_2" val="{1F97B337-6EA7-48FD-A1C0-131AAF4831E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1.774"/>
  <p:tag name="ISPRING_CUSTOM_TIMING_USED" val="1"/>
  <p:tag name="ISPRING_SLIDE_ID_2" val="{4EDB579E-00CA-4922-859D-541C0A9FD26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0.677"/>
  <p:tag name="ISPRING_CUSTOM_TIMING_USED" val="1"/>
  <p:tag name="ISPRING_SLIDE_ID_2" val="{DF796378-D705-4847-9D9F-E7960E9B6C6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4.509"/>
  <p:tag name="ISPRING_CUSTOM_TIMING_USED" val="1"/>
  <p:tag name="ISPRING_SLIDE_ID_2" val="{101A1C4F-88C4-4015-8CB8-D3F82A106A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5.677"/>
  <p:tag name="ISPRING_CUSTOM_TIMING_USED" val="1"/>
  <p:tag name="ISPRING_SLIDE_ID_2" val="{DE9571C4-10AB-472D-9F2F-8B8283BDEC1A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341"/>
  <p:tag name="ISPRING_CUSTOM_TIMING_USED" val="1"/>
  <p:tag name="ISPRING_SLIDE_ID_2" val="{9723E6C8-DBAF-48CB-A543-DBE1A7BD52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542"/>
  <p:tag name="ISPRING_CUSTOM_TIMING_USED" val="1"/>
  <p:tag name="ISPRING_SLIDE_ID_2" val="{6589AB08-A802-48CE-ADDE-B13C8F91511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8.281"/>
  <p:tag name="ISPRING_CUSTOM_TIMING_USED" val="1"/>
  <p:tag name="ISPRING_SLIDE_ID_2" val="{E580CE69-4274-4C04-9020-7427D27DA59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35.22"/>
  <p:tag name="ISPRING_CUSTOM_TIMING_USED" val="1"/>
  <p:tag name="ISPRING_SLIDE_ID_2" val="{301E5606-CB73-4BDC-AA0A-3643E1C0B1FF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9.649"/>
  <p:tag name="ISPRING_CUSTOM_TIMING_USED" val="1"/>
  <p:tag name="ISPRING_SLIDE_ID_2" val="{E6FE1D5F-8922-47C7-90EA-DF024DEB88CA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7.079"/>
  <p:tag name="ISPRING_CUSTOM_TIMING_USED" val="1"/>
  <p:tag name="ISPRING_SLIDE_ID_2" val="{D439989B-BF1B-42BE-A36D-BFDA7E6EF29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0.911"/>
  <p:tag name="ISPRING_CUSTOM_TIMING_USED" val="1"/>
  <p:tag name="ISPRING_SLIDE_ID_2" val="{76443757-27CA-4FE5-AB73-2813F6FD362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084"/>
  <p:tag name="ISPRING_CUSTOM_TIMING_USED" val="1"/>
  <p:tag name="ISPRING_SLIDE_ID_2" val="{4B619077-5069-42DB-82D7-F4D9176F0BB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744"/>
  <p:tag name="ISPRING_CUSTOM_TIMING_USED" val="1"/>
  <p:tag name="ISPRING_SLIDE_ID_2" val="{4C5A402F-7606-45A8-9A00-273364B83D6F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3.253"/>
  <p:tag name="ISPRING_CUSTOM_TIMING_USED" val="1"/>
  <p:tag name="ISPRING_SLIDE_ID_2" val="{3ACA922E-C070-4D09-A966-55D983BE5C4C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4.486"/>
  <p:tag name="ISPRING_CUSTOM_TIMING_USED" val="1"/>
  <p:tag name="ISPRING_SLIDE_ID_2" val="{27E9C749-7269-4433-BF57-1AEE818123AF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7.079"/>
  <p:tag name="ISPRING_CUSTOM_TIMING_USED" val="1"/>
  <p:tag name="ISPRING_SLIDE_ID_2" val="{1C691BAE-DED3-4011-9F0A-58C050591B7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8.341"/>
  <p:tag name="ISPRING_CUSTOM_TIMING_USED" val="1"/>
  <p:tag name="ISPRING_SLIDE_ID_2" val="{1E989A88-8929-4717-BCBB-EE575B4394E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12.38"/>
  <p:tag name="ISPRING_CUSTOM_TIMING_USED" val="1"/>
  <p:tag name="ISPRING_SLIDE_ID_2" val="{D60775A7-788E-4ABC-8C47-015288D7204C}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890</Words>
  <Application>Microsoft Office PowerPoint</Application>
  <PresentationFormat>On-screen Show (4:3)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Helvetica Neue</vt:lpstr>
      <vt:lpstr>Noto Sans Symbols</vt:lpstr>
      <vt:lpstr>Calibri</vt:lpstr>
      <vt:lpstr>Koi</vt:lpstr>
      <vt:lpstr>Lecture 1: Introduction to data structures and algorithms</vt:lpstr>
      <vt:lpstr>Outline</vt:lpstr>
      <vt:lpstr>Computer programs</vt:lpstr>
      <vt:lpstr>Data structures?</vt:lpstr>
      <vt:lpstr>Algorithms? </vt:lpstr>
      <vt:lpstr>Example: Searching problem</vt:lpstr>
      <vt:lpstr>Slide 7</vt:lpstr>
      <vt:lpstr>Find the shortest path (Google map)</vt:lpstr>
      <vt:lpstr>Traveling salesman problem (TSP)</vt:lpstr>
      <vt:lpstr>  Quiz 1: The roles of data structures and algorithms </vt:lpstr>
      <vt:lpstr>Quiz 2: The roles of data structures and algorithms </vt:lpstr>
      <vt:lpstr>Data types</vt:lpstr>
      <vt:lpstr>Structured data types</vt:lpstr>
      <vt:lpstr>Structured data types</vt:lpstr>
      <vt:lpstr>Structured data types</vt:lpstr>
      <vt:lpstr>Range of structured data types</vt:lpstr>
      <vt:lpstr>Operations on structured data types</vt:lpstr>
      <vt:lpstr>Abstract data types</vt:lpstr>
      <vt:lpstr>Abstract data types</vt:lpstr>
      <vt:lpstr>Quiz 3</vt:lpstr>
      <vt:lpstr>Problem description</vt:lpstr>
      <vt:lpstr>Birthday cake selection</vt:lpstr>
      <vt:lpstr>Quiz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Lec1_introduction</dc:title>
  <cp:lastModifiedBy>DHQG</cp:lastModifiedBy>
  <cp:revision>11</cp:revision>
  <dcterms:modified xsi:type="dcterms:W3CDTF">2019-03-25T02:55:06Z</dcterms:modified>
</cp:coreProperties>
</file>