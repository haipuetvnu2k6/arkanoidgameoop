
<file path=[Content_Types].xml><?xml version="1.0" encoding="utf-8"?>
<Types xmlns="http://schemas.openxmlformats.org/package/2006/content-types"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ags/tag4.xml" ContentType="application/vnd.openxmlformats-officedocument.presentationml.tag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tags/tag2.xml" ContentType="application/vnd.openxmlformats-officedocument.presentationml.tags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tags/tag18.xml" ContentType="application/vnd.openxmlformats-officedocument.presentationml.tags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21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tags/tag23.xml" ContentType="application/vnd.openxmlformats-officedocument.presentationml.tags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21.xml" ContentType="application/vnd.openxmlformats-officedocument.presentationml.tag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tags/tag7.xml" ContentType="application/vnd.openxmlformats-officedocument.presentationml.tags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ags/tag5.xml" ContentType="application/vnd.openxmlformats-officedocument.presentationml.tags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tags/tag3.xml" ContentType="application/vnd.openxmlformats-officedocument.presentationml.tags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tags/tag1.xml" ContentType="application/vnd.openxmlformats-officedocument.presentationml.tags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tags/tag19.xml" ContentType="application/vnd.openxmlformats-officedocument.presentationml.tags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tags/tag17.xml" ContentType="application/vnd.openxmlformats-officedocument.presentationml.tags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tags/tag15.xml" ContentType="application/vnd.openxmlformats-officedocument.presentationml.tags+xml"/>
  <Override PartName="/ppt/notesSlides/notesSlide20.xml" ContentType="application/vnd.openxmlformats-officedocument.presentationml.notesSlide+xml"/>
  <Override PartName="/ppt/tags/tag24.xml" ContentType="application/vnd.openxmlformats-officedocument.presentationml.tags+xml"/>
  <Override PartName="/ppt/notesSlides/notesSlide6.xml" ContentType="application/vnd.openxmlformats-officedocument.presentationml.notesSlide+xml"/>
  <Override PartName="/ppt/tags/tag13.xml" ContentType="application/vnd.openxmlformats-officedocument.presentationml.tags+xml"/>
  <Override PartName="/ppt/tags/tag22.xml" ContentType="application/vnd.openxmlformats-officedocument.presentationml.tags+xml"/>
  <Override PartName="/ppt/slides/slide8.xml" ContentType="application/vnd.openxmlformats-officedocument.presentationml.slide+xml"/>
  <Override PartName="/ppt/notesSlides/notesSlide4.xml" ContentType="application/vnd.openxmlformats-officedocument.presentationml.notesSlide+xml"/>
  <Override PartName="/ppt/tags/tag11.xml" ContentType="application/vnd.openxmlformats-officedocument.presentationml.tags+xml"/>
  <Override PartName="/ppt/tags/tag20.xml" ContentType="application/vnd.openxmlformats-officedocument.presentationml.tags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tags/tag6.xml" ContentType="application/vnd.openxmlformats-officedocument.presentationml.tag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7099300" cy="10234613"/>
  <p:embeddedFontLst>
    <p:embeddedFont>
      <p:font typeface="Calibri" pitchFamily="34" charset="0"/>
      <p:regular r:id="rId26"/>
      <p:bold r:id="rId27"/>
      <p:italic r:id="rId28"/>
      <p:boldItalic r:id="rId29"/>
    </p:embeddedFont>
    <p:embeddedFont>
      <p:font typeface="Times" pitchFamily="18" charset="0"/>
      <p:regular r:id="rId30"/>
      <p:bold r:id="rId31"/>
      <p:italic r:id="rId32"/>
      <p:boldItalic r:id="rId33"/>
    </p:embeddedFont>
    <p:embeddedFont>
      <p:font typeface="Comic Sans MS" pitchFamily="66" charset="0"/>
      <p:regular r:id="rId34"/>
      <p:bold r:id="rId35"/>
    </p:embeddedFont>
  </p:embeddedFontLst>
  <p:custDataLst>
    <p:tags r:id="rId36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-79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1.fntdata"/><Relationship Id="rId39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33" Type="http://schemas.openxmlformats.org/officeDocument/2006/relationships/font" Target="fonts/font8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7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3.fntdata"/><Relationship Id="rId36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2.fntdata"/><Relationship Id="rId30" Type="http://schemas.openxmlformats.org/officeDocument/2006/relationships/font" Target="fonts/font5.fntdata"/><Relationship Id="rId35" Type="http://schemas.openxmlformats.org/officeDocument/2006/relationships/font" Target="fonts/font10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78642144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Trees</a:t>
            </a:r>
            <a:endParaRPr/>
          </a:p>
        </p:txBody>
      </p:sp>
      <p:sp>
        <p:nvSpPr>
          <p:cNvPr id="159" name="Google Shape;159;p6:notes"/>
          <p:cNvSpPr txBox="1">
            <a:spLocks noGrp="1"/>
          </p:cNvSpPr>
          <p:nvPr>
            <p:ph type="dt" idx="10"/>
          </p:nvPr>
        </p:nvSpPr>
        <p:spPr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11:31</a:t>
            </a:r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6:notes"/>
          <p:cNvSpPr txBox="1">
            <a:spLocks noGrp="1"/>
          </p:cNvSpPr>
          <p:nvPr>
            <p:ph type="sldNum" idx="12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3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6:notes"/>
          <p:cNvSpPr>
            <a:spLocks noGrp="1" noRot="1" noChangeAspect="1"/>
          </p:cNvSpPr>
          <p:nvPr>
            <p:ph type="sldImg" idx="3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162" name="Google Shape;162;p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5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6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7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18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19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20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1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22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3:notes"/>
          <p:cNvSpPr txBox="1">
            <a:spLocks noGrp="1"/>
          </p:cNvSpPr>
          <p:nvPr>
            <p:ph type="body" idx="1"/>
          </p:nvPr>
        </p:nvSpPr>
        <p:spPr>
          <a:xfrm>
            <a:off x="709613" y="4860925"/>
            <a:ext cx="5680075" cy="4605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Content" type="txAndObj">
  <p:cSld name="TEXT_AND_OBJECT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Text, and 2 Content" type="txAndTwoObj">
  <p:cSld name="TEXT_AND_TWO_OBJECTS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3810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2"/>
          </p:nvPr>
        </p:nvSpPr>
        <p:spPr>
          <a:xfrm>
            <a:off x="4800600" y="19050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3"/>
          </p:nvPr>
        </p:nvSpPr>
        <p:spPr>
          <a:xfrm>
            <a:off x="4800600" y="4038600"/>
            <a:ext cx="3810000" cy="19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5" name="Google Shape;65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6" name="Google Shape;66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1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7" name="Google Shape;87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9" name="Google Shape;89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3" name="Google Shape;93;p1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4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1" name="Google Shape;101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7" r:id="rId9"/>
    <p:sldLayoutId id="2147483658" r:id="rId10"/>
    <p:sldLayoutId id="2147483659" r:id="rId11"/>
    <p:sldLayoutId id="2147483660" r:id="rId12"/>
  </p:sldLayoutIdLst>
  <p:timing>
    <p:tnLst>
      <p:par>
        <p:cTn id="1" dur="indefinite" restart="never" nodeType="tmRoot"/>
      </p:par>
    </p:tnLst>
  </p:timing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1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Relationship Id="rId4" Type="http://schemas.openxmlformats.org/officeDocument/2006/relationships/image" Target="../media/image7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20.xml"/><Relationship Id="rId4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Introduction to algorithms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8" name="Google Shape;108;p15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1066800" y="39624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Algorithms?	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body" idx="1"/>
          </p:nvPr>
        </p:nvSpPr>
        <p:spPr>
          <a:xfrm>
            <a:off x="762000" y="2133600"/>
            <a:ext cx="76200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an algorithm?</a:t>
            </a:r>
            <a:endParaRPr/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 algorithm is a step by step procedure to solve a problem. An algorithm can be described by nature languages or programming languages.</a:t>
            </a:r>
            <a:endParaRPr/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 How to cook rice?</a:t>
            </a:r>
            <a:endParaRPr/>
          </a:p>
          <a:p>
            <a:pPr marL="742950" marR="0" lvl="1" indent="-28575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Get rice</a:t>
            </a:r>
            <a:endParaRPr/>
          </a:p>
          <a:p>
            <a:pPr marL="742950" marR="0" lvl="1" indent="-28575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Rinse the rice</a:t>
            </a:r>
            <a:endParaRPr/>
          </a:p>
          <a:p>
            <a:pPr marL="742950" marR="0" lvl="1" indent="-28575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Put the rice and water into a rice cooker</a:t>
            </a:r>
            <a:endParaRPr/>
          </a:p>
          <a:p>
            <a:pPr marL="742950" marR="0" lvl="1" indent="-28575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4: Turn on the rice cooker</a:t>
            </a:r>
            <a:endParaRPr/>
          </a:p>
          <a:p>
            <a:pPr marL="742950" marR="0" lvl="1" indent="-28575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5: Check the rice when the rice cooker turns off</a:t>
            </a:r>
            <a:endParaRPr sz="1800" b="0" i="0" u="none" strike="noStrike" cap="none">
              <a:solidFill>
                <a:srgbClr val="FF0000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just" rtl="0">
              <a:lnSpc>
                <a:spcPct val="13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endParaRPr sz="1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6" name="Google Shape;116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Algorithms?	</a:t>
            </a:r>
            <a:endParaRPr/>
          </a:p>
        </p:txBody>
      </p:sp>
      <p:sp>
        <p:nvSpPr>
          <p:cNvPr id="122" name="Google Shape;122;p17"/>
          <p:cNvSpPr txBox="1">
            <a:spLocks noGrp="1"/>
          </p:cNvSpPr>
          <p:nvPr>
            <p:ph type="body" idx="1"/>
          </p:nvPr>
        </p:nvSpPr>
        <p:spPr>
          <a:xfrm>
            <a:off x="990600" y="1981200"/>
            <a:ext cx="7239000" cy="44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What is a good algorithm?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Correctness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Efficiency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Simple/understandable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❖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Implementable</a:t>
            </a:r>
            <a:endParaRPr/>
          </a:p>
          <a:p>
            <a:pPr marL="742950" marR="0" lvl="1" indent="-13335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rgbClr val="FF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3" name="Google Shape;123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Algorithms	</a:t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81200" y="1600200"/>
            <a:ext cx="4813300" cy="4751388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design algorithm?	</a:t>
            </a:r>
            <a:endParaRPr/>
          </a:p>
        </p:txBody>
      </p:sp>
      <p:sp>
        <p:nvSpPr>
          <p:cNvPr id="136" name="Google Shape;136;p19"/>
          <p:cNvSpPr txBox="1"/>
          <p:nvPr/>
        </p:nvSpPr>
        <p:spPr>
          <a:xfrm>
            <a:off x="609600" y="1905000"/>
            <a:ext cx="4572000" cy="397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1: Define the problem clearly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2: Analyze the problem from different perspectives and constrains.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3: Use popular techniques and strategies: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Basic algorithms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Brute force algorithms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Greedy algorithms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Divide and conquer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Dynamic programming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Graph theories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❖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String/text processing algorithms</a:t>
            </a:r>
            <a:endParaRPr/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➢"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Step 4: Use flow chart to represent algorithms</a:t>
            </a:r>
            <a:endParaRPr/>
          </a:p>
        </p:txBody>
      </p:sp>
      <p:sp>
        <p:nvSpPr>
          <p:cNvPr id="137" name="Google Shape;137;p19"/>
          <p:cNvSpPr/>
          <p:nvPr/>
        </p:nvSpPr>
        <p:spPr>
          <a:xfrm>
            <a:off x="6273053" y="2514600"/>
            <a:ext cx="1143000" cy="3810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6248400" y="1985682"/>
            <a:ext cx="1219200" cy="300318"/>
          </a:xfrm>
          <a:prstGeom prst="ellipse">
            <a:avLst/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19"/>
          <p:cNvSpPr/>
          <p:nvPr/>
        </p:nvSpPr>
        <p:spPr>
          <a:xfrm>
            <a:off x="6234953" y="5928305"/>
            <a:ext cx="1219200" cy="300318"/>
          </a:xfrm>
          <a:prstGeom prst="ellipse">
            <a:avLst/>
          </a:prstGeom>
          <a:solidFill>
            <a:srgbClr val="92D05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0" name="Google Shape;140;p19"/>
          <p:cNvSpPr/>
          <p:nvPr/>
        </p:nvSpPr>
        <p:spPr>
          <a:xfrm>
            <a:off x="6286500" y="4552950"/>
            <a:ext cx="1143000" cy="3810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1" name="Google Shape;141;p19"/>
          <p:cNvSpPr/>
          <p:nvPr/>
        </p:nvSpPr>
        <p:spPr>
          <a:xfrm>
            <a:off x="6286500" y="3897405"/>
            <a:ext cx="1143000" cy="381000"/>
          </a:xfrm>
          <a:prstGeom prst="rect">
            <a:avLst/>
          </a:prstGeom>
          <a:solidFill>
            <a:srgbClr val="FFC000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19"/>
          <p:cNvSpPr/>
          <p:nvPr/>
        </p:nvSpPr>
        <p:spPr>
          <a:xfrm>
            <a:off x="4610100" y="3912067"/>
            <a:ext cx="1143000" cy="381000"/>
          </a:xfrm>
          <a:prstGeom prst="rect">
            <a:avLst/>
          </a:prstGeom>
          <a:solidFill>
            <a:srgbClr val="5189F5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19"/>
          <p:cNvSpPr/>
          <p:nvPr/>
        </p:nvSpPr>
        <p:spPr>
          <a:xfrm>
            <a:off x="7848600" y="3125413"/>
            <a:ext cx="685800" cy="533400"/>
          </a:xfrm>
          <a:prstGeom prst="diamond">
            <a:avLst/>
          </a:prstGeom>
          <a:solidFill>
            <a:srgbClr val="CE572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19"/>
          <p:cNvSpPr/>
          <p:nvPr/>
        </p:nvSpPr>
        <p:spPr>
          <a:xfrm>
            <a:off x="6501653" y="3125413"/>
            <a:ext cx="685800" cy="533400"/>
          </a:xfrm>
          <a:prstGeom prst="diamond">
            <a:avLst/>
          </a:prstGeom>
          <a:solidFill>
            <a:srgbClr val="CE572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19"/>
          <p:cNvSpPr/>
          <p:nvPr/>
        </p:nvSpPr>
        <p:spPr>
          <a:xfrm>
            <a:off x="6501653" y="5173849"/>
            <a:ext cx="685800" cy="533400"/>
          </a:xfrm>
          <a:prstGeom prst="diamond">
            <a:avLst/>
          </a:prstGeom>
          <a:solidFill>
            <a:srgbClr val="CE572F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/>
          <p:nvPr/>
        </p:nvSpPr>
        <p:spPr>
          <a:xfrm>
            <a:off x="6781800" y="2308972"/>
            <a:ext cx="152400" cy="201706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19"/>
          <p:cNvSpPr/>
          <p:nvPr/>
        </p:nvSpPr>
        <p:spPr>
          <a:xfrm>
            <a:off x="6768353" y="2912816"/>
            <a:ext cx="152400" cy="213219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/>
          <p:nvPr/>
        </p:nvSpPr>
        <p:spPr>
          <a:xfrm>
            <a:off x="6768353" y="3668805"/>
            <a:ext cx="1524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9"/>
          <p:cNvSpPr/>
          <p:nvPr/>
        </p:nvSpPr>
        <p:spPr>
          <a:xfrm>
            <a:off x="6768353" y="4296560"/>
            <a:ext cx="152400" cy="22860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9"/>
          <p:cNvSpPr/>
          <p:nvPr/>
        </p:nvSpPr>
        <p:spPr>
          <a:xfrm>
            <a:off x="6768353" y="4966681"/>
            <a:ext cx="152400" cy="214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9"/>
          <p:cNvSpPr/>
          <p:nvPr/>
        </p:nvSpPr>
        <p:spPr>
          <a:xfrm>
            <a:off x="6772275" y="5713855"/>
            <a:ext cx="152400" cy="214450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9"/>
          <p:cNvSpPr/>
          <p:nvPr/>
        </p:nvSpPr>
        <p:spPr>
          <a:xfrm>
            <a:off x="7454152" y="3668805"/>
            <a:ext cx="851647" cy="485327"/>
          </a:xfrm>
          <a:prstGeom prst="bentUpArrow">
            <a:avLst>
              <a:gd name="adj1" fmla="val 19112"/>
              <a:gd name="adj2" fmla="val 25000"/>
              <a:gd name="adj3" fmla="val 25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19"/>
          <p:cNvSpPr/>
          <p:nvPr/>
        </p:nvSpPr>
        <p:spPr>
          <a:xfrm rot="-5400000">
            <a:off x="7576915" y="2452911"/>
            <a:ext cx="533401" cy="790126"/>
          </a:xfrm>
          <a:prstGeom prst="bentUpArrow">
            <a:avLst>
              <a:gd name="adj1" fmla="val 19112"/>
              <a:gd name="adj2" fmla="val 25000"/>
              <a:gd name="adj3" fmla="val 25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19"/>
          <p:cNvSpPr/>
          <p:nvPr/>
        </p:nvSpPr>
        <p:spPr>
          <a:xfrm rot="5400000">
            <a:off x="5932672" y="3839241"/>
            <a:ext cx="155448" cy="487215"/>
          </a:xfrm>
          <a:prstGeom prst="downArrow">
            <a:avLst>
              <a:gd name="adj1" fmla="val 50000"/>
              <a:gd name="adj2" fmla="val 5000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9"/>
          <p:cNvSpPr/>
          <p:nvPr/>
        </p:nvSpPr>
        <p:spPr>
          <a:xfrm>
            <a:off x="5181600" y="3276600"/>
            <a:ext cx="1320053" cy="620805"/>
          </a:xfrm>
          <a:prstGeom prst="bentArrow">
            <a:avLst>
              <a:gd name="adj1" fmla="val 14067"/>
              <a:gd name="adj2" fmla="val 16118"/>
              <a:gd name="adj3" fmla="val 15434"/>
              <a:gd name="adj4" fmla="val 0"/>
            </a:avLst>
          </a:prstGeom>
          <a:solidFill>
            <a:srgbClr val="B2B2B2"/>
          </a:solidFill>
          <a:ln w="9525" cap="flat" cmpd="sng">
            <a:solidFill>
              <a:srgbClr val="B2B2B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80010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 problem</a:t>
            </a:r>
            <a:endParaRPr/>
          </a:p>
        </p:txBody>
      </p:sp>
      <p:sp>
        <p:nvSpPr>
          <p:cNvPr id="165" name="Google Shape;165;p20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215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Given a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consisting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items. Check if an item X exists on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search algorithm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 Iterate from the begin to the end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to check if X equals to any item of A.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O(n)</a:t>
            </a:r>
            <a:endParaRPr/>
          </a:p>
        </p:txBody>
      </p:sp>
      <p:sp>
        <p:nvSpPr>
          <p:cNvPr id="166" name="Google Shape;166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/>
            </a:r>
            <a:b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Sorting problem</a:t>
            </a:r>
            <a:endParaRPr/>
          </a:p>
        </p:txBody>
      </p:sp>
      <p:sp>
        <p:nvSpPr>
          <p:cNvPr id="172" name="Google Shape;172;p21"/>
          <p:cNvSpPr txBox="1">
            <a:spLocks noGrp="1"/>
          </p:cNvSpPr>
          <p:nvPr>
            <p:ph type="body" idx="1"/>
          </p:nvPr>
        </p:nvSpPr>
        <p:spPr>
          <a:xfrm>
            <a:off x="914400" y="1828800"/>
            <a:ext cx="7391400" cy="4624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Given a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consisting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items. Sort  items of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increasingly?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A = (1, 2, 5, 3, 8, 9, 2)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Sorting result: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A = (1, 2, 2, 3, 5, 8, 9)</a:t>
            </a:r>
            <a:endParaRPr/>
          </a:p>
        </p:txBody>
      </p:sp>
      <p:sp>
        <p:nvSpPr>
          <p:cNvPr id="173" name="Google Shape;173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2"/>
          <p:cNvSpPr txBox="1">
            <a:spLocks noGrp="1"/>
          </p:cNvSpPr>
          <p:nvPr>
            <p:ph type="title"/>
          </p:nvPr>
        </p:nvSpPr>
        <p:spPr>
          <a:xfrm>
            <a:off x="457200" y="685800"/>
            <a:ext cx="8229600" cy="71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Selection sort</a:t>
            </a:r>
            <a:endParaRPr/>
          </a:p>
        </p:txBody>
      </p:sp>
      <p:sp>
        <p:nvSpPr>
          <p:cNvPr id="179" name="Google Shape;179;p22"/>
          <p:cNvSpPr txBox="1"/>
          <p:nvPr/>
        </p:nvSpPr>
        <p:spPr>
          <a:xfrm>
            <a:off x="685800" y="1905000"/>
            <a:ext cx="4267200" cy="3298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list is divided into two parts: sorted part and unsorted part. </a:t>
            </a:r>
            <a:endParaRPr/>
          </a:p>
          <a:p>
            <a:pPr marL="342900" marR="0" lvl="0" indent="-3429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Repeatedly finding the minimum element from unsorted part and moving it to the end of the sorted part.</a:t>
            </a:r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1" name="Google Shape;181;p2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105400" y="1752600"/>
            <a:ext cx="2628900" cy="4781550"/>
          </a:xfrm>
          <a:prstGeom prst="rect">
            <a:avLst/>
          </a:prstGeom>
          <a:noFill/>
          <a:ln>
            <a:noFill/>
          </a:ln>
        </p:spPr>
      </p:pic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3"/>
          <p:cNvSpPr txBox="1">
            <a:spLocks noGrp="1"/>
          </p:cNvSpPr>
          <p:nvPr>
            <p:ph type="title"/>
          </p:nvPr>
        </p:nvSpPr>
        <p:spPr>
          <a:xfrm>
            <a:off x="434975" y="685800"/>
            <a:ext cx="8229600" cy="71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Selection sort</a:t>
            </a:r>
            <a:endParaRPr/>
          </a:p>
        </p:txBody>
      </p:sp>
      <p:sp>
        <p:nvSpPr>
          <p:cNvPr id="187" name="Google Shape;187;p23"/>
          <p:cNvSpPr txBox="1"/>
          <p:nvPr/>
        </p:nvSpPr>
        <p:spPr>
          <a:xfrm>
            <a:off x="838200" y="2057400"/>
            <a:ext cx="7467600" cy="3742563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selection_sort (A,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iter from 0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- 2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min_idx = iter;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idx from (iter + 1) to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- 1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A[idx] &lt; A[min_idx]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min_idx = idx; 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 	swap (a[iter], a[min_idx]);</a:t>
            </a:r>
            <a:endParaRPr/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</p:txBody>
      </p:sp>
      <p:sp>
        <p:nvSpPr>
          <p:cNvPr id="188" name="Google Shape;188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Searching on sorted list</a:t>
            </a:r>
            <a:endParaRPr/>
          </a:p>
        </p:txBody>
      </p:sp>
      <p:sp>
        <p:nvSpPr>
          <p:cNvPr id="194" name="Google Shape;194;p24"/>
          <p:cNvSpPr txBox="1">
            <a:spLocks noGrp="1"/>
          </p:cNvSpPr>
          <p:nvPr>
            <p:ph type="body" idx="1"/>
          </p:nvPr>
        </p:nvSpPr>
        <p:spPr>
          <a:xfrm>
            <a:off x="914400" y="1981200"/>
            <a:ext cx="7543800" cy="472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consisting of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items sorted increasingly. Check if an item X exists on list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?</a:t>
            </a:r>
            <a:endParaRPr/>
          </a:p>
          <a:p>
            <a:pPr marL="0" marR="0" lvl="0" indent="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 search algorithm (A):</a:t>
            </a:r>
            <a:endParaRPr/>
          </a:p>
          <a:p>
            <a:pPr marL="742950" marR="0" lvl="1" indent="-28575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 A is empty, return False</a:t>
            </a:r>
            <a:endParaRPr/>
          </a:p>
          <a:p>
            <a:pPr marL="742950" marR="0" lvl="1" indent="-28575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Compare X with the item Y at the middle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1143000" marR="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= Y, return True. </a:t>
            </a:r>
            <a:endParaRPr/>
          </a:p>
          <a:p>
            <a:pPr marL="1143000" marR="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&lt; Y, Perform binary search on the left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/>
          </a:p>
          <a:p>
            <a:pPr marL="1143000" marR="0" lvl="2" indent="-22860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X &gt; Y, Perform binary search on the right half of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endParaRPr sz="2000" b="1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95" name="Google Shape;195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10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ldNum" idx="12"/>
          </p:nvPr>
        </p:nvSpPr>
        <p:spPr>
          <a:xfrm>
            <a:off x="7491283" y="6147812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11</a:t>
            </a:fld>
            <a:endParaRPr sz="14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02" name="Google Shape;202;p25"/>
          <p:cNvCxnSpPr/>
          <p:nvPr/>
        </p:nvCxnSpPr>
        <p:spPr>
          <a:xfrm>
            <a:off x="-2768920" y="2903538"/>
            <a:ext cx="1320050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3" name="Google Shape;203;p25"/>
          <p:cNvSpPr/>
          <p:nvPr/>
        </p:nvSpPr>
        <p:spPr>
          <a:xfrm>
            <a:off x="13599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04" name="Google Shape;204;p25"/>
          <p:cNvSpPr/>
          <p:nvPr/>
        </p:nvSpPr>
        <p:spPr>
          <a:xfrm>
            <a:off x="19695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05" name="Google Shape;205;p25"/>
          <p:cNvSpPr/>
          <p:nvPr/>
        </p:nvSpPr>
        <p:spPr>
          <a:xfrm>
            <a:off x="25791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06" name="Google Shape;206;p25"/>
          <p:cNvSpPr/>
          <p:nvPr/>
        </p:nvSpPr>
        <p:spPr>
          <a:xfrm>
            <a:off x="31887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07" name="Google Shape;207;p25"/>
          <p:cNvSpPr/>
          <p:nvPr/>
        </p:nvSpPr>
        <p:spPr>
          <a:xfrm>
            <a:off x="37983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08" name="Google Shape;208;p25"/>
          <p:cNvSpPr/>
          <p:nvPr/>
        </p:nvSpPr>
        <p:spPr>
          <a:xfrm>
            <a:off x="4407928" y="2478832"/>
            <a:ext cx="575499" cy="50384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09" name="Google Shape;209;p25"/>
          <p:cNvSpPr/>
          <p:nvPr/>
        </p:nvSpPr>
        <p:spPr>
          <a:xfrm>
            <a:off x="50175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10" name="Google Shape;210;p25"/>
          <p:cNvSpPr/>
          <p:nvPr/>
        </p:nvSpPr>
        <p:spPr>
          <a:xfrm>
            <a:off x="56271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11" name="Google Shape;211;p25"/>
          <p:cNvSpPr/>
          <p:nvPr/>
        </p:nvSpPr>
        <p:spPr>
          <a:xfrm>
            <a:off x="62367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12" name="Google Shape;212;p25"/>
          <p:cNvSpPr/>
          <p:nvPr/>
        </p:nvSpPr>
        <p:spPr>
          <a:xfrm>
            <a:off x="68463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13" name="Google Shape;213;p25"/>
          <p:cNvSpPr/>
          <p:nvPr/>
        </p:nvSpPr>
        <p:spPr>
          <a:xfrm>
            <a:off x="74559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14" name="Google Shape;214;p25"/>
          <p:cNvSpPr/>
          <p:nvPr/>
        </p:nvSpPr>
        <p:spPr>
          <a:xfrm>
            <a:off x="806552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215" name="Google Shape;215;p25"/>
          <p:cNvCxnSpPr/>
          <p:nvPr/>
        </p:nvCxnSpPr>
        <p:spPr>
          <a:xfrm>
            <a:off x="-3008912" y="3513138"/>
            <a:ext cx="1348825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6" name="Google Shape;216;p25"/>
          <p:cNvSpPr/>
          <p:nvPr/>
        </p:nvSpPr>
        <p:spPr>
          <a:xfrm>
            <a:off x="1359928" y="3161698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17" name="Google Shape;217;p25"/>
          <p:cNvSpPr/>
          <p:nvPr/>
        </p:nvSpPr>
        <p:spPr>
          <a:xfrm>
            <a:off x="1969528" y="3161698"/>
            <a:ext cx="575499" cy="50384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18" name="Google Shape;218;p25"/>
          <p:cNvSpPr/>
          <p:nvPr/>
        </p:nvSpPr>
        <p:spPr>
          <a:xfrm>
            <a:off x="2579128" y="3161698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3188728" y="3161698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20" name="Google Shape;220;p25"/>
          <p:cNvSpPr/>
          <p:nvPr/>
        </p:nvSpPr>
        <p:spPr>
          <a:xfrm>
            <a:off x="3798328" y="3161698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21" name="Google Shape;221;p25"/>
          <p:cNvSpPr/>
          <p:nvPr/>
        </p:nvSpPr>
        <p:spPr>
          <a:xfrm>
            <a:off x="44079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22" name="Google Shape;222;p25"/>
          <p:cNvSpPr/>
          <p:nvPr/>
        </p:nvSpPr>
        <p:spPr>
          <a:xfrm>
            <a:off x="50175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23" name="Google Shape;223;p25"/>
          <p:cNvSpPr/>
          <p:nvPr/>
        </p:nvSpPr>
        <p:spPr>
          <a:xfrm>
            <a:off x="56271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24" name="Google Shape;224;p25"/>
          <p:cNvSpPr/>
          <p:nvPr/>
        </p:nvSpPr>
        <p:spPr>
          <a:xfrm>
            <a:off x="62367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25" name="Google Shape;225;p25"/>
          <p:cNvSpPr/>
          <p:nvPr/>
        </p:nvSpPr>
        <p:spPr>
          <a:xfrm>
            <a:off x="68463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>
            <a:off x="74559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8065528" y="3161698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228" name="Google Shape;228;p25"/>
          <p:cNvCxnSpPr/>
          <p:nvPr/>
        </p:nvCxnSpPr>
        <p:spPr>
          <a:xfrm>
            <a:off x="-2888916" y="4122738"/>
            <a:ext cx="13344383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9" name="Google Shape;229;p25"/>
          <p:cNvSpPr/>
          <p:nvPr/>
        </p:nvSpPr>
        <p:spPr>
          <a:xfrm>
            <a:off x="13599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19695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2579128" y="382014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3188728" y="3820142"/>
            <a:ext cx="575499" cy="50384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33" name="Google Shape;233;p25"/>
          <p:cNvSpPr/>
          <p:nvPr/>
        </p:nvSpPr>
        <p:spPr>
          <a:xfrm>
            <a:off x="3798328" y="382014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34" name="Google Shape;234;p25"/>
          <p:cNvSpPr/>
          <p:nvPr/>
        </p:nvSpPr>
        <p:spPr>
          <a:xfrm>
            <a:off x="44079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35" name="Google Shape;235;p25"/>
          <p:cNvSpPr/>
          <p:nvPr/>
        </p:nvSpPr>
        <p:spPr>
          <a:xfrm>
            <a:off x="50175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36" name="Google Shape;236;p25"/>
          <p:cNvSpPr/>
          <p:nvPr/>
        </p:nvSpPr>
        <p:spPr>
          <a:xfrm>
            <a:off x="56271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37" name="Google Shape;237;p25"/>
          <p:cNvSpPr/>
          <p:nvPr/>
        </p:nvSpPr>
        <p:spPr>
          <a:xfrm>
            <a:off x="62367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38" name="Google Shape;238;p25"/>
          <p:cNvSpPr/>
          <p:nvPr/>
        </p:nvSpPr>
        <p:spPr>
          <a:xfrm>
            <a:off x="68463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39" name="Google Shape;239;p25"/>
          <p:cNvSpPr/>
          <p:nvPr/>
        </p:nvSpPr>
        <p:spPr>
          <a:xfrm>
            <a:off x="74559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40" name="Google Shape;240;p25"/>
          <p:cNvSpPr/>
          <p:nvPr/>
        </p:nvSpPr>
        <p:spPr>
          <a:xfrm>
            <a:off x="806552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cxnSp>
        <p:nvCxnSpPr>
          <p:cNvPr id="241" name="Google Shape;241;p25"/>
          <p:cNvCxnSpPr/>
          <p:nvPr/>
        </p:nvCxnSpPr>
        <p:spPr>
          <a:xfrm>
            <a:off x="-2768920" y="4732338"/>
            <a:ext cx="13200508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2" name="Google Shape;242;p25"/>
          <p:cNvSpPr/>
          <p:nvPr/>
        </p:nvSpPr>
        <p:spPr>
          <a:xfrm>
            <a:off x="13599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/>
          </a:p>
        </p:txBody>
      </p:sp>
      <p:sp>
        <p:nvSpPr>
          <p:cNvPr id="243" name="Google Shape;243;p25"/>
          <p:cNvSpPr/>
          <p:nvPr/>
        </p:nvSpPr>
        <p:spPr>
          <a:xfrm>
            <a:off x="19695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/>
          </a:p>
        </p:txBody>
      </p:sp>
      <p:sp>
        <p:nvSpPr>
          <p:cNvPr id="244" name="Google Shape;244;p25"/>
          <p:cNvSpPr/>
          <p:nvPr/>
        </p:nvSpPr>
        <p:spPr>
          <a:xfrm>
            <a:off x="25791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/>
          </a:p>
        </p:txBody>
      </p:sp>
      <p:sp>
        <p:nvSpPr>
          <p:cNvPr id="245" name="Google Shape;245;p25"/>
          <p:cNvSpPr/>
          <p:nvPr/>
        </p:nvSpPr>
        <p:spPr>
          <a:xfrm>
            <a:off x="3363912" y="4657653"/>
            <a:ext cx="400315" cy="361406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/>
          </a:p>
        </p:txBody>
      </p:sp>
      <p:sp>
        <p:nvSpPr>
          <p:cNvPr id="246" name="Google Shape;246;p25"/>
          <p:cNvSpPr/>
          <p:nvPr/>
        </p:nvSpPr>
        <p:spPr>
          <a:xfrm>
            <a:off x="3798328" y="4515219"/>
            <a:ext cx="575499" cy="503840"/>
          </a:xfrm>
          <a:prstGeom prst="ellipse">
            <a:avLst/>
          </a:prstGeom>
          <a:solidFill>
            <a:schemeClr val="accent1"/>
          </a:solidFill>
          <a:ln w="571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/>
          </a:p>
        </p:txBody>
      </p:sp>
      <p:sp>
        <p:nvSpPr>
          <p:cNvPr id="247" name="Google Shape;247;p25"/>
          <p:cNvSpPr/>
          <p:nvPr/>
        </p:nvSpPr>
        <p:spPr>
          <a:xfrm>
            <a:off x="44079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/>
          </a:p>
        </p:txBody>
      </p:sp>
      <p:sp>
        <p:nvSpPr>
          <p:cNvPr id="248" name="Google Shape;248;p25"/>
          <p:cNvSpPr/>
          <p:nvPr/>
        </p:nvSpPr>
        <p:spPr>
          <a:xfrm>
            <a:off x="50175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/>
          </a:p>
        </p:txBody>
      </p:sp>
      <p:sp>
        <p:nvSpPr>
          <p:cNvPr id="249" name="Google Shape;249;p25"/>
          <p:cNvSpPr/>
          <p:nvPr/>
        </p:nvSpPr>
        <p:spPr>
          <a:xfrm>
            <a:off x="56271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/>
          </a:p>
        </p:txBody>
      </p:sp>
      <p:sp>
        <p:nvSpPr>
          <p:cNvPr id="250" name="Google Shape;250;p25"/>
          <p:cNvSpPr/>
          <p:nvPr/>
        </p:nvSpPr>
        <p:spPr>
          <a:xfrm>
            <a:off x="62367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r>
            <a:endParaRPr/>
          </a:p>
        </p:txBody>
      </p:sp>
      <p:sp>
        <p:nvSpPr>
          <p:cNvPr id="251" name="Google Shape;251;p25"/>
          <p:cNvSpPr/>
          <p:nvPr/>
        </p:nvSpPr>
        <p:spPr>
          <a:xfrm>
            <a:off x="68463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</a:t>
            </a:r>
            <a:endParaRPr/>
          </a:p>
        </p:txBody>
      </p:sp>
      <p:sp>
        <p:nvSpPr>
          <p:cNvPr id="252" name="Google Shape;252;p25"/>
          <p:cNvSpPr/>
          <p:nvPr/>
        </p:nvSpPr>
        <p:spPr>
          <a:xfrm>
            <a:off x="74559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18</a:t>
            </a:r>
            <a:endParaRPr/>
          </a:p>
        </p:txBody>
      </p:sp>
      <p:sp>
        <p:nvSpPr>
          <p:cNvPr id="253" name="Google Shape;253;p25"/>
          <p:cNvSpPr/>
          <p:nvPr/>
        </p:nvSpPr>
        <p:spPr>
          <a:xfrm>
            <a:off x="8065528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19</a:t>
            </a:r>
            <a:endParaRPr/>
          </a:p>
        </p:txBody>
      </p:sp>
      <p:sp>
        <p:nvSpPr>
          <p:cNvPr id="254" name="Google Shape;254;p25"/>
          <p:cNvSpPr/>
          <p:nvPr/>
        </p:nvSpPr>
        <p:spPr>
          <a:xfrm>
            <a:off x="769378" y="2478832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5" name="Google Shape;255;p25"/>
          <p:cNvSpPr/>
          <p:nvPr/>
        </p:nvSpPr>
        <p:spPr>
          <a:xfrm>
            <a:off x="769378" y="3161698"/>
            <a:ext cx="575499" cy="503840"/>
          </a:xfrm>
          <a:prstGeom prst="ellipse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6" name="Google Shape;256;p25"/>
          <p:cNvSpPr/>
          <p:nvPr/>
        </p:nvSpPr>
        <p:spPr>
          <a:xfrm>
            <a:off x="769378" y="3820142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7" name="Google Shape;257;p25"/>
          <p:cNvSpPr/>
          <p:nvPr/>
        </p:nvSpPr>
        <p:spPr>
          <a:xfrm>
            <a:off x="778903" y="4515219"/>
            <a:ext cx="575499" cy="503840"/>
          </a:xfrm>
          <a:prstGeom prst="ellipse">
            <a:avLst/>
          </a:prstGeom>
          <a:solidFill>
            <a:schemeClr val="lt2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/>
          </a:p>
        </p:txBody>
      </p:sp>
      <p:sp>
        <p:nvSpPr>
          <p:cNvPr id="258" name="Google Shape;258;p25"/>
          <p:cNvSpPr txBox="1"/>
          <p:nvPr/>
        </p:nvSpPr>
        <p:spPr>
          <a:xfrm>
            <a:off x="4718056" y="2898065"/>
            <a:ext cx="450354" cy="39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dirty="0"/>
          </a:p>
        </p:txBody>
      </p:sp>
      <p:sp>
        <p:nvSpPr>
          <p:cNvPr id="259" name="Google Shape;259;p25"/>
          <p:cNvSpPr txBox="1"/>
          <p:nvPr/>
        </p:nvSpPr>
        <p:spPr>
          <a:xfrm>
            <a:off x="903572" y="2888914"/>
            <a:ext cx="455603" cy="55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260" name="Google Shape;260;p25"/>
          <p:cNvSpPr txBox="1"/>
          <p:nvPr/>
        </p:nvSpPr>
        <p:spPr>
          <a:xfrm>
            <a:off x="8107390" y="2775354"/>
            <a:ext cx="500563" cy="5615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1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2226046" y="3518778"/>
            <a:ext cx="450354" cy="39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dirty="0"/>
          </a:p>
        </p:txBody>
      </p:sp>
      <p:sp>
        <p:nvSpPr>
          <p:cNvPr id="262" name="Google Shape;262;p25"/>
          <p:cNvSpPr txBox="1"/>
          <p:nvPr/>
        </p:nvSpPr>
        <p:spPr>
          <a:xfrm>
            <a:off x="805876" y="3399727"/>
            <a:ext cx="455603" cy="55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3973513" y="3554821"/>
            <a:ext cx="348190" cy="402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64" name="Google Shape;264;p25"/>
          <p:cNvSpPr txBox="1"/>
          <p:nvPr/>
        </p:nvSpPr>
        <p:spPr>
          <a:xfrm>
            <a:off x="3169518" y="4189806"/>
            <a:ext cx="647436" cy="55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</a:t>
            </a:r>
            <a:endParaRPr dirty="0"/>
          </a:p>
        </p:txBody>
      </p:sp>
      <p:sp>
        <p:nvSpPr>
          <p:cNvPr id="265" name="Google Shape;265;p25"/>
          <p:cNvSpPr txBox="1"/>
          <p:nvPr/>
        </p:nvSpPr>
        <p:spPr>
          <a:xfrm>
            <a:off x="2773363" y="4226555"/>
            <a:ext cx="316916" cy="399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/>
          </a:p>
        </p:txBody>
      </p:sp>
      <p:sp>
        <p:nvSpPr>
          <p:cNvPr id="266" name="Google Shape;266;p25"/>
          <p:cNvSpPr txBox="1"/>
          <p:nvPr/>
        </p:nvSpPr>
        <p:spPr>
          <a:xfrm>
            <a:off x="3810540" y="4189806"/>
            <a:ext cx="575499" cy="556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  <p:sp>
        <p:nvSpPr>
          <p:cNvPr id="267" name="Google Shape;267;p25"/>
          <p:cNvSpPr txBox="1"/>
          <p:nvPr/>
        </p:nvSpPr>
        <p:spPr>
          <a:xfrm>
            <a:off x="3725863" y="4988896"/>
            <a:ext cx="785812" cy="336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</a:t>
            </a:r>
            <a:r>
              <a:rPr lang="en-US" sz="16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16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/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26"/>
          <p:cNvSpPr txBox="1">
            <a:spLocks noGrp="1"/>
          </p:cNvSpPr>
          <p:nvPr>
            <p:ph type="title"/>
          </p:nvPr>
        </p:nvSpPr>
        <p:spPr>
          <a:xfrm>
            <a:off x="457200" y="320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Brute Force Search</a:t>
            </a:r>
            <a:endParaRPr/>
          </a:p>
        </p:txBody>
      </p:sp>
      <p:sp>
        <p:nvSpPr>
          <p:cNvPr id="273" name="Google Shape;273;p26"/>
          <p:cNvSpPr txBox="1">
            <a:spLocks noGrp="1"/>
          </p:cNvSpPr>
          <p:nvPr>
            <p:ph type="body" idx="1"/>
          </p:nvPr>
        </p:nvSpPr>
        <p:spPr>
          <a:xfrm>
            <a:off x="990600" y="2057400"/>
            <a:ext cx="7391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Systematically evaluate all possible solutions for the problem to determine objective solutions.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prime numbers smaller than 100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 binary numbers of length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 sz="1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Travel sale man problem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4" name="Google Shape;274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12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7"/>
          <p:cNvSpPr txBox="1">
            <a:spLocks noGrp="1"/>
          </p:cNvSpPr>
          <p:nvPr>
            <p:ph type="title"/>
          </p:nvPr>
        </p:nvSpPr>
        <p:spPr>
          <a:xfrm>
            <a:off x="457200" y="685800"/>
            <a:ext cx="8229600" cy="777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largest row</a:t>
            </a:r>
            <a:endParaRPr/>
          </a:p>
        </p:txBody>
      </p:sp>
      <p:sp>
        <p:nvSpPr>
          <p:cNvPr id="280" name="Google Shape;280;p27"/>
          <p:cNvSpPr txBox="1">
            <a:spLocks noGrp="1"/>
          </p:cNvSpPr>
          <p:nvPr>
            <p:ph type="body" idx="1"/>
          </p:nvPr>
        </p:nvSpPr>
        <p:spPr>
          <a:xfrm>
            <a:off x="914400" y="2057400"/>
            <a:ext cx="7391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Given a matrix A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columns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containing integer numbers. Your task is to find the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row with the largest sum.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Find_largest_row (A,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m, 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1" name="Google Shape;281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13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8"/>
          <p:cNvSpPr txBox="1">
            <a:spLocks noGrp="1"/>
          </p:cNvSpPr>
          <p:nvPr>
            <p:ph type="title"/>
          </p:nvPr>
        </p:nvSpPr>
        <p:spPr>
          <a:xfrm>
            <a:off x="457200" y="762000"/>
            <a:ext cx="8229600" cy="70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largest rectangle</a:t>
            </a:r>
            <a:endParaRPr/>
          </a:p>
        </p:txBody>
      </p:sp>
      <p:sp>
        <p:nvSpPr>
          <p:cNvPr id="287" name="Google Shape;287;p28"/>
          <p:cNvSpPr txBox="1">
            <a:spLocks noGrp="1"/>
          </p:cNvSpPr>
          <p:nvPr>
            <p:ph type="body" idx="1"/>
          </p:nvPr>
        </p:nvSpPr>
        <p:spPr>
          <a:xfrm>
            <a:off x="914400" y="2057400"/>
            <a:ext cx="7391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Given a matrix of A of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rows and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columns containing integer numbers. Your task is to 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the rectangle in the matrix with the largest sum.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Method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Find_largest_rectangle (A,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m, 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8" name="Google Shape;288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14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9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</a:t>
            </a:r>
            <a:endParaRPr/>
          </a:p>
        </p:txBody>
      </p:sp>
      <p:sp>
        <p:nvSpPr>
          <p:cNvPr id="294" name="Google Shape;294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77724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Char char="➢"/>
            </a:pP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Recursion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when a method calls itself</a:t>
            </a:r>
            <a:endParaRPr/>
          </a:p>
          <a:p>
            <a:pPr marL="0" marR="0" lvl="0" indent="0" algn="l" rtl="0">
              <a:lnSpc>
                <a:spcPct val="10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Classic example (the factorial function):</a:t>
            </a:r>
            <a:endParaRPr/>
          </a:p>
          <a:p>
            <a:pPr marL="0" marR="0" lvl="0" indent="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Arial"/>
              <a:buNone/>
            </a:pP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Arial"/>
              <a:buNone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n! = n * (n-1)!</a:t>
            </a:r>
            <a:endParaRPr/>
          </a:p>
          <a:p>
            <a:pPr marL="0" marR="0" lvl="0" indent="0" algn="l" rtl="0">
              <a:lnSpc>
                <a:spcPct val="6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Arial"/>
              <a:buNone/>
            </a:pPr>
            <a:endParaRPr sz="155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Char char="➢"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definition:</a:t>
            </a:r>
            <a:endParaRPr/>
          </a:p>
          <a:p>
            <a:pPr marL="342900" marR="0" lvl="0" indent="-22479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479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479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24790" algn="l" rtl="0">
              <a:lnSpc>
                <a:spcPct val="6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Helvetica Neue"/>
              <a:buNone/>
            </a:pP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Noto Sans Symbols"/>
              <a:buNone/>
            </a:pP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310"/>
              </a:spcBef>
              <a:spcAft>
                <a:spcPts val="0"/>
              </a:spcAft>
              <a:buClr>
                <a:schemeClr val="dk1"/>
              </a:buClr>
              <a:buSzPts val="1550"/>
              <a:buFont typeface="Noto Sans Symbols"/>
              <a:buNone/>
            </a:pPr>
            <a:endParaRPr sz="155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177800" marR="0" lvl="1" indent="-177800" algn="l" rtl="0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None/>
            </a:pP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RecursiveFactorial (</a:t>
            </a: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int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n) { 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None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(n  ==  0)  </a:t>
            </a: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1; // base case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None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</a:t>
            </a:r>
            <a:r>
              <a:rPr lang="en-US" sz="186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else return</a:t>
            </a: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n  *  RecursiveFactorial (n - 1); // recursive case</a:t>
            </a:r>
            <a:endParaRPr/>
          </a:p>
          <a:p>
            <a:pPr marL="742950" marR="0" lvl="1" indent="-742950" algn="l" rtl="0">
              <a:lnSpc>
                <a:spcPct val="90000"/>
              </a:lnSpc>
              <a:spcBef>
                <a:spcPts val="372"/>
              </a:spcBef>
              <a:spcAft>
                <a:spcPts val="0"/>
              </a:spcAft>
              <a:buClr>
                <a:schemeClr val="dk1"/>
              </a:buClr>
              <a:buSzPts val="1860"/>
              <a:buFont typeface="Noto Sans Symbols"/>
              <a:buNone/>
            </a:pPr>
            <a:r>
              <a:rPr lang="en-US" sz="186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</a:t>
            </a:r>
            <a:endParaRPr sz="186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295" name="Google Shape;295;p2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676400" y="3810000"/>
            <a:ext cx="3810000" cy="979488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29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15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0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8153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Content of a Recursive Method</a:t>
            </a:r>
            <a:endParaRPr/>
          </a:p>
        </p:txBody>
      </p:sp>
      <p:sp>
        <p:nvSpPr>
          <p:cNvPr id="302" name="Google Shape;302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1200"/>
            <a:ext cx="78486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Base case(s).</a:t>
            </a: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cases for which we perform no recursive calls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Every possible chain of recursive calls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must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eventually reach a base case.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calls.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Calls to the current method. </a:t>
            </a:r>
            <a:endParaRPr/>
          </a:p>
          <a:p>
            <a:pPr marL="742950" marR="0" lvl="1" indent="-28575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Each recursive call should be defined so that it makes progress towards a base case.</a:t>
            </a:r>
            <a:endParaRPr/>
          </a:p>
        </p:txBody>
      </p:sp>
      <p:sp>
        <p:nvSpPr>
          <p:cNvPr id="303" name="Google Shape;303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16</a:t>
            </a:fld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31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Visualizing Recursion</a:t>
            </a:r>
            <a:endParaRPr/>
          </a:p>
        </p:txBody>
      </p:sp>
      <p:grpSp>
        <p:nvGrpSpPr>
          <p:cNvPr id="309" name="Google Shape;309;p31"/>
          <p:cNvGrpSpPr/>
          <p:nvPr/>
        </p:nvGrpSpPr>
        <p:grpSpPr>
          <a:xfrm>
            <a:off x="2438400" y="2133600"/>
            <a:ext cx="5298618" cy="4114800"/>
            <a:chOff x="2899" y="1511"/>
            <a:chExt cx="2690" cy="2089"/>
          </a:xfrm>
        </p:grpSpPr>
        <p:sp>
          <p:nvSpPr>
            <p:cNvPr id="310" name="Google Shape;310;p31"/>
            <p:cNvSpPr/>
            <p:nvPr/>
          </p:nvSpPr>
          <p:spPr>
            <a:xfrm>
              <a:off x="2899" y="1511"/>
              <a:ext cx="2669" cy="208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1" name="Google Shape;311;p31"/>
            <p:cNvSpPr/>
            <p:nvPr/>
          </p:nvSpPr>
          <p:spPr>
            <a:xfrm>
              <a:off x="2910" y="1756"/>
              <a:ext cx="1018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2" name="Google Shape;312;p31"/>
            <p:cNvSpPr/>
            <p:nvPr/>
          </p:nvSpPr>
          <p:spPr>
            <a:xfrm>
              <a:off x="2910" y="1756"/>
              <a:ext cx="1018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3" name="Google Shape;313;p31"/>
            <p:cNvSpPr/>
            <p:nvPr/>
          </p:nvSpPr>
          <p:spPr>
            <a:xfrm>
              <a:off x="2954" y="1796"/>
              <a:ext cx="752" cy="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recursiveFactorial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4" name="Google Shape;314;p31"/>
            <p:cNvSpPr/>
            <p:nvPr/>
          </p:nvSpPr>
          <p:spPr>
            <a:xfrm>
              <a:off x="3756" y="1796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31"/>
            <p:cNvSpPr/>
            <p:nvPr/>
          </p:nvSpPr>
          <p:spPr>
            <a:xfrm>
              <a:off x="3790" y="1796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6" name="Google Shape;316;p31"/>
            <p:cNvSpPr/>
            <p:nvPr/>
          </p:nvSpPr>
          <p:spPr>
            <a:xfrm>
              <a:off x="3850" y="1796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17" name="Google Shape;317;p31"/>
            <p:cNvCxnSpPr/>
            <p:nvPr/>
          </p:nvCxnSpPr>
          <p:spPr>
            <a:xfrm>
              <a:off x="3470" y="1960"/>
              <a:ext cx="44" cy="177"/>
            </a:xfrm>
            <a:prstGeom prst="straightConnector1">
              <a:avLst/>
            </a:pr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18" name="Google Shape;318;p31"/>
            <p:cNvSpPr/>
            <p:nvPr/>
          </p:nvSpPr>
          <p:spPr>
            <a:xfrm>
              <a:off x="3498" y="2130"/>
              <a:ext cx="30" cy="3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30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9" name="Google Shape;319;p31"/>
            <p:cNvSpPr/>
            <p:nvPr/>
          </p:nvSpPr>
          <p:spPr>
            <a:xfrm>
              <a:off x="3011" y="2164"/>
              <a:ext cx="1019" cy="203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0" name="Google Shape;320;p31"/>
            <p:cNvSpPr/>
            <p:nvPr/>
          </p:nvSpPr>
          <p:spPr>
            <a:xfrm>
              <a:off x="3011" y="2164"/>
              <a:ext cx="1019" cy="203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31"/>
            <p:cNvSpPr/>
            <p:nvPr/>
          </p:nvSpPr>
          <p:spPr>
            <a:xfrm>
              <a:off x="3056" y="2203"/>
              <a:ext cx="752" cy="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recursiveFactorial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31"/>
            <p:cNvSpPr/>
            <p:nvPr/>
          </p:nvSpPr>
          <p:spPr>
            <a:xfrm>
              <a:off x="3858" y="2203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31"/>
            <p:cNvSpPr/>
            <p:nvPr/>
          </p:nvSpPr>
          <p:spPr>
            <a:xfrm>
              <a:off x="3892" y="2203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4" name="Google Shape;324;p31"/>
            <p:cNvSpPr/>
            <p:nvPr/>
          </p:nvSpPr>
          <p:spPr>
            <a:xfrm>
              <a:off x="3951" y="2203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25" name="Google Shape;325;p31"/>
            <p:cNvCxnSpPr/>
            <p:nvPr/>
          </p:nvCxnSpPr>
          <p:spPr>
            <a:xfrm>
              <a:off x="3572" y="2367"/>
              <a:ext cx="44" cy="178"/>
            </a:xfrm>
            <a:prstGeom prst="straightConnector1">
              <a:avLst/>
            </a:pr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6" name="Google Shape;326;p31"/>
            <p:cNvSpPr/>
            <p:nvPr/>
          </p:nvSpPr>
          <p:spPr>
            <a:xfrm>
              <a:off x="3600" y="2537"/>
              <a:ext cx="30" cy="3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7" name="Google Shape;327;p31"/>
            <p:cNvSpPr/>
            <p:nvPr/>
          </p:nvSpPr>
          <p:spPr>
            <a:xfrm>
              <a:off x="3113" y="2571"/>
              <a:ext cx="1019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31"/>
            <p:cNvSpPr/>
            <p:nvPr/>
          </p:nvSpPr>
          <p:spPr>
            <a:xfrm>
              <a:off x="3113" y="2571"/>
              <a:ext cx="1019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31"/>
            <p:cNvSpPr/>
            <p:nvPr/>
          </p:nvSpPr>
          <p:spPr>
            <a:xfrm>
              <a:off x="3158" y="2611"/>
              <a:ext cx="752" cy="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recursiveFactorial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0" name="Google Shape;330;p31"/>
            <p:cNvSpPr/>
            <p:nvPr/>
          </p:nvSpPr>
          <p:spPr>
            <a:xfrm>
              <a:off x="3960" y="2611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1" name="Google Shape;331;p31"/>
            <p:cNvSpPr/>
            <p:nvPr/>
          </p:nvSpPr>
          <p:spPr>
            <a:xfrm>
              <a:off x="3994" y="2611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2" name="Google Shape;332;p31"/>
            <p:cNvSpPr/>
            <p:nvPr/>
          </p:nvSpPr>
          <p:spPr>
            <a:xfrm>
              <a:off x="4053" y="2611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33" name="Google Shape;333;p31"/>
            <p:cNvCxnSpPr/>
            <p:nvPr/>
          </p:nvCxnSpPr>
          <p:spPr>
            <a:xfrm>
              <a:off x="3673" y="2775"/>
              <a:ext cx="45" cy="177"/>
            </a:xfrm>
            <a:prstGeom prst="straightConnector1">
              <a:avLst/>
            </a:pr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34" name="Google Shape;334;p31"/>
            <p:cNvSpPr/>
            <p:nvPr/>
          </p:nvSpPr>
          <p:spPr>
            <a:xfrm>
              <a:off x="3702" y="2945"/>
              <a:ext cx="30" cy="3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30" y="0"/>
                  </a:moveTo>
                  <a:lnTo>
                    <a:pt x="22" y="34"/>
                  </a:lnTo>
                  <a:lnTo>
                    <a:pt x="0" y="7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1"/>
            <p:cNvSpPr/>
            <p:nvPr/>
          </p:nvSpPr>
          <p:spPr>
            <a:xfrm>
              <a:off x="3215" y="2979"/>
              <a:ext cx="1019" cy="203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6" name="Google Shape;336;p31"/>
            <p:cNvSpPr/>
            <p:nvPr/>
          </p:nvSpPr>
          <p:spPr>
            <a:xfrm>
              <a:off x="3215" y="2979"/>
              <a:ext cx="1019" cy="203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7" name="Google Shape;337;p31"/>
            <p:cNvSpPr/>
            <p:nvPr/>
          </p:nvSpPr>
          <p:spPr>
            <a:xfrm>
              <a:off x="3260" y="3018"/>
              <a:ext cx="752" cy="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recursiveFactorial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8" name="Google Shape;338;p31"/>
            <p:cNvSpPr/>
            <p:nvPr/>
          </p:nvSpPr>
          <p:spPr>
            <a:xfrm>
              <a:off x="4062" y="3018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9" name="Google Shape;339;p31"/>
            <p:cNvSpPr/>
            <p:nvPr/>
          </p:nvSpPr>
          <p:spPr>
            <a:xfrm>
              <a:off x="4096" y="3018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0" name="Google Shape;340;p31"/>
            <p:cNvSpPr/>
            <p:nvPr/>
          </p:nvSpPr>
          <p:spPr>
            <a:xfrm>
              <a:off x="4155" y="3018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41" name="Google Shape;341;p31"/>
            <p:cNvCxnSpPr/>
            <p:nvPr/>
          </p:nvCxnSpPr>
          <p:spPr>
            <a:xfrm>
              <a:off x="3775" y="3182"/>
              <a:ext cx="45" cy="177"/>
            </a:xfrm>
            <a:prstGeom prst="straightConnector1">
              <a:avLst/>
            </a:pr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42" name="Google Shape;342;p31"/>
            <p:cNvSpPr/>
            <p:nvPr/>
          </p:nvSpPr>
          <p:spPr>
            <a:xfrm>
              <a:off x="3803" y="3352"/>
              <a:ext cx="31" cy="34"/>
            </a:xfrm>
            <a:custGeom>
              <a:avLst/>
              <a:gdLst/>
              <a:ahLst/>
              <a:cxnLst/>
              <a:rect l="l" t="t" r="r" b="b"/>
              <a:pathLst>
                <a:path w="31" h="34" extrusionOk="0">
                  <a:moveTo>
                    <a:pt x="31" y="0"/>
                  </a:moveTo>
                  <a:lnTo>
                    <a:pt x="23" y="34"/>
                  </a:lnTo>
                  <a:lnTo>
                    <a:pt x="0" y="7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31"/>
            <p:cNvSpPr/>
            <p:nvPr/>
          </p:nvSpPr>
          <p:spPr>
            <a:xfrm>
              <a:off x="3317" y="3386"/>
              <a:ext cx="1018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solidFill>
              <a:srgbClr val="FFFFFF"/>
            </a:solidFill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31"/>
            <p:cNvSpPr/>
            <p:nvPr/>
          </p:nvSpPr>
          <p:spPr>
            <a:xfrm>
              <a:off x="3317" y="3386"/>
              <a:ext cx="1018" cy="204"/>
            </a:xfrm>
            <a:custGeom>
              <a:avLst/>
              <a:gdLst/>
              <a:ahLst/>
              <a:cxnLst/>
              <a:rect l="l" t="t" r="r" b="b"/>
              <a:pathLst>
                <a:path w="3840" h="768" extrusionOk="0">
                  <a:moveTo>
                    <a:pt x="192" y="768"/>
                  </a:moveTo>
                  <a:lnTo>
                    <a:pt x="3648" y="768"/>
                  </a:lnTo>
                  <a:cubicBezTo>
                    <a:pt x="3754" y="768"/>
                    <a:pt x="3840" y="682"/>
                    <a:pt x="3840" y="576"/>
                  </a:cubicBezTo>
                  <a:cubicBezTo>
                    <a:pt x="3840" y="576"/>
                    <a:pt x="3840" y="576"/>
                    <a:pt x="3840" y="576"/>
                  </a:cubicBezTo>
                  <a:lnTo>
                    <a:pt x="3840" y="192"/>
                  </a:lnTo>
                  <a:cubicBezTo>
                    <a:pt x="3840" y="86"/>
                    <a:pt x="3754" y="0"/>
                    <a:pt x="3648" y="0"/>
                  </a:cubicBezTo>
                  <a:lnTo>
                    <a:pt x="192" y="0"/>
                  </a:lnTo>
                  <a:cubicBezTo>
                    <a:pt x="86" y="0"/>
                    <a:pt x="0" y="86"/>
                    <a:pt x="0" y="192"/>
                  </a:cubicBezTo>
                  <a:lnTo>
                    <a:pt x="0" y="576"/>
                  </a:lnTo>
                  <a:cubicBezTo>
                    <a:pt x="0" y="682"/>
                    <a:pt x="86" y="768"/>
                    <a:pt x="192" y="768"/>
                  </a:cubicBezTo>
                  <a:close/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5" name="Google Shape;345;p31"/>
            <p:cNvSpPr/>
            <p:nvPr/>
          </p:nvSpPr>
          <p:spPr>
            <a:xfrm>
              <a:off x="3362" y="3426"/>
              <a:ext cx="752" cy="12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recursiveFactorial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6" name="Google Shape;346;p31"/>
            <p:cNvSpPr/>
            <p:nvPr/>
          </p:nvSpPr>
          <p:spPr>
            <a:xfrm>
              <a:off x="4164" y="3426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(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7" name="Google Shape;347;p31"/>
            <p:cNvSpPr/>
            <p:nvPr/>
          </p:nvSpPr>
          <p:spPr>
            <a:xfrm>
              <a:off x="4198" y="3426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0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8" name="Google Shape;348;p31"/>
            <p:cNvSpPr/>
            <p:nvPr/>
          </p:nvSpPr>
          <p:spPr>
            <a:xfrm>
              <a:off x="4257" y="3426"/>
              <a:ext cx="8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3366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3366FF"/>
                  </a:solidFill>
                  <a:latin typeface="Calibri"/>
                  <a:ea typeface="Calibri"/>
                  <a:cs typeface="Calibri"/>
                  <a:sym typeface="Calibri"/>
                </a:rPr>
                <a:t>)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31"/>
            <p:cNvSpPr/>
            <p:nvPr/>
          </p:nvSpPr>
          <p:spPr>
            <a:xfrm>
              <a:off x="4257" y="3094"/>
              <a:ext cx="184" cy="394"/>
            </a:xfrm>
            <a:custGeom>
              <a:avLst/>
              <a:gdLst/>
              <a:ahLst/>
              <a:cxnLst/>
              <a:rect l="l" t="t" r="r" b="b"/>
              <a:pathLst>
                <a:path w="184" h="394" extrusionOk="0">
                  <a:moveTo>
                    <a:pt x="78" y="394"/>
                  </a:moveTo>
                  <a:lnTo>
                    <a:pt x="122" y="355"/>
                  </a:lnTo>
                  <a:lnTo>
                    <a:pt x="154" y="315"/>
                  </a:lnTo>
                  <a:lnTo>
                    <a:pt x="175" y="276"/>
                  </a:lnTo>
                  <a:lnTo>
                    <a:pt x="184" y="237"/>
                  </a:lnTo>
                  <a:lnTo>
                    <a:pt x="182" y="197"/>
                  </a:lnTo>
                  <a:lnTo>
                    <a:pt x="168" y="158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31"/>
            <p:cNvSpPr/>
            <p:nvPr/>
          </p:nvSpPr>
          <p:spPr>
            <a:xfrm>
              <a:off x="4234" y="3080"/>
              <a:ext cx="34" cy="30"/>
            </a:xfrm>
            <a:custGeom>
              <a:avLst/>
              <a:gdLst/>
              <a:ahLst/>
              <a:cxnLst/>
              <a:rect l="l" t="t" r="r" b="b"/>
              <a:pathLst>
                <a:path w="34" h="30" extrusionOk="0">
                  <a:moveTo>
                    <a:pt x="18" y="30"/>
                  </a:moveTo>
                  <a:lnTo>
                    <a:pt x="0" y="0"/>
                  </a:lnTo>
                  <a:lnTo>
                    <a:pt x="34" y="3"/>
                  </a:lnTo>
                  <a:lnTo>
                    <a:pt x="18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1" name="Google Shape;351;p31"/>
            <p:cNvSpPr/>
            <p:nvPr/>
          </p:nvSpPr>
          <p:spPr>
            <a:xfrm>
              <a:off x="4490" y="3218"/>
              <a:ext cx="352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return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2" name="Google Shape;352;p31"/>
            <p:cNvSpPr/>
            <p:nvPr/>
          </p:nvSpPr>
          <p:spPr>
            <a:xfrm>
              <a:off x="4783" y="3218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3" name="Google Shape;353;p31"/>
            <p:cNvSpPr/>
            <p:nvPr/>
          </p:nvSpPr>
          <p:spPr>
            <a:xfrm>
              <a:off x="3523" y="2008"/>
              <a:ext cx="174" cy="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000"/>
                <a:buFont typeface="Calibri"/>
                <a:buNone/>
              </a:pPr>
              <a:r>
                <a:rPr lang="en-US" sz="10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call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31"/>
            <p:cNvSpPr/>
            <p:nvPr/>
          </p:nvSpPr>
          <p:spPr>
            <a:xfrm>
              <a:off x="3625" y="2419"/>
              <a:ext cx="174" cy="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000"/>
                <a:buFont typeface="Calibri"/>
                <a:buNone/>
              </a:pPr>
              <a:r>
                <a:rPr lang="en-US" sz="10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call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31"/>
            <p:cNvSpPr/>
            <p:nvPr/>
          </p:nvSpPr>
          <p:spPr>
            <a:xfrm>
              <a:off x="3727" y="2827"/>
              <a:ext cx="174" cy="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000"/>
                <a:buFont typeface="Calibri"/>
                <a:buNone/>
              </a:pPr>
              <a:r>
                <a:rPr lang="en-US" sz="10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call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6" name="Google Shape;356;p31"/>
            <p:cNvSpPr/>
            <p:nvPr/>
          </p:nvSpPr>
          <p:spPr>
            <a:xfrm>
              <a:off x="3828" y="3243"/>
              <a:ext cx="174" cy="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000"/>
                <a:buFont typeface="Calibri"/>
                <a:buNone/>
              </a:pPr>
              <a:r>
                <a:rPr lang="en-US" sz="10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call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31"/>
            <p:cNvSpPr/>
            <p:nvPr/>
          </p:nvSpPr>
          <p:spPr>
            <a:xfrm>
              <a:off x="4155" y="2687"/>
              <a:ext cx="184" cy="393"/>
            </a:xfrm>
            <a:custGeom>
              <a:avLst/>
              <a:gdLst/>
              <a:ahLst/>
              <a:cxnLst/>
              <a:rect l="l" t="t" r="r" b="b"/>
              <a:pathLst>
                <a:path w="184" h="393" extrusionOk="0">
                  <a:moveTo>
                    <a:pt x="79" y="393"/>
                  </a:moveTo>
                  <a:lnTo>
                    <a:pt x="122" y="354"/>
                  </a:lnTo>
                  <a:lnTo>
                    <a:pt x="154" y="315"/>
                  </a:lnTo>
                  <a:lnTo>
                    <a:pt x="175" y="275"/>
                  </a:lnTo>
                  <a:lnTo>
                    <a:pt x="184" y="236"/>
                  </a:lnTo>
                  <a:lnTo>
                    <a:pt x="182" y="197"/>
                  </a:lnTo>
                  <a:lnTo>
                    <a:pt x="169" y="157"/>
                  </a:lnTo>
                  <a:lnTo>
                    <a:pt x="144" y="118"/>
                  </a:lnTo>
                  <a:lnTo>
                    <a:pt x="107" y="78"/>
                  </a:lnTo>
                  <a:lnTo>
                    <a:pt x="60" y="39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8" name="Google Shape;358;p31"/>
            <p:cNvSpPr/>
            <p:nvPr/>
          </p:nvSpPr>
          <p:spPr>
            <a:xfrm>
              <a:off x="4132" y="2673"/>
              <a:ext cx="35" cy="29"/>
            </a:xfrm>
            <a:custGeom>
              <a:avLst/>
              <a:gdLst/>
              <a:ahLst/>
              <a:cxnLst/>
              <a:rect l="l" t="t" r="r" b="b"/>
              <a:pathLst>
                <a:path w="35" h="29" extrusionOk="0">
                  <a:moveTo>
                    <a:pt x="19" y="29"/>
                  </a:moveTo>
                  <a:lnTo>
                    <a:pt x="0" y="0"/>
                  </a:lnTo>
                  <a:lnTo>
                    <a:pt x="35" y="2"/>
                  </a:lnTo>
                  <a:lnTo>
                    <a:pt x="19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9" name="Google Shape;359;p31"/>
            <p:cNvSpPr/>
            <p:nvPr/>
          </p:nvSpPr>
          <p:spPr>
            <a:xfrm>
              <a:off x="4054" y="2279"/>
              <a:ext cx="183" cy="394"/>
            </a:xfrm>
            <a:custGeom>
              <a:avLst/>
              <a:gdLst/>
              <a:ahLst/>
              <a:cxnLst/>
              <a:rect l="l" t="t" r="r" b="b"/>
              <a:pathLst>
                <a:path w="183" h="394" extrusionOk="0">
                  <a:moveTo>
                    <a:pt x="78" y="394"/>
                  </a:moveTo>
                  <a:lnTo>
                    <a:pt x="121" y="355"/>
                  </a:lnTo>
                  <a:lnTo>
                    <a:pt x="153" y="315"/>
                  </a:lnTo>
                  <a:lnTo>
                    <a:pt x="174" y="276"/>
                  </a:lnTo>
                  <a:lnTo>
                    <a:pt x="183" y="237"/>
                  </a:lnTo>
                  <a:lnTo>
                    <a:pt x="181" y="197"/>
                  </a:lnTo>
                  <a:lnTo>
                    <a:pt x="168" y="158"/>
                  </a:lnTo>
                  <a:lnTo>
                    <a:pt x="143" y="119"/>
                  </a:lnTo>
                  <a:lnTo>
                    <a:pt x="106" y="79"/>
                  </a:lnTo>
                  <a:lnTo>
                    <a:pt x="59" y="40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0" name="Google Shape;360;p31"/>
            <p:cNvSpPr/>
            <p:nvPr/>
          </p:nvSpPr>
          <p:spPr>
            <a:xfrm>
              <a:off x="4030" y="2265"/>
              <a:ext cx="35" cy="30"/>
            </a:xfrm>
            <a:custGeom>
              <a:avLst/>
              <a:gdLst/>
              <a:ahLst/>
              <a:cxnLst/>
              <a:rect l="l" t="t" r="r" b="b"/>
              <a:pathLst>
                <a:path w="35" h="30" extrusionOk="0">
                  <a:moveTo>
                    <a:pt x="19" y="30"/>
                  </a:moveTo>
                  <a:lnTo>
                    <a:pt x="0" y="0"/>
                  </a:lnTo>
                  <a:lnTo>
                    <a:pt x="35" y="3"/>
                  </a:lnTo>
                  <a:lnTo>
                    <a:pt x="19" y="3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1" name="Google Shape;361;p31"/>
            <p:cNvSpPr/>
            <p:nvPr/>
          </p:nvSpPr>
          <p:spPr>
            <a:xfrm>
              <a:off x="3952" y="1872"/>
              <a:ext cx="184" cy="393"/>
            </a:xfrm>
            <a:custGeom>
              <a:avLst/>
              <a:gdLst/>
              <a:ahLst/>
              <a:cxnLst/>
              <a:rect l="l" t="t" r="r" b="b"/>
              <a:pathLst>
                <a:path w="184" h="393" extrusionOk="0">
                  <a:moveTo>
                    <a:pt x="78" y="393"/>
                  </a:moveTo>
                  <a:lnTo>
                    <a:pt x="121" y="354"/>
                  </a:lnTo>
                  <a:lnTo>
                    <a:pt x="154" y="315"/>
                  </a:lnTo>
                  <a:lnTo>
                    <a:pt x="174" y="275"/>
                  </a:lnTo>
                  <a:lnTo>
                    <a:pt x="184" y="236"/>
                  </a:lnTo>
                  <a:lnTo>
                    <a:pt x="181" y="197"/>
                  </a:lnTo>
                  <a:lnTo>
                    <a:pt x="168" y="157"/>
                  </a:lnTo>
                  <a:lnTo>
                    <a:pt x="143" y="118"/>
                  </a:lnTo>
                  <a:lnTo>
                    <a:pt x="107" y="79"/>
                  </a:lnTo>
                  <a:lnTo>
                    <a:pt x="59" y="39"/>
                  </a:lnTo>
                  <a:lnTo>
                    <a:pt x="0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2" name="Google Shape;362;p31"/>
            <p:cNvSpPr/>
            <p:nvPr/>
          </p:nvSpPr>
          <p:spPr>
            <a:xfrm>
              <a:off x="3928" y="1858"/>
              <a:ext cx="35" cy="29"/>
            </a:xfrm>
            <a:custGeom>
              <a:avLst/>
              <a:gdLst/>
              <a:ahLst/>
              <a:cxnLst/>
              <a:rect l="l" t="t" r="r" b="b"/>
              <a:pathLst>
                <a:path w="35" h="29" extrusionOk="0">
                  <a:moveTo>
                    <a:pt x="19" y="29"/>
                  </a:moveTo>
                  <a:lnTo>
                    <a:pt x="0" y="0"/>
                  </a:lnTo>
                  <a:lnTo>
                    <a:pt x="35" y="2"/>
                  </a:lnTo>
                  <a:lnTo>
                    <a:pt x="19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3" name="Google Shape;363;p31"/>
            <p:cNvSpPr/>
            <p:nvPr/>
          </p:nvSpPr>
          <p:spPr>
            <a:xfrm>
              <a:off x="4393" y="2819"/>
              <a:ext cx="352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return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31"/>
            <p:cNvSpPr/>
            <p:nvPr/>
          </p:nvSpPr>
          <p:spPr>
            <a:xfrm>
              <a:off x="4690" y="2819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31"/>
            <p:cNvSpPr/>
            <p:nvPr/>
          </p:nvSpPr>
          <p:spPr>
            <a:xfrm>
              <a:off x="4745" y="2819"/>
              <a:ext cx="89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6" name="Google Shape;366;p31"/>
            <p:cNvSpPr/>
            <p:nvPr/>
          </p:nvSpPr>
          <p:spPr>
            <a:xfrm>
              <a:off x="4783" y="2819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7" name="Google Shape;367;p31"/>
            <p:cNvSpPr/>
            <p:nvPr/>
          </p:nvSpPr>
          <p:spPr>
            <a:xfrm>
              <a:off x="4868" y="2819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=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8" name="Google Shape;368;p31"/>
            <p:cNvSpPr/>
            <p:nvPr/>
          </p:nvSpPr>
          <p:spPr>
            <a:xfrm>
              <a:off x="4957" y="2819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9" name="Google Shape;369;p31"/>
            <p:cNvSpPr/>
            <p:nvPr/>
          </p:nvSpPr>
          <p:spPr>
            <a:xfrm>
              <a:off x="4299" y="2411"/>
              <a:ext cx="352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return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31"/>
            <p:cNvSpPr/>
            <p:nvPr/>
          </p:nvSpPr>
          <p:spPr>
            <a:xfrm>
              <a:off x="4592" y="2411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31"/>
            <p:cNvSpPr/>
            <p:nvPr/>
          </p:nvSpPr>
          <p:spPr>
            <a:xfrm>
              <a:off x="4652" y="2411"/>
              <a:ext cx="89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2" name="Google Shape;372;p31"/>
            <p:cNvSpPr/>
            <p:nvPr/>
          </p:nvSpPr>
          <p:spPr>
            <a:xfrm>
              <a:off x="4690" y="2411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1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3" name="Google Shape;373;p31"/>
            <p:cNvSpPr/>
            <p:nvPr/>
          </p:nvSpPr>
          <p:spPr>
            <a:xfrm>
              <a:off x="4775" y="2411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=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4" name="Google Shape;374;p31"/>
            <p:cNvSpPr/>
            <p:nvPr/>
          </p:nvSpPr>
          <p:spPr>
            <a:xfrm>
              <a:off x="4864" y="2411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5" name="Google Shape;375;p31"/>
            <p:cNvSpPr/>
            <p:nvPr/>
          </p:nvSpPr>
          <p:spPr>
            <a:xfrm>
              <a:off x="4164" y="2004"/>
              <a:ext cx="352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return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6" name="Google Shape;376;p31"/>
            <p:cNvSpPr/>
            <p:nvPr/>
          </p:nvSpPr>
          <p:spPr>
            <a:xfrm>
              <a:off x="4461" y="2004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7" name="Google Shape;377;p31"/>
            <p:cNvSpPr/>
            <p:nvPr/>
          </p:nvSpPr>
          <p:spPr>
            <a:xfrm>
              <a:off x="4516" y="2004"/>
              <a:ext cx="89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8" name="Google Shape;378;p31"/>
            <p:cNvSpPr/>
            <p:nvPr/>
          </p:nvSpPr>
          <p:spPr>
            <a:xfrm>
              <a:off x="4554" y="2004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2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9" name="Google Shape;379;p31"/>
            <p:cNvSpPr/>
            <p:nvPr/>
          </p:nvSpPr>
          <p:spPr>
            <a:xfrm>
              <a:off x="4639" y="2004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=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0" name="Google Shape;380;p31"/>
            <p:cNvSpPr/>
            <p:nvPr/>
          </p:nvSpPr>
          <p:spPr>
            <a:xfrm>
              <a:off x="4728" y="2004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6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31"/>
            <p:cNvSpPr/>
            <p:nvPr/>
          </p:nvSpPr>
          <p:spPr>
            <a:xfrm>
              <a:off x="3928" y="1681"/>
              <a:ext cx="298" cy="177"/>
            </a:xfrm>
            <a:custGeom>
              <a:avLst/>
              <a:gdLst/>
              <a:ahLst/>
              <a:cxnLst/>
              <a:rect l="l" t="t" r="r" b="b"/>
              <a:pathLst>
                <a:path w="298" h="177" extrusionOk="0">
                  <a:moveTo>
                    <a:pt x="0" y="177"/>
                  </a:moveTo>
                  <a:lnTo>
                    <a:pt x="64" y="173"/>
                  </a:lnTo>
                  <a:lnTo>
                    <a:pt x="121" y="163"/>
                  </a:lnTo>
                  <a:lnTo>
                    <a:pt x="171" y="144"/>
                  </a:lnTo>
                  <a:lnTo>
                    <a:pt x="214" y="119"/>
                  </a:lnTo>
                  <a:lnTo>
                    <a:pt x="249" y="87"/>
                  </a:lnTo>
                  <a:lnTo>
                    <a:pt x="277" y="47"/>
                  </a:lnTo>
                  <a:lnTo>
                    <a:pt x="298" y="0"/>
                  </a:lnTo>
                </a:path>
              </a:pathLst>
            </a:cu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2" name="Google Shape;382;p31"/>
            <p:cNvSpPr/>
            <p:nvPr/>
          </p:nvSpPr>
          <p:spPr>
            <a:xfrm>
              <a:off x="4210" y="1654"/>
              <a:ext cx="30" cy="35"/>
            </a:xfrm>
            <a:custGeom>
              <a:avLst/>
              <a:gdLst/>
              <a:ahLst/>
              <a:cxnLst/>
              <a:rect l="l" t="t" r="r" b="b"/>
              <a:pathLst>
                <a:path w="30" h="35" extrusionOk="0">
                  <a:moveTo>
                    <a:pt x="30" y="35"/>
                  </a:moveTo>
                  <a:lnTo>
                    <a:pt x="24" y="0"/>
                  </a:lnTo>
                  <a:lnTo>
                    <a:pt x="0" y="26"/>
                  </a:lnTo>
                  <a:lnTo>
                    <a:pt x="30" y="3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3" name="Google Shape;383;p31"/>
            <p:cNvSpPr/>
            <p:nvPr/>
          </p:nvSpPr>
          <p:spPr>
            <a:xfrm>
              <a:off x="3884" y="1537"/>
              <a:ext cx="352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return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4" name="Google Shape;384;p31"/>
            <p:cNvSpPr/>
            <p:nvPr/>
          </p:nvSpPr>
          <p:spPr>
            <a:xfrm>
              <a:off x="4176" y="1537"/>
              <a:ext cx="10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385;p31"/>
            <p:cNvSpPr/>
            <p:nvPr/>
          </p:nvSpPr>
          <p:spPr>
            <a:xfrm>
              <a:off x="4232" y="1537"/>
              <a:ext cx="89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*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4274" y="1537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6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4359" y="1537"/>
              <a:ext cx="13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= 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8" name="Google Shape;388;p31"/>
            <p:cNvSpPr/>
            <p:nvPr/>
          </p:nvSpPr>
          <p:spPr>
            <a:xfrm>
              <a:off x="4444" y="1537"/>
              <a:ext cx="166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24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89" name="Google Shape;389;p31"/>
            <p:cNvCxnSpPr/>
            <p:nvPr/>
          </p:nvCxnSpPr>
          <p:spPr>
            <a:xfrm>
              <a:off x="4590" y="1603"/>
              <a:ext cx="329" cy="1"/>
            </a:xfrm>
            <a:prstGeom prst="straightConnector1">
              <a:avLst/>
            </a:prstGeom>
            <a:noFill/>
            <a:ln w="9525" cap="rnd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0" name="Google Shape;390;p31"/>
            <p:cNvSpPr/>
            <p:nvPr/>
          </p:nvSpPr>
          <p:spPr>
            <a:xfrm>
              <a:off x="4915" y="1588"/>
              <a:ext cx="32" cy="31"/>
            </a:xfrm>
            <a:custGeom>
              <a:avLst/>
              <a:gdLst/>
              <a:ahLst/>
              <a:cxnLst/>
              <a:rect l="l" t="t" r="r" b="b"/>
              <a:pathLst>
                <a:path w="32" h="31" extrusionOk="0">
                  <a:moveTo>
                    <a:pt x="0" y="0"/>
                  </a:moveTo>
                  <a:lnTo>
                    <a:pt x="32" y="15"/>
                  </a:lnTo>
                  <a:lnTo>
                    <a:pt x="0" y="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1" name="Google Shape;391;p31"/>
            <p:cNvSpPr/>
            <p:nvPr/>
          </p:nvSpPr>
          <p:spPr>
            <a:xfrm>
              <a:off x="4978" y="1541"/>
              <a:ext cx="611" cy="14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300"/>
                <a:buFont typeface="Calibri"/>
                <a:buNone/>
              </a:pPr>
              <a:r>
                <a:rPr lang="en-US" sz="13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final answer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2" name="Google Shape;392;p31"/>
            <p:cNvCxnSpPr/>
            <p:nvPr/>
          </p:nvCxnSpPr>
          <p:spPr>
            <a:xfrm rot="10800000" flipH="1">
              <a:off x="4794" y="2971"/>
              <a:ext cx="1" cy="257"/>
            </a:xfrm>
            <a:prstGeom prst="straightConnector1">
              <a:avLst/>
            </a:prstGeom>
            <a:noFill/>
            <a:ln w="9525" cap="rnd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3" name="Google Shape;393;p31"/>
            <p:cNvSpPr/>
            <p:nvPr/>
          </p:nvSpPr>
          <p:spPr>
            <a:xfrm>
              <a:off x="4776" y="2939"/>
              <a:ext cx="36" cy="37"/>
            </a:xfrm>
            <a:custGeom>
              <a:avLst/>
              <a:gdLst/>
              <a:ahLst/>
              <a:cxnLst/>
              <a:rect l="l" t="t" r="r" b="b"/>
              <a:pathLst>
                <a:path w="36" h="37" extrusionOk="0">
                  <a:moveTo>
                    <a:pt x="0" y="37"/>
                  </a:moveTo>
                  <a:lnTo>
                    <a:pt x="18" y="0"/>
                  </a:lnTo>
                  <a:lnTo>
                    <a:pt x="36" y="37"/>
                  </a:lnTo>
                  <a:lnTo>
                    <a:pt x="0" y="37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4" name="Google Shape;394;p31"/>
            <p:cNvCxnSpPr/>
            <p:nvPr/>
          </p:nvCxnSpPr>
          <p:spPr>
            <a:xfrm rot="10800000">
              <a:off x="4736" y="2558"/>
              <a:ext cx="185" cy="268"/>
            </a:xfrm>
            <a:prstGeom prst="straightConnector1">
              <a:avLst/>
            </a:prstGeom>
            <a:noFill/>
            <a:ln w="9525" cap="rnd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5" name="Google Shape;395;p31"/>
            <p:cNvSpPr/>
            <p:nvPr/>
          </p:nvSpPr>
          <p:spPr>
            <a:xfrm>
              <a:off x="4717" y="2532"/>
              <a:ext cx="36" cy="40"/>
            </a:xfrm>
            <a:custGeom>
              <a:avLst/>
              <a:gdLst/>
              <a:ahLst/>
              <a:cxnLst/>
              <a:rect l="l" t="t" r="r" b="b"/>
              <a:pathLst>
                <a:path w="36" h="40" extrusionOk="0">
                  <a:moveTo>
                    <a:pt x="6" y="40"/>
                  </a:moveTo>
                  <a:lnTo>
                    <a:pt x="0" y="0"/>
                  </a:lnTo>
                  <a:lnTo>
                    <a:pt x="36" y="19"/>
                  </a:lnTo>
                  <a:lnTo>
                    <a:pt x="6" y="4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6" name="Google Shape;396;p31"/>
            <p:cNvCxnSpPr/>
            <p:nvPr/>
          </p:nvCxnSpPr>
          <p:spPr>
            <a:xfrm rot="10800000">
              <a:off x="4611" y="2148"/>
              <a:ext cx="234" cy="270"/>
            </a:xfrm>
            <a:prstGeom prst="straightConnector1">
              <a:avLst/>
            </a:prstGeom>
            <a:noFill/>
            <a:ln w="9525" cap="rnd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7" name="Google Shape;397;p31"/>
            <p:cNvSpPr/>
            <p:nvPr/>
          </p:nvSpPr>
          <p:spPr>
            <a:xfrm>
              <a:off x="4590" y="2124"/>
              <a:ext cx="38" cy="40"/>
            </a:xfrm>
            <a:custGeom>
              <a:avLst/>
              <a:gdLst/>
              <a:ahLst/>
              <a:cxnLst/>
              <a:rect l="l" t="t" r="r" b="b"/>
              <a:pathLst>
                <a:path w="38" h="40" extrusionOk="0">
                  <a:moveTo>
                    <a:pt x="10" y="40"/>
                  </a:moveTo>
                  <a:lnTo>
                    <a:pt x="0" y="0"/>
                  </a:lnTo>
                  <a:lnTo>
                    <a:pt x="38" y="16"/>
                  </a:lnTo>
                  <a:lnTo>
                    <a:pt x="10" y="40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398" name="Google Shape;398;p31"/>
            <p:cNvCxnSpPr/>
            <p:nvPr/>
          </p:nvCxnSpPr>
          <p:spPr>
            <a:xfrm rot="10800000">
              <a:off x="4335" y="1675"/>
              <a:ext cx="408" cy="336"/>
            </a:xfrm>
            <a:prstGeom prst="straightConnector1">
              <a:avLst/>
            </a:prstGeom>
            <a:noFill/>
            <a:ln w="9525" cap="rnd" cmpd="sng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99" name="Google Shape;399;p31"/>
            <p:cNvSpPr/>
            <p:nvPr/>
          </p:nvSpPr>
          <p:spPr>
            <a:xfrm>
              <a:off x="4310" y="1654"/>
              <a:ext cx="40" cy="38"/>
            </a:xfrm>
            <a:custGeom>
              <a:avLst/>
              <a:gdLst/>
              <a:ahLst/>
              <a:cxnLst/>
              <a:rect l="l" t="t" r="r" b="b"/>
              <a:pathLst>
                <a:path w="40" h="38" extrusionOk="0">
                  <a:moveTo>
                    <a:pt x="17" y="38"/>
                  </a:moveTo>
                  <a:lnTo>
                    <a:pt x="0" y="0"/>
                  </a:lnTo>
                  <a:lnTo>
                    <a:pt x="40" y="10"/>
                  </a:lnTo>
                  <a:lnTo>
                    <a:pt x="17" y="38"/>
                  </a:lnTo>
                  <a:close/>
                </a:path>
              </a:pathLst>
            </a:custGeom>
            <a:solidFill>
              <a:srgbClr val="0000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400" name="Google Shape;400;p31"/>
            <p:cNvCxnSpPr/>
            <p:nvPr/>
          </p:nvCxnSpPr>
          <p:spPr>
            <a:xfrm>
              <a:off x="3368" y="1552"/>
              <a:ext cx="44" cy="178"/>
            </a:xfrm>
            <a:prstGeom prst="straightConnector1">
              <a:avLst/>
            </a:prstGeom>
            <a:noFill/>
            <a:ln w="9525" cap="rnd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01" name="Google Shape;401;p31"/>
            <p:cNvSpPr/>
            <p:nvPr/>
          </p:nvSpPr>
          <p:spPr>
            <a:xfrm>
              <a:off x="3396" y="1722"/>
              <a:ext cx="30" cy="34"/>
            </a:xfrm>
            <a:custGeom>
              <a:avLst/>
              <a:gdLst/>
              <a:ahLst/>
              <a:cxnLst/>
              <a:rect l="l" t="t" r="r" b="b"/>
              <a:pathLst>
                <a:path w="30" h="34" extrusionOk="0">
                  <a:moveTo>
                    <a:pt x="30" y="0"/>
                  </a:moveTo>
                  <a:lnTo>
                    <a:pt x="23" y="34"/>
                  </a:lnTo>
                  <a:lnTo>
                    <a:pt x="0" y="8"/>
                  </a:lnTo>
                  <a:lnTo>
                    <a:pt x="3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2" name="Google Shape;402;p31"/>
            <p:cNvSpPr/>
            <p:nvPr/>
          </p:nvSpPr>
          <p:spPr>
            <a:xfrm>
              <a:off x="3421" y="1600"/>
              <a:ext cx="174" cy="12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rgbClr val="0000FF"/>
                </a:buClr>
                <a:buSzPts val="1000"/>
                <a:buFont typeface="Calibri"/>
                <a:buNone/>
              </a:pPr>
              <a:r>
                <a:rPr lang="en-US" sz="1000" b="0" u="none">
                  <a:solidFill>
                    <a:srgbClr val="0000FF"/>
                  </a:solidFill>
                  <a:latin typeface="Calibri"/>
                  <a:ea typeface="Calibri"/>
                  <a:cs typeface="Calibri"/>
                  <a:sym typeface="Calibri"/>
                </a:rPr>
                <a:t>call</a:t>
              </a:r>
              <a:endParaRPr sz="1800" b="0" u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3" name="Google Shape;403;p31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17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32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Computing Powers</a:t>
            </a:r>
            <a:endParaRPr/>
          </a:p>
        </p:txBody>
      </p:sp>
      <p:sp>
        <p:nvSpPr>
          <p:cNvPr id="409" name="Google Shape;409;p3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power function, p(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 =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000" b="0" i="1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 can be defined recursively:</a:t>
            </a:r>
            <a:endParaRPr/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This leads to an power function that runs in O(n) time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0" name="Google Shape;410;p3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38400" y="2895600"/>
            <a:ext cx="3810000" cy="8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411" name="Google Shape;411;p32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18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33"/>
          <p:cNvSpPr txBox="1">
            <a:spLocks noGrp="1"/>
          </p:cNvSpPr>
          <p:nvPr>
            <p:ph type="title"/>
          </p:nvPr>
        </p:nvSpPr>
        <p:spPr>
          <a:xfrm>
            <a:off x="609600" y="3048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Recursive Squaring</a:t>
            </a:r>
            <a:endParaRPr/>
          </a:p>
        </p:txBody>
      </p:sp>
      <p:sp>
        <p:nvSpPr>
          <p:cNvPr id="417" name="Google Shape;417;p3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8077200" cy="434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derive a more efficient linearly recursive algorithm by using repeated squaring:</a:t>
            </a:r>
            <a:endParaRPr/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651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example,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16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5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+(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4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 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32</a:t>
            </a:r>
            <a:endParaRPr sz="2400" b="0" i="0" u="none" strike="noStrike" cap="none">
              <a:solidFill>
                <a:srgbClr val="000000"/>
              </a:solidFill>
              <a:latin typeface="Old Standard TT"/>
              <a:ea typeface="Old Standard TT"/>
              <a:cs typeface="Old Standard TT"/>
              <a:sym typeface="Old Standard TT"/>
            </a:endParaRPr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 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2)2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64</a:t>
            </a:r>
            <a:endParaRPr/>
          </a:p>
          <a:p>
            <a:pPr marL="742950" marR="0" lvl="1" indent="-28575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7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	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+(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6</a:t>
            </a:r>
            <a:r>
              <a:rPr lang="en-US" sz="2400" b="0" i="1" u="none" strike="noStrike" cap="none" baseline="30000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/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3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(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8</a:t>
            </a:r>
            <a:r>
              <a:rPr lang="en-US" sz="2400" b="0" i="0" u="none" strike="noStrike" cap="none" baseline="30000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2</a:t>
            </a:r>
            <a:r>
              <a:rPr lang="en-US" sz="2400" b="0" i="0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) = </a:t>
            </a:r>
            <a:r>
              <a:rPr lang="en-US" sz="2400" b="0" i="0" u="none" strike="noStrike" cap="none">
                <a:solidFill>
                  <a:srgbClr val="000000"/>
                </a:solidFill>
                <a:latin typeface="Times"/>
                <a:ea typeface="Times"/>
                <a:cs typeface="Times"/>
                <a:sym typeface="Times"/>
              </a:rPr>
              <a:t>128</a:t>
            </a:r>
            <a:r>
              <a:rPr lang="en-US" sz="2400" b="0" i="1" u="none" strike="noStrike" cap="none">
                <a:solidFill>
                  <a:srgbClr val="000000"/>
                </a:solidFill>
                <a:latin typeface="Old Standard TT"/>
                <a:ea typeface="Old Standard TT"/>
                <a:cs typeface="Old Standard TT"/>
                <a:sym typeface="Old Standard TT"/>
              </a:rPr>
              <a:t>.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id="418" name="Google Shape;418;p3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90800" y="2890620"/>
            <a:ext cx="5330825" cy="1344613"/>
          </a:xfrm>
          <a:prstGeom prst="rect">
            <a:avLst/>
          </a:prstGeom>
          <a:noFill/>
          <a:ln>
            <a:noFill/>
          </a:ln>
        </p:spPr>
      </p:pic>
      <p:sp>
        <p:nvSpPr>
          <p:cNvPr id="419" name="Google Shape;419;p33"/>
          <p:cNvSpPr txBox="1">
            <a:spLocks noGrp="1"/>
          </p:cNvSpPr>
          <p:nvPr>
            <p:ph type="sldNum" idx="12"/>
          </p:nvPr>
        </p:nvSpPr>
        <p:spPr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Recursive Squaring Method</a:t>
            </a:r>
            <a:endParaRPr/>
          </a:p>
        </p:txBody>
      </p:sp>
      <p:sp>
        <p:nvSpPr>
          <p:cNvPr id="425" name="Google Shape;425;p3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772400" cy="4876800"/>
          </a:xfrm>
          <a:prstGeom prst="rect">
            <a:avLst/>
          </a:prstGeom>
          <a:solidFill>
            <a:schemeClr val="lt1"/>
          </a:solidFill>
          <a:ln w="254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Input: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number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integer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=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Output: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000" b="0" i="1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 sz="2000" b="0" i="1" u="none" strike="noStrike" cap="none" baseline="3000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0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1;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odd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y  =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-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· y ·y;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else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y =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n/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/>
          </a:p>
          <a:p>
            <a:pPr marL="342900" marR="0" lvl="0" indent="-342900" algn="l" rtl="0">
              <a:lnSpc>
                <a:spcPct val="12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· y;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26" name="Google Shape;426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20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Analyzing the Recursive Squaring Method</a:t>
            </a:r>
            <a:endParaRPr/>
          </a:p>
        </p:txBody>
      </p:sp>
      <p:sp>
        <p:nvSpPr>
          <p:cNvPr id="432" name="Google Shape;432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5029200" cy="44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Input: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number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and integer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=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 Output: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value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</a:t>
            </a:r>
            <a:r>
              <a:rPr lang="en-US" sz="2400" b="0" i="1" u="none" strike="noStrike" cap="none" baseline="300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 0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is odd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y  =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 -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1)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/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 · y · y;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else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y =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Power(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x, n/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2);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 · y;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cxnSp>
        <p:nvCxnSpPr>
          <p:cNvPr id="433" name="Google Shape;433;p35"/>
          <p:cNvCxnSpPr/>
          <p:nvPr/>
        </p:nvCxnSpPr>
        <p:spPr>
          <a:xfrm>
            <a:off x="4038600" y="5029200"/>
            <a:ext cx="1676400" cy="6096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triangle" w="med" len="med"/>
            <a:tailEnd type="none" w="med" len="med"/>
          </a:ln>
        </p:spPr>
      </p:cxnSp>
      <p:sp>
        <p:nvSpPr>
          <p:cNvPr id="434" name="Google Shape;434;p35"/>
          <p:cNvSpPr txBox="1"/>
          <p:nvPr/>
        </p:nvSpPr>
        <p:spPr>
          <a:xfrm>
            <a:off x="5715000" y="5029200"/>
            <a:ext cx="3063875" cy="1190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</a:pPr>
            <a:r>
              <a:rPr lang="en-US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It is important that we used a variable twice here rather than calling the method twice.</a:t>
            </a:r>
            <a:endParaRPr/>
          </a:p>
        </p:txBody>
      </p:sp>
      <p:sp>
        <p:nvSpPr>
          <p:cNvPr id="435" name="Google Shape;435;p35"/>
          <p:cNvSpPr/>
          <p:nvPr/>
        </p:nvSpPr>
        <p:spPr>
          <a:xfrm>
            <a:off x="5334000" y="2895600"/>
            <a:ext cx="381000" cy="2971800"/>
          </a:xfrm>
          <a:prstGeom prst="rightBrace">
            <a:avLst>
              <a:gd name="adj1" fmla="val 65000"/>
              <a:gd name="adj2" fmla="val 50000"/>
            </a:avLst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5"/>
          <p:cNvSpPr txBox="1"/>
          <p:nvPr/>
        </p:nvSpPr>
        <p:spPr>
          <a:xfrm>
            <a:off x="5867400" y="2984500"/>
            <a:ext cx="3063875" cy="173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Comic Sans MS"/>
              <a:buNone/>
            </a:pPr>
            <a:r>
              <a:rPr lang="en-US" sz="1800">
                <a:solidFill>
                  <a:schemeClr val="dk2"/>
                </a:solidFill>
                <a:latin typeface="Comic Sans MS"/>
                <a:ea typeface="Comic Sans MS"/>
                <a:cs typeface="Comic Sans MS"/>
                <a:sym typeface="Comic Sans MS"/>
              </a:rPr>
              <a:t>Each time we make a recursive call we halve the value of n; hence, we make log n recursive calls. That is, this method runs in O(log n) time.</a:t>
            </a:r>
            <a:endParaRPr/>
          </a:p>
        </p:txBody>
      </p:sp>
      <p:sp>
        <p:nvSpPr>
          <p:cNvPr id="437" name="Google Shape;437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21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all binary numbers</a:t>
            </a:r>
            <a:endParaRPr/>
          </a:p>
        </p:txBody>
      </p:sp>
      <p:sp>
        <p:nvSpPr>
          <p:cNvPr id="443" name="Google Shape;443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05000"/>
            <a:ext cx="7315200" cy="48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Find all binary numbers of length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Example: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000,001,010,011,100,101,110,111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binary_number(b,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 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for v for 0 to 1 do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b[k] = v;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if (k==n) then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print b;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else	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binary number (b, k + 1, n);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44" name="Google Shape;444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22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p37"/>
          <p:cNvSpPr txBox="1">
            <a:spLocks noGrp="1"/>
          </p:cNvSpPr>
          <p:nvPr>
            <p:ph type="title"/>
          </p:nvPr>
        </p:nvSpPr>
        <p:spPr>
          <a:xfrm>
            <a:off x="457200" y="320675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Find permutations</a:t>
            </a:r>
            <a:endParaRPr/>
          </a:p>
        </p:txBody>
      </p:sp>
      <p:sp>
        <p:nvSpPr>
          <p:cNvPr id="450" name="Google Shape;450;p37"/>
          <p:cNvSpPr txBox="1">
            <a:spLocks noGrp="1"/>
          </p:cNvSpPr>
          <p:nvPr>
            <p:ph type="body" idx="1"/>
          </p:nvPr>
        </p:nvSpPr>
        <p:spPr>
          <a:xfrm>
            <a:off x="914400" y="1981200"/>
            <a:ext cx="7467600" cy="419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marR="0" lvl="0" indent="-4572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Problem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Find all permutations of length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 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= 3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123, 132, 213, 231, 312, 321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Find_permutations (n):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</a:t>
            </a:r>
            <a:endParaRPr/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marR="0" lvl="0" indent="-457200" algn="l" rtl="0">
              <a:lnSpc>
                <a:spcPct val="15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1" name="Google Shape;451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23</a:t>
            </a:fld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UUID" val="{B2CEBCD8-DC7A-4A62-BEC6-32D19B1E2446}"/>
  <p:tag name="ISPRING_RESOURCE_FOLDER" val="C:\Users\Administrator\Documents\CTDL&amp;GT\Cai tien MH CTDL_GT\CTDL_GT\Slides and exercises\Lecture07_introduction_algorithms\Lecture 7_introduction_algorithms\"/>
  <p:tag name="ISPRING_PRESENTATION_PATH" val="C:\Users\Administrator\Documents\CTDL&amp;GT\Cai tien MH CTDL_GT\CTDL_GT\Slides and exercises\Lecture07_introduction_algorithms\Lecture 7_introduction_algorithms.pptx"/>
  <p:tag name="ISPRING_PROJECT_VERSION" val="9"/>
  <p:tag name="ISPRING_PROJECT_FOLDER_UPDATED" val="1"/>
  <p:tag name="ISPRING_SCREEN_RECS_UPDATED" val="C:\Users\Administrator\Documents\CTDL&amp;GT\Cai tien MH CTDL_GT\CTDL_GT\Slides and exercises\Lecture07_introduction_algorithms\Lecture 7_introduction_algorithms\"/>
  <p:tag name="FLASHSPRING_ZOOM_TAG" val="66"/>
  <p:tag name="ISPRING_PRESENTATION_INFO_2" val="&lt;?xml version=&quot;1.0&quot; encoding=&quot;UTF-8&quot; standalone=&quot;no&quot; ?&gt;&#10;&lt;presentation2&gt;&#10;&#10;  &lt;slides&gt;&#10;    &lt;slide id=&quot;{057E61FE-493D-4C0A-A5A7-308DC53CFD8F}&quot; pptId=&quot;256&quot;/&gt;&#10;    &lt;slide id=&quot;{1DD0D733-A9AE-4119-B998-E777355A1B38}&quot; pptId=&quot;257&quot;/&gt;&#10;    &lt;slide id=&quot;{7B6AC23F-7BF1-47C9-9C5C-D54F0897B412}&quot; pptId=&quot;258&quot;/&gt;&#10;    &lt;slide id=&quot;{2195BF60-D1CF-4FCA-BAC9-CA793F5499F1}&quot; pptId=&quot;259&quot;/&gt;&#10;    &lt;slide id=&quot;{BE2BE0F1-070F-47E5-B7A3-FE8D8BB092F0}&quot; pptId=&quot;260&quot;/&gt;&#10;    &lt;slide id=&quot;{B6E34D19-642B-492F-9C5D-9378C650DE2D}&quot; pptId=&quot;261&quot;/&gt;&#10;    &lt;slide id=&quot;{A7D9CD7A-6817-4854-A155-BF592E129065}&quot; pptId=&quot;262&quot;/&gt;&#10;    &lt;slide id=&quot;{6331EE8E-A5E6-4259-BB4A-CD667286D852}&quot; pptId=&quot;263&quot;/&gt;&#10;    &lt;slide id=&quot;{B574C821-2858-4B09-A66D-7D8C044FC520}&quot; pptId=&quot;264&quot;/&gt;&#10;    &lt;slide id=&quot;{8E36F91D-A99F-480F-9A2A-117F54656C2D}&quot; pptId=&quot;265&quot;/&gt;&#10;    &lt;slide id=&quot;{CFEB3541-E54C-4954-9B37-09ED0F1D7EF9}&quot; pptId=&quot;266&quot;/&gt;&#10;    &lt;slide id=&quot;{E11DD863-FA95-482C-A8AD-B35E2CBC5D07}&quot; pptId=&quot;267&quot;/&gt;&#10;    &lt;slide id=&quot;{C30DC615-0D4F-4F2E-AB8D-A331DCC61938}&quot; pptId=&quot;268&quot;/&gt;&#10;    &lt;slide id=&quot;{1724E72D-D1AE-4518-B8B6-3938045CAAC3}&quot; pptId=&quot;269&quot;/&gt;&#10;    &lt;slide id=&quot;{24007D5C-5478-4331-AE82-D7AEA30465EE}&quot; pptId=&quot;270&quot;/&gt;&#10;    &lt;slide id=&quot;{E1D26745-4B84-4D84-89A5-B36064C47301}&quot; pptId=&quot;271&quot;/&gt;&#10;    &lt;slide id=&quot;{8155FDEB-741F-4114-94CA-72AE62790AAB}&quot; pptId=&quot;272&quot;/&gt;&#10;    &lt;slide id=&quot;{665AADFF-50E3-447A-99EA-F997F0D8FFE7}&quot; pptId=&quot;273&quot;/&gt;&#10;    &lt;slide id=&quot;{6AF8FA29-802D-46E7-B362-1E691FC8254C}&quot; pptId=&quot;274&quot;/&gt;&#10;    &lt;slide id=&quot;{ED65841B-C5F5-4608-A5E1-F80523F804B8}&quot; pptId=&quot;275&quot;/&gt;&#10;    &lt;slide id=&quot;{99A40A75-F7F0-4EBD-A739-1CBB5CB80169}&quot; pptId=&quot;276&quot;/&gt;&#10;    &lt;slide id=&quot;{8D29DC6B-DB04-457B-A024-99E7FE32D921}&quot; pptId=&quot;277&quot;/&gt;&#10;    &lt;slide id=&quot;{850705ED-4218-4871-9E91-2F6DE322F363}&quot; pptId=&quot;278&quot;/&gt;&#10;  &lt;/slides&gt;&#10;&#10;  &lt;narration&gt;&#10;    &lt;audioTracks&gt;&#10;      &lt;audioTrack muted=&quot;false&quot; name=&quot;Lect 7 part 1&quot; resource=&quot;f75ee106&quot; slideId=&quot;{057E61FE-493D-4C0A-A5A7-308DC53CFD8F}&quot; startTime=&quot;0&quot; stepIndex=&quot;0&quot; volume=&quot;1&quot;&gt;&#10;        &lt;audio channels=&quot;1&quot; format=&quot;s16&quot; sampleRate=&quot;48000&quot;/&gt;&#10;      &lt;/audioTrack&gt;&#10;      &lt;audioTrack muted=&quot;false&quot; name=&quot;Lect 7 part 2&quot; resource=&quot;002bce08&quot; slideId=&quot;{C30DC615-0D4F-4F2E-AB8D-A331DCC61938}&quot; startTime=&quot;0&quot; stepIndex=&quot;0&quot; volume=&quot;1&quot;&gt;&#10;        &lt;audio channels=&quot;1&quot; format=&quot;s16&quot; sampleRate=&quot;48000&quot;/&gt;&#10;      &lt;/audioTrack&gt;&#10;    &lt;/audioTracks&gt;&#10;    &lt;videoTracks/&gt;&#10;  &lt;/narration&gt;&#10;&#10;&lt;/presentation2&gt;&#10;"/>
  <p:tag name="ISPRING_LMS_API_VERSION" val="SCORM 1.2"/>
  <p:tag name="ISPRING_ULTRA_SCORM_COURSE_ID" val="27001175-D41F-4F03-A448-5AEE0516A3C0"/>
  <p:tag name="ISPRING_CMI5_LAUNCH_METHOD" val="any window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CLOUDFOLDERID" val="1"/>
  <p:tag name="ISPRINGONLINEFOLDERID" val="1"/>
  <p:tag name="ISPRING_OUTPUT_FOLDER" val="C:\Users\Administrator\Documents\CTDL&amp;GT\Cai tien MH CTDL_GT\CTDL_GT\Slides and exercises\Script for videos\Lecture 7"/>
  <p:tag name="ISPRING_SCORM_RATE_SLIDES" val="0"/>
  <p:tag name="ISPRING_SCORM_RATE_QUIZZES" val="0"/>
  <p:tag name="ISPRING_SCORM_PASSING_SCORE" val="0.000000"/>
  <p:tag name="ISPRING_CURRENT_PLAYER_ID" val="universal"/>
  <p:tag name="ISPRING_PRESENTATION_TITLE" val="Lecture 7_introduction_algorithms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057E61FE-493D-4C0A-A5A7-308DC53CFD8F}"/>
  <p:tag name="GENSWF_ADVANCE_TIME" val="5.46"/>
  <p:tag name="ISPRING_CUSTOM_TIMING_USED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DD0D733-A9AE-4119-B998-E777355A1B38}"/>
  <p:tag name="GENSWF_ADVANCE_TIME" val="9.715"/>
  <p:tag name="ISPRING_CUSTOM_TIMING_USED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7B6AC23F-7BF1-47C9-9C5C-D54F0897B412}"/>
  <p:tag name="GENSWF_ADVANCE_TIME" val="8.565"/>
  <p:tag name="ISPRING_CUSTOM_TIMING_USED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195BF60-D1CF-4FCA-BAC9-CA793F5499F1}"/>
  <p:tag name="GENSWF_ADVANCE_TIME" val="15.465"/>
  <p:tag name="ISPRING_CUSTOM_TIMING_USED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E2BE0F1-070F-47E5-B7A3-FE8D8BB092F0}"/>
  <p:tag name="GENSWF_ADVANCE_TIME" val="32.945"/>
  <p:tag name="ISPRING_CUSTOM_TIMING_USED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6E34D19-642B-492F-9C5D-9378C650DE2D}"/>
  <p:tag name="GENSWF_ADVANCE_TIME" val="16.385"/>
  <p:tag name="ISPRING_CUSTOM_TIMING_USED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A7D9CD7A-6817-4854-A155-BF592E129065}"/>
  <p:tag name="GENSWF_ADVANCE_TIME" val="9.255"/>
  <p:tag name="ISPRING_CUSTOM_TIMING_USED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331EE8E-A5E6-4259-BB4A-CD667286D852}"/>
  <p:tag name="GENSWF_ADVANCE_TIME" val="18.455"/>
  <p:tag name="ISPRING_CUSTOM_TIMING_USED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B574C821-2858-4B09-A66D-7D8C044FC520}"/>
  <p:tag name="GENSWF_ADVANCE_TIME" val="12.705"/>
  <p:tag name="ISPRING_CUSTOM_TIMING_USED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E36F91D-A99F-480F-9A2A-117F54656C2D}"/>
  <p:tag name="GENSWF_ADVANCE_TIME" val="39.845"/>
  <p:tag name="ISPRING_CUSTOM_TIMING_USED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FEB3541-E54C-4954-9B37-09ED0F1D7EF9}"/>
  <p:tag name="GENSWF_ADVANCE_TIME" val="33.865"/>
  <p:tag name="ISPRING_CUSTOM_TIMING_USED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1DD863-FA95-482C-A8AD-B35E2CBC5D07}"/>
  <p:tag name="GENSWF_ADVANCE_TIME" val="35.26"/>
  <p:tag name="ISPRING_CUSTOM_TIMING_USED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C30DC615-0D4F-4F2E-AB8D-A331DCC61938}"/>
  <p:tag name="GENSWF_ADVANCE_TIME" val="10.29"/>
  <p:tag name="ISPRING_CUSTOM_TIMING_USED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1724E72D-D1AE-4518-B8B6-3938045CAAC3}"/>
  <p:tag name="GENSWF_ADVANCE_TIME" val="7.185"/>
  <p:tag name="ISPRING_CUSTOM_TIMING_USED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24007D5C-5478-4331-AE82-D7AEA30465EE}"/>
  <p:tag name="GENSWF_ADVANCE_TIME" val="25.01"/>
  <p:tag name="ISPRING_CUSTOM_TIMING_USED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1D26745-4B84-4D84-89A5-B36064C47301}"/>
  <p:tag name="GENSWF_ADVANCE_TIME" val="22.25"/>
  <p:tag name="ISPRING_CUSTOM_TIMING_USED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155FDEB-741F-4114-94CA-72AE62790AAB}"/>
  <p:tag name="GENSWF_ADVANCE_TIME" val="15.81"/>
  <p:tag name="ISPRING_CUSTOM_TIMING_USED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65AADFF-50E3-447A-99EA-F997F0D8FFE7}"/>
  <p:tag name="GENSWF_ADVANCE_TIME" val="5"/>
  <p:tag name="ISPRING_CUSTOM_TIMING_USED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6AF8FA29-802D-46E7-B362-1E691FC8254C}"/>
  <p:tag name="GENSWF_ADVANCE_TIME" val="5"/>
  <p:tag name="ISPRING_CUSTOM_TIMING_USED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ED65841B-C5F5-4608-A5E1-F80523F804B8}"/>
  <p:tag name="GENSWF_ADVANCE_TIME" val="5"/>
  <p:tag name="ISPRING_CUSTOM_TIMING_USED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99A40A75-F7F0-4EBD-A739-1CBB5CB80169}"/>
  <p:tag name="GENSWF_ADVANCE_TIME" val="5"/>
  <p:tag name="ISPRING_CUSTOM_TIMING_USED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D29DC6B-DB04-457B-A024-99E7FE32D921}"/>
  <p:tag name="GENSWF_ADVANCE_TIME" val="5"/>
  <p:tag name="ISPRING_CUSTOM_TIMING_USED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SLIDE_ID_2" val="{850705ED-4218-4871-9E91-2F6DE322F363}"/>
  <p:tag name="GENSWF_ADVANCE_TIME" val="5"/>
  <p:tag name="ISPRING_CUSTOM_TIMING_USED" val="1"/>
</p:tagLst>
</file>

<file path=ppt/theme/theme1.xml><?xml version="1.0" encoding="utf-8"?>
<a:theme xmlns:a="http://schemas.openxmlformats.org/drawingml/2006/main" name="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3177</TotalTime>
  <Words>853</Words>
  <Application>Microsoft Office PowerPoint</Application>
  <PresentationFormat>On-screen Show (4:3)</PresentationFormat>
  <Paragraphs>322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Arial</vt:lpstr>
      <vt:lpstr>Helvetica Neue</vt:lpstr>
      <vt:lpstr>Times New Roman</vt:lpstr>
      <vt:lpstr>Calibri</vt:lpstr>
      <vt:lpstr>Noto Sans Symbols</vt:lpstr>
      <vt:lpstr>Times</vt:lpstr>
      <vt:lpstr>Old Standard TT</vt:lpstr>
      <vt:lpstr>Comic Sans MS</vt:lpstr>
      <vt:lpstr>Koi</vt:lpstr>
      <vt:lpstr>Introduction to algorithms</vt:lpstr>
      <vt:lpstr>Algorithms? </vt:lpstr>
      <vt:lpstr>Algorithms? </vt:lpstr>
      <vt:lpstr>Algorithms </vt:lpstr>
      <vt:lpstr>How to design algorithm? </vt:lpstr>
      <vt:lpstr>Searching problem</vt:lpstr>
      <vt:lpstr> Sorting problem</vt:lpstr>
      <vt:lpstr>Selection sort</vt:lpstr>
      <vt:lpstr>Selection sort</vt:lpstr>
      <vt:lpstr>Searching on sorted list</vt:lpstr>
      <vt:lpstr>Example</vt:lpstr>
      <vt:lpstr>Brute Force Search</vt:lpstr>
      <vt:lpstr>The largest row</vt:lpstr>
      <vt:lpstr>The largest rectangle</vt:lpstr>
      <vt:lpstr>Recursion</vt:lpstr>
      <vt:lpstr>Content of a Recursive Method</vt:lpstr>
      <vt:lpstr>Visualizing Recursion</vt:lpstr>
      <vt:lpstr>Computing Powers</vt:lpstr>
      <vt:lpstr>Recursive Squaring</vt:lpstr>
      <vt:lpstr>A Recursive Squaring Method</vt:lpstr>
      <vt:lpstr>Analyzing the Recursive Squaring Method</vt:lpstr>
      <vt:lpstr>Find all binary numbers</vt:lpstr>
      <vt:lpstr>Find permutations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7_introduction_algorithms</dc:title>
  <cp:lastModifiedBy>DHQG</cp:lastModifiedBy>
  <cp:revision>8</cp:revision>
  <dcterms:modified xsi:type="dcterms:W3CDTF">2019-03-23T07:50:39Z</dcterms:modified>
</cp:coreProperties>
</file>