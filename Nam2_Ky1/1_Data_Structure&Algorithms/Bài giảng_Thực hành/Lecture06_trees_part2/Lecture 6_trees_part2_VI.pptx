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86" r:id="rId3"/>
    <p:sldId id="258" r:id="rId4"/>
    <p:sldId id="259" r:id="rId5"/>
    <p:sldId id="260" r:id="rId6"/>
    <p:sldId id="261" r:id="rId7"/>
    <p:sldId id="262" r:id="rId8"/>
    <p:sldId id="284" r:id="rId9"/>
    <p:sldId id="263" r:id="rId10"/>
    <p:sldId id="264" r:id="rId11"/>
    <p:sldId id="265" r:id="rId12"/>
    <p:sldId id="267" r:id="rId13"/>
    <p:sldId id="285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embeddedFontLst>
    <p:embeddedFont>
      <p:font typeface="Tahoma" pitchFamily="34" charset="0"/>
      <p:regular r:id="rId31"/>
      <p:bold r:id="rId32"/>
    </p:embeddedFont>
    <p:embeddedFont>
      <p:font typeface="Calibri" pitchFamily="34" charset="0"/>
      <p:regular r:id="rId33"/>
      <p:bold r:id="rId34"/>
      <p:italic r:id="rId35"/>
      <p:boldItalic r:id="rId36"/>
    </p:embeddedFont>
  </p:embeddedFontLst>
  <p:custDataLst>
    <p:tags r:id="rId3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673228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Dictionaries</a:t>
            </a:r>
            <a:endParaRPr/>
          </a:p>
        </p:txBody>
      </p:sp>
      <p:sp>
        <p:nvSpPr>
          <p:cNvPr id="505" name="Google Shape;505;p22:notes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4/25/18 11:31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38200" y="1709738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giải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3528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4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-US" sz="4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4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14400" y="4628728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2971800" cy="5029200"/>
          </a:xfrm>
          <a:ln/>
        </p:spPr>
        <p:txBody>
          <a:bodyPr>
            <a:normAutofit lnSpcReduction="10000"/>
          </a:bodyPr>
          <a:lstStyle/>
          <a:p>
            <a:pPr>
              <a:lnSpc>
                <a:spcPct val="93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dirty="0" err="1" smtClean="0"/>
              <a:t>Trong</a:t>
            </a:r>
            <a:r>
              <a:rPr lang="en-GB" sz="2200" dirty="0" smtClean="0"/>
              <a:t> </a:t>
            </a:r>
            <a:r>
              <a:rPr lang="en-GB" sz="2200" dirty="0" err="1" smtClean="0"/>
              <a:t>khoa</a:t>
            </a:r>
            <a:r>
              <a:rPr lang="en-GB" sz="2200" dirty="0" smtClean="0"/>
              <a:t> </a:t>
            </a:r>
            <a:r>
              <a:rPr lang="en-GB" sz="2200" dirty="0" err="1" smtClean="0"/>
              <a:t>học</a:t>
            </a:r>
            <a:r>
              <a:rPr lang="en-GB" sz="2200" dirty="0" smtClean="0"/>
              <a:t> </a:t>
            </a:r>
            <a:r>
              <a:rPr lang="en-GB" sz="2200" dirty="0" err="1" smtClean="0"/>
              <a:t>máy</a:t>
            </a:r>
            <a:r>
              <a:rPr lang="en-GB" sz="2200" dirty="0" smtClean="0"/>
              <a:t> </a:t>
            </a:r>
            <a:r>
              <a:rPr lang="en-GB" sz="2200" dirty="0" err="1" smtClean="0"/>
              <a:t>tính</a:t>
            </a:r>
            <a:r>
              <a:rPr lang="en-GB" sz="2200" dirty="0" smtClean="0"/>
              <a:t>, </a:t>
            </a:r>
            <a:r>
              <a:rPr lang="en-GB" sz="2200" dirty="0" err="1" smtClean="0"/>
              <a:t>một</a:t>
            </a:r>
            <a:r>
              <a:rPr lang="en-GB" sz="2200" dirty="0" smtClean="0"/>
              <a:t> </a:t>
            </a:r>
            <a:r>
              <a:rPr lang="en-GB" sz="2200" dirty="0" err="1" smtClean="0"/>
              <a:t>cây</a:t>
            </a:r>
            <a:r>
              <a:rPr lang="en-GB" sz="2200" dirty="0" smtClean="0"/>
              <a:t> </a:t>
            </a:r>
            <a:r>
              <a:rPr lang="en-GB" sz="2200" dirty="0" err="1" smtClean="0"/>
              <a:t>là</a:t>
            </a:r>
            <a:r>
              <a:rPr lang="en-GB" sz="2200" dirty="0" smtClean="0"/>
              <a:t> </a:t>
            </a:r>
            <a:r>
              <a:rPr lang="en-GB" sz="2200" dirty="0" err="1" smtClean="0"/>
              <a:t>một</a:t>
            </a:r>
            <a:r>
              <a:rPr lang="en-GB" sz="2200" dirty="0" smtClean="0"/>
              <a:t> </a:t>
            </a:r>
            <a:r>
              <a:rPr lang="en-GB" sz="2200" dirty="0" err="1" smtClean="0"/>
              <a:t>mô</a:t>
            </a:r>
            <a:r>
              <a:rPr lang="en-GB" sz="2200" dirty="0" smtClean="0"/>
              <a:t> </a:t>
            </a:r>
            <a:r>
              <a:rPr lang="en-GB" sz="2200" dirty="0" err="1" smtClean="0"/>
              <a:t>hình</a:t>
            </a:r>
            <a:r>
              <a:rPr lang="en-GB" sz="2200" dirty="0" smtClean="0"/>
              <a:t> </a:t>
            </a:r>
            <a:r>
              <a:rPr lang="en-GB" sz="2200" dirty="0" err="1" smtClean="0"/>
              <a:t>trừu</a:t>
            </a:r>
            <a:r>
              <a:rPr lang="en-GB" sz="2200" dirty="0" smtClean="0"/>
              <a:t> </a:t>
            </a:r>
            <a:r>
              <a:rPr lang="en-GB" sz="2200" dirty="0" err="1" smtClean="0"/>
              <a:t>tượng</a:t>
            </a:r>
            <a:r>
              <a:rPr lang="en-GB" sz="2200" dirty="0" smtClean="0"/>
              <a:t> </a:t>
            </a:r>
            <a:r>
              <a:rPr lang="en-GB" sz="2200" dirty="0" err="1" smtClean="0"/>
              <a:t>của</a:t>
            </a:r>
            <a:r>
              <a:rPr lang="en-GB" sz="2200" dirty="0" smtClean="0"/>
              <a:t> </a:t>
            </a:r>
            <a:r>
              <a:rPr lang="en-GB" sz="2200" dirty="0" err="1" smtClean="0"/>
              <a:t>một</a:t>
            </a:r>
            <a:r>
              <a:rPr lang="en-GB" sz="2200" dirty="0" smtClean="0"/>
              <a:t> </a:t>
            </a:r>
            <a:r>
              <a:rPr lang="en-GB" sz="2200" dirty="0" err="1" smtClean="0"/>
              <a:t>cấu</a:t>
            </a:r>
            <a:r>
              <a:rPr lang="en-GB" sz="2200" dirty="0" smtClean="0"/>
              <a:t> </a:t>
            </a:r>
            <a:r>
              <a:rPr lang="en-GB" sz="2200" dirty="0" err="1" smtClean="0"/>
              <a:t>trúc</a:t>
            </a:r>
            <a:r>
              <a:rPr lang="en-GB" sz="2200" dirty="0" smtClean="0"/>
              <a:t> </a:t>
            </a:r>
            <a:r>
              <a:rPr lang="en-GB" sz="2200" dirty="0" err="1" smtClean="0"/>
              <a:t>phân</a:t>
            </a:r>
            <a:r>
              <a:rPr lang="en-GB" sz="2200" dirty="0" smtClean="0"/>
              <a:t> </a:t>
            </a:r>
            <a:r>
              <a:rPr lang="en-GB" sz="2200" dirty="0" err="1" smtClean="0"/>
              <a:t>cấp</a:t>
            </a:r>
            <a:endParaRPr lang="en-GB" sz="2200" dirty="0"/>
          </a:p>
          <a:p>
            <a:pPr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dirty="0" err="1" smtClean="0"/>
              <a:t>Cây</a:t>
            </a:r>
            <a:r>
              <a:rPr lang="en-GB" sz="2200" dirty="0" smtClean="0"/>
              <a:t> </a:t>
            </a:r>
            <a:r>
              <a:rPr lang="en-GB" sz="2200" dirty="0" err="1" smtClean="0"/>
              <a:t>bao</a:t>
            </a:r>
            <a:r>
              <a:rPr lang="en-GB" sz="2200" dirty="0" smtClean="0"/>
              <a:t> </a:t>
            </a:r>
            <a:r>
              <a:rPr lang="en-GB" sz="2200" dirty="0" err="1" smtClean="0"/>
              <a:t>gồm</a:t>
            </a:r>
            <a:r>
              <a:rPr lang="en-GB" sz="2200" dirty="0" smtClean="0"/>
              <a:t> </a:t>
            </a:r>
            <a:r>
              <a:rPr lang="en-GB" sz="2200" dirty="0" err="1" smtClean="0"/>
              <a:t>tập</a:t>
            </a:r>
            <a:r>
              <a:rPr lang="en-GB" sz="2200" dirty="0" smtClean="0"/>
              <a:t> </a:t>
            </a:r>
            <a:r>
              <a:rPr lang="en-GB" sz="2200" dirty="0" err="1" smtClean="0"/>
              <a:t>các</a:t>
            </a:r>
            <a:r>
              <a:rPr lang="en-GB" sz="2200" dirty="0" smtClean="0"/>
              <a:t> </a:t>
            </a:r>
            <a:r>
              <a:rPr lang="en-GB" sz="2200" dirty="0" err="1" smtClean="0"/>
              <a:t>đỉnh</a:t>
            </a:r>
            <a:r>
              <a:rPr lang="en-GB" sz="2200" dirty="0" smtClean="0"/>
              <a:t> (node) </a:t>
            </a:r>
            <a:r>
              <a:rPr lang="en-GB" sz="2200" dirty="0" err="1" smtClean="0"/>
              <a:t>và</a:t>
            </a:r>
            <a:r>
              <a:rPr lang="en-GB" sz="2200" dirty="0" smtClean="0"/>
              <a:t> </a:t>
            </a:r>
            <a:r>
              <a:rPr lang="en-GB" sz="2200" dirty="0" err="1" smtClean="0"/>
              <a:t>các</a:t>
            </a:r>
            <a:r>
              <a:rPr lang="en-GB" sz="2200" dirty="0" smtClean="0"/>
              <a:t> </a:t>
            </a:r>
            <a:r>
              <a:rPr lang="en-GB" sz="2200" dirty="0" err="1" smtClean="0"/>
              <a:t>mối</a:t>
            </a:r>
            <a:r>
              <a:rPr lang="en-GB" sz="2200" dirty="0" smtClean="0"/>
              <a:t> </a:t>
            </a:r>
            <a:r>
              <a:rPr lang="en-GB" sz="2200" dirty="0" err="1" smtClean="0"/>
              <a:t>liên</a:t>
            </a:r>
            <a:r>
              <a:rPr lang="en-GB" sz="2200" dirty="0" smtClean="0"/>
              <a:t> </a:t>
            </a:r>
            <a:r>
              <a:rPr lang="en-GB" sz="2200" dirty="0" err="1" smtClean="0"/>
              <a:t>hệ</a:t>
            </a:r>
            <a:r>
              <a:rPr lang="en-GB" sz="2200" dirty="0" smtClean="0"/>
              <a:t> </a:t>
            </a:r>
            <a:r>
              <a:rPr lang="en-GB" sz="2200" dirty="0" err="1" smtClean="0"/>
              <a:t>giữa</a:t>
            </a:r>
            <a:r>
              <a:rPr lang="en-GB" sz="2200" dirty="0" smtClean="0"/>
              <a:t> </a:t>
            </a:r>
            <a:r>
              <a:rPr lang="en-GB" sz="2200" dirty="0" err="1" smtClean="0"/>
              <a:t>đỉnh</a:t>
            </a:r>
            <a:r>
              <a:rPr lang="en-GB" sz="2200" dirty="0" smtClean="0"/>
              <a:t> cha </a:t>
            </a:r>
            <a:r>
              <a:rPr lang="en-GB" sz="2200" dirty="0" err="1" smtClean="0"/>
              <a:t>và</a:t>
            </a:r>
            <a:r>
              <a:rPr lang="en-GB" sz="2200" dirty="0" smtClean="0"/>
              <a:t> </a:t>
            </a:r>
            <a:r>
              <a:rPr lang="en-GB" sz="2200" dirty="0" err="1" smtClean="0"/>
              <a:t>đỉnh</a:t>
            </a:r>
            <a:r>
              <a:rPr lang="en-GB" sz="2200" dirty="0" smtClean="0"/>
              <a:t> con. </a:t>
            </a:r>
            <a:endParaRPr lang="en-GB" sz="2200" dirty="0"/>
          </a:p>
          <a:p>
            <a:pPr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dirty="0" err="1" smtClean="0"/>
              <a:t>Các</a:t>
            </a:r>
            <a:r>
              <a:rPr lang="en-GB" sz="2200" dirty="0" smtClean="0"/>
              <a:t> </a:t>
            </a:r>
            <a:r>
              <a:rPr lang="en-GB" sz="2200" dirty="0" err="1" smtClean="0"/>
              <a:t>ứng</a:t>
            </a:r>
            <a:r>
              <a:rPr lang="en-GB" sz="2200" dirty="0" smtClean="0"/>
              <a:t> </a:t>
            </a:r>
            <a:r>
              <a:rPr lang="en-GB" sz="2200" dirty="0" err="1" smtClean="0"/>
              <a:t>dụng</a:t>
            </a:r>
            <a:r>
              <a:rPr lang="en-GB" sz="2200" dirty="0" smtClean="0"/>
              <a:t>:</a:t>
            </a:r>
            <a:endParaRPr lang="en-GB" sz="2200" dirty="0"/>
          </a:p>
          <a:p>
            <a:pPr lvl="1">
              <a:spcBef>
                <a:spcPts val="4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dirty="0" err="1" smtClean="0"/>
              <a:t>Lược</a:t>
            </a:r>
            <a:r>
              <a:rPr lang="en-GB" sz="2200" dirty="0" smtClean="0"/>
              <a:t> </a:t>
            </a:r>
            <a:r>
              <a:rPr lang="en-GB" sz="2200" dirty="0" err="1" smtClean="0"/>
              <a:t>đồ</a:t>
            </a:r>
            <a:r>
              <a:rPr lang="en-GB" sz="2200" dirty="0" smtClean="0"/>
              <a:t> </a:t>
            </a:r>
            <a:r>
              <a:rPr lang="en-GB" sz="2200" dirty="0" err="1" smtClean="0"/>
              <a:t>của</a:t>
            </a:r>
            <a:r>
              <a:rPr lang="en-GB" sz="2200" dirty="0" smtClean="0"/>
              <a:t> </a:t>
            </a:r>
            <a:r>
              <a:rPr lang="en-GB" sz="2200" dirty="0" err="1" smtClean="0"/>
              <a:t>các</a:t>
            </a:r>
            <a:r>
              <a:rPr lang="en-GB" sz="2200" dirty="0" smtClean="0"/>
              <a:t> </a:t>
            </a:r>
            <a:r>
              <a:rPr lang="en-GB" sz="2200" dirty="0" err="1" smtClean="0"/>
              <a:t>tổ</a:t>
            </a:r>
            <a:r>
              <a:rPr lang="en-GB" sz="2200" dirty="0" smtClean="0"/>
              <a:t> </a:t>
            </a:r>
            <a:r>
              <a:rPr lang="en-GB" sz="2200" dirty="0" err="1" smtClean="0"/>
              <a:t>chức</a:t>
            </a:r>
            <a:endParaRPr lang="en-GB" sz="2200" dirty="0"/>
          </a:p>
          <a:p>
            <a:pPr lvl="1">
              <a:spcBef>
                <a:spcPts val="4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200" dirty="0" smtClean="0"/>
              <a:t>H</a:t>
            </a:r>
            <a:r>
              <a:rPr lang="en-GB" sz="2200" dirty="0" err="1" smtClean="0"/>
              <a:t>ệ</a:t>
            </a:r>
            <a:r>
              <a:rPr lang="en-GB" sz="2200" dirty="0" smtClean="0"/>
              <a:t> </a:t>
            </a:r>
            <a:r>
              <a:rPr lang="en-GB" sz="2200" dirty="0" err="1" smtClean="0"/>
              <a:t>thống</a:t>
            </a:r>
            <a:r>
              <a:rPr lang="en-GB" sz="2200" dirty="0" smtClean="0"/>
              <a:t> files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3657600" y="1981200"/>
            <a:ext cx="5237163" cy="3128963"/>
            <a:chOff x="2304" y="1248"/>
            <a:chExt cx="3299" cy="1971"/>
          </a:xfrm>
        </p:grpSpPr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3452" y="1248"/>
              <a:ext cx="1096" cy="241"/>
              <a:chOff x="3452" y="1248"/>
              <a:chExt cx="1096" cy="241"/>
            </a:xfrm>
          </p:grpSpPr>
          <p:sp>
            <p:nvSpPr>
              <p:cNvPr id="69" name="AutoShape 5"/>
              <p:cNvSpPr>
                <a:spLocks noChangeArrowheads="1"/>
              </p:cNvSpPr>
              <p:nvPr/>
            </p:nvSpPr>
            <p:spPr bwMode="auto">
              <a:xfrm>
                <a:off x="3457" y="1248"/>
                <a:ext cx="1081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" name="Group 6"/>
              <p:cNvGrpSpPr>
                <a:grpSpLocks/>
              </p:cNvGrpSpPr>
              <p:nvPr/>
            </p:nvGrpSpPr>
            <p:grpSpPr bwMode="auto">
              <a:xfrm>
                <a:off x="3452" y="1261"/>
                <a:ext cx="1096" cy="214"/>
                <a:chOff x="3452" y="1261"/>
                <a:chExt cx="1096" cy="214"/>
              </a:xfrm>
            </p:grpSpPr>
            <p:sp>
              <p:nvSpPr>
                <p:cNvPr id="71" name="AutoShape 7"/>
                <p:cNvSpPr>
                  <a:spLocks noChangeArrowheads="1"/>
                </p:cNvSpPr>
                <p:nvPr/>
              </p:nvSpPr>
              <p:spPr bwMode="auto">
                <a:xfrm>
                  <a:off x="3471" y="1261"/>
                  <a:ext cx="1054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AutoShape 8"/>
                <p:cNvSpPr>
                  <a:spLocks noChangeArrowheads="1"/>
                </p:cNvSpPr>
                <p:nvPr/>
              </p:nvSpPr>
              <p:spPr bwMode="auto">
                <a:xfrm>
                  <a:off x="3452" y="1265"/>
                  <a:ext cx="1096" cy="206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Computers ‘R’ Us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8" name="Group 9"/>
            <p:cNvGrpSpPr>
              <a:grpSpLocks/>
            </p:cNvGrpSpPr>
            <p:nvPr/>
          </p:nvGrpSpPr>
          <p:grpSpPr bwMode="auto">
            <a:xfrm>
              <a:off x="2728" y="1824"/>
              <a:ext cx="435" cy="240"/>
              <a:chOff x="2728" y="1824"/>
              <a:chExt cx="435" cy="240"/>
            </a:xfrm>
          </p:grpSpPr>
          <p:sp>
            <p:nvSpPr>
              <p:cNvPr id="65" name="AutoShape 10"/>
              <p:cNvSpPr>
                <a:spLocks noChangeArrowheads="1"/>
              </p:cNvSpPr>
              <p:nvPr/>
            </p:nvSpPr>
            <p:spPr bwMode="auto">
              <a:xfrm>
                <a:off x="2728" y="1824"/>
                <a:ext cx="436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11"/>
              <p:cNvGrpSpPr>
                <a:grpSpLocks/>
              </p:cNvGrpSpPr>
              <p:nvPr/>
            </p:nvGrpSpPr>
            <p:grpSpPr bwMode="auto">
              <a:xfrm>
                <a:off x="2741" y="1837"/>
                <a:ext cx="408" cy="213"/>
                <a:chOff x="2741" y="1837"/>
                <a:chExt cx="408" cy="213"/>
              </a:xfrm>
            </p:grpSpPr>
            <p:sp>
              <p:nvSpPr>
                <p:cNvPr id="67" name="AutoShape 12"/>
                <p:cNvSpPr>
                  <a:spLocks noChangeArrowheads="1"/>
                </p:cNvSpPr>
                <p:nvPr/>
              </p:nvSpPr>
              <p:spPr bwMode="auto">
                <a:xfrm>
                  <a:off x="2741" y="1837"/>
                  <a:ext cx="40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AutoShape 13"/>
                <p:cNvSpPr>
                  <a:spLocks noChangeArrowheads="1"/>
                </p:cNvSpPr>
                <p:nvPr/>
              </p:nvSpPr>
              <p:spPr bwMode="auto">
                <a:xfrm>
                  <a:off x="2741" y="1837"/>
                  <a:ext cx="40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Sales</a:t>
                  </a:r>
                </a:p>
              </p:txBody>
            </p:sp>
          </p:grpSp>
        </p:grpSp>
        <p:grpSp>
          <p:nvGrpSpPr>
            <p:cNvPr id="10" name="Group 14"/>
            <p:cNvGrpSpPr>
              <a:grpSpLocks/>
            </p:cNvGrpSpPr>
            <p:nvPr/>
          </p:nvGrpSpPr>
          <p:grpSpPr bwMode="auto">
            <a:xfrm>
              <a:off x="5209" y="1824"/>
              <a:ext cx="394" cy="240"/>
              <a:chOff x="5209" y="1824"/>
              <a:chExt cx="394" cy="240"/>
            </a:xfrm>
          </p:grpSpPr>
          <p:sp>
            <p:nvSpPr>
              <p:cNvPr id="61" name="AutoShape 15"/>
              <p:cNvSpPr>
                <a:spLocks noChangeArrowheads="1"/>
              </p:cNvSpPr>
              <p:nvPr/>
            </p:nvSpPr>
            <p:spPr bwMode="auto">
              <a:xfrm>
                <a:off x="5209" y="1824"/>
                <a:ext cx="395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" name="Group 16"/>
              <p:cNvGrpSpPr>
                <a:grpSpLocks/>
              </p:cNvGrpSpPr>
              <p:nvPr/>
            </p:nvGrpSpPr>
            <p:grpSpPr bwMode="auto">
              <a:xfrm>
                <a:off x="5222" y="1837"/>
                <a:ext cx="368" cy="213"/>
                <a:chOff x="5222" y="1837"/>
                <a:chExt cx="368" cy="213"/>
              </a:xfrm>
            </p:grpSpPr>
            <p:sp>
              <p:nvSpPr>
                <p:cNvPr id="63" name="AutoShape 17"/>
                <p:cNvSpPr>
                  <a:spLocks noChangeArrowheads="1"/>
                </p:cNvSpPr>
                <p:nvPr/>
              </p:nvSpPr>
              <p:spPr bwMode="auto">
                <a:xfrm>
                  <a:off x="5222" y="1837"/>
                  <a:ext cx="36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AutoShape 18"/>
                <p:cNvSpPr>
                  <a:spLocks noChangeArrowheads="1"/>
                </p:cNvSpPr>
                <p:nvPr/>
              </p:nvSpPr>
              <p:spPr bwMode="auto">
                <a:xfrm>
                  <a:off x="5222" y="1837"/>
                  <a:ext cx="369" cy="214"/>
                </a:xfrm>
                <a:prstGeom prst="roundRect">
                  <a:avLst>
                    <a:gd name="adj" fmla="val 463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R&amp;D</a:t>
                  </a:r>
                </a:p>
              </p:txBody>
            </p:sp>
          </p:grpSp>
        </p:grpSp>
        <p:grpSp>
          <p:nvGrpSpPr>
            <p:cNvPr id="12" name="Group 19"/>
            <p:cNvGrpSpPr>
              <a:grpSpLocks/>
            </p:cNvGrpSpPr>
            <p:nvPr/>
          </p:nvGrpSpPr>
          <p:grpSpPr bwMode="auto">
            <a:xfrm>
              <a:off x="4101" y="1824"/>
              <a:ext cx="954" cy="240"/>
              <a:chOff x="4101" y="1824"/>
              <a:chExt cx="954" cy="240"/>
            </a:xfrm>
          </p:grpSpPr>
          <p:sp>
            <p:nvSpPr>
              <p:cNvPr id="57" name="AutoShape 20"/>
              <p:cNvSpPr>
                <a:spLocks noChangeArrowheads="1"/>
              </p:cNvSpPr>
              <p:nvPr/>
            </p:nvSpPr>
            <p:spPr bwMode="auto">
              <a:xfrm>
                <a:off x="4101" y="1824"/>
                <a:ext cx="955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" name="Group 21"/>
              <p:cNvGrpSpPr>
                <a:grpSpLocks/>
              </p:cNvGrpSpPr>
              <p:nvPr/>
            </p:nvGrpSpPr>
            <p:grpSpPr bwMode="auto">
              <a:xfrm>
                <a:off x="4114" y="1837"/>
                <a:ext cx="928" cy="213"/>
                <a:chOff x="4114" y="1837"/>
                <a:chExt cx="928" cy="213"/>
              </a:xfrm>
            </p:grpSpPr>
            <p:sp>
              <p:nvSpPr>
                <p:cNvPr id="59" name="AutoShape 22"/>
                <p:cNvSpPr>
                  <a:spLocks noChangeArrowheads="1"/>
                </p:cNvSpPr>
                <p:nvPr/>
              </p:nvSpPr>
              <p:spPr bwMode="auto">
                <a:xfrm>
                  <a:off x="4114" y="1837"/>
                  <a:ext cx="92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AutoShape 23"/>
                <p:cNvSpPr>
                  <a:spLocks noChangeArrowheads="1"/>
                </p:cNvSpPr>
                <p:nvPr/>
              </p:nvSpPr>
              <p:spPr bwMode="auto">
                <a:xfrm>
                  <a:off x="4114" y="1837"/>
                  <a:ext cx="929" cy="214"/>
                </a:xfrm>
                <a:prstGeom prst="roundRect">
                  <a:avLst>
                    <a:gd name="adj" fmla="val 463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solidFill>
                        <a:schemeClr val="tx1"/>
                      </a:solidFill>
                      <a:latin typeface="Tahoma" pitchFamily="34" charset="0"/>
                    </a:rPr>
                    <a:t>Manufacturing</a:t>
                  </a:r>
                </a:p>
              </p:txBody>
            </p:sp>
          </p:grpSp>
        </p:grpSp>
        <p:grpSp>
          <p:nvGrpSpPr>
            <p:cNvPr id="14" name="Group 24"/>
            <p:cNvGrpSpPr>
              <a:grpSpLocks/>
            </p:cNvGrpSpPr>
            <p:nvPr/>
          </p:nvGrpSpPr>
          <p:grpSpPr bwMode="auto">
            <a:xfrm>
              <a:off x="3911" y="2400"/>
              <a:ext cx="589" cy="240"/>
              <a:chOff x="3911" y="2400"/>
              <a:chExt cx="589" cy="240"/>
            </a:xfrm>
          </p:grpSpPr>
          <p:sp>
            <p:nvSpPr>
              <p:cNvPr id="53" name="AutoShape 25"/>
              <p:cNvSpPr>
                <a:spLocks noChangeArrowheads="1"/>
              </p:cNvSpPr>
              <p:nvPr/>
            </p:nvSpPr>
            <p:spPr bwMode="auto">
              <a:xfrm>
                <a:off x="3911" y="2400"/>
                <a:ext cx="590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" name="Group 26"/>
              <p:cNvGrpSpPr>
                <a:grpSpLocks/>
              </p:cNvGrpSpPr>
              <p:nvPr/>
            </p:nvGrpSpPr>
            <p:grpSpPr bwMode="auto">
              <a:xfrm>
                <a:off x="3925" y="2414"/>
                <a:ext cx="562" cy="213"/>
                <a:chOff x="3925" y="2414"/>
                <a:chExt cx="562" cy="213"/>
              </a:xfrm>
            </p:grpSpPr>
            <p:sp>
              <p:nvSpPr>
                <p:cNvPr id="55" name="AutoShape 27"/>
                <p:cNvSpPr>
                  <a:spLocks noChangeArrowheads="1"/>
                </p:cNvSpPr>
                <p:nvPr/>
              </p:nvSpPr>
              <p:spPr bwMode="auto">
                <a:xfrm>
                  <a:off x="3925" y="2414"/>
                  <a:ext cx="563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AutoShape 28"/>
                <p:cNvSpPr>
                  <a:spLocks noChangeArrowheads="1"/>
                </p:cNvSpPr>
                <p:nvPr/>
              </p:nvSpPr>
              <p:spPr bwMode="auto">
                <a:xfrm>
                  <a:off x="3925" y="2414"/>
                  <a:ext cx="563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Laptops</a:t>
                  </a:r>
                </a:p>
              </p:txBody>
            </p:sp>
          </p:grpSp>
        </p:grpSp>
        <p:grpSp>
          <p:nvGrpSpPr>
            <p:cNvPr id="23" name="Group 29"/>
            <p:cNvGrpSpPr>
              <a:grpSpLocks/>
            </p:cNvGrpSpPr>
            <p:nvPr/>
          </p:nvGrpSpPr>
          <p:grpSpPr bwMode="auto">
            <a:xfrm>
              <a:off x="4636" y="2400"/>
              <a:ext cx="662" cy="240"/>
              <a:chOff x="4636" y="2400"/>
              <a:chExt cx="662" cy="240"/>
            </a:xfrm>
          </p:grpSpPr>
          <p:sp>
            <p:nvSpPr>
              <p:cNvPr id="49" name="AutoShape 30"/>
              <p:cNvSpPr>
                <a:spLocks noChangeArrowheads="1"/>
              </p:cNvSpPr>
              <p:nvPr/>
            </p:nvSpPr>
            <p:spPr bwMode="auto">
              <a:xfrm>
                <a:off x="4636" y="2400"/>
                <a:ext cx="663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4" name="Group 31"/>
              <p:cNvGrpSpPr>
                <a:grpSpLocks/>
              </p:cNvGrpSpPr>
              <p:nvPr/>
            </p:nvGrpSpPr>
            <p:grpSpPr bwMode="auto">
              <a:xfrm>
                <a:off x="4649" y="2414"/>
                <a:ext cx="635" cy="213"/>
                <a:chOff x="4649" y="2414"/>
                <a:chExt cx="635" cy="213"/>
              </a:xfrm>
            </p:grpSpPr>
            <p:sp>
              <p:nvSpPr>
                <p:cNvPr id="51" name="AutoShape 32"/>
                <p:cNvSpPr>
                  <a:spLocks noChangeArrowheads="1"/>
                </p:cNvSpPr>
                <p:nvPr/>
              </p:nvSpPr>
              <p:spPr bwMode="auto">
                <a:xfrm>
                  <a:off x="4649" y="2414"/>
                  <a:ext cx="636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AutoShape 33"/>
                <p:cNvSpPr>
                  <a:spLocks noChangeArrowheads="1"/>
                </p:cNvSpPr>
                <p:nvPr/>
              </p:nvSpPr>
              <p:spPr bwMode="auto">
                <a:xfrm>
                  <a:off x="4649" y="2414"/>
                  <a:ext cx="636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Desktops</a:t>
                  </a:r>
                </a:p>
              </p:txBody>
            </p:sp>
          </p:grpSp>
        </p:grpSp>
        <p:grpSp>
          <p:nvGrpSpPr>
            <p:cNvPr id="27" name="Group 34"/>
            <p:cNvGrpSpPr>
              <a:grpSpLocks/>
            </p:cNvGrpSpPr>
            <p:nvPr/>
          </p:nvGrpSpPr>
          <p:grpSpPr bwMode="auto">
            <a:xfrm>
              <a:off x="2475" y="2399"/>
              <a:ext cx="296" cy="241"/>
              <a:chOff x="2475" y="2399"/>
              <a:chExt cx="296" cy="241"/>
            </a:xfrm>
          </p:grpSpPr>
          <p:sp>
            <p:nvSpPr>
              <p:cNvPr id="45" name="AutoShape 35"/>
              <p:cNvSpPr>
                <a:spLocks noChangeArrowheads="1"/>
              </p:cNvSpPr>
              <p:nvPr/>
            </p:nvSpPr>
            <p:spPr bwMode="auto">
              <a:xfrm>
                <a:off x="2475" y="2399"/>
                <a:ext cx="296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0" name="Group 36"/>
              <p:cNvGrpSpPr>
                <a:grpSpLocks/>
              </p:cNvGrpSpPr>
              <p:nvPr/>
            </p:nvGrpSpPr>
            <p:grpSpPr bwMode="auto">
              <a:xfrm>
                <a:off x="2488" y="2413"/>
                <a:ext cx="270" cy="214"/>
                <a:chOff x="2488" y="2413"/>
                <a:chExt cx="270" cy="214"/>
              </a:xfrm>
            </p:grpSpPr>
            <p:sp>
              <p:nvSpPr>
                <p:cNvPr id="47" name="AutoShape 37"/>
                <p:cNvSpPr>
                  <a:spLocks noChangeArrowheads="1"/>
                </p:cNvSpPr>
                <p:nvPr/>
              </p:nvSpPr>
              <p:spPr bwMode="auto">
                <a:xfrm>
                  <a:off x="2488" y="2413"/>
                  <a:ext cx="270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AutoShape 38"/>
                <p:cNvSpPr>
                  <a:spLocks noChangeArrowheads="1"/>
                </p:cNvSpPr>
                <p:nvPr/>
              </p:nvSpPr>
              <p:spPr bwMode="auto">
                <a:xfrm>
                  <a:off x="2488" y="2413"/>
                  <a:ext cx="270" cy="214"/>
                </a:xfrm>
                <a:prstGeom prst="roundRect">
                  <a:avLst>
                    <a:gd name="adj" fmla="val 463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solidFill>
                        <a:schemeClr val="tx1"/>
                      </a:solidFill>
                      <a:latin typeface="Tahoma" pitchFamily="34" charset="0"/>
                    </a:rPr>
                    <a:t>US</a:t>
                  </a:r>
                </a:p>
              </p:txBody>
            </p:sp>
          </p:grpSp>
        </p:grpSp>
        <p:grpSp>
          <p:nvGrpSpPr>
            <p:cNvPr id="34" name="Group 39"/>
            <p:cNvGrpSpPr>
              <a:grpSpLocks/>
            </p:cNvGrpSpPr>
            <p:nvPr/>
          </p:nvGrpSpPr>
          <p:grpSpPr bwMode="auto">
            <a:xfrm>
              <a:off x="2907" y="2400"/>
              <a:ext cx="868" cy="240"/>
              <a:chOff x="2907" y="2400"/>
              <a:chExt cx="868" cy="240"/>
            </a:xfrm>
          </p:grpSpPr>
          <p:sp>
            <p:nvSpPr>
              <p:cNvPr id="41" name="AutoShape 40"/>
              <p:cNvSpPr>
                <a:spLocks noChangeArrowheads="1"/>
              </p:cNvSpPr>
              <p:nvPr/>
            </p:nvSpPr>
            <p:spPr bwMode="auto">
              <a:xfrm>
                <a:off x="2907" y="2400"/>
                <a:ext cx="869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8" name="Group 41"/>
              <p:cNvGrpSpPr>
                <a:grpSpLocks/>
              </p:cNvGrpSpPr>
              <p:nvPr/>
            </p:nvGrpSpPr>
            <p:grpSpPr bwMode="auto">
              <a:xfrm>
                <a:off x="2920" y="2414"/>
                <a:ext cx="842" cy="213"/>
                <a:chOff x="2920" y="2414"/>
                <a:chExt cx="842" cy="213"/>
              </a:xfrm>
            </p:grpSpPr>
            <p:sp>
              <p:nvSpPr>
                <p:cNvPr id="43" name="AutoShape 42"/>
                <p:cNvSpPr>
                  <a:spLocks noChangeArrowheads="1"/>
                </p:cNvSpPr>
                <p:nvPr/>
              </p:nvSpPr>
              <p:spPr bwMode="auto">
                <a:xfrm>
                  <a:off x="2920" y="2414"/>
                  <a:ext cx="843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AutoShape 43"/>
                <p:cNvSpPr>
                  <a:spLocks noChangeArrowheads="1"/>
                </p:cNvSpPr>
                <p:nvPr/>
              </p:nvSpPr>
              <p:spPr bwMode="auto">
                <a:xfrm>
                  <a:off x="2920" y="2414"/>
                  <a:ext cx="843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International</a:t>
                  </a:r>
                </a:p>
              </p:txBody>
            </p:sp>
          </p:grpSp>
        </p:grpSp>
        <p:cxnSp>
          <p:nvCxnSpPr>
            <p:cNvPr id="16" name="AutoShape 44"/>
            <p:cNvCxnSpPr>
              <a:cxnSpLocks noChangeShapeType="1"/>
              <a:stCxn id="69" idx="2"/>
              <a:endCxn id="65" idx="0"/>
            </p:cNvCxnSpPr>
            <p:nvPr/>
          </p:nvCxnSpPr>
          <p:spPr bwMode="auto">
            <a:xfrm flipH="1">
              <a:off x="2946" y="1489"/>
              <a:ext cx="1051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7" name="AutoShape 45"/>
            <p:cNvCxnSpPr>
              <a:cxnSpLocks noChangeShapeType="1"/>
              <a:stCxn id="69" idx="2"/>
              <a:endCxn id="57" idx="0"/>
            </p:cNvCxnSpPr>
            <p:nvPr/>
          </p:nvCxnSpPr>
          <p:spPr bwMode="auto">
            <a:xfrm>
              <a:off x="3997" y="1489"/>
              <a:ext cx="581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" name="AutoShape 46"/>
            <p:cNvCxnSpPr>
              <a:cxnSpLocks noChangeShapeType="1"/>
              <a:stCxn id="69" idx="2"/>
              <a:endCxn id="61" idx="0"/>
            </p:cNvCxnSpPr>
            <p:nvPr/>
          </p:nvCxnSpPr>
          <p:spPr bwMode="auto">
            <a:xfrm>
              <a:off x="3997" y="1489"/>
              <a:ext cx="1409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" name="AutoShape 47"/>
            <p:cNvCxnSpPr>
              <a:cxnSpLocks noChangeShapeType="1"/>
              <a:stCxn id="57" idx="2"/>
              <a:endCxn id="49" idx="0"/>
            </p:cNvCxnSpPr>
            <p:nvPr/>
          </p:nvCxnSpPr>
          <p:spPr bwMode="auto">
            <a:xfrm>
              <a:off x="4579" y="2065"/>
              <a:ext cx="389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0" name="AutoShape 48"/>
            <p:cNvCxnSpPr>
              <a:cxnSpLocks noChangeShapeType="1"/>
              <a:stCxn id="57" idx="2"/>
              <a:endCxn id="53" idx="0"/>
            </p:cNvCxnSpPr>
            <p:nvPr/>
          </p:nvCxnSpPr>
          <p:spPr bwMode="auto">
            <a:xfrm flipH="1">
              <a:off x="4206" y="2065"/>
              <a:ext cx="372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1" name="AutoShape 49"/>
            <p:cNvCxnSpPr>
              <a:cxnSpLocks noChangeShapeType="1"/>
              <a:stCxn id="65" idx="2"/>
              <a:endCxn id="41" idx="0"/>
            </p:cNvCxnSpPr>
            <p:nvPr/>
          </p:nvCxnSpPr>
          <p:spPr bwMode="auto">
            <a:xfrm>
              <a:off x="2946" y="2065"/>
              <a:ext cx="396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2" name="AutoShape 50"/>
            <p:cNvCxnSpPr>
              <a:cxnSpLocks noChangeShapeType="1"/>
              <a:stCxn id="65" idx="2"/>
              <a:endCxn id="45" idx="0"/>
            </p:cNvCxnSpPr>
            <p:nvPr/>
          </p:nvCxnSpPr>
          <p:spPr bwMode="auto">
            <a:xfrm flipH="1">
              <a:off x="2623" y="2065"/>
              <a:ext cx="323" cy="334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grpSp>
          <p:nvGrpSpPr>
            <p:cNvPr id="42" name="Group 51"/>
            <p:cNvGrpSpPr>
              <a:grpSpLocks/>
            </p:cNvGrpSpPr>
            <p:nvPr/>
          </p:nvGrpSpPr>
          <p:grpSpPr bwMode="auto">
            <a:xfrm>
              <a:off x="2304" y="2979"/>
              <a:ext cx="545" cy="240"/>
              <a:chOff x="2304" y="2979"/>
              <a:chExt cx="545" cy="240"/>
            </a:xfrm>
          </p:grpSpPr>
          <p:sp>
            <p:nvSpPr>
              <p:cNvPr id="37" name="AutoShape 52"/>
              <p:cNvSpPr>
                <a:spLocks noChangeArrowheads="1"/>
              </p:cNvSpPr>
              <p:nvPr/>
            </p:nvSpPr>
            <p:spPr bwMode="auto">
              <a:xfrm>
                <a:off x="2304" y="2979"/>
                <a:ext cx="546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6" name="Group 53"/>
              <p:cNvGrpSpPr>
                <a:grpSpLocks/>
              </p:cNvGrpSpPr>
              <p:nvPr/>
            </p:nvGrpSpPr>
            <p:grpSpPr bwMode="auto">
              <a:xfrm>
                <a:off x="2317" y="2992"/>
                <a:ext cx="518" cy="213"/>
                <a:chOff x="2317" y="2992"/>
                <a:chExt cx="518" cy="213"/>
              </a:xfrm>
            </p:grpSpPr>
            <p:sp>
              <p:nvSpPr>
                <p:cNvPr id="39" name="AutoShape 54"/>
                <p:cNvSpPr>
                  <a:spLocks noChangeArrowheads="1"/>
                </p:cNvSpPr>
                <p:nvPr/>
              </p:nvSpPr>
              <p:spPr bwMode="auto">
                <a:xfrm>
                  <a:off x="2317" y="2992"/>
                  <a:ext cx="51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AutoShape 55"/>
                <p:cNvSpPr>
                  <a:spLocks noChangeArrowheads="1"/>
                </p:cNvSpPr>
                <p:nvPr/>
              </p:nvSpPr>
              <p:spPr bwMode="auto">
                <a:xfrm>
                  <a:off x="2317" y="2992"/>
                  <a:ext cx="51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Europe</a:t>
                  </a:r>
                </a:p>
              </p:txBody>
            </p:sp>
          </p:grpSp>
        </p:grpSp>
        <p:grpSp>
          <p:nvGrpSpPr>
            <p:cNvPr id="50" name="Group 56"/>
            <p:cNvGrpSpPr>
              <a:grpSpLocks/>
            </p:cNvGrpSpPr>
            <p:nvPr/>
          </p:nvGrpSpPr>
          <p:grpSpPr bwMode="auto">
            <a:xfrm>
              <a:off x="3147" y="2979"/>
              <a:ext cx="372" cy="240"/>
              <a:chOff x="3147" y="2979"/>
              <a:chExt cx="372" cy="240"/>
            </a:xfrm>
          </p:grpSpPr>
          <p:sp>
            <p:nvSpPr>
              <p:cNvPr id="33" name="AutoShape 57"/>
              <p:cNvSpPr>
                <a:spLocks noChangeArrowheads="1"/>
              </p:cNvSpPr>
              <p:nvPr/>
            </p:nvSpPr>
            <p:spPr bwMode="auto">
              <a:xfrm>
                <a:off x="3147" y="2979"/>
                <a:ext cx="373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4" name="Group 58"/>
              <p:cNvGrpSpPr>
                <a:grpSpLocks/>
              </p:cNvGrpSpPr>
              <p:nvPr/>
            </p:nvGrpSpPr>
            <p:grpSpPr bwMode="auto">
              <a:xfrm>
                <a:off x="3161" y="2992"/>
                <a:ext cx="345" cy="213"/>
                <a:chOff x="3161" y="2992"/>
                <a:chExt cx="345" cy="213"/>
              </a:xfrm>
            </p:grpSpPr>
            <p:sp>
              <p:nvSpPr>
                <p:cNvPr id="35" name="AutoShape 59"/>
                <p:cNvSpPr>
                  <a:spLocks noChangeArrowheads="1"/>
                </p:cNvSpPr>
                <p:nvPr/>
              </p:nvSpPr>
              <p:spPr bwMode="auto">
                <a:xfrm>
                  <a:off x="3161" y="2992"/>
                  <a:ext cx="346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AutoShape 60"/>
                <p:cNvSpPr>
                  <a:spLocks noChangeArrowheads="1"/>
                </p:cNvSpPr>
                <p:nvPr/>
              </p:nvSpPr>
              <p:spPr bwMode="auto">
                <a:xfrm>
                  <a:off x="3161" y="2992"/>
                  <a:ext cx="346" cy="214"/>
                </a:xfrm>
                <a:prstGeom prst="roundRect">
                  <a:avLst>
                    <a:gd name="adj" fmla="val 463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Asia</a:t>
                  </a:r>
                </a:p>
              </p:txBody>
            </p:sp>
          </p:grpSp>
        </p:grpSp>
        <p:cxnSp>
          <p:nvCxnSpPr>
            <p:cNvPr id="25" name="AutoShape 61"/>
            <p:cNvCxnSpPr>
              <a:cxnSpLocks noChangeShapeType="1"/>
              <a:stCxn id="41" idx="2"/>
              <a:endCxn id="33" idx="0"/>
            </p:cNvCxnSpPr>
            <p:nvPr/>
          </p:nvCxnSpPr>
          <p:spPr bwMode="auto">
            <a:xfrm flipH="1">
              <a:off x="3333" y="2641"/>
              <a:ext cx="8" cy="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6" name="AutoShape 62"/>
            <p:cNvCxnSpPr>
              <a:cxnSpLocks noChangeShapeType="1"/>
              <a:stCxn id="41" idx="2"/>
              <a:endCxn id="37" idx="0"/>
            </p:cNvCxnSpPr>
            <p:nvPr/>
          </p:nvCxnSpPr>
          <p:spPr bwMode="auto">
            <a:xfrm flipH="1">
              <a:off x="2577" y="2641"/>
              <a:ext cx="764" cy="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grpSp>
          <p:nvGrpSpPr>
            <p:cNvPr id="58" name="Group 63"/>
            <p:cNvGrpSpPr>
              <a:grpSpLocks/>
            </p:cNvGrpSpPr>
            <p:nvPr/>
          </p:nvGrpSpPr>
          <p:grpSpPr bwMode="auto">
            <a:xfrm>
              <a:off x="3822" y="2979"/>
              <a:ext cx="568" cy="240"/>
              <a:chOff x="3822" y="2979"/>
              <a:chExt cx="568" cy="240"/>
            </a:xfrm>
          </p:grpSpPr>
          <p:sp>
            <p:nvSpPr>
              <p:cNvPr id="29" name="AutoShape 64"/>
              <p:cNvSpPr>
                <a:spLocks noChangeArrowheads="1"/>
              </p:cNvSpPr>
              <p:nvPr/>
            </p:nvSpPr>
            <p:spPr bwMode="auto">
              <a:xfrm>
                <a:off x="3822" y="2979"/>
                <a:ext cx="569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2" name="Group 65"/>
              <p:cNvGrpSpPr>
                <a:grpSpLocks/>
              </p:cNvGrpSpPr>
              <p:nvPr/>
            </p:nvGrpSpPr>
            <p:grpSpPr bwMode="auto">
              <a:xfrm>
                <a:off x="3835" y="2992"/>
                <a:ext cx="541" cy="213"/>
                <a:chOff x="3835" y="2992"/>
                <a:chExt cx="541" cy="213"/>
              </a:xfrm>
            </p:grpSpPr>
            <p:sp>
              <p:nvSpPr>
                <p:cNvPr id="31" name="AutoShape 66"/>
                <p:cNvSpPr>
                  <a:spLocks noChangeArrowheads="1"/>
                </p:cNvSpPr>
                <p:nvPr/>
              </p:nvSpPr>
              <p:spPr bwMode="auto">
                <a:xfrm>
                  <a:off x="3835" y="2992"/>
                  <a:ext cx="542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AutoShape 67"/>
                <p:cNvSpPr>
                  <a:spLocks noChangeArrowheads="1"/>
                </p:cNvSpPr>
                <p:nvPr/>
              </p:nvSpPr>
              <p:spPr bwMode="auto">
                <a:xfrm>
                  <a:off x="3835" y="2992"/>
                  <a:ext cx="542" cy="214"/>
                </a:xfrm>
                <a:prstGeom prst="roundRect">
                  <a:avLst>
                    <a:gd name="adj" fmla="val 463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solidFill>
                        <a:schemeClr val="tx1"/>
                      </a:solidFill>
                      <a:latin typeface="Tahoma" pitchFamily="34" charset="0"/>
                    </a:rPr>
                    <a:t>Canada</a:t>
                  </a:r>
                </a:p>
              </p:txBody>
            </p:sp>
          </p:grpSp>
        </p:grpSp>
        <p:cxnSp>
          <p:nvCxnSpPr>
            <p:cNvPr id="28" name="AutoShape 68"/>
            <p:cNvCxnSpPr>
              <a:cxnSpLocks noChangeShapeType="1"/>
              <a:stCxn id="41" idx="2"/>
              <a:endCxn id="29" idx="0"/>
            </p:cNvCxnSpPr>
            <p:nvPr/>
          </p:nvCxnSpPr>
          <p:spPr bwMode="auto">
            <a:xfrm>
              <a:off x="3341" y="2641"/>
              <a:ext cx="765" cy="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xmlns="" val="117669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Biểu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diễn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endParaRPr dirty="0"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 &lt;class Item&gt;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Node {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Item data;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List&lt;Node*&gt; children;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Node&lt;Item&gt;* root;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15"/>
          <p:cNvGrpSpPr/>
          <p:nvPr/>
        </p:nvGrpSpPr>
        <p:grpSpPr>
          <a:xfrm>
            <a:off x="4038600" y="1828800"/>
            <a:ext cx="4061792" cy="4048472"/>
            <a:chOff x="2184" y="1141"/>
            <a:chExt cx="6844" cy="4259"/>
          </a:xfrm>
        </p:grpSpPr>
        <p:grpSp>
          <p:nvGrpSpPr>
            <p:cNvPr id="131" name="Google Shape;131;p15"/>
            <p:cNvGrpSpPr/>
            <p:nvPr/>
          </p:nvGrpSpPr>
          <p:grpSpPr>
            <a:xfrm>
              <a:off x="2184" y="1141"/>
              <a:ext cx="6844" cy="4259"/>
              <a:chOff x="2184" y="1141"/>
              <a:chExt cx="6844" cy="4259"/>
            </a:xfrm>
          </p:grpSpPr>
          <p:grpSp>
            <p:nvGrpSpPr>
              <p:cNvPr id="132" name="Google Shape;132;p15"/>
              <p:cNvGrpSpPr/>
              <p:nvPr/>
            </p:nvGrpSpPr>
            <p:grpSpPr>
              <a:xfrm>
                <a:off x="2184" y="2340"/>
                <a:ext cx="6844" cy="3060"/>
                <a:chOff x="2184" y="2340"/>
                <a:chExt cx="6844" cy="3060"/>
              </a:xfrm>
            </p:grpSpPr>
            <p:grpSp>
              <p:nvGrpSpPr>
                <p:cNvPr id="133" name="Google Shape;133;p15"/>
                <p:cNvGrpSpPr/>
                <p:nvPr/>
              </p:nvGrpSpPr>
              <p:grpSpPr>
                <a:xfrm>
                  <a:off x="2492" y="2340"/>
                  <a:ext cx="6536" cy="1980"/>
                  <a:chOff x="1952" y="2340"/>
                  <a:chExt cx="6536" cy="1980"/>
                </a:xfrm>
              </p:grpSpPr>
              <p:grpSp>
                <p:nvGrpSpPr>
                  <p:cNvPr id="134" name="Google Shape;134;p15"/>
                  <p:cNvGrpSpPr/>
                  <p:nvPr/>
                </p:nvGrpSpPr>
                <p:grpSpPr>
                  <a:xfrm>
                    <a:off x="4860" y="2340"/>
                    <a:ext cx="1620" cy="720"/>
                    <a:chOff x="4860" y="2340"/>
                    <a:chExt cx="1620" cy="720"/>
                  </a:xfrm>
                </p:grpSpPr>
                <p:sp>
                  <p:nvSpPr>
                    <p:cNvPr id="135" name="Google Shape;135;p15"/>
                    <p:cNvSpPr/>
                    <p:nvPr/>
                  </p:nvSpPr>
                  <p:spPr>
                    <a:xfrm>
                      <a:off x="4860" y="2340"/>
                      <a:ext cx="162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6" name="Google Shape;136;p15"/>
                    <p:cNvSpPr/>
                    <p:nvPr/>
                  </p:nvSpPr>
                  <p:spPr>
                    <a:xfrm>
                      <a:off x="486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7" name="Google Shape;137;p15"/>
                    <p:cNvSpPr/>
                    <p:nvPr/>
                  </p:nvSpPr>
                  <p:spPr>
                    <a:xfrm>
                      <a:off x="540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8" name="Google Shape;138;p15"/>
                    <p:cNvSpPr/>
                    <p:nvPr/>
                  </p:nvSpPr>
                  <p:spPr>
                    <a:xfrm>
                      <a:off x="594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39" name="Google Shape;139;p15"/>
                  <p:cNvGrpSpPr/>
                  <p:nvPr/>
                </p:nvGrpSpPr>
                <p:grpSpPr>
                  <a:xfrm>
                    <a:off x="1952" y="3605"/>
                    <a:ext cx="1153" cy="715"/>
                    <a:chOff x="4832" y="2345"/>
                    <a:chExt cx="1153" cy="715"/>
                  </a:xfrm>
                </p:grpSpPr>
                <p:sp>
                  <p:nvSpPr>
                    <p:cNvPr id="140" name="Google Shape;140;p15"/>
                    <p:cNvSpPr/>
                    <p:nvPr/>
                  </p:nvSpPr>
                  <p:spPr>
                    <a:xfrm>
                      <a:off x="4832" y="2345"/>
                      <a:ext cx="1153" cy="39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141" name="Google Shape;141;p15"/>
                    <p:cNvSpPr/>
                    <p:nvPr/>
                  </p:nvSpPr>
                  <p:spPr>
                    <a:xfrm>
                      <a:off x="4832" y="2700"/>
                      <a:ext cx="56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2" name="Google Shape;142;p15"/>
                    <p:cNvSpPr/>
                    <p:nvPr/>
                  </p:nvSpPr>
                  <p:spPr>
                    <a:xfrm>
                      <a:off x="5400" y="2700"/>
                      <a:ext cx="585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43" name="Google Shape;143;p15"/>
                  <p:cNvGrpSpPr/>
                  <p:nvPr/>
                </p:nvGrpSpPr>
                <p:grpSpPr>
                  <a:xfrm>
                    <a:off x="7560" y="3600"/>
                    <a:ext cx="928" cy="720"/>
                    <a:chOff x="4860" y="2340"/>
                    <a:chExt cx="928" cy="720"/>
                  </a:xfrm>
                </p:grpSpPr>
                <p:sp>
                  <p:nvSpPr>
                    <p:cNvPr id="144" name="Google Shape;144;p15"/>
                    <p:cNvSpPr/>
                    <p:nvPr/>
                  </p:nvSpPr>
                  <p:spPr>
                    <a:xfrm>
                      <a:off x="4860" y="234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5" name="Google Shape;145;p15"/>
                    <p:cNvSpPr/>
                    <p:nvPr/>
                  </p:nvSpPr>
                  <p:spPr>
                    <a:xfrm>
                      <a:off x="4860" y="270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46" name="Google Shape;146;p15"/>
                  <p:cNvSpPr/>
                  <p:nvPr/>
                </p:nvSpPr>
                <p:spPr>
                  <a:xfrm>
                    <a:off x="4860" y="3600"/>
                    <a:ext cx="1620" cy="36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rPr lang="en-US" sz="24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C</a:t>
                    </a:r>
                    <a:endParaRPr sz="2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7" name="Google Shape;147;p15"/>
                <p:cNvSpPr/>
                <p:nvPr/>
              </p:nvSpPr>
              <p:spPr>
                <a:xfrm>
                  <a:off x="2184" y="5040"/>
                  <a:ext cx="615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" name="Google Shape;148;p15"/>
                <p:cNvSpPr/>
                <p:nvPr/>
              </p:nvSpPr>
              <p:spPr>
                <a:xfrm>
                  <a:off x="4140" y="5040"/>
                  <a:ext cx="736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149;p15"/>
                <p:cNvSpPr/>
                <p:nvPr/>
              </p:nvSpPr>
              <p:spPr>
                <a:xfrm>
                  <a:off x="8100" y="5040"/>
                  <a:ext cx="928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0" name="Google Shape;150;p15"/>
              <p:cNvSpPr/>
              <p:nvPr/>
            </p:nvSpPr>
            <p:spPr>
              <a:xfrm>
                <a:off x="5484" y="1141"/>
                <a:ext cx="2001" cy="54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 dirty="0" err="1" smtClean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Gốc</a:t>
                </a:r>
                <a:endParaRPr sz="20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" name="Google Shape;151;p15"/>
            <p:cNvGrpSpPr/>
            <p:nvPr/>
          </p:nvGrpSpPr>
          <p:grpSpPr>
            <a:xfrm>
              <a:off x="2520" y="1620"/>
              <a:ext cx="6300" cy="3420"/>
              <a:chOff x="2520" y="1620"/>
              <a:chExt cx="6300" cy="3420"/>
            </a:xfrm>
          </p:grpSpPr>
          <p:cxnSp>
            <p:nvCxnSpPr>
              <p:cNvPr id="152" name="Google Shape;152;p15"/>
              <p:cNvCxnSpPr/>
              <p:nvPr/>
            </p:nvCxnSpPr>
            <p:spPr>
              <a:xfrm>
                <a:off x="6300" y="162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3" name="Google Shape;153;p15"/>
              <p:cNvCxnSpPr/>
              <p:nvPr/>
            </p:nvCxnSpPr>
            <p:spPr>
              <a:xfrm flipH="1">
                <a:off x="3600" y="2880"/>
                <a:ext cx="216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4" name="Google Shape;154;p15"/>
              <p:cNvCxnSpPr/>
              <p:nvPr/>
            </p:nvCxnSpPr>
            <p:spPr>
              <a:xfrm>
                <a:off x="6120" y="288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5" name="Google Shape;155;p15"/>
              <p:cNvCxnSpPr/>
              <p:nvPr/>
            </p:nvCxnSpPr>
            <p:spPr>
              <a:xfrm>
                <a:off x="6840" y="2880"/>
                <a:ext cx="198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6" name="Google Shape;156;p15"/>
              <p:cNvCxnSpPr/>
              <p:nvPr/>
            </p:nvCxnSpPr>
            <p:spPr>
              <a:xfrm flipH="1">
                <a:off x="2520" y="4140"/>
                <a:ext cx="3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7" name="Google Shape;157;p15"/>
              <p:cNvCxnSpPr/>
              <p:nvPr/>
            </p:nvCxnSpPr>
            <p:spPr>
              <a:xfrm>
                <a:off x="3240" y="4140"/>
                <a:ext cx="12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8" name="Google Shape;158;p15"/>
              <p:cNvCxnSpPr/>
              <p:nvPr/>
            </p:nvCxnSpPr>
            <p:spPr>
              <a:xfrm>
                <a:off x="8567" y="4127"/>
                <a:ext cx="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59" name="Google Shape;159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đợi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ưu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tiên</a:t>
            </a:r>
            <a:endParaRPr dirty="0"/>
          </a:p>
        </p:txBody>
      </p:sp>
      <p:sp>
        <p:nvSpPr>
          <p:cNvPr id="165" name="Google Shape;165;p1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đợi</a:t>
            </a:r>
            <a:r>
              <a:rPr lang="en-US" sz="2000" dirty="0" smtClean="0"/>
              <a:t> </a:t>
            </a:r>
            <a:r>
              <a:rPr lang="en-US" sz="2000" dirty="0" err="1" smtClean="0"/>
              <a:t>ưu</a:t>
            </a:r>
            <a:r>
              <a:rPr lang="en-US" sz="2000" dirty="0" smtClean="0"/>
              <a:t> </a:t>
            </a:r>
            <a:r>
              <a:rPr lang="en-US" sz="2000" dirty="0" err="1" smtClean="0"/>
              <a:t>tiên</a:t>
            </a:r>
            <a:r>
              <a:rPr lang="en-US" sz="2000" dirty="0" smtClean="0"/>
              <a:t> </a:t>
            </a:r>
            <a:r>
              <a:rPr lang="en-US" sz="2000" dirty="0" err="1" smtClean="0"/>
              <a:t>lưu</a:t>
            </a:r>
            <a:r>
              <a:rPr lang="en-US" sz="2000" dirty="0" smtClean="0"/>
              <a:t> </a:t>
            </a:r>
            <a:r>
              <a:rPr lang="en-US" sz="2000" dirty="0" err="1" smtClean="0"/>
              <a:t>trữ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tập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đội</a:t>
            </a:r>
            <a:r>
              <a:rPr lang="en-US" sz="2000" dirty="0" smtClean="0"/>
              <a:t> </a:t>
            </a:r>
            <a:r>
              <a:rPr lang="en-US" sz="2000" dirty="0" err="1" smtClean="0"/>
              <a:t>tượng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Mỗi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đối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tượng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cặp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key, value)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chính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hàng</a:t>
            </a:r>
            <a:r>
              <a:rPr lang="en-US" sz="2000" dirty="0" smtClean="0"/>
              <a:t> </a:t>
            </a:r>
            <a:r>
              <a:rPr lang="en-US" sz="2000" dirty="0" err="1" smtClean="0"/>
              <a:t>đợi</a:t>
            </a:r>
            <a:r>
              <a:rPr lang="en-US" sz="2000" dirty="0" smtClean="0"/>
              <a:t> </a:t>
            </a:r>
            <a:r>
              <a:rPr lang="en-US" sz="2000" dirty="0" err="1" smtClean="0"/>
              <a:t>ưu</a:t>
            </a:r>
            <a:r>
              <a:rPr lang="en-US" sz="2000" dirty="0" smtClean="0"/>
              <a:t> </a:t>
            </a:r>
            <a:r>
              <a:rPr lang="en-US" sz="2000" dirty="0" err="1" smtClean="0"/>
              <a:t>tiên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x)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đối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tượng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khóa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removeMax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/>
              <a:t>đội</a:t>
            </a:r>
            <a:r>
              <a:rPr lang="en-US" sz="1800" dirty="0" smtClean="0"/>
              <a:t> </a:t>
            </a:r>
            <a:r>
              <a:rPr lang="en-US" sz="1800" dirty="0" err="1" smtClean="0"/>
              <a:t>tượng</a:t>
            </a:r>
            <a:r>
              <a:rPr lang="en-US" sz="1800" dirty="0" smtClean="0"/>
              <a:t> </a:t>
            </a:r>
            <a:r>
              <a:rPr lang="en-US" sz="1800" dirty="0" err="1" smtClean="0"/>
              <a:t>có</a:t>
            </a:r>
            <a:r>
              <a:rPr lang="en-US" sz="1800" dirty="0" smtClean="0"/>
              <a:t> </a:t>
            </a:r>
            <a:r>
              <a:rPr lang="en-US" sz="1800" dirty="0" err="1" smtClean="0"/>
              <a:t>khóa</a:t>
            </a:r>
            <a:r>
              <a:rPr lang="en-US" sz="1800" dirty="0" smtClean="0"/>
              <a:t> </a:t>
            </a:r>
            <a:r>
              <a:rPr lang="en-US" sz="1800" dirty="0" err="1" smtClean="0"/>
              <a:t>lớn</a:t>
            </a:r>
            <a:r>
              <a:rPr lang="en-US" sz="1800" dirty="0" smtClean="0"/>
              <a:t> </a:t>
            </a:r>
            <a:r>
              <a:rPr lang="en-US" sz="1800" dirty="0" err="1" smtClean="0"/>
              <a:t>nhất</a:t>
            </a:r>
            <a:r>
              <a:rPr lang="en-US" sz="1800" dirty="0" smtClean="0"/>
              <a:t> 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 dirty="0"/>
          </a:p>
          <a:p>
            <a:pPr marL="742950" marR="0" lvl="1" indent="-1714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</p:txBody>
      </p:sp>
      <p:pic>
        <p:nvPicPr>
          <p:cNvPr id="166" name="Google Shape;16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5800" y="2057400"/>
            <a:ext cx="43561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Hàng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đợi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ưu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latin typeface="Calibri"/>
                <a:ea typeface="Calibri"/>
                <a:cs typeface="Calibri"/>
                <a:sym typeface="Calibri"/>
              </a:rPr>
              <a:t>tiên</a:t>
            </a:r>
            <a:endParaRPr dirty="0"/>
          </a:p>
        </p:txBody>
      </p:sp>
      <p:sp>
        <p:nvSpPr>
          <p:cNvPr id="173" name="Google Shape;173;p1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2079625"/>
            <a:ext cx="7924800" cy="300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khác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đối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tượng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khóa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nhưng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khỏi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size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(), </a:t>
            </a:r>
            <a:r>
              <a:rPr lang="en-US" sz="1800" b="0" i="0" u="none" strike="noStrike" cap="none" dirty="0" err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isEmpty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</a:t>
            </a:r>
            <a:endParaRPr dirty="0"/>
          </a:p>
          <a:p>
            <a:pPr marL="742950" marR="0" lvl="1" indent="-1714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ứng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lvl="1" indent="-285750">
              <a:lnSpc>
                <a:spcPct val="90000"/>
              </a:lnSpc>
              <a:spcBef>
                <a:spcPts val="360"/>
              </a:spcBef>
              <a:buSzPts val="1800"/>
              <a:buFont typeface="Noto Sans Symbols"/>
              <a:buChar char="❖"/>
            </a:pPr>
            <a:r>
              <a:rPr lang="vi-VN" sz="1800" dirty="0" smtClean="0"/>
              <a:t>Đấu giá</a:t>
            </a:r>
          </a:p>
          <a:p>
            <a:pPr marL="742950" lvl="1" indent="-285750">
              <a:lnSpc>
                <a:spcPct val="90000"/>
              </a:lnSpc>
              <a:spcBef>
                <a:spcPts val="360"/>
              </a:spcBef>
              <a:buSzPts val="1800"/>
              <a:buFont typeface="Noto Sans Symbols"/>
              <a:buChar char="❖"/>
            </a:pPr>
            <a:r>
              <a:rPr lang="vi-VN" sz="1800" dirty="0" smtClean="0"/>
              <a:t>Thị trường chứng </a:t>
            </a:r>
            <a:r>
              <a:rPr lang="vi-VN" sz="1800" dirty="0" smtClean="0"/>
              <a:t>khoán</a:t>
            </a:r>
            <a:endParaRPr lang="en-US" sz="1800" dirty="0" smtClean="0"/>
          </a:p>
          <a:p>
            <a:pPr marL="742950" lvl="1" indent="-285750">
              <a:lnSpc>
                <a:spcPct val="90000"/>
              </a:lnSpc>
              <a:spcBef>
                <a:spcPts val="360"/>
              </a:spcBef>
              <a:buSzPts val="1800"/>
              <a:buFont typeface="Noto Sans Symbols"/>
              <a:buChar char="❖"/>
            </a:pPr>
            <a:r>
              <a:rPr lang="en-US" sz="1800" dirty="0" err="1" smtClean="0"/>
              <a:t>Xếp</a:t>
            </a:r>
            <a:r>
              <a:rPr lang="en-US" sz="1800" dirty="0" smtClean="0"/>
              <a:t> </a:t>
            </a:r>
            <a:r>
              <a:rPr lang="en-US" sz="1800" dirty="0" err="1" smtClean="0"/>
              <a:t>hàng</a:t>
            </a:r>
            <a:r>
              <a:rPr lang="en-US" sz="1800" dirty="0" smtClean="0"/>
              <a:t> check in </a:t>
            </a:r>
            <a:r>
              <a:rPr lang="en-US" sz="1800" dirty="0" err="1" smtClean="0"/>
              <a:t>máy</a:t>
            </a:r>
            <a:r>
              <a:rPr lang="en-US" sz="1800" dirty="0" smtClean="0"/>
              <a:t> bay</a:t>
            </a:r>
            <a:endParaRPr dirty="0"/>
          </a:p>
        </p:txBody>
      </p:sp>
      <p:sp>
        <p:nvSpPr>
          <p:cNvPr id="174" name="Google Shape;174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heap</a:t>
            </a:r>
            <a:endParaRPr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1116013" y="1930971"/>
            <a:ext cx="6911975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smtClean="0">
                <a:solidFill>
                  <a:schemeClr val="dk1"/>
                </a:solidFill>
              </a:rPr>
              <a:t>heap </a:t>
            </a:r>
            <a:r>
              <a:rPr lang="en-US" sz="2400" dirty="0" err="1" smtClean="0">
                <a:solidFill>
                  <a:schemeClr val="dk1"/>
                </a:solidFill>
              </a:rPr>
              <a:t>là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một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cây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nhị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phân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thỏa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mãn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các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đỉnh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trong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có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giá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trị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khóa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lớn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hơn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hoặc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bằng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giá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trị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khóa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của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các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đỉnh</a:t>
            </a:r>
            <a:r>
              <a:rPr lang="en-US" sz="2400" dirty="0" smtClean="0">
                <a:solidFill>
                  <a:schemeClr val="dk1"/>
                </a:solidFill>
              </a:rPr>
              <a:t> con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</a:rPr>
              <a:t>Ứng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dụng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dựng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hàng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đợi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ưu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tiên</a:t>
            </a:r>
            <a:endParaRPr dirty="0"/>
          </a:p>
        </p:txBody>
      </p:sp>
      <p:sp>
        <p:nvSpPr>
          <p:cNvPr id="181" name="Google Shape;181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275336" y="3501008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 sz="12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3" name="Google Shape;183;p18"/>
          <p:cNvCxnSpPr>
            <a:stCxn id="182" idx="3"/>
            <a:endCxn id="184" idx="7"/>
          </p:cNvCxnSpPr>
          <p:nvPr/>
        </p:nvCxnSpPr>
        <p:spPr>
          <a:xfrm flipH="1">
            <a:off x="3307003" y="3814509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8"/>
          <p:cNvCxnSpPr>
            <a:stCxn id="182" idx="5"/>
            <a:endCxn id="186" idx="1"/>
          </p:cNvCxnSpPr>
          <p:nvPr/>
        </p:nvCxnSpPr>
        <p:spPr>
          <a:xfrm>
            <a:off x="4669143" y="3814509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4" name="Google Shape;184;p18"/>
          <p:cNvSpPr/>
          <p:nvPr/>
        </p:nvSpPr>
        <p:spPr>
          <a:xfrm>
            <a:off x="2915246" y="426256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544284" y="510430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8" name="Google Shape;188;p18"/>
          <p:cNvCxnSpPr>
            <a:stCxn id="184" idx="3"/>
            <a:endCxn id="189" idx="0"/>
          </p:cNvCxnSpPr>
          <p:nvPr/>
        </p:nvCxnSpPr>
        <p:spPr>
          <a:xfrm flipH="1">
            <a:off x="2475437" y="4577812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8"/>
          <p:cNvCxnSpPr>
            <a:stCxn id="184" idx="5"/>
            <a:endCxn id="187" idx="0"/>
          </p:cNvCxnSpPr>
          <p:nvPr/>
        </p:nvCxnSpPr>
        <p:spPr>
          <a:xfrm>
            <a:off x="3306865" y="4577812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9" name="Google Shape;189;p18"/>
          <p:cNvSpPr/>
          <p:nvPr/>
        </p:nvSpPr>
        <p:spPr>
          <a:xfrm>
            <a:off x="2245883" y="510430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520914" y="427012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400196" y="510449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2" name="Google Shape;192;p18"/>
          <p:cNvCxnSpPr>
            <a:stCxn id="186" idx="3"/>
            <a:endCxn id="193" idx="0"/>
          </p:cNvCxnSpPr>
          <p:nvPr/>
        </p:nvCxnSpPr>
        <p:spPr>
          <a:xfrm flipH="1">
            <a:off x="5145006" y="4585373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8"/>
          <p:cNvCxnSpPr>
            <a:stCxn id="186" idx="5"/>
            <a:endCxn id="191" idx="1"/>
          </p:cNvCxnSpPr>
          <p:nvPr/>
        </p:nvCxnSpPr>
        <p:spPr>
          <a:xfrm>
            <a:off x="5912535" y="4585373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3" name="Google Shape;193;p18"/>
          <p:cNvSpPr/>
          <p:nvPr/>
        </p:nvSpPr>
        <p:spPr>
          <a:xfrm>
            <a:off x="4915610" y="510449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2849083" y="598611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6" name="Google Shape;196;p18"/>
          <p:cNvCxnSpPr>
            <a:stCxn id="189" idx="3"/>
            <a:endCxn id="197" idx="0"/>
          </p:cNvCxnSpPr>
          <p:nvPr/>
        </p:nvCxnSpPr>
        <p:spPr>
          <a:xfrm flipH="1">
            <a:off x="1779974" y="5419556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18"/>
          <p:cNvCxnSpPr>
            <a:stCxn id="189" idx="5"/>
            <a:endCxn id="195" idx="0"/>
          </p:cNvCxnSpPr>
          <p:nvPr/>
        </p:nvCxnSpPr>
        <p:spPr>
          <a:xfrm>
            <a:off x="2637504" y="5419556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" name="Google Shape;197;p18"/>
          <p:cNvSpPr/>
          <p:nvPr/>
        </p:nvSpPr>
        <p:spPr>
          <a:xfrm>
            <a:off x="1550682" y="598611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594197" y="598611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0" name="Google Shape;200;p18"/>
          <p:cNvCxnSpPr>
            <a:stCxn id="187" idx="4"/>
            <a:endCxn id="199" idx="0"/>
          </p:cNvCxnSpPr>
          <p:nvPr/>
        </p:nvCxnSpPr>
        <p:spPr>
          <a:xfrm>
            <a:off x="3774971" y="5473646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Cây</a:t>
            </a:r>
            <a:r>
              <a:rPr lang="en-US" dirty="0" smtClean="0"/>
              <a:t> heap</a:t>
            </a:r>
            <a:endParaRPr dirty="0"/>
          </a:p>
        </p:txBody>
      </p:sp>
      <p:sp>
        <p:nvSpPr>
          <p:cNvPr id="206" name="Google Shape;206;p19"/>
          <p:cNvSpPr txBox="1"/>
          <p:nvPr/>
        </p:nvSpPr>
        <p:spPr>
          <a:xfrm>
            <a:off x="1050035" y="2060848"/>
            <a:ext cx="6911975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Max: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Lấy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thông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tin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đỉnh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gốc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trị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khóa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lớn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nhất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207" name="Google Shape;20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275336" y="3140968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9" name="Google Shape;209;p19"/>
          <p:cNvCxnSpPr>
            <a:stCxn id="208" idx="3"/>
            <a:endCxn id="210" idx="7"/>
          </p:cNvCxnSpPr>
          <p:nvPr/>
        </p:nvCxnSpPr>
        <p:spPr>
          <a:xfrm flipH="1">
            <a:off x="3307003" y="3454469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p19"/>
          <p:cNvCxnSpPr>
            <a:stCxn id="208" idx="5"/>
            <a:endCxn id="212" idx="1"/>
          </p:cNvCxnSpPr>
          <p:nvPr/>
        </p:nvCxnSpPr>
        <p:spPr>
          <a:xfrm>
            <a:off x="4669143" y="3454469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p19"/>
          <p:cNvSpPr/>
          <p:nvPr/>
        </p:nvSpPr>
        <p:spPr>
          <a:xfrm>
            <a:off x="2915246" y="390252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3544284" y="474426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4" name="Google Shape;214;p19"/>
          <p:cNvCxnSpPr>
            <a:stCxn id="210" idx="3"/>
            <a:endCxn id="215" idx="0"/>
          </p:cNvCxnSpPr>
          <p:nvPr/>
        </p:nvCxnSpPr>
        <p:spPr>
          <a:xfrm flipH="1">
            <a:off x="2475437" y="4217773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9"/>
          <p:cNvCxnSpPr>
            <a:stCxn id="210" idx="5"/>
            <a:endCxn id="213" idx="0"/>
          </p:cNvCxnSpPr>
          <p:nvPr/>
        </p:nvCxnSpPr>
        <p:spPr>
          <a:xfrm>
            <a:off x="3306865" y="4217773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5" name="Google Shape;215;p19"/>
          <p:cNvSpPr/>
          <p:nvPr/>
        </p:nvSpPr>
        <p:spPr>
          <a:xfrm>
            <a:off x="2245883" y="474426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520914" y="391008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400196" y="474445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8" name="Google Shape;218;p19"/>
          <p:cNvCxnSpPr>
            <a:stCxn id="212" idx="3"/>
            <a:endCxn id="219" idx="0"/>
          </p:cNvCxnSpPr>
          <p:nvPr/>
        </p:nvCxnSpPr>
        <p:spPr>
          <a:xfrm flipH="1">
            <a:off x="5145006" y="4225332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9"/>
          <p:cNvCxnSpPr>
            <a:stCxn id="212" idx="5"/>
            <a:endCxn id="217" idx="1"/>
          </p:cNvCxnSpPr>
          <p:nvPr/>
        </p:nvCxnSpPr>
        <p:spPr>
          <a:xfrm>
            <a:off x="5912535" y="4225332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Google Shape;219;p19"/>
          <p:cNvSpPr/>
          <p:nvPr/>
        </p:nvSpPr>
        <p:spPr>
          <a:xfrm>
            <a:off x="4915610" y="474445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2849083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2" name="Google Shape;222;p19"/>
          <p:cNvCxnSpPr>
            <a:stCxn id="215" idx="3"/>
            <a:endCxn id="223" idx="0"/>
          </p:cNvCxnSpPr>
          <p:nvPr/>
        </p:nvCxnSpPr>
        <p:spPr>
          <a:xfrm flipH="1">
            <a:off x="1779974" y="5059516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p19"/>
          <p:cNvCxnSpPr>
            <a:stCxn id="215" idx="5"/>
            <a:endCxn id="221" idx="0"/>
          </p:cNvCxnSpPr>
          <p:nvPr/>
        </p:nvCxnSpPr>
        <p:spPr>
          <a:xfrm>
            <a:off x="2637504" y="5059516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3" name="Google Shape;223;p19"/>
          <p:cNvSpPr/>
          <p:nvPr/>
        </p:nvSpPr>
        <p:spPr>
          <a:xfrm>
            <a:off x="1550682" y="562607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3594197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6" name="Google Shape;226;p19"/>
          <p:cNvCxnSpPr>
            <a:stCxn id="213" idx="4"/>
            <a:endCxn id="225" idx="0"/>
          </p:cNvCxnSpPr>
          <p:nvPr/>
        </p:nvCxnSpPr>
        <p:spPr>
          <a:xfrm>
            <a:off x="3774971" y="5113606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Chèn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endParaRPr dirty="0"/>
          </a:p>
        </p:txBody>
      </p:sp>
      <p:sp>
        <p:nvSpPr>
          <p:cNvPr id="310" name="Google Shape;310;p23"/>
          <p:cNvSpPr txBox="1"/>
          <p:nvPr/>
        </p:nvSpPr>
        <p:spPr>
          <a:xfrm>
            <a:off x="539552" y="2133600"/>
            <a:ext cx="7488436" cy="28315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1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lang="en-US" sz="240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400" b="1" i="1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40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Step 1 −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Tạo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mới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cuối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heap.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Step 2 −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Bắt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đầu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cần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so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sánh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nó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cha.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cha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thì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đổi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chỗ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tiếp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bước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2. </a:t>
            </a:r>
            <a:endParaRPr dirty="0"/>
          </a:p>
        </p:txBody>
      </p:sp>
      <p:sp>
        <p:nvSpPr>
          <p:cNvPr id="311" name="Google Shape;311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23545647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4" name="Google Shape;234;p20"/>
          <p:cNvCxnSpPr>
            <a:stCxn id="233" idx="3"/>
            <a:endCxn id="235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" name="Google Shape;236;p20"/>
          <p:cNvCxnSpPr>
            <a:stCxn id="233" idx="5"/>
            <a:endCxn id="237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5" name="Google Shape;235;p20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9" name="Google Shape;239;p20"/>
          <p:cNvCxnSpPr>
            <a:stCxn id="235" idx="3"/>
            <a:endCxn id="240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" name="Google Shape;241;p20"/>
          <p:cNvCxnSpPr>
            <a:stCxn id="235" idx="5"/>
            <a:endCxn id="238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p20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3" name="Google Shape;243;p20"/>
          <p:cNvCxnSpPr>
            <a:stCxn id="237" idx="3"/>
            <a:endCxn id="244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245;p20"/>
          <p:cNvCxnSpPr>
            <a:stCxn id="237" idx="5"/>
            <a:endCxn id="242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" name="Google Shape;244;p20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7" name="Google Shape;247;p20"/>
          <p:cNvCxnSpPr>
            <a:stCxn id="240" idx="3"/>
            <a:endCxn id="248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9" name="Google Shape;249;p20"/>
          <p:cNvCxnSpPr>
            <a:stCxn id="240" idx="5"/>
            <a:endCxn id="246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8" name="Google Shape;248;p20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rgbClr val="131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51" name="Google Shape;251;p20"/>
          <p:cNvCxnSpPr>
            <a:stCxn id="238" idx="4"/>
            <a:endCxn id="250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rgbClr val="1313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20"/>
          <p:cNvSpPr txBox="1"/>
          <p:nvPr/>
        </p:nvSpPr>
        <p:spPr>
          <a:xfrm>
            <a:off x="1394825" y="2517715"/>
            <a:ext cx="13821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70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0" name="Google Shape;260;p21"/>
          <p:cNvCxnSpPr>
            <a:stCxn id="259" idx="3"/>
            <a:endCxn id="261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" name="Google Shape;262;p21"/>
          <p:cNvCxnSpPr>
            <a:stCxn id="259" idx="5"/>
            <a:endCxn id="263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1" name="Google Shape;261;p21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rgbClr val="131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cxnSp>
        <p:nvCxnSpPr>
          <p:cNvPr id="265" name="Google Shape;265;p21"/>
          <p:cNvCxnSpPr>
            <a:stCxn id="261" idx="3"/>
            <a:endCxn id="266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7" name="Google Shape;267;p21"/>
          <p:cNvCxnSpPr>
            <a:stCxn id="261" idx="5"/>
            <a:endCxn id="264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6" name="Google Shape;266;p21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9" name="Google Shape;269;p21"/>
          <p:cNvCxnSpPr>
            <a:stCxn id="263" idx="3"/>
            <a:endCxn id="270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1" name="Google Shape;271;p21"/>
          <p:cNvCxnSpPr>
            <a:stCxn id="263" idx="5"/>
            <a:endCxn id="268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0" name="Google Shape;270;p21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73" name="Google Shape;273;p21"/>
          <p:cNvCxnSpPr>
            <a:stCxn id="266" idx="3"/>
            <a:endCxn id="274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" name="Google Shape;275;p21"/>
          <p:cNvCxnSpPr>
            <a:stCxn id="266" idx="5"/>
            <a:endCxn id="272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4" name="Google Shape;274;p21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277" name="Google Shape;277;p21"/>
          <p:cNvCxnSpPr>
            <a:stCxn id="264" idx="4"/>
            <a:endCxn id="276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8" name="Google Shape;278;p21"/>
          <p:cNvSpPr txBox="1"/>
          <p:nvPr/>
        </p:nvSpPr>
        <p:spPr>
          <a:xfrm>
            <a:off x="1394825" y="2517715"/>
            <a:ext cx="13821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70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 insertion</a:t>
            </a:r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6" name="Google Shape;286;p22"/>
          <p:cNvCxnSpPr>
            <a:stCxn id="285" idx="3"/>
            <a:endCxn id="287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22"/>
          <p:cNvCxnSpPr>
            <a:stCxn id="285" idx="5"/>
            <a:endCxn id="289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" name="Google Shape;287;p22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rgbClr val="131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291" name="Google Shape;291;p22"/>
          <p:cNvCxnSpPr>
            <a:stCxn id="287" idx="3"/>
            <a:endCxn id="292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" name="Google Shape;293;p22"/>
          <p:cNvCxnSpPr>
            <a:stCxn id="287" idx="5"/>
            <a:endCxn id="290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2" name="Google Shape;292;p22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5" name="Google Shape;295;p22"/>
          <p:cNvCxnSpPr>
            <a:stCxn id="289" idx="3"/>
            <a:endCxn id="296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7" name="Google Shape;297;p22"/>
          <p:cNvCxnSpPr>
            <a:stCxn id="289" idx="5"/>
            <a:endCxn id="294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6" name="Google Shape;296;p22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9" name="Google Shape;299;p22"/>
          <p:cNvCxnSpPr>
            <a:stCxn id="292" idx="3"/>
            <a:endCxn id="300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" name="Google Shape;301;p22"/>
          <p:cNvCxnSpPr>
            <a:stCxn id="292" idx="5"/>
            <a:endCxn id="298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0" name="Google Shape;300;p22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303" name="Google Shape;303;p22"/>
          <p:cNvCxnSpPr>
            <a:stCxn id="290" idx="4"/>
            <a:endCxn id="302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4" name="Google Shape;304;p22"/>
          <p:cNvSpPr txBox="1"/>
          <p:nvPr/>
        </p:nvSpPr>
        <p:spPr>
          <a:xfrm>
            <a:off x="1394825" y="2517715"/>
            <a:ext cx="13821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70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2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2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/>
              <a:t>Xây</a:t>
            </a:r>
            <a:r>
              <a:rPr lang="en-US" sz="2400" dirty="0" smtClean="0"/>
              <a:t> </a:t>
            </a:r>
            <a:r>
              <a:rPr lang="en-US" sz="2400" dirty="0" err="1" smtClean="0"/>
              <a:t>dựng</a:t>
            </a:r>
            <a:r>
              <a:rPr lang="en-US" sz="2400" dirty="0" smtClean="0"/>
              <a:t> </a:t>
            </a:r>
            <a:r>
              <a:rPr lang="en-US" sz="2400" dirty="0" err="1" smtClean="0"/>
              <a:t>cây</a:t>
            </a:r>
            <a:r>
              <a:rPr lang="en-US" sz="2400" dirty="0" smtClean="0"/>
              <a:t> max heap </a:t>
            </a:r>
            <a:r>
              <a:rPr lang="en-US" sz="2400" dirty="0" err="1" smtClean="0"/>
              <a:t>bao</a:t>
            </a:r>
            <a:r>
              <a:rPr lang="en-US" sz="2400" dirty="0" smtClean="0"/>
              <a:t> </a:t>
            </a:r>
            <a:r>
              <a:rPr lang="en-US" sz="2400" dirty="0" err="1" smtClean="0"/>
              <a:t>gồm</a:t>
            </a:r>
            <a:r>
              <a:rPr lang="en-US" sz="2400" dirty="0" smtClean="0"/>
              <a:t>: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52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69, 38, 79, 66, 64, 72, 3, 16, 89, 15, 37, 0, 28, 73, 95.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sau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5, 3, 9, 7, 2, 4, 6, 1, 8.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gốc</a:t>
            </a:r>
            <a:endParaRPr dirty="0"/>
          </a:p>
        </p:txBody>
      </p:sp>
      <p:sp>
        <p:nvSpPr>
          <p:cNvPr id="419" name="Google Shape;419;p29"/>
          <p:cNvSpPr txBox="1"/>
          <p:nvPr/>
        </p:nvSpPr>
        <p:spPr>
          <a:xfrm>
            <a:off x="683568" y="2060848"/>
            <a:ext cx="7848872" cy="386165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1" dirty="0" err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remove_max</a:t>
            </a:r>
            <a:r>
              <a:rPr lang="en-US" sz="2400" b="1" i="1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400" b="1" i="1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400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1 −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gốc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2 − 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chuyển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cuối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cùng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heap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gốc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3 −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Bắt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đầu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gốc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so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sánh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con.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nhỏ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thì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đổi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chỗ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tiếp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tục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bước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</p:txBody>
      </p:sp>
      <p:sp>
        <p:nvSpPr>
          <p:cNvPr id="420" name="Google Shape;420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8540096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gốc</a:t>
            </a:r>
            <a:endParaRPr dirty="0"/>
          </a:p>
        </p:txBody>
      </p:sp>
      <p:sp>
        <p:nvSpPr>
          <p:cNvPr id="324" name="Google Shape;324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26" name="Google Shape;326;p25"/>
          <p:cNvCxnSpPr>
            <a:stCxn id="325" idx="3"/>
            <a:endCxn id="327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8" name="Google Shape;328;p25"/>
          <p:cNvCxnSpPr>
            <a:stCxn id="325" idx="5"/>
            <a:endCxn id="329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7" name="Google Shape;327;p25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330" name="Google Shape;330;p25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331" name="Google Shape;331;p25"/>
          <p:cNvCxnSpPr>
            <a:stCxn id="327" idx="3"/>
            <a:endCxn id="332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" name="Google Shape;333;p25"/>
          <p:cNvCxnSpPr>
            <a:stCxn id="327" idx="5"/>
            <a:endCxn id="330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" name="Google Shape;332;p25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35" name="Google Shape;335;p25"/>
          <p:cNvCxnSpPr>
            <a:stCxn id="329" idx="3"/>
            <a:endCxn id="336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25"/>
          <p:cNvCxnSpPr>
            <a:stCxn id="329" idx="5"/>
            <a:endCxn id="334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6" name="Google Shape;336;p25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39" name="Google Shape;339;p25"/>
          <p:cNvCxnSpPr>
            <a:stCxn id="332" idx="3"/>
            <a:endCxn id="340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" name="Google Shape;341;p25"/>
          <p:cNvCxnSpPr>
            <a:stCxn id="332" idx="5"/>
            <a:endCxn id="338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25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3824907" y="5050012"/>
            <a:ext cx="461374" cy="369340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343" name="Google Shape;343;p25"/>
          <p:cNvCxnSpPr>
            <a:stCxn id="330" idx="4"/>
            <a:endCxn id="342" idx="0"/>
          </p:cNvCxnSpPr>
          <p:nvPr/>
        </p:nvCxnSpPr>
        <p:spPr>
          <a:xfrm>
            <a:off x="4005681" y="4537542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4" name="Google Shape;344;p25"/>
          <p:cNvSpPr txBox="1"/>
          <p:nvPr/>
        </p:nvSpPr>
        <p:spPr>
          <a:xfrm>
            <a:off x="1394825" y="2517715"/>
            <a:ext cx="23599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Trả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về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trị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95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bỏ</a:t>
            </a:r>
            <a:r>
              <a:rPr lang="en-US" dirty="0" smtClean="0"/>
              <a:t> </a:t>
            </a:r>
            <a:r>
              <a:rPr lang="en-US" dirty="0" err="1" smtClean="0"/>
              <a:t>gốc</a:t>
            </a:r>
            <a:endParaRPr dirty="0"/>
          </a:p>
        </p:txBody>
      </p:sp>
      <p:sp>
        <p:nvSpPr>
          <p:cNvPr id="350" name="Google Shape;350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cxnSp>
        <p:nvCxnSpPr>
          <p:cNvPr id="352" name="Google Shape;352;p26"/>
          <p:cNvCxnSpPr>
            <a:stCxn id="351" idx="3"/>
            <a:endCxn id="353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" name="Google Shape;354;p26"/>
          <p:cNvCxnSpPr>
            <a:stCxn id="351" idx="5"/>
            <a:endCxn id="355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3" name="Google Shape;353;p26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356" name="Google Shape;356;p26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357" name="Google Shape;357;p26"/>
          <p:cNvCxnSpPr>
            <a:stCxn id="353" idx="3"/>
            <a:endCxn id="358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26"/>
          <p:cNvCxnSpPr>
            <a:stCxn id="353" idx="5"/>
            <a:endCxn id="356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8" name="Google Shape;358;p26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1" name="Google Shape;361;p26"/>
          <p:cNvCxnSpPr>
            <a:stCxn id="355" idx="3"/>
            <a:endCxn id="362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26"/>
          <p:cNvCxnSpPr>
            <a:stCxn id="355" idx="5"/>
            <a:endCxn id="360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2" name="Google Shape;362;p26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5" name="Google Shape;365;p26"/>
          <p:cNvCxnSpPr>
            <a:stCxn id="358" idx="3"/>
            <a:endCxn id="366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26"/>
          <p:cNvCxnSpPr>
            <a:stCxn id="358" idx="5"/>
            <a:endCxn id="364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6" name="Google Shape;366;p26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bỏ</a:t>
            </a:r>
            <a:r>
              <a:rPr lang="en-US" dirty="0" smtClean="0"/>
              <a:t> </a:t>
            </a:r>
            <a:r>
              <a:rPr lang="en-US" dirty="0" err="1" smtClean="0"/>
              <a:t>gốc</a:t>
            </a:r>
            <a:endParaRPr dirty="0"/>
          </a:p>
        </p:txBody>
      </p:sp>
      <p:sp>
        <p:nvSpPr>
          <p:cNvPr id="373" name="Google Shape;373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/>
          </a:p>
        </p:txBody>
      </p:sp>
      <p:cxnSp>
        <p:nvCxnSpPr>
          <p:cNvPr id="375" name="Google Shape;375;p27"/>
          <p:cNvCxnSpPr>
            <a:stCxn id="374" idx="3"/>
            <a:endCxn id="376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7" name="Google Shape;377;p27"/>
          <p:cNvCxnSpPr>
            <a:stCxn id="374" idx="5"/>
            <a:endCxn id="378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6" name="Google Shape;376;p27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380" name="Google Shape;380;p27"/>
          <p:cNvCxnSpPr>
            <a:stCxn id="376" idx="3"/>
            <a:endCxn id="381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" name="Google Shape;382;p27"/>
          <p:cNvCxnSpPr>
            <a:stCxn id="376" idx="5"/>
            <a:endCxn id="379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1" name="Google Shape;381;p27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4" name="Google Shape;384;p27"/>
          <p:cNvCxnSpPr>
            <a:stCxn id="378" idx="3"/>
            <a:endCxn id="385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6" name="Google Shape;386;p27"/>
          <p:cNvCxnSpPr>
            <a:stCxn id="378" idx="5"/>
            <a:endCxn id="383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27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8" name="Google Shape;388;p27"/>
          <p:cNvCxnSpPr>
            <a:stCxn id="381" idx="3"/>
            <a:endCxn id="389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0" name="Google Shape;390;p27"/>
          <p:cNvCxnSpPr>
            <a:stCxn id="381" idx="5"/>
            <a:endCxn id="387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9" name="Google Shape;389;p27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bỏ</a:t>
            </a:r>
            <a:r>
              <a:rPr lang="en-US" dirty="0" smtClean="0"/>
              <a:t> </a:t>
            </a:r>
            <a:r>
              <a:rPr lang="en-US" dirty="0" err="1" smtClean="0"/>
              <a:t>gốc</a:t>
            </a:r>
            <a:endParaRPr dirty="0"/>
          </a:p>
        </p:txBody>
      </p:sp>
      <p:sp>
        <p:nvSpPr>
          <p:cNvPr id="396" name="Google Shape;396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4506046" y="256490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</a:t>
            </a:r>
            <a:endParaRPr/>
          </a:p>
        </p:txBody>
      </p:sp>
      <p:cxnSp>
        <p:nvCxnSpPr>
          <p:cNvPr id="398" name="Google Shape;398;p28"/>
          <p:cNvCxnSpPr>
            <a:stCxn id="397" idx="3"/>
            <a:endCxn id="399" idx="7"/>
          </p:cNvCxnSpPr>
          <p:nvPr/>
        </p:nvCxnSpPr>
        <p:spPr>
          <a:xfrm flipH="1">
            <a:off x="3537713" y="2878405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0" name="Google Shape;400;p28"/>
          <p:cNvCxnSpPr>
            <a:stCxn id="397" idx="5"/>
            <a:endCxn id="401" idx="1"/>
          </p:cNvCxnSpPr>
          <p:nvPr/>
        </p:nvCxnSpPr>
        <p:spPr>
          <a:xfrm>
            <a:off x="4899853" y="2878405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" name="Google Shape;399;p28"/>
          <p:cNvSpPr/>
          <p:nvPr/>
        </p:nvSpPr>
        <p:spPr>
          <a:xfrm>
            <a:off x="3145956" y="3326457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</a:t>
            </a:r>
            <a:endParaRPr/>
          </a:p>
        </p:txBody>
      </p:sp>
      <p:sp>
        <p:nvSpPr>
          <p:cNvPr id="402" name="Google Shape;402;p28"/>
          <p:cNvSpPr/>
          <p:nvPr/>
        </p:nvSpPr>
        <p:spPr>
          <a:xfrm>
            <a:off x="3774994" y="416820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cxnSp>
        <p:nvCxnSpPr>
          <p:cNvPr id="403" name="Google Shape;403;p28"/>
          <p:cNvCxnSpPr>
            <a:stCxn id="399" idx="3"/>
            <a:endCxn id="404" idx="0"/>
          </p:cNvCxnSpPr>
          <p:nvPr/>
        </p:nvCxnSpPr>
        <p:spPr>
          <a:xfrm flipH="1">
            <a:off x="2706147" y="3641708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" name="Google Shape;405;p28"/>
          <p:cNvCxnSpPr>
            <a:stCxn id="399" idx="5"/>
            <a:endCxn id="402" idx="0"/>
          </p:cNvCxnSpPr>
          <p:nvPr/>
        </p:nvCxnSpPr>
        <p:spPr>
          <a:xfrm>
            <a:off x="3537575" y="3641708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4" name="Google Shape;404;p28"/>
          <p:cNvSpPr/>
          <p:nvPr/>
        </p:nvSpPr>
        <p:spPr>
          <a:xfrm>
            <a:off x="2476593" y="416820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5751624" y="3334017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72</a:t>
            </a:r>
            <a:endParaRPr/>
          </a:p>
        </p:txBody>
      </p:sp>
      <p:sp>
        <p:nvSpPr>
          <p:cNvPr id="406" name="Google Shape;406;p28"/>
          <p:cNvSpPr/>
          <p:nvPr/>
        </p:nvSpPr>
        <p:spPr>
          <a:xfrm>
            <a:off x="6630906" y="416838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07" name="Google Shape;407;p28"/>
          <p:cNvCxnSpPr>
            <a:stCxn id="401" idx="3"/>
            <a:endCxn id="408" idx="0"/>
          </p:cNvCxnSpPr>
          <p:nvPr/>
        </p:nvCxnSpPr>
        <p:spPr>
          <a:xfrm flipH="1">
            <a:off x="5375715" y="3649269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9" name="Google Shape;409;p28"/>
          <p:cNvCxnSpPr>
            <a:stCxn id="401" idx="5"/>
            <a:endCxn id="406" idx="1"/>
          </p:cNvCxnSpPr>
          <p:nvPr/>
        </p:nvCxnSpPr>
        <p:spPr>
          <a:xfrm>
            <a:off x="6143244" y="3649269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8" name="Google Shape;408;p28"/>
          <p:cNvSpPr/>
          <p:nvPr/>
        </p:nvSpPr>
        <p:spPr>
          <a:xfrm>
            <a:off x="5146320" y="4168386"/>
            <a:ext cx="458810" cy="369340"/>
          </a:xfrm>
          <a:prstGeom prst="ellipse">
            <a:avLst/>
          </a:prstGeom>
          <a:solidFill>
            <a:srgbClr val="FF0000">
              <a:alpha val="49803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r>
            <a:endParaRPr/>
          </a:p>
        </p:txBody>
      </p:sp>
      <p:sp>
        <p:nvSpPr>
          <p:cNvPr id="410" name="Google Shape;410;p28"/>
          <p:cNvSpPr/>
          <p:nvPr/>
        </p:nvSpPr>
        <p:spPr>
          <a:xfrm>
            <a:off x="3079793" y="5050012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48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1" name="Google Shape;411;p28"/>
          <p:cNvCxnSpPr>
            <a:stCxn id="404" idx="3"/>
            <a:endCxn id="412" idx="0"/>
          </p:cNvCxnSpPr>
          <p:nvPr/>
        </p:nvCxnSpPr>
        <p:spPr>
          <a:xfrm flipH="1">
            <a:off x="2010684" y="4483453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3" name="Google Shape;413;p28"/>
          <p:cNvCxnSpPr>
            <a:stCxn id="404" idx="5"/>
            <a:endCxn id="410" idx="0"/>
          </p:cNvCxnSpPr>
          <p:nvPr/>
        </p:nvCxnSpPr>
        <p:spPr>
          <a:xfrm>
            <a:off x="2868214" y="4483453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2" name="Google Shape;412;p28"/>
          <p:cNvSpPr/>
          <p:nvPr/>
        </p:nvSpPr>
        <p:spPr>
          <a:xfrm>
            <a:off x="1781392" y="505001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</a:t>
            </a:r>
            <a:endParaRPr dirty="0"/>
          </a:p>
        </p:txBody>
      </p:sp>
      <p:sp>
        <p:nvSpPr>
          <p:cNvPr id="426" name="Google Shape;426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0"/>
          <p:cNvSpPr txBox="1"/>
          <p:nvPr/>
        </p:nvSpPr>
        <p:spPr>
          <a:xfrm>
            <a:off x="683568" y="1844824"/>
            <a:ext cx="756084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tả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bước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loại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bỏ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gốc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cây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heap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0"/>
          <p:cNvSpPr/>
          <p:nvPr/>
        </p:nvSpPr>
        <p:spPr>
          <a:xfrm>
            <a:off x="4275336" y="3140968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9" name="Google Shape;429;p30"/>
          <p:cNvCxnSpPr>
            <a:stCxn id="428" idx="3"/>
            <a:endCxn id="430" idx="7"/>
          </p:cNvCxnSpPr>
          <p:nvPr/>
        </p:nvCxnSpPr>
        <p:spPr>
          <a:xfrm flipH="1">
            <a:off x="3307003" y="3454469"/>
            <a:ext cx="1035900" cy="50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1" name="Google Shape;431;p30"/>
          <p:cNvCxnSpPr>
            <a:stCxn id="428" idx="5"/>
            <a:endCxn id="432" idx="1"/>
          </p:cNvCxnSpPr>
          <p:nvPr/>
        </p:nvCxnSpPr>
        <p:spPr>
          <a:xfrm>
            <a:off x="4669143" y="3454469"/>
            <a:ext cx="918900" cy="50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0" name="Google Shape;430;p30"/>
          <p:cNvSpPr/>
          <p:nvPr/>
        </p:nvSpPr>
        <p:spPr>
          <a:xfrm>
            <a:off x="2915246" y="390252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30"/>
          <p:cNvSpPr/>
          <p:nvPr/>
        </p:nvSpPr>
        <p:spPr>
          <a:xfrm>
            <a:off x="3544284" y="474426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4" name="Google Shape;434;p30"/>
          <p:cNvCxnSpPr>
            <a:stCxn id="430" idx="3"/>
            <a:endCxn id="435" idx="0"/>
          </p:cNvCxnSpPr>
          <p:nvPr/>
        </p:nvCxnSpPr>
        <p:spPr>
          <a:xfrm flipH="1">
            <a:off x="2475437" y="4217773"/>
            <a:ext cx="507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" name="Google Shape;436;p30"/>
          <p:cNvCxnSpPr>
            <a:stCxn id="430" idx="5"/>
            <a:endCxn id="433" idx="0"/>
          </p:cNvCxnSpPr>
          <p:nvPr/>
        </p:nvCxnSpPr>
        <p:spPr>
          <a:xfrm>
            <a:off x="3306865" y="4217773"/>
            <a:ext cx="468000" cy="52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5" name="Google Shape;435;p30"/>
          <p:cNvSpPr/>
          <p:nvPr/>
        </p:nvSpPr>
        <p:spPr>
          <a:xfrm>
            <a:off x="2245883" y="474426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2" name="Google Shape;432;p30"/>
          <p:cNvSpPr/>
          <p:nvPr/>
        </p:nvSpPr>
        <p:spPr>
          <a:xfrm>
            <a:off x="5520914" y="391008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7" name="Google Shape;437;p30"/>
          <p:cNvSpPr/>
          <p:nvPr/>
        </p:nvSpPr>
        <p:spPr>
          <a:xfrm>
            <a:off x="6400196" y="474445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8" name="Google Shape;438;p30"/>
          <p:cNvCxnSpPr>
            <a:stCxn id="432" idx="3"/>
            <a:endCxn id="439" idx="0"/>
          </p:cNvCxnSpPr>
          <p:nvPr/>
        </p:nvCxnSpPr>
        <p:spPr>
          <a:xfrm flipH="1">
            <a:off x="5145006" y="4225332"/>
            <a:ext cx="443100" cy="51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0" name="Google Shape;440;p30"/>
          <p:cNvCxnSpPr>
            <a:stCxn id="432" idx="5"/>
            <a:endCxn id="437" idx="1"/>
          </p:cNvCxnSpPr>
          <p:nvPr/>
        </p:nvCxnSpPr>
        <p:spPr>
          <a:xfrm>
            <a:off x="5912535" y="4225332"/>
            <a:ext cx="555300" cy="5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9" name="Google Shape;439;p30"/>
          <p:cNvSpPr/>
          <p:nvPr/>
        </p:nvSpPr>
        <p:spPr>
          <a:xfrm>
            <a:off x="4915610" y="474445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1" name="Google Shape;441;p30"/>
          <p:cNvSpPr/>
          <p:nvPr/>
        </p:nvSpPr>
        <p:spPr>
          <a:xfrm>
            <a:off x="2849083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2" name="Google Shape;442;p30"/>
          <p:cNvCxnSpPr>
            <a:stCxn id="435" idx="3"/>
            <a:endCxn id="443" idx="0"/>
          </p:cNvCxnSpPr>
          <p:nvPr/>
        </p:nvCxnSpPr>
        <p:spPr>
          <a:xfrm flipH="1">
            <a:off x="1779974" y="5059516"/>
            <a:ext cx="5331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4" name="Google Shape;444;p30"/>
          <p:cNvCxnSpPr>
            <a:stCxn id="435" idx="5"/>
            <a:endCxn id="441" idx="0"/>
          </p:cNvCxnSpPr>
          <p:nvPr/>
        </p:nvCxnSpPr>
        <p:spPr>
          <a:xfrm>
            <a:off x="2637504" y="5059516"/>
            <a:ext cx="442200" cy="5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3" name="Google Shape;443;p30"/>
          <p:cNvSpPr/>
          <p:nvPr/>
        </p:nvSpPr>
        <p:spPr>
          <a:xfrm>
            <a:off x="1550682" y="562607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p30"/>
          <p:cNvSpPr/>
          <p:nvPr/>
        </p:nvSpPr>
        <p:spPr>
          <a:xfrm>
            <a:off x="3594197" y="5626076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6" name="Google Shape;446;p30"/>
          <p:cNvCxnSpPr>
            <a:stCxn id="433" idx="4"/>
            <a:endCxn id="445" idx="0"/>
          </p:cNvCxnSpPr>
          <p:nvPr/>
        </p:nvCxnSpPr>
        <p:spPr>
          <a:xfrm>
            <a:off x="3774971" y="5113606"/>
            <a:ext cx="49800" cy="51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dirty="0"/>
          </a:p>
        </p:txBody>
      </p:sp>
      <p:sp>
        <p:nvSpPr>
          <p:cNvPr id="452" name="Google Shape;452;p31"/>
          <p:cNvSpPr txBox="1"/>
          <p:nvPr/>
        </p:nvSpPr>
        <p:spPr>
          <a:xfrm>
            <a:off x="612701" y="1773238"/>
            <a:ext cx="4751387" cy="594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toán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Max : 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 err="1" smtClean="0">
                <a:solidFill>
                  <a:schemeClr val="dk1"/>
                </a:solidFill>
              </a:rPr>
              <a:t>Phép</a:t>
            </a:r>
            <a:r>
              <a:rPr lang="en-US" sz="2000" dirty="0" smtClean="0">
                <a:solidFill>
                  <a:schemeClr val="dk1"/>
                </a:solidFill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</a:rPr>
              <a:t>toán</a:t>
            </a:r>
            <a:r>
              <a:rPr lang="en-US" sz="2000" dirty="0" smtClean="0">
                <a:solidFill>
                  <a:schemeClr val="dk1"/>
                </a:solidFill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</a:rPr>
              <a:t>chèn</a:t>
            </a:r>
            <a:r>
              <a:rPr lang="en-US" sz="2000" dirty="0" smtClean="0">
                <a:solidFill>
                  <a:schemeClr val="dk1"/>
                </a:solidFill>
              </a:rPr>
              <a:t>: </a:t>
            </a:r>
            <a:r>
              <a:rPr lang="en-US" sz="2000" dirty="0" err="1" smtClean="0">
                <a:solidFill>
                  <a:schemeClr val="dk1"/>
                </a:solidFill>
              </a:rPr>
              <a:t>Độ</a:t>
            </a:r>
            <a:r>
              <a:rPr lang="en-US" sz="2000" dirty="0" smtClean="0">
                <a:solidFill>
                  <a:schemeClr val="dk1"/>
                </a:solidFill>
              </a:rPr>
              <a:t> cao </a:t>
            </a:r>
            <a:r>
              <a:rPr lang="en-US" sz="2000" dirty="0" err="1" smtClean="0">
                <a:solidFill>
                  <a:schemeClr val="dk1"/>
                </a:solidFill>
              </a:rPr>
              <a:t>của</a:t>
            </a:r>
            <a:r>
              <a:rPr lang="en-US" sz="2000" dirty="0" smtClean="0">
                <a:solidFill>
                  <a:schemeClr val="dk1"/>
                </a:solidFill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</a:rPr>
              <a:t>cây</a:t>
            </a:r>
            <a:endParaRPr dirty="0"/>
          </a:p>
          <a:p>
            <a:pPr marL="342900" lvl="0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toán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xóa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 err="1" smtClean="0">
                <a:solidFill>
                  <a:schemeClr val="dk1"/>
                </a:solidFill>
              </a:rPr>
              <a:t>Độ</a:t>
            </a:r>
            <a:r>
              <a:rPr lang="en-US" sz="2000" dirty="0" smtClean="0">
                <a:solidFill>
                  <a:schemeClr val="dk1"/>
                </a:solidFill>
              </a:rPr>
              <a:t> cao </a:t>
            </a:r>
            <a:r>
              <a:rPr lang="en-US" sz="2000" dirty="0" err="1" smtClean="0">
                <a:solidFill>
                  <a:schemeClr val="dk1"/>
                </a:solidFill>
              </a:rPr>
              <a:t>của</a:t>
            </a:r>
            <a:r>
              <a:rPr lang="en-US" sz="2000" dirty="0" smtClean="0">
                <a:solidFill>
                  <a:schemeClr val="dk1"/>
                </a:solidFill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</a:rPr>
              <a:t>cây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2000" dirty="0" err="1" smtClean="0">
                <a:solidFill>
                  <a:schemeClr val="dk1"/>
                </a:solidFill>
              </a:rPr>
              <a:t>Độ</a:t>
            </a:r>
            <a:r>
              <a:rPr lang="en-US" sz="2000" dirty="0" smtClean="0">
                <a:solidFill>
                  <a:schemeClr val="dk1"/>
                </a:solidFill>
              </a:rPr>
              <a:t> cao </a:t>
            </a:r>
            <a:r>
              <a:rPr lang="en-US" sz="2000" dirty="0" err="1" smtClean="0">
                <a:solidFill>
                  <a:schemeClr val="dk1"/>
                </a:solidFill>
              </a:rPr>
              <a:t>của</a:t>
            </a:r>
            <a:r>
              <a:rPr lang="en-US" sz="2000" dirty="0" smtClean="0">
                <a:solidFill>
                  <a:schemeClr val="dk1"/>
                </a:solidFill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</a:rPr>
              <a:t>cây</a:t>
            </a:r>
            <a:r>
              <a:rPr lang="en-US" sz="2000" dirty="0" smtClean="0">
                <a:solidFill>
                  <a:schemeClr val="dk1"/>
                </a:solidFill>
              </a:rPr>
              <a:t> 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Trường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hợp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tồi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nhất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Trường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hợp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tốt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nhất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O(log n) </a:t>
            </a:r>
            <a:r>
              <a:rPr lang="en-US" sz="2000" dirty="0" err="1" smtClean="0">
                <a:solidFill>
                  <a:schemeClr val="dk1"/>
                </a:solidFill>
              </a:rPr>
              <a:t>khi</a:t>
            </a:r>
            <a:r>
              <a:rPr lang="en-US" sz="2000" dirty="0" smtClean="0">
                <a:solidFill>
                  <a:schemeClr val="dk1"/>
                </a:solidFill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</a:rPr>
              <a:t>cây</a:t>
            </a:r>
            <a:r>
              <a:rPr lang="en-US" sz="2000" dirty="0" smtClean="0">
                <a:solidFill>
                  <a:schemeClr val="dk1"/>
                </a:solidFill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</a:rPr>
              <a:t>cân</a:t>
            </a:r>
            <a:r>
              <a:rPr lang="en-US" sz="2000" dirty="0" smtClean="0">
                <a:solidFill>
                  <a:schemeClr val="dk1"/>
                </a:solidFill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</a:rPr>
              <a:t>bằng</a:t>
            </a:r>
            <a:endParaRPr dirty="0"/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Cân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cây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heap: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Khi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chèn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hoặc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xóa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làm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cây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heap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cân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toán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cân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cần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lại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cây</a:t>
            </a:r>
            <a:r>
              <a:rPr lang="en-US" sz="2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31"/>
          <p:cNvGrpSpPr/>
          <p:nvPr/>
        </p:nvGrpSpPr>
        <p:grpSpPr>
          <a:xfrm>
            <a:off x="5724525" y="2060575"/>
            <a:ext cx="2570163" cy="1812925"/>
            <a:chOff x="3120" y="960"/>
            <a:chExt cx="1893" cy="1335"/>
          </a:xfrm>
        </p:grpSpPr>
        <p:sp>
          <p:nvSpPr>
            <p:cNvPr id="454" name="Google Shape;454;p31"/>
            <p:cNvSpPr/>
            <p:nvPr/>
          </p:nvSpPr>
          <p:spPr>
            <a:xfrm flipH="1">
              <a:off x="3120" y="960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55" name="Google Shape;455;p31"/>
            <p:cNvCxnSpPr>
              <a:stCxn id="456" idx="3"/>
              <a:endCxn id="457" idx="7"/>
            </p:cNvCxnSpPr>
            <p:nvPr/>
          </p:nvCxnSpPr>
          <p:spPr>
            <a:xfrm>
              <a:off x="3714" y="1415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8" name="Google Shape;458;p31"/>
            <p:cNvCxnSpPr>
              <a:stCxn id="454" idx="3"/>
              <a:endCxn id="456" idx="7"/>
            </p:cNvCxnSpPr>
            <p:nvPr/>
          </p:nvCxnSpPr>
          <p:spPr>
            <a:xfrm>
              <a:off x="3292" y="1132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9" name="Google Shape;459;p31"/>
            <p:cNvCxnSpPr>
              <a:stCxn id="460" idx="7"/>
              <a:endCxn id="461" idx="3"/>
            </p:cNvCxnSpPr>
            <p:nvPr/>
          </p:nvCxnSpPr>
          <p:spPr>
            <a:xfrm rot="10800000">
              <a:off x="4541" y="2123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2" name="Google Shape;462;p31"/>
            <p:cNvCxnSpPr>
              <a:stCxn id="461" idx="7"/>
              <a:endCxn id="457" idx="3"/>
            </p:cNvCxnSpPr>
            <p:nvPr/>
          </p:nvCxnSpPr>
          <p:spPr>
            <a:xfrm rot="10800000">
              <a:off x="4117" y="1840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0" name="Google Shape;460;p31"/>
            <p:cNvSpPr/>
            <p:nvPr/>
          </p:nvSpPr>
          <p:spPr>
            <a:xfrm flipH="1">
              <a:off x="4811" y="2093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7" name="Google Shape;457;p31"/>
            <p:cNvSpPr/>
            <p:nvPr/>
          </p:nvSpPr>
          <p:spPr>
            <a:xfrm flipH="1">
              <a:off x="3965" y="1527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6" name="Google Shape;456;p31"/>
            <p:cNvSpPr/>
            <p:nvPr/>
          </p:nvSpPr>
          <p:spPr>
            <a:xfrm flipH="1">
              <a:off x="3542" y="1243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1" name="Google Shape;461;p31"/>
            <p:cNvSpPr/>
            <p:nvPr/>
          </p:nvSpPr>
          <p:spPr>
            <a:xfrm flipH="1">
              <a:off x="4387" y="1810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63" name="Google Shape;463;p31"/>
          <p:cNvSpPr/>
          <p:nvPr/>
        </p:nvSpPr>
        <p:spPr>
          <a:xfrm>
            <a:off x="6924675" y="4575175"/>
            <a:ext cx="285750" cy="2841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4" name="Google Shape;464;p31"/>
          <p:cNvCxnSpPr>
            <a:stCxn id="463" idx="3"/>
            <a:endCxn id="465" idx="7"/>
          </p:cNvCxnSpPr>
          <p:nvPr/>
        </p:nvCxnSpPr>
        <p:spPr>
          <a:xfrm flipH="1">
            <a:off x="6108222" y="4817723"/>
            <a:ext cx="858300" cy="25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31"/>
          <p:cNvCxnSpPr>
            <a:stCxn id="467" idx="1"/>
            <a:endCxn id="463" idx="5"/>
          </p:cNvCxnSpPr>
          <p:nvPr/>
        </p:nvCxnSpPr>
        <p:spPr>
          <a:xfrm rot="10800000">
            <a:off x="7168440" y="4817722"/>
            <a:ext cx="858300" cy="25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5" name="Google Shape;465;p31"/>
          <p:cNvSpPr/>
          <p:nvPr/>
        </p:nvSpPr>
        <p:spPr>
          <a:xfrm>
            <a:off x="5865813" y="5030788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6388100" y="5486400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9" name="Google Shape;469;p31"/>
          <p:cNvCxnSpPr>
            <a:stCxn id="470" idx="7"/>
            <a:endCxn id="465" idx="3"/>
          </p:cNvCxnSpPr>
          <p:nvPr/>
        </p:nvCxnSpPr>
        <p:spPr>
          <a:xfrm rot="10800000" flipH="1">
            <a:off x="5586073" y="5274747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31"/>
          <p:cNvCxnSpPr>
            <a:stCxn id="468" idx="1"/>
            <a:endCxn id="465" idx="5"/>
          </p:cNvCxnSpPr>
          <p:nvPr/>
        </p:nvCxnSpPr>
        <p:spPr>
          <a:xfrm rot="10800000">
            <a:off x="6108347" y="5274747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" name="Google Shape;470;p31"/>
          <p:cNvSpPr/>
          <p:nvPr/>
        </p:nvSpPr>
        <p:spPr>
          <a:xfrm>
            <a:off x="5343525" y="5486400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31"/>
          <p:cNvSpPr/>
          <p:nvPr/>
        </p:nvSpPr>
        <p:spPr>
          <a:xfrm>
            <a:off x="7985125" y="5032375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31"/>
          <p:cNvSpPr/>
          <p:nvPr/>
        </p:nvSpPr>
        <p:spPr>
          <a:xfrm>
            <a:off x="8507413" y="5487988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73" name="Google Shape;473;p31"/>
          <p:cNvCxnSpPr>
            <a:stCxn id="474" idx="7"/>
            <a:endCxn id="467" idx="3"/>
          </p:cNvCxnSpPr>
          <p:nvPr/>
        </p:nvCxnSpPr>
        <p:spPr>
          <a:xfrm rot="10800000" flipH="1">
            <a:off x="7705386" y="5276335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31"/>
          <p:cNvCxnSpPr>
            <a:stCxn id="472" idx="1"/>
            <a:endCxn id="467" idx="5"/>
          </p:cNvCxnSpPr>
          <p:nvPr/>
        </p:nvCxnSpPr>
        <p:spPr>
          <a:xfrm rot="10800000">
            <a:off x="8227660" y="5276335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4" name="Google Shape;474;p31"/>
          <p:cNvSpPr/>
          <p:nvPr/>
        </p:nvSpPr>
        <p:spPr>
          <a:xfrm>
            <a:off x="7462838" y="5487988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viện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heap</a:t>
            </a:r>
            <a:endParaRPr dirty="0"/>
          </a:p>
        </p:txBody>
      </p:sp>
      <p:sp>
        <p:nvSpPr>
          <p:cNvPr id="482" name="Google Shape;482;p32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make_heap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pop_heap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push_heap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sort_heap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 smtClean="0"/>
              <a:t>thư</a:t>
            </a:r>
            <a:r>
              <a:rPr lang="en-US" sz="2800" dirty="0" smtClean="0"/>
              <a:t> </a:t>
            </a:r>
            <a:r>
              <a:rPr lang="en-US" sz="2800" dirty="0" err="1" smtClean="0"/>
              <a:t>viện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C++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nhiệm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vụ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heap </a:t>
            </a: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dirty="0" smtClean="0"/>
              <a:t> </a:t>
            </a:r>
            <a:r>
              <a:rPr lang="en-US" sz="2400" dirty="0" err="1" smtClean="0"/>
              <a:t>Loại</a:t>
            </a:r>
            <a:r>
              <a:rPr lang="en-US" sz="2400" dirty="0" smtClean="0"/>
              <a:t> </a:t>
            </a:r>
            <a:r>
              <a:rPr lang="en-US" sz="2400" dirty="0" err="1" smtClean="0"/>
              <a:t>bỏ</a:t>
            </a:r>
            <a:r>
              <a:rPr lang="en-US" sz="2400" dirty="0" smtClean="0"/>
              <a:t> </a:t>
            </a:r>
            <a:r>
              <a:rPr lang="en-US" sz="2400" dirty="0" err="1" smtClean="0"/>
              <a:t>gốc</a:t>
            </a:r>
            <a:endParaRPr dirty="0"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endParaRPr dirty="0"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Sắp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3" name="Google Shape;483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3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76898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kiếm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nhị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endParaRPr dirty="0"/>
          </a:p>
        </p:txBody>
      </p:sp>
      <p:sp>
        <p:nvSpPr>
          <p:cNvPr id="489" name="Google Shape;489;p3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55650" y="1881336"/>
            <a:ext cx="3810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kiếm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thỏa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mãn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cha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nhỏ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hoặc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bằng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2400" dirty="0" err="1" smtClean="0"/>
              <a:t>phải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lớn</a:t>
            </a:r>
            <a:r>
              <a:rPr lang="en-US" sz="2400" dirty="0" smtClean="0"/>
              <a:t> </a:t>
            </a:r>
            <a:r>
              <a:rPr lang="en-US" sz="2400" dirty="0" err="1" smtClean="0"/>
              <a:t>hơn</a:t>
            </a:r>
            <a:r>
              <a:rPr lang="en-US" sz="2400" dirty="0" smtClean="0"/>
              <a:t> </a:t>
            </a:r>
            <a:r>
              <a:rPr lang="en-US" sz="2400" dirty="0" err="1" smtClean="0"/>
              <a:t>hoặc</a:t>
            </a:r>
            <a:r>
              <a:rPr lang="en-US" sz="2400" dirty="0" smtClean="0"/>
              <a:t> </a:t>
            </a:r>
            <a:r>
              <a:rPr lang="en-US" sz="2400" dirty="0" err="1" smtClean="0"/>
              <a:t>bằng</a:t>
            </a:r>
            <a:r>
              <a:rPr lang="en-US" sz="2400" dirty="0" smtClean="0"/>
              <a:t> con </a:t>
            </a:r>
            <a:r>
              <a:rPr lang="en-US" sz="2400" dirty="0" err="1" smtClean="0"/>
              <a:t>trái</a:t>
            </a:r>
            <a:r>
              <a:rPr lang="en-US" sz="2400" dirty="0" smtClean="0"/>
              <a:t>. </a:t>
            </a:r>
            <a:endParaRPr dirty="0"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/>
              <a:t>Duyệt</a:t>
            </a:r>
            <a:r>
              <a:rPr lang="en-US" sz="2400" dirty="0" smtClean="0"/>
              <a:t> </a:t>
            </a:r>
            <a:r>
              <a:rPr lang="en-US" sz="2400" dirty="0" err="1" smtClean="0"/>
              <a:t>theo</a:t>
            </a:r>
            <a:r>
              <a:rPr lang="en-US" sz="2400" dirty="0" smtClean="0"/>
              <a:t> </a:t>
            </a:r>
            <a:r>
              <a:rPr lang="en-US" sz="2400" dirty="0" err="1" smtClean="0"/>
              <a:t>trung</a:t>
            </a:r>
            <a:r>
              <a:rPr lang="en-US" sz="2400" dirty="0" smtClean="0"/>
              <a:t> </a:t>
            </a:r>
            <a:r>
              <a:rPr lang="en-US" sz="2400" dirty="0" err="1" smtClean="0"/>
              <a:t>thứ</a:t>
            </a:r>
            <a:r>
              <a:rPr lang="en-US" sz="2400" dirty="0" smtClean="0"/>
              <a:t> </a:t>
            </a:r>
            <a:r>
              <a:rPr lang="en-US" sz="2400" dirty="0" err="1" smtClean="0"/>
              <a:t>tự</a:t>
            </a:r>
            <a:r>
              <a:rPr lang="en-US" sz="2400" dirty="0" smtClean="0"/>
              <a:t> (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inorder</a:t>
            </a:r>
            <a:r>
              <a:rPr lang="en-US" sz="2400" dirty="0" smtClean="0"/>
              <a:t>)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đối</a:t>
            </a:r>
            <a:r>
              <a:rPr lang="en-US" sz="2400" dirty="0" smtClean="0"/>
              <a:t> </a:t>
            </a:r>
            <a:r>
              <a:rPr lang="en-US" sz="2400" dirty="0" err="1" smtClean="0"/>
              <a:t>tượng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sắp</a:t>
            </a:r>
            <a:r>
              <a:rPr lang="en-US" sz="2400" dirty="0" smtClean="0"/>
              <a:t> </a:t>
            </a:r>
            <a:r>
              <a:rPr lang="en-US" sz="2400" dirty="0" err="1" smtClean="0"/>
              <a:t>xếp</a:t>
            </a:r>
            <a:r>
              <a:rPr lang="en-US" sz="2400" dirty="0" smtClean="0"/>
              <a:t> </a:t>
            </a:r>
            <a:r>
              <a:rPr lang="en-US" sz="2400" dirty="0" err="1" smtClean="0"/>
              <a:t>tăng</a:t>
            </a:r>
            <a:r>
              <a:rPr lang="en-US" sz="2400" dirty="0" smtClean="0"/>
              <a:t> </a:t>
            </a:r>
            <a:r>
              <a:rPr lang="en-US" sz="2400" dirty="0" err="1" smtClean="0"/>
              <a:t>dần</a:t>
            </a:r>
            <a:r>
              <a:rPr lang="en-US" sz="2400" dirty="0" smtClean="0"/>
              <a:t> </a:t>
            </a:r>
            <a:r>
              <a:rPr lang="en-US" sz="2400" dirty="0" err="1" smtClean="0"/>
              <a:t>theo</a:t>
            </a:r>
            <a:r>
              <a:rPr lang="en-US" sz="2400" dirty="0" smtClean="0"/>
              <a:t> </a:t>
            </a:r>
            <a:r>
              <a:rPr lang="en-US" sz="2400" dirty="0" err="1" smtClean="0"/>
              <a:t>khóa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1" name="Google Shape;491;p33"/>
          <p:cNvGrpSpPr/>
          <p:nvPr/>
        </p:nvGrpSpPr>
        <p:grpSpPr>
          <a:xfrm>
            <a:off x="4842774" y="2205003"/>
            <a:ext cx="3299792" cy="2023372"/>
            <a:chOff x="3110" y="2544"/>
            <a:chExt cx="1962" cy="1046"/>
          </a:xfrm>
        </p:grpSpPr>
        <p:sp>
          <p:nvSpPr>
            <p:cNvPr id="492" name="Google Shape;492;p33"/>
            <p:cNvSpPr/>
            <p:nvPr/>
          </p:nvSpPr>
          <p:spPr>
            <a:xfrm>
              <a:off x="4080" y="2544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sp>
          <p:nvSpPr>
            <p:cNvPr id="493" name="Google Shape;493;p33"/>
            <p:cNvSpPr/>
            <p:nvPr/>
          </p:nvSpPr>
          <p:spPr>
            <a:xfrm>
              <a:off x="4871" y="2974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3480" y="293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95" name="Google Shape;495;p33"/>
            <p:cNvSpPr/>
            <p:nvPr/>
          </p:nvSpPr>
          <p:spPr>
            <a:xfrm>
              <a:off x="3850" y="338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cxnSp>
          <p:nvCxnSpPr>
            <p:cNvPr id="496" name="Google Shape;496;p33"/>
            <p:cNvCxnSpPr>
              <a:stCxn id="492" idx="3"/>
              <a:endCxn id="494" idx="7"/>
            </p:cNvCxnSpPr>
            <p:nvPr/>
          </p:nvCxnSpPr>
          <p:spPr>
            <a:xfrm flipH="1">
              <a:off x="3652" y="2716"/>
              <a:ext cx="458" cy="25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33"/>
            <p:cNvCxnSpPr/>
            <p:nvPr/>
          </p:nvCxnSpPr>
          <p:spPr>
            <a:xfrm rot="10800000">
              <a:off x="4279" y="2704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8" name="Google Shape;498;p33"/>
            <p:cNvCxnSpPr>
              <a:stCxn id="499" idx="7"/>
              <a:endCxn id="493" idx="3"/>
            </p:cNvCxnSpPr>
            <p:nvPr/>
          </p:nvCxnSpPr>
          <p:spPr>
            <a:xfrm flipV="1">
              <a:off x="4732" y="3146"/>
              <a:ext cx="168" cy="18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500;p33"/>
            <p:cNvCxnSpPr>
              <a:stCxn id="501" idx="7"/>
            </p:cNvCxnSpPr>
            <p:nvPr/>
          </p:nvCxnSpPr>
          <p:spPr>
            <a:xfrm rot="10800000" flipH="1">
              <a:off x="3282" y="311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2" name="Google Shape;502;p33"/>
            <p:cNvCxnSpPr>
              <a:stCxn id="495" idx="1"/>
            </p:cNvCxnSpPr>
            <p:nvPr/>
          </p:nvCxnSpPr>
          <p:spPr>
            <a:xfrm rot="10800000">
              <a:off x="3580" y="311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1" name="Google Shape;501;p33"/>
            <p:cNvSpPr/>
            <p:nvPr/>
          </p:nvSpPr>
          <p:spPr>
            <a:xfrm>
              <a:off x="3110" y="338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4560" y="329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kiếm</a:t>
            </a:r>
            <a:endParaRPr dirty="0"/>
          </a:p>
        </p:txBody>
      </p:sp>
      <p:sp>
        <p:nvSpPr>
          <p:cNvPr id="511" name="Google Shape;511;p3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73722" y="1916113"/>
            <a:ext cx="3207727" cy="441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tìm</a:t>
            </a:r>
            <a:r>
              <a:rPr lang="en-US" sz="2000" dirty="0" smtClean="0"/>
              <a:t> </a:t>
            </a:r>
            <a:r>
              <a:rPr lang="en-US" sz="2000" dirty="0" err="1" smtClean="0"/>
              <a:t>kiểm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đỉnh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khóa</a:t>
            </a:r>
            <a:r>
              <a:rPr lang="en-US" sz="2000" dirty="0" smtClean="0"/>
              <a:t> </a:t>
            </a:r>
            <a:r>
              <a:rPr lang="en-US" sz="2000" dirty="0" err="1" smtClean="0"/>
              <a:t>bằng</a:t>
            </a:r>
            <a:r>
              <a:rPr lang="en-US" sz="2000" dirty="0" smtClean="0"/>
              <a:t> 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dirty="0" err="1" smtClean="0"/>
              <a:t>Chúng</a:t>
            </a:r>
            <a:r>
              <a:rPr lang="en-US" sz="2000" dirty="0" smtClean="0"/>
              <a:t> </a:t>
            </a:r>
            <a:r>
              <a:rPr lang="en-US" sz="2000" dirty="0" err="1" smtClean="0"/>
              <a:t>ta</a:t>
            </a:r>
            <a:r>
              <a:rPr lang="en-US" sz="2000" dirty="0" smtClean="0"/>
              <a:t> </a:t>
            </a:r>
            <a:r>
              <a:rPr lang="en-US" sz="2000" dirty="0" err="1" smtClean="0"/>
              <a:t>tìm</a:t>
            </a:r>
            <a:r>
              <a:rPr lang="en-US" sz="2000" dirty="0" smtClean="0"/>
              <a:t> </a:t>
            </a:r>
            <a:r>
              <a:rPr lang="en-US" sz="2000" dirty="0" err="1" smtClean="0"/>
              <a:t>từ</a:t>
            </a:r>
            <a:r>
              <a:rPr lang="en-US" sz="2000" dirty="0" smtClean="0"/>
              <a:t> </a:t>
            </a:r>
            <a:r>
              <a:rPr lang="en-US" sz="2000" dirty="0" err="1" smtClean="0"/>
              <a:t>trên</a:t>
            </a:r>
            <a:r>
              <a:rPr lang="en-US" sz="2000" dirty="0" smtClean="0"/>
              <a:t> </a:t>
            </a:r>
            <a:r>
              <a:rPr lang="en-US" sz="2000" dirty="0" err="1" smtClean="0"/>
              <a:t>xuống</a:t>
            </a:r>
            <a:r>
              <a:rPr lang="en-US" sz="2000" dirty="0" smtClean="0"/>
              <a:t> </a:t>
            </a:r>
            <a:r>
              <a:rPr lang="en-US" sz="2000" dirty="0" err="1" smtClean="0"/>
              <a:t>bắng</a:t>
            </a:r>
            <a:r>
              <a:rPr lang="en-US" sz="2000" dirty="0" smtClean="0"/>
              <a:t> </a:t>
            </a:r>
            <a:r>
              <a:rPr lang="en-US" sz="2000" dirty="0" err="1" smtClean="0"/>
              <a:t>đầu</a:t>
            </a:r>
            <a:r>
              <a:rPr lang="en-US" sz="2000" dirty="0" smtClean="0"/>
              <a:t> </a:t>
            </a:r>
            <a:r>
              <a:rPr lang="en-US" sz="2000" dirty="0" err="1" smtClean="0"/>
              <a:t>từ</a:t>
            </a:r>
            <a:r>
              <a:rPr lang="en-US" sz="2000" dirty="0" smtClean="0"/>
              <a:t> </a:t>
            </a:r>
            <a:r>
              <a:rPr lang="en-US" sz="2000" dirty="0" err="1" smtClean="0"/>
              <a:t>gốc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dirty="0" err="1" smtClean="0"/>
              <a:t>Đỉnh</a:t>
            </a:r>
            <a:r>
              <a:rPr lang="en-US" sz="2000" dirty="0" smtClean="0"/>
              <a:t> </a:t>
            </a:r>
            <a:r>
              <a:rPr lang="en-US" sz="2000" dirty="0" err="1" smtClean="0"/>
              <a:t>tiếp</a:t>
            </a:r>
            <a:r>
              <a:rPr lang="en-US" sz="2000" dirty="0" smtClean="0"/>
              <a:t> </a:t>
            </a:r>
            <a:r>
              <a:rPr lang="en-US" sz="2000" dirty="0" err="1" smtClean="0"/>
              <a:t>theo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thăm</a:t>
            </a:r>
            <a:r>
              <a:rPr lang="en-US" sz="2000" dirty="0" smtClean="0"/>
              <a:t> </a:t>
            </a:r>
            <a:r>
              <a:rPr lang="en-US" sz="2000" dirty="0" err="1" smtClean="0"/>
              <a:t>phụ</a:t>
            </a:r>
            <a:r>
              <a:rPr lang="en-US" sz="2000" dirty="0" smtClean="0"/>
              <a:t> </a:t>
            </a:r>
            <a:r>
              <a:rPr lang="en-US" sz="2000" dirty="0" err="1" smtClean="0"/>
              <a:t>thuộc</a:t>
            </a:r>
            <a:r>
              <a:rPr lang="en-US" sz="2000" dirty="0" smtClean="0"/>
              <a:t> </a:t>
            </a:r>
            <a:r>
              <a:rPr lang="en-US" sz="2000" dirty="0" err="1" smtClean="0"/>
              <a:t>vào</a:t>
            </a:r>
            <a:r>
              <a:rPr lang="en-US" sz="2000" dirty="0" smtClean="0"/>
              <a:t> </a:t>
            </a:r>
            <a:r>
              <a:rPr lang="en-US" sz="2000" dirty="0" err="1" smtClean="0"/>
              <a:t>kết</a:t>
            </a:r>
            <a:r>
              <a:rPr lang="en-US" sz="2000" dirty="0" smtClean="0"/>
              <a:t> </a:t>
            </a:r>
            <a:r>
              <a:rPr lang="en-US" sz="2000" dirty="0" err="1" smtClean="0"/>
              <a:t>quả</a:t>
            </a:r>
            <a:r>
              <a:rPr lang="en-US" sz="2000" dirty="0" smtClean="0"/>
              <a:t> </a:t>
            </a:r>
            <a:r>
              <a:rPr lang="en-US" sz="2000" dirty="0" err="1" smtClean="0"/>
              <a:t>của</a:t>
            </a:r>
            <a:r>
              <a:rPr lang="en-US" sz="2000" dirty="0" smtClean="0"/>
              <a:t> </a:t>
            </a:r>
            <a:r>
              <a:rPr lang="en-US" sz="2000" dirty="0" err="1" smtClean="0"/>
              <a:t>việc</a:t>
            </a:r>
            <a:r>
              <a:rPr lang="en-US" sz="2000" dirty="0" smtClean="0"/>
              <a:t> so </a:t>
            </a:r>
            <a:r>
              <a:rPr lang="en-US" sz="2000" dirty="0" err="1" smtClean="0"/>
              <a:t>sánh</a:t>
            </a:r>
            <a:r>
              <a:rPr lang="en-US" sz="2000" dirty="0" smtClean="0"/>
              <a:t> 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dirty="0" err="1" smtClean="0"/>
              <a:t>Nếu</a:t>
            </a:r>
            <a:r>
              <a:rPr lang="en-US" sz="2000" dirty="0" smtClean="0"/>
              <a:t> </a:t>
            </a:r>
            <a:r>
              <a:rPr lang="en-US" sz="2000" dirty="0" err="1" smtClean="0"/>
              <a:t>đỉnh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tại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đỉnh</a:t>
            </a:r>
            <a:r>
              <a:rPr lang="en-US" sz="2000" dirty="0" smtClean="0"/>
              <a:t> </a:t>
            </a:r>
            <a:r>
              <a:rPr lang="en-US" sz="2000" dirty="0" err="1" smtClean="0"/>
              <a:t>lá</a:t>
            </a:r>
            <a:r>
              <a:rPr lang="en-US" sz="2000" dirty="0" smtClean="0"/>
              <a:t> </a:t>
            </a:r>
            <a:r>
              <a:rPr lang="en-US" sz="2000" dirty="0" err="1" smtClean="0"/>
              <a:t>thì</a:t>
            </a:r>
            <a:r>
              <a:rPr lang="en-US" sz="2000" dirty="0" smtClean="0"/>
              <a:t> </a:t>
            </a:r>
            <a:r>
              <a:rPr lang="en-US" sz="2000" dirty="0" err="1" smtClean="0"/>
              <a:t>khóa</a:t>
            </a:r>
            <a:r>
              <a:rPr lang="en-US" sz="2000" dirty="0" smtClean="0"/>
              <a:t>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không</a:t>
            </a:r>
            <a:r>
              <a:rPr lang="en-US" sz="2000" dirty="0" smtClean="0"/>
              <a:t> </a:t>
            </a:r>
            <a:r>
              <a:rPr lang="en-US" sz="2000" dirty="0" err="1" smtClean="0"/>
              <a:t>tìm</a:t>
            </a:r>
            <a:r>
              <a:rPr lang="en-US" sz="2000" dirty="0" smtClean="0"/>
              <a:t> </a:t>
            </a:r>
            <a:r>
              <a:rPr lang="en-US" sz="2000" dirty="0" err="1" smtClean="0"/>
              <a:t>thấy</a:t>
            </a:r>
            <a:r>
              <a:rPr lang="en-US" sz="2000" dirty="0" smtClean="0"/>
              <a:t> </a:t>
            </a:r>
            <a:r>
              <a:rPr lang="en-US" sz="2000" dirty="0" err="1" smtClean="0"/>
              <a:t>và</a:t>
            </a:r>
            <a:r>
              <a:rPr lang="en-US" sz="2000" dirty="0" smtClean="0"/>
              <a:t> </a:t>
            </a:r>
            <a:r>
              <a:rPr lang="en-US" sz="2000" dirty="0" err="1" smtClean="0"/>
              <a:t>hàm</a:t>
            </a:r>
            <a:r>
              <a:rPr lang="en-US" sz="2000" dirty="0" smtClean="0"/>
              <a:t> </a:t>
            </a:r>
            <a:r>
              <a:rPr lang="en-US" sz="2000" dirty="0" err="1" smtClean="0"/>
              <a:t>trả</a:t>
            </a:r>
            <a:r>
              <a:rPr lang="en-US" sz="2000" dirty="0" smtClean="0"/>
              <a:t> </a:t>
            </a:r>
            <a:r>
              <a:rPr lang="en-US" sz="2000" dirty="0" err="1" smtClean="0"/>
              <a:t>về</a:t>
            </a:r>
            <a:r>
              <a:rPr lang="en-US" sz="2000" dirty="0" smtClean="0"/>
              <a:t>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trị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(4):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TreeSearch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4,root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</p:txBody>
      </p:sp>
      <p:sp>
        <p:nvSpPr>
          <p:cNvPr id="512" name="Google Shape;512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3962400" y="1908175"/>
            <a:ext cx="4838700" cy="27749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TreeSearch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	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T.isExternal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v;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TreeSearch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T.left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v;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r>
              <a:rPr lang="en-US" sz="1800" b="1" i="1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}</a:t>
            </a:r>
            <a:endParaRPr/>
          </a:p>
          <a:p>
            <a:pPr marL="28575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TreeSearch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T.right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6040438" y="4881563"/>
            <a:ext cx="320675" cy="319087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7451725" y="5392738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16" name="Google Shape;516;p34"/>
          <p:cNvSpPr/>
          <p:nvPr/>
        </p:nvSpPr>
        <p:spPr>
          <a:xfrm>
            <a:off x="5087938" y="5392738"/>
            <a:ext cx="319087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17" name="Google Shape;517;p34"/>
          <p:cNvSpPr/>
          <p:nvPr/>
        </p:nvSpPr>
        <p:spPr>
          <a:xfrm>
            <a:off x="5675313" y="5888038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518" name="Google Shape;518;p34"/>
          <p:cNvCxnSpPr>
            <a:stCxn id="514" idx="3"/>
            <a:endCxn id="516" idx="7"/>
          </p:cNvCxnSpPr>
          <p:nvPr/>
        </p:nvCxnSpPr>
        <p:spPr>
          <a:xfrm flipH="1">
            <a:off x="5360200" y="5153921"/>
            <a:ext cx="727200" cy="285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34"/>
          <p:cNvCxnSpPr>
            <a:stCxn id="515" idx="1"/>
            <a:endCxn id="514" idx="5"/>
          </p:cNvCxnSpPr>
          <p:nvPr/>
        </p:nvCxnSpPr>
        <p:spPr>
          <a:xfrm rot="10800000">
            <a:off x="6314054" y="5153800"/>
            <a:ext cx="11844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0" name="Google Shape;520;p34"/>
          <p:cNvCxnSpPr>
            <a:stCxn id="521" idx="7"/>
            <a:endCxn id="515" idx="3"/>
          </p:cNvCxnSpPr>
          <p:nvPr/>
        </p:nvCxnSpPr>
        <p:spPr>
          <a:xfrm rot="10800000" flipH="1">
            <a:off x="7268238" y="5666525"/>
            <a:ext cx="230100" cy="25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2" name="Google Shape;522;p34"/>
          <p:cNvCxnSpPr>
            <a:stCxn id="523" idx="7"/>
            <a:endCxn id="516" idx="3"/>
          </p:cNvCxnSpPr>
          <p:nvPr/>
        </p:nvCxnSpPr>
        <p:spPr>
          <a:xfrm rot="10800000" flipH="1">
            <a:off x="4772921" y="5666500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34"/>
          <p:cNvCxnSpPr>
            <a:stCxn id="517" idx="1"/>
            <a:endCxn id="516" idx="5"/>
          </p:cNvCxnSpPr>
          <p:nvPr/>
        </p:nvCxnSpPr>
        <p:spPr>
          <a:xfrm rot="10800000">
            <a:off x="5360175" y="5666500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34"/>
          <p:cNvSpPr/>
          <p:nvPr/>
        </p:nvSpPr>
        <p:spPr>
          <a:xfrm>
            <a:off x="4500563" y="5888038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6994525" y="5872163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25" name="Google Shape;525;p34"/>
          <p:cNvSpPr txBox="1"/>
          <p:nvPr/>
        </p:nvSpPr>
        <p:spPr>
          <a:xfrm>
            <a:off x="5489575" y="4913313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26" name="Google Shape;526;p34"/>
          <p:cNvSpPr txBox="1"/>
          <p:nvPr/>
        </p:nvSpPr>
        <p:spPr>
          <a:xfrm>
            <a:off x="5489575" y="5446713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27" name="Google Shape;527;p34"/>
          <p:cNvSpPr txBox="1"/>
          <p:nvPr/>
        </p:nvSpPr>
        <p:spPr>
          <a:xfrm>
            <a:off x="6003925" y="5840413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chèn</a:t>
            </a:r>
            <a:endParaRPr dirty="0"/>
          </a:p>
        </p:txBody>
      </p:sp>
      <p:sp>
        <p:nvSpPr>
          <p:cNvPr id="533" name="Google Shape;533;p3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65920"/>
            <a:ext cx="36576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đính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khóa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bằng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Bắt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đầu</a:t>
            </a:r>
            <a:r>
              <a:rPr lang="en-US" sz="2000" dirty="0" smtClean="0"/>
              <a:t> </a:t>
            </a:r>
            <a:r>
              <a:rPr lang="en-US" sz="2000" dirty="0" err="1" smtClean="0"/>
              <a:t>từ</a:t>
            </a:r>
            <a:r>
              <a:rPr lang="en-US" sz="2000" dirty="0" smtClean="0"/>
              <a:t> </a:t>
            </a:r>
            <a:r>
              <a:rPr lang="en-US" sz="2000" dirty="0" err="1" smtClean="0"/>
              <a:t>gốc</a:t>
            </a:r>
            <a:r>
              <a:rPr lang="en-US" sz="2000" dirty="0" smtClean="0"/>
              <a:t>, so </a:t>
            </a:r>
            <a:r>
              <a:rPr lang="en-US" sz="2000" dirty="0" err="1" smtClean="0"/>
              <a:t>sánh</a:t>
            </a:r>
            <a:r>
              <a:rPr lang="en-US" sz="2000" dirty="0" smtClean="0"/>
              <a:t> k </a:t>
            </a:r>
            <a:r>
              <a:rPr lang="en-US" sz="2000" dirty="0" err="1" smtClean="0"/>
              <a:t>với</a:t>
            </a:r>
            <a:r>
              <a:rPr lang="en-US" sz="2000" dirty="0" smtClean="0"/>
              <a:t> </a:t>
            </a:r>
            <a:r>
              <a:rPr lang="en-US" sz="2000" dirty="0" err="1" smtClean="0"/>
              <a:t>đỉnh</a:t>
            </a:r>
            <a:r>
              <a:rPr lang="en-US" sz="2000" dirty="0" smtClean="0"/>
              <a:t> </a:t>
            </a:r>
            <a:r>
              <a:rPr lang="en-US" sz="2000" dirty="0" err="1" smtClean="0"/>
              <a:t>này</a:t>
            </a:r>
            <a:r>
              <a:rPr lang="en-US" sz="2000" dirty="0" smtClean="0"/>
              <a:t>. </a:t>
            </a:r>
            <a:r>
              <a:rPr lang="en-US" sz="2000" dirty="0" err="1" smtClean="0"/>
              <a:t>Nếu</a:t>
            </a:r>
            <a:r>
              <a:rPr lang="en-US" sz="2000" dirty="0" smtClean="0"/>
              <a:t> k </a:t>
            </a:r>
            <a:r>
              <a:rPr lang="en-US" sz="2000" dirty="0" err="1" smtClean="0"/>
              <a:t>nhỏ</a:t>
            </a:r>
            <a:r>
              <a:rPr lang="en-US" sz="2000" dirty="0" smtClean="0"/>
              <a:t> </a:t>
            </a:r>
            <a:r>
              <a:rPr lang="en-US" sz="2000" dirty="0" err="1" smtClean="0"/>
              <a:t>hơn</a:t>
            </a:r>
            <a:r>
              <a:rPr lang="en-US" sz="2000" dirty="0" smtClean="0"/>
              <a:t>, </a:t>
            </a:r>
            <a:r>
              <a:rPr lang="en-US" sz="2000" dirty="0" err="1" smtClean="0"/>
              <a:t>chèn</a:t>
            </a:r>
            <a:r>
              <a:rPr lang="en-US" sz="2000" dirty="0" smtClean="0"/>
              <a:t> k </a:t>
            </a:r>
            <a:r>
              <a:rPr lang="en-US" sz="2000" dirty="0" err="1" smtClean="0"/>
              <a:t>vào</a:t>
            </a:r>
            <a:r>
              <a:rPr lang="en-US" sz="2000" dirty="0" smtClean="0"/>
              <a:t> </a:t>
            </a:r>
            <a:r>
              <a:rPr lang="en-US" sz="2000" dirty="0" err="1" smtClean="0"/>
              <a:t>bên</a:t>
            </a:r>
            <a:r>
              <a:rPr lang="en-US" sz="2000" dirty="0" smtClean="0"/>
              <a:t> </a:t>
            </a:r>
            <a:r>
              <a:rPr lang="en-US" sz="2000" dirty="0" err="1" smtClean="0"/>
              <a:t>trái</a:t>
            </a:r>
            <a:r>
              <a:rPr lang="en-US" sz="2000" dirty="0" smtClean="0"/>
              <a:t> </a:t>
            </a:r>
            <a:r>
              <a:rPr lang="en-US" sz="2000" dirty="0" err="1" smtClean="0"/>
              <a:t>cây</a:t>
            </a:r>
            <a:r>
              <a:rPr lang="en-US" sz="2000" dirty="0" smtClean="0"/>
              <a:t>. </a:t>
            </a:r>
            <a:r>
              <a:rPr lang="en-US" sz="2000" dirty="0" err="1" smtClean="0"/>
              <a:t>Ngược</a:t>
            </a:r>
            <a:r>
              <a:rPr lang="en-US" sz="2000" dirty="0" smtClean="0"/>
              <a:t> </a:t>
            </a:r>
            <a:r>
              <a:rPr lang="en-US" sz="2000" dirty="0" err="1" smtClean="0"/>
              <a:t>lại</a:t>
            </a:r>
            <a:r>
              <a:rPr lang="en-US" sz="2000" dirty="0" smtClean="0"/>
              <a:t>, </a:t>
            </a:r>
            <a:r>
              <a:rPr lang="en-US" sz="2000" dirty="0" err="1" smtClean="0"/>
              <a:t>chèn</a:t>
            </a:r>
            <a:r>
              <a:rPr lang="en-US" sz="2000" dirty="0" smtClean="0"/>
              <a:t> k </a:t>
            </a:r>
            <a:r>
              <a:rPr lang="en-US" sz="2000" dirty="0" err="1" smtClean="0"/>
              <a:t>vào</a:t>
            </a:r>
            <a:r>
              <a:rPr lang="en-US" sz="2000" dirty="0" smtClean="0"/>
              <a:t> </a:t>
            </a:r>
            <a:r>
              <a:rPr lang="en-US" sz="2000" dirty="0" err="1" smtClean="0"/>
              <a:t>bên</a:t>
            </a:r>
            <a:r>
              <a:rPr lang="en-US" sz="2000" dirty="0" smtClean="0"/>
              <a:t> </a:t>
            </a:r>
            <a:r>
              <a:rPr lang="en-US" sz="2000" dirty="0" err="1" smtClean="0"/>
              <a:t>phải</a:t>
            </a:r>
            <a:r>
              <a:rPr lang="en-US" sz="2000" dirty="0" smtClean="0"/>
              <a:t> </a:t>
            </a:r>
            <a:r>
              <a:rPr lang="en-US" sz="2000" dirty="0" err="1" smtClean="0"/>
              <a:t>cây</a:t>
            </a:r>
            <a:r>
              <a:rPr lang="en-US" sz="2000" dirty="0" smtClean="0"/>
              <a:t>. </a:t>
            </a: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dirty="0"/>
          </a:p>
        </p:txBody>
      </p:sp>
      <p:sp>
        <p:nvSpPr>
          <p:cNvPr id="534" name="Google Shape;534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5"/>
          <p:cNvSpPr/>
          <p:nvPr/>
        </p:nvSpPr>
        <p:spPr>
          <a:xfrm>
            <a:off x="6765925" y="3886200"/>
            <a:ext cx="320675" cy="31908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36" name="Google Shape;536;p35"/>
          <p:cNvSpPr/>
          <p:nvPr/>
        </p:nvSpPr>
        <p:spPr>
          <a:xfrm>
            <a:off x="7964488" y="43973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37" name="Google Shape;537;p35"/>
          <p:cNvSpPr/>
          <p:nvPr/>
        </p:nvSpPr>
        <p:spPr>
          <a:xfrm>
            <a:off x="5408613" y="43973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38" name="Google Shape;538;p35"/>
          <p:cNvSpPr/>
          <p:nvPr/>
        </p:nvSpPr>
        <p:spPr>
          <a:xfrm>
            <a:off x="5995988" y="48926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539" name="Google Shape;539;p35"/>
          <p:cNvCxnSpPr>
            <a:stCxn id="535" idx="3"/>
            <a:endCxn id="537" idx="7"/>
          </p:cNvCxnSpPr>
          <p:nvPr/>
        </p:nvCxnSpPr>
        <p:spPr>
          <a:xfrm flipH="1">
            <a:off x="5680987" y="4158559"/>
            <a:ext cx="11319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0" name="Google Shape;540;p35"/>
          <p:cNvCxnSpPr>
            <a:stCxn id="536" idx="1"/>
            <a:endCxn id="535" idx="5"/>
          </p:cNvCxnSpPr>
          <p:nvPr/>
        </p:nvCxnSpPr>
        <p:spPr>
          <a:xfrm rot="10800000">
            <a:off x="7039517" y="4158437"/>
            <a:ext cx="9717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1" name="Google Shape;541;p35"/>
          <p:cNvCxnSpPr>
            <a:stCxn id="542" idx="7"/>
            <a:endCxn id="536" idx="3"/>
          </p:cNvCxnSpPr>
          <p:nvPr/>
        </p:nvCxnSpPr>
        <p:spPr>
          <a:xfrm rot="10800000" flipH="1">
            <a:off x="7744488" y="4671137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3" name="Google Shape;543;p35"/>
          <p:cNvCxnSpPr>
            <a:stCxn id="544" idx="1"/>
            <a:endCxn id="538" idx="5"/>
          </p:cNvCxnSpPr>
          <p:nvPr/>
        </p:nvCxnSpPr>
        <p:spPr>
          <a:xfrm rot="10800000">
            <a:off x="6269712" y="5166462"/>
            <a:ext cx="197100" cy="290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5" name="Google Shape;545;p35"/>
          <p:cNvCxnSpPr>
            <a:stCxn id="546" idx="7"/>
            <a:endCxn id="537" idx="3"/>
          </p:cNvCxnSpPr>
          <p:nvPr/>
        </p:nvCxnSpPr>
        <p:spPr>
          <a:xfrm rot="10800000" flipH="1">
            <a:off x="5093596" y="4671137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5"/>
          <p:cNvCxnSpPr>
            <a:stCxn id="538" idx="1"/>
            <a:endCxn id="537" idx="5"/>
          </p:cNvCxnSpPr>
          <p:nvPr/>
        </p:nvCxnSpPr>
        <p:spPr>
          <a:xfrm rot="10800000">
            <a:off x="5680850" y="4671137"/>
            <a:ext cx="3621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35"/>
          <p:cNvSpPr/>
          <p:nvPr/>
        </p:nvSpPr>
        <p:spPr>
          <a:xfrm>
            <a:off x="4821238" y="48926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42" name="Google Shape;542;p35"/>
          <p:cNvSpPr/>
          <p:nvPr/>
        </p:nvSpPr>
        <p:spPr>
          <a:xfrm>
            <a:off x="7470775" y="48926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48" name="Google Shape;548;p35"/>
          <p:cNvSpPr/>
          <p:nvPr/>
        </p:nvSpPr>
        <p:spPr>
          <a:xfrm>
            <a:off x="6553200" y="1524000"/>
            <a:ext cx="320675" cy="31908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49" name="Google Shape;549;p35"/>
          <p:cNvSpPr/>
          <p:nvPr/>
        </p:nvSpPr>
        <p:spPr>
          <a:xfrm>
            <a:off x="7964488" y="20351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50" name="Google Shape;550;p35"/>
          <p:cNvSpPr/>
          <p:nvPr/>
        </p:nvSpPr>
        <p:spPr>
          <a:xfrm>
            <a:off x="5600700" y="2035175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51" name="Google Shape;551;p35"/>
          <p:cNvSpPr/>
          <p:nvPr/>
        </p:nvSpPr>
        <p:spPr>
          <a:xfrm>
            <a:off x="6188075" y="2530475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52" name="Google Shape;552;p35"/>
          <p:cNvSpPr/>
          <p:nvPr/>
        </p:nvSpPr>
        <p:spPr>
          <a:xfrm>
            <a:off x="6526213" y="3106738"/>
            <a:ext cx="231775" cy="230187"/>
          </a:xfrm>
          <a:prstGeom prst="rect">
            <a:avLst/>
          </a:prstGeom>
          <a:solidFill>
            <a:schemeClr val="folHlink"/>
          </a:solidFill>
          <a:ln w="571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35"/>
          <p:cNvCxnSpPr>
            <a:stCxn id="548" idx="3"/>
            <a:endCxn id="550" idx="7"/>
          </p:cNvCxnSpPr>
          <p:nvPr/>
        </p:nvCxnSpPr>
        <p:spPr>
          <a:xfrm flipH="1">
            <a:off x="5872962" y="1796359"/>
            <a:ext cx="727200" cy="285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35"/>
          <p:cNvCxnSpPr>
            <a:stCxn id="549" idx="1"/>
            <a:endCxn id="548" idx="5"/>
          </p:cNvCxnSpPr>
          <p:nvPr/>
        </p:nvCxnSpPr>
        <p:spPr>
          <a:xfrm rot="10800000">
            <a:off x="6826817" y="1796237"/>
            <a:ext cx="11844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35"/>
          <p:cNvCxnSpPr>
            <a:stCxn id="556" idx="7"/>
            <a:endCxn id="549" idx="3"/>
          </p:cNvCxnSpPr>
          <p:nvPr/>
        </p:nvCxnSpPr>
        <p:spPr>
          <a:xfrm rot="10800000" flipH="1">
            <a:off x="7744488" y="2308937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35"/>
          <p:cNvCxnSpPr>
            <a:stCxn id="552" idx="0"/>
            <a:endCxn id="551" idx="5"/>
          </p:cNvCxnSpPr>
          <p:nvPr/>
        </p:nvCxnSpPr>
        <p:spPr>
          <a:xfrm rot="10800000">
            <a:off x="6461800" y="2804338"/>
            <a:ext cx="180300" cy="3024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35"/>
          <p:cNvCxnSpPr>
            <a:stCxn id="559" idx="7"/>
            <a:endCxn id="550" idx="3"/>
          </p:cNvCxnSpPr>
          <p:nvPr/>
        </p:nvCxnSpPr>
        <p:spPr>
          <a:xfrm rot="10800000" flipH="1">
            <a:off x="5285684" y="2308937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35"/>
          <p:cNvCxnSpPr>
            <a:stCxn id="551" idx="1"/>
            <a:endCxn id="550" idx="5"/>
          </p:cNvCxnSpPr>
          <p:nvPr/>
        </p:nvCxnSpPr>
        <p:spPr>
          <a:xfrm rot="10800000">
            <a:off x="5872937" y="2308937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35"/>
          <p:cNvSpPr/>
          <p:nvPr/>
        </p:nvSpPr>
        <p:spPr>
          <a:xfrm>
            <a:off x="5013325" y="2530475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56" name="Google Shape;556;p35"/>
          <p:cNvSpPr/>
          <p:nvPr/>
        </p:nvSpPr>
        <p:spPr>
          <a:xfrm>
            <a:off x="7470775" y="25304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44" name="Google Shape;544;p35"/>
          <p:cNvSpPr/>
          <p:nvPr/>
        </p:nvSpPr>
        <p:spPr>
          <a:xfrm>
            <a:off x="6419850" y="5410200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61" name="Google Shape;561;p35"/>
          <p:cNvSpPr txBox="1"/>
          <p:nvPr/>
        </p:nvSpPr>
        <p:spPr>
          <a:xfrm>
            <a:off x="6029325" y="1581150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62" name="Google Shape;562;p35"/>
          <p:cNvSpPr txBox="1"/>
          <p:nvPr/>
        </p:nvSpPr>
        <p:spPr>
          <a:xfrm>
            <a:off x="6029325" y="2114550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63" name="Google Shape;563;p35"/>
          <p:cNvSpPr txBox="1"/>
          <p:nvPr/>
        </p:nvSpPr>
        <p:spPr>
          <a:xfrm>
            <a:off x="6534150" y="2667000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64" name="Google Shape;564;p35"/>
          <p:cNvSpPr txBox="1"/>
          <p:nvPr/>
        </p:nvSpPr>
        <p:spPr>
          <a:xfrm>
            <a:off x="6461125" y="3276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565" name="Google Shape;565;p35"/>
          <p:cNvSpPr txBox="1"/>
          <p:nvPr/>
        </p:nvSpPr>
        <p:spPr>
          <a:xfrm>
            <a:off x="6629400" y="51054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endParaRPr dirty="0"/>
          </a:p>
        </p:txBody>
      </p:sp>
      <p:sp>
        <p:nvSpPr>
          <p:cNvPr id="571" name="Google Shape;571;p3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90575" y="1961728"/>
            <a:ext cx="3781425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phép</a:t>
            </a:r>
            <a:r>
              <a:rPr lang="en-US" sz="2000" dirty="0" smtClean="0"/>
              <a:t> </a:t>
            </a:r>
            <a:r>
              <a:rPr lang="en-US" sz="2000" dirty="0" err="1" smtClean="0"/>
              <a:t>toán</a:t>
            </a:r>
            <a:r>
              <a:rPr lang="en-US" sz="2000" dirty="0" smtClean="0"/>
              <a:t> </a:t>
            </a:r>
            <a:r>
              <a:rPr lang="en-US" sz="2000" dirty="0" err="1" smtClean="0"/>
              <a:t>xóa</a:t>
            </a:r>
            <a:r>
              <a:rPr lang="en-US" sz="2000" dirty="0" smtClean="0"/>
              <a:t> </a:t>
            </a:r>
            <a:r>
              <a:rPr lang="en-US" sz="2000" dirty="0" err="1" smtClean="0"/>
              <a:t>phần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r>
              <a:rPr lang="en-US" sz="2000" dirty="0" smtClean="0"/>
              <a:t> </a:t>
            </a:r>
            <a:r>
              <a:rPr lang="en-US" sz="2000" dirty="0" err="1" smtClean="0"/>
              <a:t>bằng</a:t>
            </a:r>
            <a:r>
              <a:rPr lang="en-US" sz="2000" dirty="0" smtClean="0"/>
              <a:t> k 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đỉnh</a:t>
            </a:r>
            <a:r>
              <a:rPr lang="en-US" sz="2000" dirty="0" smtClean="0"/>
              <a:t> </a:t>
            </a:r>
            <a:r>
              <a:rPr lang="en-US" sz="2000" dirty="0" err="1" smtClean="0"/>
              <a:t>này</a:t>
            </a:r>
            <a:r>
              <a:rPr lang="en-US" sz="2000" dirty="0" smtClean="0"/>
              <a:t> </a:t>
            </a:r>
            <a:r>
              <a:rPr lang="en-US" sz="2000" dirty="0" err="1" smtClean="0"/>
              <a:t>từ</a:t>
            </a:r>
            <a:r>
              <a:rPr lang="en-US" sz="2000" dirty="0" smtClean="0"/>
              <a:t> </a:t>
            </a:r>
            <a:r>
              <a:rPr lang="en-US" sz="2000" dirty="0" err="1" smtClean="0"/>
              <a:t>gốc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rằng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 ở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gọi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đỉnh</a:t>
            </a:r>
            <a:r>
              <a:rPr lang="en-US" sz="2000" dirty="0" smtClean="0"/>
              <a:t> </a:t>
            </a:r>
            <a:r>
              <a:rPr lang="en-US" sz="2000" dirty="0" err="1" smtClean="0"/>
              <a:t>chứa</a:t>
            </a:r>
            <a:r>
              <a:rPr lang="en-US" sz="2000" dirty="0" smtClean="0"/>
              <a:t> 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dirty="0"/>
          </a:p>
          <a:p>
            <a:pPr marL="342900" lvl="0" indent="-342900">
              <a:spcBef>
                <a:spcPts val="400"/>
              </a:spcBef>
              <a:buSzPts val="2000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đỉnh</a:t>
            </a:r>
            <a:r>
              <a:rPr lang="en-US" sz="2000" dirty="0" smtClean="0"/>
              <a:t> 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dirty="0" smtClean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đỉnh</a:t>
            </a:r>
            <a:r>
              <a:rPr lang="en-US" sz="2000" dirty="0" smtClean="0"/>
              <a:t> </a:t>
            </a:r>
            <a:r>
              <a:rPr lang="en-US" sz="2000" b="1" i="1" dirty="0" smtClean="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con,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dirty="0" smtClean="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000" b="1" i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và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liên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kết</a:t>
            </a:r>
            <a:r>
              <a:rPr lang="en-US" sz="2000" dirty="0" smtClean="0">
                <a:ea typeface="Times New Roman"/>
                <a:cs typeface="Times New Roman"/>
              </a:rPr>
              <a:t> con </a:t>
            </a:r>
            <a:r>
              <a:rPr lang="en-US" sz="2000" dirty="0" err="1" smtClean="0">
                <a:ea typeface="Times New Roman"/>
                <a:cs typeface="Times New Roman"/>
              </a:rPr>
              <a:t>của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b="1" i="1" dirty="0" smtClean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tới</a:t>
            </a:r>
            <a:r>
              <a:rPr lang="en-US" sz="2000" dirty="0" smtClean="0">
                <a:ea typeface="Times New Roman"/>
                <a:cs typeface="Times New Roman"/>
              </a:rPr>
              <a:t> cha </a:t>
            </a:r>
            <a:r>
              <a:rPr lang="en-US" sz="2000" dirty="0" err="1" smtClean="0">
                <a:ea typeface="Times New Roman"/>
                <a:cs typeface="Times New Roman"/>
              </a:rPr>
              <a:t>của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b="1" i="1" dirty="0" smtClean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dirty="0"/>
          </a:p>
        </p:txBody>
      </p:sp>
      <p:sp>
        <p:nvSpPr>
          <p:cNvPr id="572" name="Google Shape;572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6"/>
          <p:cNvSpPr/>
          <p:nvPr/>
        </p:nvSpPr>
        <p:spPr>
          <a:xfrm>
            <a:off x="6781800" y="1600200"/>
            <a:ext cx="320675" cy="31908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74" name="Google Shape;574;p36"/>
          <p:cNvSpPr/>
          <p:nvPr/>
        </p:nvSpPr>
        <p:spPr>
          <a:xfrm>
            <a:off x="7980363" y="21113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5424488" y="2111375"/>
            <a:ext cx="319087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76" name="Google Shape;576;p36"/>
          <p:cNvSpPr/>
          <p:nvPr/>
        </p:nvSpPr>
        <p:spPr>
          <a:xfrm>
            <a:off x="6011863" y="2606675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577" name="Google Shape;577;p36"/>
          <p:cNvCxnSpPr>
            <a:stCxn id="573" idx="3"/>
            <a:endCxn id="575" idx="7"/>
          </p:cNvCxnSpPr>
          <p:nvPr/>
        </p:nvCxnSpPr>
        <p:spPr>
          <a:xfrm flipH="1">
            <a:off x="5696862" y="1872559"/>
            <a:ext cx="1131900" cy="285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36"/>
          <p:cNvCxnSpPr>
            <a:stCxn id="574" idx="1"/>
            <a:endCxn id="573" idx="5"/>
          </p:cNvCxnSpPr>
          <p:nvPr/>
        </p:nvCxnSpPr>
        <p:spPr>
          <a:xfrm rot="10800000">
            <a:off x="7055392" y="1872437"/>
            <a:ext cx="9717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9" name="Google Shape;579;p36"/>
          <p:cNvCxnSpPr>
            <a:stCxn id="580" idx="7"/>
            <a:endCxn id="574" idx="3"/>
          </p:cNvCxnSpPr>
          <p:nvPr/>
        </p:nvCxnSpPr>
        <p:spPr>
          <a:xfrm rot="10800000" flipH="1">
            <a:off x="7760363" y="2385137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1" name="Google Shape;581;p36"/>
          <p:cNvCxnSpPr>
            <a:stCxn id="582" idx="1"/>
            <a:endCxn id="576" idx="5"/>
          </p:cNvCxnSpPr>
          <p:nvPr/>
        </p:nvCxnSpPr>
        <p:spPr>
          <a:xfrm rot="10800000">
            <a:off x="6285587" y="2880462"/>
            <a:ext cx="197100" cy="2907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3" name="Google Shape;583;p36"/>
          <p:cNvCxnSpPr>
            <a:stCxn id="584" idx="7"/>
            <a:endCxn id="575" idx="3"/>
          </p:cNvCxnSpPr>
          <p:nvPr/>
        </p:nvCxnSpPr>
        <p:spPr>
          <a:xfrm rot="10800000" flipH="1">
            <a:off x="5109471" y="2385137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36"/>
          <p:cNvCxnSpPr>
            <a:stCxn id="576" idx="1"/>
            <a:endCxn id="575" idx="5"/>
          </p:cNvCxnSpPr>
          <p:nvPr/>
        </p:nvCxnSpPr>
        <p:spPr>
          <a:xfrm rot="10800000">
            <a:off x="5696725" y="2385137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4" name="Google Shape;584;p36"/>
          <p:cNvSpPr/>
          <p:nvPr/>
        </p:nvSpPr>
        <p:spPr>
          <a:xfrm>
            <a:off x="4837113" y="2606675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80" name="Google Shape;580;p36"/>
          <p:cNvSpPr/>
          <p:nvPr/>
        </p:nvSpPr>
        <p:spPr>
          <a:xfrm>
            <a:off x="7486650" y="2606675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82" name="Google Shape;582;p36"/>
          <p:cNvSpPr/>
          <p:nvPr/>
        </p:nvSpPr>
        <p:spPr>
          <a:xfrm>
            <a:off x="6435725" y="3124200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86" name="Google Shape;586;p36"/>
          <p:cNvSpPr txBox="1"/>
          <p:nvPr/>
        </p:nvSpPr>
        <p:spPr>
          <a:xfrm>
            <a:off x="6324600" y="2498725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587" name="Google Shape;587;p36"/>
          <p:cNvSpPr/>
          <p:nvPr/>
        </p:nvSpPr>
        <p:spPr>
          <a:xfrm>
            <a:off x="6553200" y="4251325"/>
            <a:ext cx="320675" cy="31908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88" name="Google Shape;588;p36"/>
          <p:cNvSpPr/>
          <p:nvPr/>
        </p:nvSpPr>
        <p:spPr>
          <a:xfrm>
            <a:off x="7964488" y="4762500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89" name="Google Shape;589;p36"/>
          <p:cNvSpPr/>
          <p:nvPr/>
        </p:nvSpPr>
        <p:spPr>
          <a:xfrm>
            <a:off x="5600700" y="4762500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90" name="Google Shape;590;p36"/>
          <p:cNvSpPr/>
          <p:nvPr/>
        </p:nvSpPr>
        <p:spPr>
          <a:xfrm>
            <a:off x="6188075" y="5257800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cxnSp>
        <p:nvCxnSpPr>
          <p:cNvPr id="591" name="Google Shape;591;p36"/>
          <p:cNvCxnSpPr>
            <a:stCxn id="587" idx="3"/>
            <a:endCxn id="589" idx="7"/>
          </p:cNvCxnSpPr>
          <p:nvPr/>
        </p:nvCxnSpPr>
        <p:spPr>
          <a:xfrm flipH="1">
            <a:off x="5872962" y="4523684"/>
            <a:ext cx="7272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36"/>
          <p:cNvCxnSpPr>
            <a:stCxn id="588" idx="1"/>
            <a:endCxn id="587" idx="5"/>
          </p:cNvCxnSpPr>
          <p:nvPr/>
        </p:nvCxnSpPr>
        <p:spPr>
          <a:xfrm rot="10800000">
            <a:off x="6826817" y="4523562"/>
            <a:ext cx="1184400" cy="28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36"/>
          <p:cNvCxnSpPr>
            <a:stCxn id="594" idx="7"/>
            <a:endCxn id="588" idx="3"/>
          </p:cNvCxnSpPr>
          <p:nvPr/>
        </p:nvCxnSpPr>
        <p:spPr>
          <a:xfrm rot="10800000" flipH="1">
            <a:off x="7744488" y="5036262"/>
            <a:ext cx="2667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5" name="Google Shape;595;p36"/>
          <p:cNvCxnSpPr>
            <a:stCxn id="596" idx="7"/>
            <a:endCxn id="589" idx="3"/>
          </p:cNvCxnSpPr>
          <p:nvPr/>
        </p:nvCxnSpPr>
        <p:spPr>
          <a:xfrm rot="10800000" flipH="1">
            <a:off x="5285684" y="5036262"/>
            <a:ext cx="361800" cy="26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6"/>
          <p:cNvCxnSpPr>
            <a:stCxn id="590" idx="1"/>
            <a:endCxn id="589" idx="5"/>
          </p:cNvCxnSpPr>
          <p:nvPr/>
        </p:nvCxnSpPr>
        <p:spPr>
          <a:xfrm rot="10800000">
            <a:off x="5872937" y="5036262"/>
            <a:ext cx="362100" cy="2685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6" name="Google Shape;596;p36"/>
          <p:cNvSpPr/>
          <p:nvPr/>
        </p:nvSpPr>
        <p:spPr>
          <a:xfrm>
            <a:off x="5013325" y="5257800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94" name="Google Shape;594;p36"/>
          <p:cNvSpPr/>
          <p:nvPr/>
        </p:nvSpPr>
        <p:spPr>
          <a:xfrm>
            <a:off x="7470775" y="5257800"/>
            <a:ext cx="320675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98" name="Google Shape;598;p36"/>
          <p:cNvSpPr txBox="1"/>
          <p:nvPr/>
        </p:nvSpPr>
        <p:spPr>
          <a:xfrm>
            <a:off x="6019800" y="1660525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  <p:sp>
        <p:nvSpPr>
          <p:cNvPr id="599" name="Google Shape;599;p36"/>
          <p:cNvSpPr txBox="1"/>
          <p:nvPr/>
        </p:nvSpPr>
        <p:spPr>
          <a:xfrm>
            <a:off x="5791200" y="2193925"/>
            <a:ext cx="3238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xóa</a:t>
            </a:r>
            <a:r>
              <a:rPr lang="en-US" dirty="0" smtClean="0"/>
              <a:t> (</a:t>
            </a:r>
            <a:r>
              <a:rPr lang="en-US" dirty="0" err="1" smtClean="0"/>
              <a:t>tiếp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</p:txBody>
      </p:sp>
      <p:sp>
        <p:nvSpPr>
          <p:cNvPr id="605" name="Google Shape;605;p3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3886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  <a:buSzPts val="2000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trường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dirty="0" smtClean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2 con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lvl="1" indent="-285750">
              <a:spcBef>
                <a:spcPts val="360"/>
              </a:spcBef>
              <a:buSzPts val="1800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tự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sắp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/>
              <a:t>phương</a:t>
            </a:r>
            <a:r>
              <a:rPr lang="en-US" sz="1800" dirty="0" smtClean="0"/>
              <a:t> </a:t>
            </a:r>
            <a:r>
              <a:rPr lang="en-US" sz="1800" dirty="0" err="1" smtClean="0"/>
              <a:t>pháp</a:t>
            </a:r>
            <a:r>
              <a:rPr lang="en-US" sz="1800" dirty="0" smtClean="0"/>
              <a:t> </a:t>
            </a:r>
            <a:r>
              <a:rPr lang="en-US" sz="1800" dirty="0" err="1" smtClean="0"/>
              <a:t>duyệt</a:t>
            </a:r>
            <a:r>
              <a:rPr lang="en-US" sz="1800" dirty="0" smtClean="0"/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inorder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/>
              <a:t>lá</a:t>
            </a:r>
            <a:r>
              <a:rPr lang="en-US" sz="1800" dirty="0" smtClean="0"/>
              <a:t> </a:t>
            </a:r>
            <a:r>
              <a:rPr lang="en-US" sz="1800" dirty="0" err="1" smtClean="0"/>
              <a:t>trái</a:t>
            </a:r>
            <a:r>
              <a:rPr lang="en-US" sz="1800" dirty="0" smtClean="0"/>
              <a:t> </a:t>
            </a:r>
            <a:r>
              <a:rPr lang="en-US" sz="1800" dirty="0" err="1" smtClean="0"/>
              <a:t>nhất</a:t>
            </a:r>
            <a:r>
              <a:rPr lang="en-US" sz="1800" dirty="0" smtClean="0"/>
              <a:t> </a:t>
            </a:r>
            <a:r>
              <a:rPr lang="en-US" sz="1800" dirty="0" err="1" smtClean="0"/>
              <a:t>của</a:t>
            </a:r>
            <a:r>
              <a:rPr lang="en-US" sz="1800" dirty="0" smtClean="0"/>
              <a:t> con </a:t>
            </a:r>
            <a:r>
              <a:rPr lang="en-US" sz="1800" dirty="0" err="1" smtClean="0"/>
              <a:t>phải</a:t>
            </a:r>
            <a:r>
              <a:rPr lang="en-US" sz="1800" dirty="0" smtClean="0"/>
              <a:t> </a:t>
            </a:r>
            <a:r>
              <a:rPr lang="en-US" sz="1800" dirty="0" err="1" smtClean="0"/>
              <a:t>của</a:t>
            </a:r>
            <a:r>
              <a:rPr lang="en-US" sz="1800" dirty="0" smtClean="0"/>
              <a:t> </a:t>
            </a:r>
            <a:r>
              <a:rPr lang="en-US" sz="1800" b="1" i="1" dirty="0" smtClean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dirty="0" err="1" smtClean="0"/>
              <a:t>Thay</a:t>
            </a:r>
            <a:r>
              <a:rPr lang="en-US" sz="1800" dirty="0" smtClean="0"/>
              <a:t> </a:t>
            </a:r>
            <a:r>
              <a:rPr lang="en-US" sz="1800" dirty="0" err="1" smtClean="0"/>
              <a:t>thế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1800" i="0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</a:t>
            </a:r>
            <a:r>
              <a:rPr lang="en-US" sz="18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/>
              <a:t>đỉnh</a:t>
            </a:r>
            <a:r>
              <a:rPr lang="en-US" sz="1800" dirty="0" smtClean="0"/>
              <a:t> </a:t>
            </a:r>
            <a:r>
              <a:rPr lang="en-US" sz="18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6" name="Google Shape;606;p37"/>
          <p:cNvSpPr/>
          <p:nvPr/>
        </p:nvSpPr>
        <p:spPr>
          <a:xfrm flipH="1">
            <a:off x="6248400" y="2343150"/>
            <a:ext cx="320675" cy="319088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07" name="Google Shape;607;p37"/>
          <p:cNvSpPr/>
          <p:nvPr/>
        </p:nvSpPr>
        <p:spPr>
          <a:xfrm flipH="1">
            <a:off x="5257800" y="1960563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08" name="Google Shape;608;p37"/>
          <p:cNvSpPr/>
          <p:nvPr/>
        </p:nvSpPr>
        <p:spPr>
          <a:xfrm flipH="1">
            <a:off x="7586663" y="2722563"/>
            <a:ext cx="319087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609" name="Google Shape;609;p37"/>
          <p:cNvSpPr/>
          <p:nvPr/>
        </p:nvSpPr>
        <p:spPr>
          <a:xfrm flipH="1">
            <a:off x="6997700" y="3195638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610" name="Google Shape;610;p37"/>
          <p:cNvCxnSpPr>
            <a:stCxn id="606" idx="3"/>
            <a:endCxn id="608" idx="7"/>
          </p:cNvCxnSpPr>
          <p:nvPr/>
        </p:nvCxnSpPr>
        <p:spPr>
          <a:xfrm>
            <a:off x="6522113" y="2615509"/>
            <a:ext cx="1111200" cy="153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" name="Google Shape;611;p37"/>
          <p:cNvCxnSpPr>
            <a:stCxn id="607" idx="3"/>
            <a:endCxn id="606" idx="7"/>
          </p:cNvCxnSpPr>
          <p:nvPr/>
        </p:nvCxnSpPr>
        <p:spPr>
          <a:xfrm>
            <a:off x="5530159" y="2234276"/>
            <a:ext cx="765300" cy="1557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2" name="Google Shape;612;p37"/>
          <p:cNvCxnSpPr>
            <a:stCxn id="613" idx="1"/>
            <a:endCxn id="609" idx="5"/>
          </p:cNvCxnSpPr>
          <p:nvPr/>
        </p:nvCxnSpPr>
        <p:spPr>
          <a:xfrm rot="10800000" flipH="1">
            <a:off x="6847552" y="3469350"/>
            <a:ext cx="197100" cy="2622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4" name="Google Shape;614;p37"/>
          <p:cNvCxnSpPr>
            <a:stCxn id="615" idx="7"/>
            <a:endCxn id="608" idx="3"/>
          </p:cNvCxnSpPr>
          <p:nvPr/>
        </p:nvCxnSpPr>
        <p:spPr>
          <a:xfrm rot="10800000">
            <a:off x="7858967" y="2996300"/>
            <a:ext cx="361800" cy="24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6" name="Google Shape;616;p37"/>
          <p:cNvCxnSpPr>
            <a:stCxn id="609" idx="1"/>
            <a:endCxn id="608" idx="5"/>
          </p:cNvCxnSpPr>
          <p:nvPr/>
        </p:nvCxnSpPr>
        <p:spPr>
          <a:xfrm rot="10800000" flipH="1">
            <a:off x="7271413" y="2996300"/>
            <a:ext cx="362100" cy="2463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5" name="Google Shape;615;p37"/>
          <p:cNvSpPr/>
          <p:nvPr/>
        </p:nvSpPr>
        <p:spPr>
          <a:xfrm flipH="1">
            <a:off x="8174038" y="3195638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613" name="Google Shape;613;p37"/>
          <p:cNvSpPr/>
          <p:nvPr/>
        </p:nvSpPr>
        <p:spPr>
          <a:xfrm flipH="1">
            <a:off x="6573838" y="3684588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17" name="Google Shape;617;p37"/>
          <p:cNvSpPr txBox="1"/>
          <p:nvPr/>
        </p:nvSpPr>
        <p:spPr>
          <a:xfrm flipH="1">
            <a:off x="6477000" y="2052638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18" name="Google Shape;618;p37"/>
          <p:cNvSpPr txBox="1"/>
          <p:nvPr/>
        </p:nvSpPr>
        <p:spPr>
          <a:xfrm flipH="1">
            <a:off x="6286500" y="3449638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619" name="Google Shape;619;p37"/>
          <p:cNvSpPr/>
          <p:nvPr/>
        </p:nvSpPr>
        <p:spPr>
          <a:xfrm flipH="1">
            <a:off x="5486400" y="2722563"/>
            <a:ext cx="319088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620" name="Google Shape;620;p37"/>
          <p:cNvCxnSpPr>
            <a:stCxn id="619" idx="1"/>
            <a:endCxn id="606" idx="5"/>
          </p:cNvCxnSpPr>
          <p:nvPr/>
        </p:nvCxnSpPr>
        <p:spPr>
          <a:xfrm rot="10800000" flipH="1">
            <a:off x="5758759" y="2615625"/>
            <a:ext cx="536700" cy="15390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1" name="Google Shape;621;p37"/>
          <p:cNvSpPr/>
          <p:nvPr/>
        </p:nvSpPr>
        <p:spPr>
          <a:xfrm flipH="1">
            <a:off x="6324600" y="4725988"/>
            <a:ext cx="320675" cy="319087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22" name="Google Shape;622;p37"/>
          <p:cNvSpPr/>
          <p:nvPr/>
        </p:nvSpPr>
        <p:spPr>
          <a:xfrm flipH="1">
            <a:off x="5334000" y="4343400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23" name="Google Shape;623;p37"/>
          <p:cNvSpPr/>
          <p:nvPr/>
        </p:nvSpPr>
        <p:spPr>
          <a:xfrm flipH="1">
            <a:off x="7662863" y="5075238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624" name="Google Shape;624;p37"/>
          <p:cNvSpPr/>
          <p:nvPr/>
        </p:nvSpPr>
        <p:spPr>
          <a:xfrm flipH="1">
            <a:off x="7073900" y="5548313"/>
            <a:ext cx="320675" cy="320675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625" name="Google Shape;625;p37"/>
          <p:cNvCxnSpPr>
            <a:stCxn id="621" idx="3"/>
            <a:endCxn id="623" idx="7"/>
          </p:cNvCxnSpPr>
          <p:nvPr/>
        </p:nvCxnSpPr>
        <p:spPr>
          <a:xfrm>
            <a:off x="6598313" y="4998346"/>
            <a:ext cx="1111200" cy="1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37"/>
          <p:cNvCxnSpPr>
            <a:stCxn id="622" idx="3"/>
            <a:endCxn id="621" idx="7"/>
          </p:cNvCxnSpPr>
          <p:nvPr/>
        </p:nvCxnSpPr>
        <p:spPr>
          <a:xfrm>
            <a:off x="5606359" y="4617113"/>
            <a:ext cx="7653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7" name="Google Shape;627;p37"/>
          <p:cNvCxnSpPr>
            <a:stCxn id="628" idx="7"/>
            <a:endCxn id="623" idx="3"/>
          </p:cNvCxnSpPr>
          <p:nvPr/>
        </p:nvCxnSpPr>
        <p:spPr>
          <a:xfrm rot="10800000">
            <a:off x="7935167" y="5348975"/>
            <a:ext cx="361800" cy="24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37"/>
          <p:cNvCxnSpPr>
            <a:stCxn id="624" idx="1"/>
            <a:endCxn id="623" idx="5"/>
          </p:cNvCxnSpPr>
          <p:nvPr/>
        </p:nvCxnSpPr>
        <p:spPr>
          <a:xfrm rot="10800000" flipH="1">
            <a:off x="7347613" y="5348975"/>
            <a:ext cx="362100" cy="24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8" name="Google Shape;628;p37"/>
          <p:cNvSpPr/>
          <p:nvPr/>
        </p:nvSpPr>
        <p:spPr>
          <a:xfrm flipH="1">
            <a:off x="8250238" y="5548313"/>
            <a:ext cx="319087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630" name="Google Shape;630;p37"/>
          <p:cNvSpPr txBox="1"/>
          <p:nvPr/>
        </p:nvSpPr>
        <p:spPr>
          <a:xfrm flipH="1">
            <a:off x="655320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31" name="Google Shape;631;p37"/>
          <p:cNvSpPr/>
          <p:nvPr/>
        </p:nvSpPr>
        <p:spPr>
          <a:xfrm flipH="1">
            <a:off x="5562600" y="5075238"/>
            <a:ext cx="319088" cy="32067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632" name="Google Shape;632;p37"/>
          <p:cNvCxnSpPr>
            <a:stCxn id="631" idx="1"/>
            <a:endCxn id="621" idx="5"/>
          </p:cNvCxnSpPr>
          <p:nvPr/>
        </p:nvCxnSpPr>
        <p:spPr>
          <a:xfrm rot="10800000" flipH="1">
            <a:off x="5834959" y="4998300"/>
            <a:ext cx="536700" cy="1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3" name="Google Shape;633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endParaRPr dirty="0"/>
          </a:p>
        </p:txBody>
      </p:sp>
      <p:sp>
        <p:nvSpPr>
          <p:cNvPr id="639" name="Google Shape;639;p3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3733800" cy="492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kiếm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cao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endParaRPr dirty="0" smtClean="0"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 smtClean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dirty="0" err="1" smtClean="0"/>
              <a:t>Độ</a:t>
            </a:r>
            <a:r>
              <a:rPr lang="en-US" sz="2000" dirty="0" smtClean="0"/>
              <a:t> cao </a:t>
            </a:r>
            <a:r>
              <a:rPr lang="en-US" sz="2000" dirty="0" err="1" smtClean="0"/>
              <a:t>của</a:t>
            </a:r>
            <a:r>
              <a:rPr lang="en-US" sz="2000" dirty="0" smtClean="0"/>
              <a:t> </a:t>
            </a:r>
            <a:r>
              <a:rPr lang="en-US" sz="2000" dirty="0" err="1" smtClean="0"/>
              <a:t>cây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Trường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tồi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O(n)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dirty="0" err="1" smtClean="0"/>
              <a:t>Trường</a:t>
            </a:r>
            <a:r>
              <a:rPr lang="en-US" sz="2000" dirty="0" smtClean="0"/>
              <a:t> </a:t>
            </a:r>
            <a:r>
              <a:rPr lang="en-US" sz="2000" dirty="0" err="1" smtClean="0"/>
              <a:t>hợp</a:t>
            </a:r>
            <a:r>
              <a:rPr lang="en-US" sz="2000" dirty="0" smtClean="0"/>
              <a:t> </a:t>
            </a:r>
            <a:r>
              <a:rPr lang="en-US" sz="2000" dirty="0" err="1" smtClean="0"/>
              <a:t>tốt</a:t>
            </a:r>
            <a:r>
              <a:rPr lang="en-US" sz="2000" dirty="0" smtClean="0"/>
              <a:t> </a:t>
            </a:r>
            <a:r>
              <a:rPr lang="en-US" sz="2000" dirty="0" err="1" smtClean="0"/>
              <a:t>nhất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O(log n)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heap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bằng</a:t>
            </a:r>
            <a:endParaRPr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>
              <a:spcBef>
                <a:spcPts val="400"/>
              </a:spcBef>
              <a:buSzPts val="2000"/>
              <a:buNone/>
            </a:pP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Cân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cây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heap: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Khi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chèn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hoặc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xóa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làm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cây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heap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cân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toán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cân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cần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lại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cây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0" name="Google Shape;640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p38"/>
          <p:cNvGrpSpPr/>
          <p:nvPr/>
        </p:nvGrpSpPr>
        <p:grpSpPr>
          <a:xfrm>
            <a:off x="5429250" y="1676400"/>
            <a:ext cx="2570163" cy="1812925"/>
            <a:chOff x="3120" y="960"/>
            <a:chExt cx="1893" cy="1335"/>
          </a:xfrm>
        </p:grpSpPr>
        <p:sp>
          <p:nvSpPr>
            <p:cNvPr id="642" name="Google Shape;642;p38"/>
            <p:cNvSpPr/>
            <p:nvPr/>
          </p:nvSpPr>
          <p:spPr>
            <a:xfrm flipH="1">
              <a:off x="3120" y="960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43" name="Google Shape;643;p38"/>
            <p:cNvCxnSpPr>
              <a:stCxn id="644" idx="3"/>
              <a:endCxn id="645" idx="7"/>
            </p:cNvCxnSpPr>
            <p:nvPr/>
          </p:nvCxnSpPr>
          <p:spPr>
            <a:xfrm>
              <a:off x="3714" y="1415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8"/>
            <p:cNvCxnSpPr>
              <a:stCxn id="642" idx="3"/>
              <a:endCxn id="644" idx="7"/>
            </p:cNvCxnSpPr>
            <p:nvPr/>
          </p:nvCxnSpPr>
          <p:spPr>
            <a:xfrm>
              <a:off x="3292" y="1132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38"/>
            <p:cNvCxnSpPr>
              <a:stCxn id="648" idx="7"/>
              <a:endCxn id="649" idx="3"/>
            </p:cNvCxnSpPr>
            <p:nvPr/>
          </p:nvCxnSpPr>
          <p:spPr>
            <a:xfrm rot="10800000">
              <a:off x="4541" y="2123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0" name="Google Shape;650;p38"/>
            <p:cNvCxnSpPr>
              <a:stCxn id="649" idx="7"/>
              <a:endCxn id="645" idx="3"/>
            </p:cNvCxnSpPr>
            <p:nvPr/>
          </p:nvCxnSpPr>
          <p:spPr>
            <a:xfrm rot="10800000">
              <a:off x="4117" y="1840"/>
              <a:ext cx="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8" name="Google Shape;648;p38"/>
            <p:cNvSpPr/>
            <p:nvPr/>
          </p:nvSpPr>
          <p:spPr>
            <a:xfrm flipH="1">
              <a:off x="4811" y="2093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5" name="Google Shape;645;p38"/>
            <p:cNvSpPr/>
            <p:nvPr/>
          </p:nvSpPr>
          <p:spPr>
            <a:xfrm flipH="1">
              <a:off x="3965" y="1527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4" name="Google Shape;644;p38"/>
            <p:cNvSpPr/>
            <p:nvPr/>
          </p:nvSpPr>
          <p:spPr>
            <a:xfrm flipH="1">
              <a:off x="3542" y="1243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9" name="Google Shape;649;p38"/>
            <p:cNvSpPr/>
            <p:nvPr/>
          </p:nvSpPr>
          <p:spPr>
            <a:xfrm flipH="1">
              <a:off x="4387" y="1810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51" name="Google Shape;651;p38"/>
          <p:cNvSpPr/>
          <p:nvPr/>
        </p:nvSpPr>
        <p:spPr>
          <a:xfrm>
            <a:off x="6629400" y="4191000"/>
            <a:ext cx="285750" cy="2841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2" name="Google Shape;652;p38"/>
          <p:cNvCxnSpPr>
            <a:stCxn id="651" idx="3"/>
            <a:endCxn id="653" idx="7"/>
          </p:cNvCxnSpPr>
          <p:nvPr/>
        </p:nvCxnSpPr>
        <p:spPr>
          <a:xfrm flipH="1">
            <a:off x="5812947" y="4433548"/>
            <a:ext cx="858300" cy="25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4" name="Google Shape;654;p38"/>
          <p:cNvCxnSpPr>
            <a:stCxn id="655" idx="1"/>
            <a:endCxn id="651" idx="5"/>
          </p:cNvCxnSpPr>
          <p:nvPr/>
        </p:nvCxnSpPr>
        <p:spPr>
          <a:xfrm rot="10800000">
            <a:off x="6873165" y="4433547"/>
            <a:ext cx="858300" cy="25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8"/>
          <p:cNvSpPr/>
          <p:nvPr/>
        </p:nvSpPr>
        <p:spPr>
          <a:xfrm>
            <a:off x="5570538" y="4646613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38"/>
          <p:cNvSpPr/>
          <p:nvPr/>
        </p:nvSpPr>
        <p:spPr>
          <a:xfrm>
            <a:off x="6092825" y="5102225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7" name="Google Shape;657;p38"/>
          <p:cNvCxnSpPr>
            <a:stCxn id="658" idx="7"/>
            <a:endCxn id="653" idx="3"/>
          </p:cNvCxnSpPr>
          <p:nvPr/>
        </p:nvCxnSpPr>
        <p:spPr>
          <a:xfrm rot="10800000" flipH="1">
            <a:off x="5290798" y="4890572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38"/>
          <p:cNvCxnSpPr>
            <a:stCxn id="656" idx="1"/>
            <a:endCxn id="653" idx="5"/>
          </p:cNvCxnSpPr>
          <p:nvPr/>
        </p:nvCxnSpPr>
        <p:spPr>
          <a:xfrm rot="10800000">
            <a:off x="5813072" y="4890572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8" name="Google Shape;658;p38"/>
          <p:cNvSpPr/>
          <p:nvPr/>
        </p:nvSpPr>
        <p:spPr>
          <a:xfrm>
            <a:off x="5048250" y="5102225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5" name="Google Shape;655;p38"/>
          <p:cNvSpPr/>
          <p:nvPr/>
        </p:nvSpPr>
        <p:spPr>
          <a:xfrm>
            <a:off x="7689850" y="4648200"/>
            <a:ext cx="284163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38"/>
          <p:cNvSpPr/>
          <p:nvPr/>
        </p:nvSpPr>
        <p:spPr>
          <a:xfrm>
            <a:off x="8212138" y="5103813"/>
            <a:ext cx="285750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61" name="Google Shape;661;p38"/>
          <p:cNvCxnSpPr>
            <a:stCxn id="662" idx="7"/>
            <a:endCxn id="655" idx="3"/>
          </p:cNvCxnSpPr>
          <p:nvPr/>
        </p:nvCxnSpPr>
        <p:spPr>
          <a:xfrm rot="10800000" flipH="1">
            <a:off x="7410111" y="4892160"/>
            <a:ext cx="3213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3" name="Google Shape;663;p38"/>
          <p:cNvCxnSpPr>
            <a:stCxn id="660" idx="1"/>
            <a:endCxn id="655" idx="5"/>
          </p:cNvCxnSpPr>
          <p:nvPr/>
        </p:nvCxnSpPr>
        <p:spPr>
          <a:xfrm rot="10800000">
            <a:off x="7932385" y="4892160"/>
            <a:ext cx="321600" cy="25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2" name="Google Shape;662;p38"/>
          <p:cNvSpPr/>
          <p:nvPr/>
        </p:nvSpPr>
        <p:spPr>
          <a:xfrm>
            <a:off x="7167563" y="5103813"/>
            <a:ext cx="284162" cy="2857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4</a:t>
            </a:r>
            <a:endParaRPr dirty="0"/>
          </a:p>
        </p:txBody>
      </p:sp>
      <p:sp>
        <p:nvSpPr>
          <p:cNvPr id="669" name="Google Shape;669;p39"/>
          <p:cNvSpPr txBox="1">
            <a:spLocks noGrp="1"/>
          </p:cNvSpPr>
          <p:nvPr>
            <p:ph type="body" idx="1"/>
          </p:nvPr>
        </p:nvSpPr>
        <p:spPr>
          <a:xfrm>
            <a:off x="539552" y="1844824"/>
            <a:ext cx="8208912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kiếm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BST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34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15, 65, 62, 69, 42, 40, 80, 50, 59, 23, 46, 57, 3, 29 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Vẽ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cây</a:t>
            </a:r>
            <a:r>
              <a:rPr lang="en-US" sz="2400" dirty="0" smtClean="0"/>
              <a:t> </a:t>
            </a:r>
            <a:r>
              <a:rPr lang="en-US" sz="2400" dirty="0" err="1" smtClean="0"/>
              <a:t>BST</a:t>
            </a:r>
            <a:r>
              <a:rPr lang="en-US" sz="2400" dirty="0" smtClean="0"/>
              <a:t> </a:t>
            </a:r>
            <a:r>
              <a:rPr lang="en-US" sz="2400" dirty="0" err="1" smtClean="0"/>
              <a:t>sau</a:t>
            </a:r>
            <a:r>
              <a:rPr lang="en-US" sz="2400" dirty="0" smtClean="0"/>
              <a:t> </a:t>
            </a:r>
            <a:r>
              <a:rPr lang="en-US" sz="2400" dirty="0" err="1" smtClean="0"/>
              <a:t>khi</a:t>
            </a:r>
            <a:r>
              <a:rPr lang="en-US" sz="2400" dirty="0" smtClean="0"/>
              <a:t> </a:t>
            </a:r>
            <a:r>
              <a:rPr lang="en-US" sz="2400" dirty="0" err="1" smtClean="0"/>
              <a:t>xóa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khóa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62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42 </a:t>
            </a:r>
            <a:r>
              <a:rPr lang="en-US" sz="2400" dirty="0" err="1" smtClean="0"/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0" name="Google Shape;670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5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6" name="Google Shape;676;p40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Vẽ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BST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A S Y Q U E S T I O N 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Vẽ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BST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  <a:p>
            <a:pPr marL="0" marR="0" lvl="0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 A T A S T R U C T R E S A N D A L G O R I T H M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7" name="Google Shape;677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38DBD4BE-9372-4611-82B3-47028BBE33F2}"/>
  <p:tag name="ISPRING_RESOURCE_FOLDER" val="C:\Users\Administrator\Documents\CTDL&amp;GT\Cai tien MH CTDL_GT\CTDL_GT\Slides and exercises\Lecture06_trees_part2\Lecture 6_trees_part2\"/>
  <p:tag name="ISPRING_PRESENTATION_PATH" val="C:\Users\Administrator\Documents\CTDL&amp;GT\Cai tien MH CTDL_GT\CTDL_GT\Slides and exercises\Lecture06_trees_part2\Lecture 6_trees_part2.pptx"/>
  <p:tag name="ISPRING_PROJECT_VERSION" val="9"/>
  <p:tag name="ISPRING_PROJECT_FOLDER_UPDATED" val="1"/>
  <p:tag name="ISPRING_SCREEN_RECS_UPDATED" val="C:\Users\Administrator\Documents\CTDL&amp;GT\Cai tien MH CTDL_GT\CTDL_GT\Slides and exercises\Lecture06_trees_part2\Lecture 6_trees_part2\"/>
  <p:tag name="FLASHSPRING_ZOOM_TAG" val="63"/>
  <p:tag name="ISPRING_PRESENTATION_INFO_2" val="&lt;?xml version=&quot;1.0&quot; encoding=&quot;UTF-8&quot; standalone=&quot;no&quot; ?&gt;&#10;&lt;presentation2&gt;&#10;&#10;  &lt;slides&gt;&#10;    &lt;slide id=&quot;{23E5DE14-9ECC-4967-818C-A01D61203A68}&quot; pptId=&quot;256&quot;/&gt;&#10;    &lt;slide id=&quot;{A59C3067-DB6F-4FA5-97DB-0DFA47B04ED5}&quot; pptId=&quot;257&quot;/&gt;&#10;    &lt;slide id=&quot;{49683030-2B08-48A9-A5AC-8F6365C3CF7E}&quot; pptId=&quot;258&quot;/&gt;&#10;    &lt;slide id=&quot;{679AF561-F3CD-42FF-A56A-35095D074CE5}&quot; pptId=&quot;259&quot;/&gt;&#10;    &lt;slide id=&quot;{DB5F4797-5427-427E-AC97-3D152D50975B}&quot; pptId=&quot;260&quot;/&gt;&#10;    &lt;slide id=&quot;{1E7E1362-8065-4938-9F25-00367ADE21F8}&quot; pptId=&quot;261&quot;/&gt;&#10;    &lt;slide id=&quot;{9B957D1A-D523-4B8C-8B16-001F98941816}&quot; pptId=&quot;262&quot;/&gt;&#10;    &lt;slide id=&quot;{4731A4CF-FB53-444B-A6CE-D84B765AFDEA}&quot; pptId=&quot;284&quot;/&gt;&#10;    &lt;slide id=&quot;{3D351DE3-7A39-4913-ADD0-77B7660CD1D4}&quot; pptId=&quot;263&quot;/&gt;&#10;    &lt;slide id=&quot;{BC69CE83-2657-4702-9922-7F6325F16BF9}&quot; pptId=&quot;264&quot;/&gt;&#10;    &lt;slide id=&quot;{E452FA90-2A43-492A-B9EB-6787E83CD01E}&quot; pptId=&quot;265&quot;/&gt;&#10;    &lt;slide id=&quot;{25F1160B-C92D-40A0-BBE2-6DD0197B775E}&quot; pptId=&quot;267&quot;/&gt;&#10;    &lt;slide id=&quot;{03808CBC-DC12-4B51-8DCD-301E4F1FF4C0}&quot; pptId=&quot;285&quot;/&gt;&#10;    &lt;slide id=&quot;{5A228385-AD75-4B2B-82B6-B1EDFE281E3A}&quot; pptId=&quot;268&quot;/&gt;&#10;    &lt;slide id=&quot;{9F894243-6B9B-4FC0-B8C9-5D3C7FE6B8AC}&quot; pptId=&quot;269&quot;/&gt;&#10;    &lt;slide id=&quot;{76DA1004-D2FC-48D5-B403-E045ECA8D30F}&quot; pptId=&quot;270&quot;/&gt;&#10;    &lt;slide id=&quot;{10645548-AADB-414D-8766-5970206C7A21}&quot; pptId=&quot;271&quot;/&gt;&#10;    &lt;slide id=&quot;{352FBC1B-E7A2-442B-96B7-2F6E4D58862F}&quot; pptId=&quot;273&quot;/&gt;&#10;    &lt;slide id=&quot;{8D5B4D9C-DA3C-4F2C-93DC-2E010C2AAA66}&quot; pptId=&quot;274&quot;/&gt;&#10;    &lt;slide id=&quot;{FC226CDC-DAFE-483E-AF9B-35F383B086C2}&quot; pptId=&quot;275&quot;/&gt;&#10;    &lt;slide id=&quot;{F091F40C-5914-4B98-B8ED-7892790E57F0}&quot; pptId=&quot;276&quot;/&gt;&#10;    &lt;slide id=&quot;{D81713D3-7977-4333-9643-793201F51295}&quot; pptId=&quot;277&quot;/&gt;&#10;    &lt;slide id=&quot;{A7320F89-5A9A-44CA-90BA-BE7C2E4B0A62}&quot; pptId=&quot;278&quot;/&gt;&#10;    &lt;slide id=&quot;{7C38A48C-59B2-403E-BE83-0074822BC155}&quot; pptId=&quot;279&quot;/&gt;&#10;    &lt;slide id=&quot;{59061040-5D3B-40D8-9FA8-CFA34FF4282C}&quot; pptId=&quot;280&quot;/&gt;&#10;    &lt;slide id=&quot;{409B9F5F-66B7-4325-8795-4EA1AC8EFF2E}&quot; pptId=&quot;281&quot;/&gt;&#10;    &lt;slide id=&quot;{16C4A874-C986-412F-A3BE-4764B81391B2}&quot; pptId=&quot;282&quot;/&gt;&#10;    &lt;slide id=&quot;{A00D8D84-5E14-4B46-82DC-B1616724D97A}&quot; pptId=&quot;283&quot;/&gt;&#10;  &lt;/slides&gt;&#10;&#10;  &lt;narration&gt;&#10;    &lt;audioTracks&gt;&#10;      &lt;audioTrack muted=&quot;false&quot; name=&quot;Lect 6 part 1&quot; resource=&quot;f31dbd09&quot; slideId=&quot;{23E5DE14-9ECC-4967-818C-A01D61203A68}&quot; startTime=&quot;0&quot; stepIndex=&quot;0&quot; volume=&quot;1&quot;&gt;&#10;        &lt;audio channels=&quot;1&quot; format=&quot;s16&quot; sampleRate=&quot;48000&quot;/&gt;&#10;      &lt;/audioTrack&gt;&#10;      &lt;audioTrack muted=&quot;false&quot; name=&quot;Lect 6 part 2&quot; resource=&quot;99b62705&quot; slideId=&quot;{352FBC1B-E7A2-442B-96B7-2F6E4D58862F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939FA83A-1DC1-4867-9CA1-78DE64F7F012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6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6_trees_part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3E5DE14-9ECC-4967-818C-A01D61203A68}"/>
  <p:tag name="GENSWF_ADVANCE_TIME" val="3.999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9683030-2B08-48A9-A5AC-8F6365C3CF7E}"/>
  <p:tag name="GENSWF_ADVANCE_TIME" val="12.579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79AF561-F3CD-42FF-A56A-35095D074CE5}"/>
  <p:tag name="GENSWF_ADVANCE_TIME" val="17.584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B5F4797-5427-427E-AC97-3D152D50975B}"/>
  <p:tag name="GENSWF_ADVANCE_TIME" val="13.294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E7E1362-8065-4938-9F25-00367ADE21F8}"/>
  <p:tag name="GENSWF_ADVANCE_TIME" val="8.003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B957D1A-D523-4B8C-8B16-001F98941816}"/>
  <p:tag name="GENSWF_ADVANCE_TIME" val="1.854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731A4CF-FB53-444B-A6CE-D84B765AFDEA}"/>
  <p:tag name="GENSWF_ADVANCE_TIME" val="17.012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D351DE3-7A39-4913-ADD0-77B7660CD1D4}"/>
  <p:tag name="GENSWF_ADVANCE_TIME" val="6.144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C69CE83-2657-4702-9922-7F6325F16BF9}"/>
  <p:tag name="GENSWF_ADVANCE_TIME" val="7.288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452FA90-2A43-492A-B9EB-6787E83CD01E}"/>
  <p:tag name="GENSWF_ADVANCE_TIME" val="17.727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5F1160B-C92D-40A0-BBE2-6DD0197B775E}"/>
  <p:tag name="GENSWF_ADVANCE_TIME" val="27.737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3808CBC-DC12-4B51-8DCD-301E4F1FF4C0}"/>
  <p:tag name="GENSWF_ADVANCE_TIME" val="25.306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A228385-AD75-4B2B-82B6-B1EDFE281E3A}"/>
  <p:tag name="GENSWF_ADVANCE_TIME" val="7.717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F894243-6B9B-4FC0-B8C9-5D3C7FE6B8AC}"/>
  <p:tag name="GENSWF_ADVANCE_TIME" val="2.14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6DA1004-D2FC-48D5-B403-E045ECA8D30F}"/>
  <p:tag name="GENSWF_ADVANCE_TIME" val="7.288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0645548-AADB-414D-8766-5970206C7A21}"/>
  <p:tag name="GENSWF_ADVANCE_TIME" val="11.743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52FBC1B-E7A2-442B-96B7-2F6E4D58862F}"/>
  <p:tag name="GENSWF_ADVANCE_TIME" val="3.141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D5B4D9C-DA3C-4F2C-93DC-2E010C2AAA66}"/>
  <p:tag name="GENSWF_ADVANCE_TIME" val="18.871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C226CDC-DAFE-483E-AF9B-35F383B086C2}"/>
  <p:tag name="GENSWF_ADVANCE_TIME" val="12.436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091F40C-5914-4B98-B8ED-7892790E57F0}"/>
  <p:tag name="GENSWF_ADVANCE_TIME" val="17.87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81713D3-7977-4333-9643-793201F51295}"/>
  <p:tag name="GENSWF_ADVANCE_TIME" val="30.311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7320F89-5A9A-44CA-90BA-BE7C2E4B0A62}"/>
  <p:tag name="GENSWF_ADVANCE_TIME" val="5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C38A48C-59B2-403E-BE83-0074822BC155}"/>
  <p:tag name="GENSWF_ADVANCE_TIME" val="20.587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9061040-5D3B-40D8-9FA8-CFA34FF4282C}"/>
  <p:tag name="GENSWF_ADVANCE_TIME" val="12.007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09B9F5F-66B7-4325-8795-4EA1AC8EFF2E}"/>
  <p:tag name="GENSWF_ADVANCE_TIME" val="8.861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6C4A874-C986-412F-A3BE-4764B81391B2}"/>
  <p:tag name="GENSWF_ADVANCE_TIME" val="6.743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00D8D84-5E14-4B46-82DC-B1616724D97A}"/>
  <p:tag name="GENSWF_ADVANCE_TIME" val="8.575"/>
  <p:tag name="ISPRING_CUSTOM_TIMING_USED" val="1"/>
</p:tagLst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1298</Words>
  <Application>Microsoft Office PowerPoint</Application>
  <PresentationFormat>On-screen Show (4:3)</PresentationFormat>
  <Paragraphs>349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Helvetica Neue</vt:lpstr>
      <vt:lpstr>Times New Roman</vt:lpstr>
      <vt:lpstr>Noto Sans Symbols</vt:lpstr>
      <vt:lpstr>Tahoma</vt:lpstr>
      <vt:lpstr>Calibri</vt:lpstr>
      <vt:lpstr>1_Koi</vt:lpstr>
      <vt:lpstr>Cấu trúc dữ liệu và giải thuật</vt:lpstr>
      <vt:lpstr>Cây là gì?</vt:lpstr>
      <vt:lpstr>Biểu diễn cây</vt:lpstr>
      <vt:lpstr>Hàng đợi ưu tiên</vt:lpstr>
      <vt:lpstr>Hàng đợi ưu tiên</vt:lpstr>
      <vt:lpstr>Cây heap</vt:lpstr>
      <vt:lpstr>Cây heap</vt:lpstr>
      <vt:lpstr>Chèn đối tượng</vt:lpstr>
      <vt:lpstr>Heap tree insertion</vt:lpstr>
      <vt:lpstr>Heap tree insertion</vt:lpstr>
      <vt:lpstr>Heap tree insertion</vt:lpstr>
      <vt:lpstr>Exercise 2</vt:lpstr>
      <vt:lpstr>Loại bỏ đỉnh gốc</vt:lpstr>
      <vt:lpstr>Loại bỏ gốc</vt:lpstr>
      <vt:lpstr>Loại bỏ gốc</vt:lpstr>
      <vt:lpstr>Loại bỏ gốc</vt:lpstr>
      <vt:lpstr>Loại bỏ gốc</vt:lpstr>
      <vt:lpstr>Bài tập 3</vt:lpstr>
      <vt:lpstr>Độ phức tạp của các phép toán</vt:lpstr>
      <vt:lpstr>Sử dụng thư viện cho cây heap</vt:lpstr>
      <vt:lpstr>Cây tìm kiếm nhị phân</vt:lpstr>
      <vt:lpstr>Tìm kiếm</vt:lpstr>
      <vt:lpstr>Phép toán chèn</vt:lpstr>
      <vt:lpstr>Phép toán xóa</vt:lpstr>
      <vt:lpstr>Phép toán xóa (tiếp)</vt:lpstr>
      <vt:lpstr>Độ phức tạp</vt:lpstr>
      <vt:lpstr>Bài tập 4</vt:lpstr>
      <vt:lpstr>Bài tập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6_trees_part2</dc:title>
  <dc:creator>Administrator</dc:creator>
  <cp:lastModifiedBy>DHQG</cp:lastModifiedBy>
  <cp:revision>21</cp:revision>
  <dcterms:modified xsi:type="dcterms:W3CDTF">2019-10-15T04:11:07Z</dcterms:modified>
</cp:coreProperties>
</file>