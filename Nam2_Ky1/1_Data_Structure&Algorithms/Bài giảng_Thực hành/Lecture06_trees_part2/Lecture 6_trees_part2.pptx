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4" r:id="rId9"/>
    <p:sldId id="263" r:id="rId10"/>
    <p:sldId id="264" r:id="rId11"/>
    <p:sldId id="265" r:id="rId12"/>
    <p:sldId id="267" r:id="rId13"/>
    <p:sldId id="285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embeddedFontLst>
    <p:embeddedFont>
      <p:font typeface="Calibri" pitchFamily="34" charset="0"/>
      <p:regular r:id="rId31"/>
      <p:bold r:id="rId32"/>
      <p:italic r:id="rId33"/>
      <p:boldItalic r:id="rId34"/>
    </p:embeddedFont>
  </p:embeddedFontLst>
  <p:custDataLst>
    <p:tags r:id="rId3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-73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73228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Dictionaries</a:t>
            </a:r>
            <a:endParaRPr/>
          </a:p>
        </p:txBody>
      </p:sp>
      <p:sp>
        <p:nvSpPr>
          <p:cNvPr id="505" name="Google Shape;505;p22:notes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4/25/18 11:31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2:notes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38200" y="1709738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Structures and Algorithms</a:t>
            </a:r>
            <a:br>
              <a:rPr lang="en-US" sz="5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838200" y="33528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Trees – Part 2</a:t>
            </a:r>
            <a:endParaRPr/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914400" y="4628728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a Tree</a:t>
            </a:r>
            <a:endParaRPr/>
          </a:p>
        </p:txBody>
      </p:sp>
      <p:sp>
        <p:nvSpPr>
          <p:cNvPr id="100" name="Google Shape;100;p1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988840"/>
            <a:ext cx="3352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computer science, a tree is an abstract model of a hierarchical structure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tree consists of nodes with a parent-child relation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Applications: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Organization charts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File systems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Programming environments</a:t>
            </a:r>
            <a:endParaRPr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3657600" y="2204864"/>
            <a:ext cx="5240338" cy="3197225"/>
            <a:chOff x="2180" y="916"/>
            <a:chExt cx="3301" cy="2014"/>
          </a:xfrm>
        </p:grpSpPr>
        <p:sp>
          <p:nvSpPr>
            <p:cNvPr id="102" name="Google Shape;102;p14"/>
            <p:cNvSpPr/>
            <p:nvPr/>
          </p:nvSpPr>
          <p:spPr>
            <a:xfrm>
              <a:off x="3028" y="916"/>
              <a:ext cx="2148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Manufacturing Computer Company</a:t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2604" y="1533"/>
              <a:ext cx="43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Sales</a:t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5085" y="1533"/>
              <a:ext cx="396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R&amp;D</a:t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3977" y="1533"/>
              <a:ext cx="956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Manufacturing</a:t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3787" y="2109"/>
              <a:ext cx="591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Laptops</a:t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4512" y="2109"/>
              <a:ext cx="664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Desktops</a:t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2351" y="2108"/>
              <a:ext cx="29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</a:t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2783" y="2109"/>
              <a:ext cx="870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International</a:t>
              </a:r>
              <a:endParaRPr/>
            </a:p>
          </p:txBody>
        </p:sp>
        <p:cxnSp>
          <p:nvCxnSpPr>
            <p:cNvPr id="110" name="Google Shape;110;p14"/>
            <p:cNvCxnSpPr>
              <a:stCxn id="102" idx="2"/>
              <a:endCxn id="103" idx="0"/>
            </p:cNvCxnSpPr>
            <p:nvPr/>
          </p:nvCxnSpPr>
          <p:spPr>
            <a:xfrm flipH="1">
              <a:off x="2902" y="1152"/>
              <a:ext cx="12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14"/>
            <p:cNvCxnSpPr>
              <a:stCxn id="102" idx="2"/>
              <a:endCxn id="105" idx="0"/>
            </p:cNvCxnSpPr>
            <p:nvPr/>
          </p:nvCxnSpPr>
          <p:spPr>
            <a:xfrm>
              <a:off x="4102" y="1152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14"/>
            <p:cNvCxnSpPr>
              <a:stCxn id="102" idx="2"/>
              <a:endCxn id="104" idx="0"/>
            </p:cNvCxnSpPr>
            <p:nvPr/>
          </p:nvCxnSpPr>
          <p:spPr>
            <a:xfrm>
              <a:off x="4102" y="1152"/>
              <a:ext cx="12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14"/>
            <p:cNvCxnSpPr>
              <a:stCxn id="105" idx="2"/>
              <a:endCxn id="107" idx="0"/>
            </p:cNvCxnSpPr>
            <p:nvPr/>
          </p:nvCxnSpPr>
          <p:spPr>
            <a:xfrm>
              <a:off x="4455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p14"/>
            <p:cNvCxnSpPr>
              <a:stCxn id="105" idx="2"/>
              <a:endCxn id="106" idx="0"/>
            </p:cNvCxnSpPr>
            <p:nvPr/>
          </p:nvCxnSpPr>
          <p:spPr>
            <a:xfrm flipH="1">
              <a:off x="4155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14"/>
            <p:cNvCxnSpPr>
              <a:stCxn id="103" idx="2"/>
              <a:endCxn id="109" idx="0"/>
            </p:cNvCxnSpPr>
            <p:nvPr/>
          </p:nvCxnSpPr>
          <p:spPr>
            <a:xfrm>
              <a:off x="2823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14"/>
            <p:cNvCxnSpPr>
              <a:stCxn id="103" idx="2"/>
              <a:endCxn id="108" idx="0"/>
            </p:cNvCxnSpPr>
            <p:nvPr/>
          </p:nvCxnSpPr>
          <p:spPr>
            <a:xfrm flipH="1">
              <a:off x="2523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7" name="Google Shape;117;p14"/>
            <p:cNvSpPr/>
            <p:nvPr/>
          </p:nvSpPr>
          <p:spPr>
            <a:xfrm>
              <a:off x="2180" y="2688"/>
              <a:ext cx="54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Europe</a:t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3023" y="2688"/>
              <a:ext cx="374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Asia</a:t>
              </a:r>
              <a:endParaRPr/>
            </a:p>
          </p:txBody>
        </p:sp>
        <p:cxnSp>
          <p:nvCxnSpPr>
            <p:cNvPr id="119" name="Google Shape;119;p14"/>
            <p:cNvCxnSpPr>
              <a:stCxn id="109" idx="2"/>
              <a:endCxn id="118" idx="0"/>
            </p:cNvCxnSpPr>
            <p:nvPr/>
          </p:nvCxnSpPr>
          <p:spPr>
            <a:xfrm>
              <a:off x="3218" y="2351"/>
              <a:ext cx="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14"/>
            <p:cNvCxnSpPr>
              <a:stCxn id="109" idx="2"/>
              <a:endCxn id="117" idx="0"/>
            </p:cNvCxnSpPr>
            <p:nvPr/>
          </p:nvCxnSpPr>
          <p:spPr>
            <a:xfrm flipH="1">
              <a:off x="2318" y="2351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" name="Google Shape;121;p14"/>
            <p:cNvSpPr/>
            <p:nvPr/>
          </p:nvSpPr>
          <p:spPr>
            <a:xfrm>
              <a:off x="3698" y="2688"/>
              <a:ext cx="570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Canada</a:t>
              </a:r>
              <a:endParaRPr/>
            </a:p>
          </p:txBody>
        </p:sp>
        <p:cxnSp>
          <p:nvCxnSpPr>
            <p:cNvPr id="122" name="Google Shape;122;p14"/>
            <p:cNvCxnSpPr>
              <a:stCxn id="109" idx="2"/>
              <a:endCxn id="121" idx="0"/>
            </p:cNvCxnSpPr>
            <p:nvPr/>
          </p:nvCxnSpPr>
          <p:spPr>
            <a:xfrm>
              <a:off x="3218" y="2351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" name="Google Shape;123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 of Children Tree Presentation</a:t>
            </a:r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 &lt;class Item&gt;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 Node {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Item data;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List&lt;Node*&gt; children;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Node&lt;Item&gt;* root;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0" name="Google Shape;130;p15"/>
          <p:cNvGrpSpPr/>
          <p:nvPr/>
        </p:nvGrpSpPr>
        <p:grpSpPr>
          <a:xfrm>
            <a:off x="4038600" y="1828800"/>
            <a:ext cx="4061792" cy="4048472"/>
            <a:chOff x="2184" y="1141"/>
            <a:chExt cx="6844" cy="4259"/>
          </a:xfrm>
        </p:grpSpPr>
        <p:grpSp>
          <p:nvGrpSpPr>
            <p:cNvPr id="131" name="Google Shape;131;p15"/>
            <p:cNvGrpSpPr/>
            <p:nvPr/>
          </p:nvGrpSpPr>
          <p:grpSpPr>
            <a:xfrm>
              <a:off x="2184" y="1141"/>
              <a:ext cx="6844" cy="4259"/>
              <a:chOff x="2184" y="1141"/>
              <a:chExt cx="6844" cy="4259"/>
            </a:xfrm>
          </p:grpSpPr>
          <p:grpSp>
            <p:nvGrpSpPr>
              <p:cNvPr id="132" name="Google Shape;132;p15"/>
              <p:cNvGrpSpPr/>
              <p:nvPr/>
            </p:nvGrpSpPr>
            <p:grpSpPr>
              <a:xfrm>
                <a:off x="2184" y="2340"/>
                <a:ext cx="6844" cy="3060"/>
                <a:chOff x="2184" y="2340"/>
                <a:chExt cx="6844" cy="3060"/>
              </a:xfrm>
            </p:grpSpPr>
            <p:grpSp>
              <p:nvGrpSpPr>
                <p:cNvPr id="133" name="Google Shape;133;p15"/>
                <p:cNvGrpSpPr/>
                <p:nvPr/>
              </p:nvGrpSpPr>
              <p:grpSpPr>
                <a:xfrm>
                  <a:off x="2492" y="2340"/>
                  <a:ext cx="6536" cy="1980"/>
                  <a:chOff x="1952" y="2340"/>
                  <a:chExt cx="6536" cy="1980"/>
                </a:xfrm>
              </p:grpSpPr>
              <p:grpSp>
                <p:nvGrpSpPr>
                  <p:cNvPr id="134" name="Google Shape;134;p15"/>
                  <p:cNvGrpSpPr/>
                  <p:nvPr/>
                </p:nvGrpSpPr>
                <p:grpSpPr>
                  <a:xfrm>
                    <a:off x="4860" y="2340"/>
                    <a:ext cx="1620" cy="720"/>
                    <a:chOff x="4860" y="2340"/>
                    <a:chExt cx="1620" cy="720"/>
                  </a:xfrm>
                </p:grpSpPr>
                <p:sp>
                  <p:nvSpPr>
                    <p:cNvPr id="135" name="Google Shape;135;p15"/>
                    <p:cNvSpPr/>
                    <p:nvPr/>
                  </p:nvSpPr>
                  <p:spPr>
                    <a:xfrm>
                      <a:off x="4860" y="2340"/>
                      <a:ext cx="162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36" name="Google Shape;136;p15"/>
                    <p:cNvSpPr/>
                    <p:nvPr/>
                  </p:nvSpPr>
                  <p:spPr>
                    <a:xfrm>
                      <a:off x="486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37" name="Google Shape;137;p15"/>
                    <p:cNvSpPr/>
                    <p:nvPr/>
                  </p:nvSpPr>
                  <p:spPr>
                    <a:xfrm>
                      <a:off x="540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38" name="Google Shape;138;p15"/>
                    <p:cNvSpPr/>
                    <p:nvPr/>
                  </p:nvSpPr>
                  <p:spPr>
                    <a:xfrm>
                      <a:off x="594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39" name="Google Shape;139;p15"/>
                  <p:cNvGrpSpPr/>
                  <p:nvPr/>
                </p:nvGrpSpPr>
                <p:grpSpPr>
                  <a:xfrm>
                    <a:off x="1952" y="3605"/>
                    <a:ext cx="1153" cy="715"/>
                    <a:chOff x="4832" y="2345"/>
                    <a:chExt cx="1153" cy="715"/>
                  </a:xfrm>
                </p:grpSpPr>
                <p:sp>
                  <p:nvSpPr>
                    <p:cNvPr id="140" name="Google Shape;140;p15"/>
                    <p:cNvSpPr/>
                    <p:nvPr/>
                  </p:nvSpPr>
                  <p:spPr>
                    <a:xfrm>
                      <a:off x="4832" y="2345"/>
                      <a:ext cx="1153" cy="39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141" name="Google Shape;141;p15"/>
                    <p:cNvSpPr/>
                    <p:nvPr/>
                  </p:nvSpPr>
                  <p:spPr>
                    <a:xfrm>
                      <a:off x="4832" y="2700"/>
                      <a:ext cx="56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2" name="Google Shape;142;p15"/>
                    <p:cNvSpPr/>
                    <p:nvPr/>
                  </p:nvSpPr>
                  <p:spPr>
                    <a:xfrm>
                      <a:off x="5400" y="2700"/>
                      <a:ext cx="585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43" name="Google Shape;143;p15"/>
                  <p:cNvGrpSpPr/>
                  <p:nvPr/>
                </p:nvGrpSpPr>
                <p:grpSpPr>
                  <a:xfrm>
                    <a:off x="7560" y="3600"/>
                    <a:ext cx="928" cy="720"/>
                    <a:chOff x="4860" y="2340"/>
                    <a:chExt cx="928" cy="720"/>
                  </a:xfrm>
                </p:grpSpPr>
                <p:sp>
                  <p:nvSpPr>
                    <p:cNvPr id="144" name="Google Shape;144;p15"/>
                    <p:cNvSpPr/>
                    <p:nvPr/>
                  </p:nvSpPr>
                  <p:spPr>
                    <a:xfrm>
                      <a:off x="4860" y="2340"/>
                      <a:ext cx="92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5" name="Google Shape;145;p15"/>
                    <p:cNvSpPr/>
                    <p:nvPr/>
                  </p:nvSpPr>
                  <p:spPr>
                    <a:xfrm>
                      <a:off x="4860" y="2700"/>
                      <a:ext cx="92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46" name="Google Shape;146;p15"/>
                  <p:cNvSpPr/>
                  <p:nvPr/>
                </p:nvSpPr>
                <p:spPr>
                  <a:xfrm>
                    <a:off x="4860" y="3600"/>
                    <a:ext cx="1620" cy="36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rPr lang="en-US" sz="24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C</a:t>
                    </a:r>
                    <a:endParaRPr sz="24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47" name="Google Shape;147;p15"/>
                <p:cNvSpPr/>
                <p:nvPr/>
              </p:nvSpPr>
              <p:spPr>
                <a:xfrm>
                  <a:off x="2184" y="5040"/>
                  <a:ext cx="615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" name="Google Shape;148;p15"/>
                <p:cNvSpPr/>
                <p:nvPr/>
              </p:nvSpPr>
              <p:spPr>
                <a:xfrm>
                  <a:off x="4140" y="5040"/>
                  <a:ext cx="736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" name="Google Shape;149;p15"/>
                <p:cNvSpPr/>
                <p:nvPr/>
              </p:nvSpPr>
              <p:spPr>
                <a:xfrm>
                  <a:off x="8100" y="5040"/>
                  <a:ext cx="928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0" name="Google Shape;150;p15"/>
              <p:cNvSpPr/>
              <p:nvPr/>
            </p:nvSpPr>
            <p:spPr>
              <a:xfrm>
                <a:off x="5484" y="1141"/>
                <a:ext cx="2001" cy="54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root</a:t>
                </a: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1" name="Google Shape;151;p15"/>
            <p:cNvGrpSpPr/>
            <p:nvPr/>
          </p:nvGrpSpPr>
          <p:grpSpPr>
            <a:xfrm>
              <a:off x="2520" y="1620"/>
              <a:ext cx="6300" cy="3420"/>
              <a:chOff x="2520" y="1620"/>
              <a:chExt cx="6300" cy="3420"/>
            </a:xfrm>
          </p:grpSpPr>
          <p:cxnSp>
            <p:nvCxnSpPr>
              <p:cNvPr id="152" name="Google Shape;152;p15"/>
              <p:cNvCxnSpPr/>
              <p:nvPr/>
            </p:nvCxnSpPr>
            <p:spPr>
              <a:xfrm>
                <a:off x="6300" y="1620"/>
                <a:ext cx="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3" name="Google Shape;153;p15"/>
              <p:cNvCxnSpPr/>
              <p:nvPr/>
            </p:nvCxnSpPr>
            <p:spPr>
              <a:xfrm flipH="1">
                <a:off x="3600" y="2880"/>
                <a:ext cx="216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4" name="Google Shape;154;p15"/>
              <p:cNvCxnSpPr/>
              <p:nvPr/>
            </p:nvCxnSpPr>
            <p:spPr>
              <a:xfrm>
                <a:off x="6120" y="2880"/>
                <a:ext cx="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5" name="Google Shape;155;p15"/>
              <p:cNvCxnSpPr/>
              <p:nvPr/>
            </p:nvCxnSpPr>
            <p:spPr>
              <a:xfrm>
                <a:off x="6840" y="2880"/>
                <a:ext cx="198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6" name="Google Shape;156;p15"/>
              <p:cNvCxnSpPr/>
              <p:nvPr/>
            </p:nvCxnSpPr>
            <p:spPr>
              <a:xfrm flipH="1">
                <a:off x="2520" y="4140"/>
                <a:ext cx="36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7" name="Google Shape;157;p15"/>
              <p:cNvCxnSpPr/>
              <p:nvPr/>
            </p:nvCxnSpPr>
            <p:spPr>
              <a:xfrm>
                <a:off x="3240" y="4140"/>
                <a:ext cx="126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8" name="Google Shape;158;p15"/>
              <p:cNvCxnSpPr/>
              <p:nvPr/>
            </p:nvCxnSpPr>
            <p:spPr>
              <a:xfrm>
                <a:off x="8567" y="4127"/>
                <a:ext cx="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59" name="Google Shape;159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Priority Queue</a:t>
            </a:r>
            <a:endParaRPr/>
          </a:p>
        </p:txBody>
      </p:sp>
      <p:sp>
        <p:nvSpPr>
          <p:cNvPr id="165" name="Google Shape;165;p1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priority queue stores a collection of entries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entry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pair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(key, value)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methods of the Priority Queue ADT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x)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inserts an entry with key k and value 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removeMax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removes and returns the entry with smallest key</a:t>
            </a:r>
            <a:endParaRPr/>
          </a:p>
          <a:p>
            <a:pPr marL="742950" marR="0" lvl="1" indent="-1714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</p:txBody>
      </p:sp>
      <p:pic>
        <p:nvPicPr>
          <p:cNvPr id="166" name="Google Shape;16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5800" y="2057400"/>
            <a:ext cx="43561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Priority Queue</a:t>
            </a:r>
            <a:endParaRPr/>
          </a:p>
        </p:txBody>
      </p:sp>
      <p:sp>
        <p:nvSpPr>
          <p:cNvPr id="173" name="Google Shape;173;p1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2079625"/>
            <a:ext cx="7924800" cy="300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Additional methods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returns, but does not remove, an entry with smallest key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size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(), 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isEmpty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</a:t>
            </a:r>
            <a:endParaRPr/>
          </a:p>
          <a:p>
            <a:pPr marL="742950" marR="0" lvl="1" indent="-1714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Standby flyers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Auctions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Stock market</a:t>
            </a:r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116013" y="1930971"/>
            <a:ext cx="6911975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Heap tree is a binary tree where the value of any internal node is greater or equal to theirs children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Application: Build the priority queue</a:t>
            </a:r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4275336" y="3501008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44</a:t>
            </a:r>
            <a:endParaRPr sz="12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3" name="Google Shape;183;p18"/>
          <p:cNvCxnSpPr>
            <a:stCxn id="182" idx="3"/>
            <a:endCxn id="184" idx="7"/>
          </p:cNvCxnSpPr>
          <p:nvPr/>
        </p:nvCxnSpPr>
        <p:spPr>
          <a:xfrm flipH="1">
            <a:off x="3307003" y="3814509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8"/>
          <p:cNvCxnSpPr>
            <a:stCxn id="182" idx="5"/>
            <a:endCxn id="186" idx="1"/>
          </p:cNvCxnSpPr>
          <p:nvPr/>
        </p:nvCxnSpPr>
        <p:spPr>
          <a:xfrm>
            <a:off x="4669143" y="3814509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4" name="Google Shape;184;p18"/>
          <p:cNvSpPr/>
          <p:nvPr/>
        </p:nvSpPr>
        <p:spPr>
          <a:xfrm>
            <a:off x="2915246" y="426256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3544284" y="510430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8" name="Google Shape;188;p18"/>
          <p:cNvCxnSpPr>
            <a:stCxn id="184" idx="3"/>
            <a:endCxn id="189" idx="0"/>
          </p:cNvCxnSpPr>
          <p:nvPr/>
        </p:nvCxnSpPr>
        <p:spPr>
          <a:xfrm flipH="1">
            <a:off x="2475437" y="4577812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18"/>
          <p:cNvCxnSpPr>
            <a:stCxn id="184" idx="5"/>
            <a:endCxn id="187" idx="0"/>
          </p:cNvCxnSpPr>
          <p:nvPr/>
        </p:nvCxnSpPr>
        <p:spPr>
          <a:xfrm>
            <a:off x="3306865" y="4577812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9" name="Google Shape;189;p18"/>
          <p:cNvSpPr/>
          <p:nvPr/>
        </p:nvSpPr>
        <p:spPr>
          <a:xfrm>
            <a:off x="2245883" y="510430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5520914" y="427012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400196" y="5104490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92" name="Google Shape;192;p18"/>
          <p:cNvCxnSpPr>
            <a:stCxn id="186" idx="3"/>
            <a:endCxn id="193" idx="0"/>
          </p:cNvCxnSpPr>
          <p:nvPr/>
        </p:nvCxnSpPr>
        <p:spPr>
          <a:xfrm flipH="1">
            <a:off x="5145006" y="4585373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18"/>
          <p:cNvCxnSpPr>
            <a:stCxn id="186" idx="5"/>
            <a:endCxn id="191" idx="1"/>
          </p:cNvCxnSpPr>
          <p:nvPr/>
        </p:nvCxnSpPr>
        <p:spPr>
          <a:xfrm>
            <a:off x="5912535" y="4585373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3" name="Google Shape;193;p18"/>
          <p:cNvSpPr/>
          <p:nvPr/>
        </p:nvSpPr>
        <p:spPr>
          <a:xfrm>
            <a:off x="4915610" y="5104490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2849083" y="598611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96" name="Google Shape;196;p18"/>
          <p:cNvCxnSpPr>
            <a:stCxn id="189" idx="3"/>
            <a:endCxn id="197" idx="0"/>
          </p:cNvCxnSpPr>
          <p:nvPr/>
        </p:nvCxnSpPr>
        <p:spPr>
          <a:xfrm flipH="1">
            <a:off x="1779974" y="5419556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" name="Google Shape;198;p18"/>
          <p:cNvCxnSpPr>
            <a:stCxn id="189" idx="5"/>
            <a:endCxn id="195" idx="0"/>
          </p:cNvCxnSpPr>
          <p:nvPr/>
        </p:nvCxnSpPr>
        <p:spPr>
          <a:xfrm>
            <a:off x="2637504" y="5419556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7" name="Google Shape;197;p18"/>
          <p:cNvSpPr/>
          <p:nvPr/>
        </p:nvSpPr>
        <p:spPr>
          <a:xfrm>
            <a:off x="1550682" y="598611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3594197" y="598611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00" name="Google Shape;200;p18"/>
          <p:cNvCxnSpPr>
            <a:stCxn id="187" idx="4"/>
            <a:endCxn id="199" idx="0"/>
          </p:cNvCxnSpPr>
          <p:nvPr/>
        </p:nvCxnSpPr>
        <p:spPr>
          <a:xfrm>
            <a:off x="3774971" y="5473646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050035" y="2060848"/>
            <a:ext cx="6911975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operation: get the node with maximum value (the root)</a:t>
            </a:r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4275336" y="3140968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09" name="Google Shape;209;p19"/>
          <p:cNvCxnSpPr>
            <a:stCxn id="208" idx="3"/>
            <a:endCxn id="210" idx="7"/>
          </p:cNvCxnSpPr>
          <p:nvPr/>
        </p:nvCxnSpPr>
        <p:spPr>
          <a:xfrm flipH="1">
            <a:off x="3307003" y="3454469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1" name="Google Shape;211;p19"/>
          <p:cNvCxnSpPr>
            <a:stCxn id="208" idx="5"/>
            <a:endCxn id="212" idx="1"/>
          </p:cNvCxnSpPr>
          <p:nvPr/>
        </p:nvCxnSpPr>
        <p:spPr>
          <a:xfrm>
            <a:off x="4669143" y="3454469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" name="Google Shape;210;p19"/>
          <p:cNvSpPr/>
          <p:nvPr/>
        </p:nvSpPr>
        <p:spPr>
          <a:xfrm>
            <a:off x="2915246" y="390252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3544284" y="474426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4" name="Google Shape;214;p19"/>
          <p:cNvCxnSpPr>
            <a:stCxn id="210" idx="3"/>
            <a:endCxn id="215" idx="0"/>
          </p:cNvCxnSpPr>
          <p:nvPr/>
        </p:nvCxnSpPr>
        <p:spPr>
          <a:xfrm flipH="1">
            <a:off x="2475437" y="4217773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19"/>
          <p:cNvCxnSpPr>
            <a:stCxn id="210" idx="5"/>
            <a:endCxn id="213" idx="0"/>
          </p:cNvCxnSpPr>
          <p:nvPr/>
        </p:nvCxnSpPr>
        <p:spPr>
          <a:xfrm>
            <a:off x="3306865" y="4217773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5" name="Google Shape;215;p19"/>
          <p:cNvSpPr/>
          <p:nvPr/>
        </p:nvSpPr>
        <p:spPr>
          <a:xfrm>
            <a:off x="2245883" y="474426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520914" y="391008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6400196" y="4744450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8" name="Google Shape;218;p19"/>
          <p:cNvCxnSpPr>
            <a:stCxn id="212" idx="3"/>
            <a:endCxn id="219" idx="0"/>
          </p:cNvCxnSpPr>
          <p:nvPr/>
        </p:nvCxnSpPr>
        <p:spPr>
          <a:xfrm flipH="1">
            <a:off x="5145006" y="4225332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19"/>
          <p:cNvCxnSpPr>
            <a:stCxn id="212" idx="5"/>
            <a:endCxn id="217" idx="1"/>
          </p:cNvCxnSpPr>
          <p:nvPr/>
        </p:nvCxnSpPr>
        <p:spPr>
          <a:xfrm>
            <a:off x="5912535" y="4225332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9" name="Google Shape;219;p19"/>
          <p:cNvSpPr/>
          <p:nvPr/>
        </p:nvSpPr>
        <p:spPr>
          <a:xfrm>
            <a:off x="4915610" y="4744450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2849083" y="562607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2" name="Google Shape;222;p19"/>
          <p:cNvCxnSpPr>
            <a:stCxn id="215" idx="3"/>
            <a:endCxn id="223" idx="0"/>
          </p:cNvCxnSpPr>
          <p:nvPr/>
        </p:nvCxnSpPr>
        <p:spPr>
          <a:xfrm flipH="1">
            <a:off x="1779974" y="5059516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4" name="Google Shape;224;p19"/>
          <p:cNvCxnSpPr>
            <a:stCxn id="215" idx="5"/>
            <a:endCxn id="221" idx="0"/>
          </p:cNvCxnSpPr>
          <p:nvPr/>
        </p:nvCxnSpPr>
        <p:spPr>
          <a:xfrm>
            <a:off x="2637504" y="5059516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3" name="Google Shape;223;p19"/>
          <p:cNvSpPr/>
          <p:nvPr/>
        </p:nvSpPr>
        <p:spPr>
          <a:xfrm>
            <a:off x="1550682" y="562607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3594197" y="562607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6" name="Google Shape;226;p19"/>
          <p:cNvCxnSpPr>
            <a:stCxn id="213" idx="4"/>
            <a:endCxn id="225" idx="0"/>
          </p:cNvCxnSpPr>
          <p:nvPr/>
        </p:nvCxnSpPr>
        <p:spPr>
          <a:xfrm>
            <a:off x="3774971" y="5113606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insertion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539552" y="2133600"/>
            <a:ext cx="7488436" cy="28315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</a:t>
            </a:r>
            <a:r>
              <a:rPr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400" b="1" i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Step 1 − Create a new node at the end of heap.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Step 2 − Start the new node, compare the value at this node to its parent. If it is larger than its parent, swap them,  move up and continue Step 2.</a:t>
            </a:r>
            <a:endParaRPr/>
          </a:p>
        </p:txBody>
      </p:sp>
      <p:sp>
        <p:nvSpPr>
          <p:cNvPr id="311" name="Google Shape;311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23545647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insertion</a:t>
            </a:r>
            <a:endParaRPr/>
          </a:p>
        </p:txBody>
      </p:sp>
      <p:sp>
        <p:nvSpPr>
          <p:cNvPr id="232" name="Google Shape;232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34" name="Google Shape;234;p20"/>
          <p:cNvCxnSpPr>
            <a:stCxn id="233" idx="3"/>
            <a:endCxn id="235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6" name="Google Shape;236;p20"/>
          <p:cNvCxnSpPr>
            <a:stCxn id="233" idx="5"/>
            <a:endCxn id="237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5" name="Google Shape;235;p20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39" name="Google Shape;239;p20"/>
          <p:cNvCxnSpPr>
            <a:stCxn id="235" idx="3"/>
            <a:endCxn id="240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" name="Google Shape;241;p20"/>
          <p:cNvCxnSpPr>
            <a:stCxn id="235" idx="5"/>
            <a:endCxn id="238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0" name="Google Shape;240;p20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3" name="Google Shape;243;p20"/>
          <p:cNvCxnSpPr>
            <a:stCxn id="237" idx="3"/>
            <a:endCxn id="244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" name="Google Shape;245;p20"/>
          <p:cNvCxnSpPr>
            <a:stCxn id="237" idx="5"/>
            <a:endCxn id="242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" name="Google Shape;244;p20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7" name="Google Shape;247;p20"/>
          <p:cNvCxnSpPr>
            <a:stCxn id="240" idx="3"/>
            <a:endCxn id="248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9" name="Google Shape;249;p20"/>
          <p:cNvCxnSpPr>
            <a:stCxn id="240" idx="5"/>
            <a:endCxn id="246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8" name="Google Shape;248;p20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3824907" y="5050012"/>
            <a:ext cx="461374" cy="369340"/>
          </a:xfrm>
          <a:prstGeom prst="ellipse">
            <a:avLst/>
          </a:prstGeom>
          <a:solidFill>
            <a:srgbClr val="5189F5"/>
          </a:solidFill>
          <a:ln w="19050" cap="flat" cmpd="sng">
            <a:solidFill>
              <a:srgbClr val="131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51" name="Google Shape;251;p20"/>
          <p:cNvCxnSpPr>
            <a:stCxn id="238" idx="4"/>
            <a:endCxn id="250" idx="0"/>
          </p:cNvCxnSpPr>
          <p:nvPr/>
        </p:nvCxnSpPr>
        <p:spPr>
          <a:xfrm>
            <a:off x="4005681" y="4537542"/>
            <a:ext cx="49800" cy="512400"/>
          </a:xfrm>
          <a:prstGeom prst="straightConnector1">
            <a:avLst/>
          </a:prstGeom>
          <a:noFill/>
          <a:ln w="19050" cap="flat" cmpd="sng">
            <a:solidFill>
              <a:srgbClr val="13133B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20"/>
          <p:cNvSpPr txBox="1"/>
          <p:nvPr/>
        </p:nvSpPr>
        <p:spPr>
          <a:xfrm>
            <a:off x="1394825" y="2517715"/>
            <a:ext cx="13821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70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insertion</a:t>
            </a:r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0" name="Google Shape;260;p21"/>
          <p:cNvCxnSpPr>
            <a:stCxn id="259" idx="3"/>
            <a:endCxn id="261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2" name="Google Shape;262;p21"/>
          <p:cNvCxnSpPr>
            <a:stCxn id="259" idx="5"/>
            <a:endCxn id="263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1" name="Google Shape;261;p21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rgbClr val="5189F5"/>
          </a:solidFill>
          <a:ln w="19050" cap="flat" cmpd="sng">
            <a:solidFill>
              <a:srgbClr val="131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cxnSp>
        <p:nvCxnSpPr>
          <p:cNvPr id="265" name="Google Shape;265;p21"/>
          <p:cNvCxnSpPr>
            <a:stCxn id="261" idx="3"/>
            <a:endCxn id="266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7" name="Google Shape;267;p21"/>
          <p:cNvCxnSpPr>
            <a:stCxn id="261" idx="5"/>
            <a:endCxn id="264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6" name="Google Shape;266;p21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9" name="Google Shape;269;p21"/>
          <p:cNvCxnSpPr>
            <a:stCxn id="263" idx="3"/>
            <a:endCxn id="270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1" name="Google Shape;271;p21"/>
          <p:cNvCxnSpPr>
            <a:stCxn id="263" idx="5"/>
            <a:endCxn id="268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0" name="Google Shape;270;p21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73" name="Google Shape;273;p21"/>
          <p:cNvCxnSpPr>
            <a:stCxn id="266" idx="3"/>
            <a:endCxn id="274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5" name="Google Shape;275;p21"/>
          <p:cNvCxnSpPr>
            <a:stCxn id="266" idx="5"/>
            <a:endCxn id="272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4" name="Google Shape;274;p21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3824907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cxnSp>
        <p:nvCxnSpPr>
          <p:cNvPr id="277" name="Google Shape;277;p21"/>
          <p:cNvCxnSpPr>
            <a:stCxn id="264" idx="4"/>
            <a:endCxn id="276" idx="0"/>
          </p:cNvCxnSpPr>
          <p:nvPr/>
        </p:nvCxnSpPr>
        <p:spPr>
          <a:xfrm>
            <a:off x="4005681" y="4537542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8" name="Google Shape;278;p21"/>
          <p:cNvSpPr txBox="1"/>
          <p:nvPr/>
        </p:nvSpPr>
        <p:spPr>
          <a:xfrm>
            <a:off x="1394825" y="2517715"/>
            <a:ext cx="13821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70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insertion</a:t>
            </a:r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6" name="Google Shape;286;p22"/>
          <p:cNvCxnSpPr>
            <a:stCxn id="285" idx="3"/>
            <a:endCxn id="287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Google Shape;288;p22"/>
          <p:cNvCxnSpPr>
            <a:stCxn id="285" idx="5"/>
            <a:endCxn id="289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7" name="Google Shape;287;p22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rgbClr val="5189F5"/>
          </a:solidFill>
          <a:ln w="19050" cap="flat" cmpd="sng">
            <a:solidFill>
              <a:srgbClr val="131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291" name="Google Shape;291;p22"/>
          <p:cNvCxnSpPr>
            <a:stCxn id="287" idx="3"/>
            <a:endCxn id="292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3" name="Google Shape;293;p22"/>
          <p:cNvCxnSpPr>
            <a:stCxn id="287" idx="5"/>
            <a:endCxn id="290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2" name="Google Shape;292;p22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5" name="Google Shape;295;p22"/>
          <p:cNvCxnSpPr>
            <a:stCxn id="289" idx="3"/>
            <a:endCxn id="296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7" name="Google Shape;297;p22"/>
          <p:cNvCxnSpPr>
            <a:stCxn id="289" idx="5"/>
            <a:endCxn id="294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6" name="Google Shape;296;p22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9" name="Google Shape;299;p22"/>
          <p:cNvCxnSpPr>
            <a:stCxn id="292" idx="3"/>
            <a:endCxn id="300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" name="Google Shape;301;p22"/>
          <p:cNvCxnSpPr>
            <a:stCxn id="292" idx="5"/>
            <a:endCxn id="298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0" name="Google Shape;300;p22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3824907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cxnSp>
        <p:nvCxnSpPr>
          <p:cNvPr id="303" name="Google Shape;303;p22"/>
          <p:cNvCxnSpPr>
            <a:stCxn id="290" idx="4"/>
            <a:endCxn id="302" idx="0"/>
          </p:cNvCxnSpPr>
          <p:nvPr/>
        </p:nvCxnSpPr>
        <p:spPr>
          <a:xfrm>
            <a:off x="4005681" y="4537542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4" name="Google Shape;304;p22"/>
          <p:cNvSpPr txBox="1"/>
          <p:nvPr/>
        </p:nvSpPr>
        <p:spPr>
          <a:xfrm>
            <a:off x="1394825" y="2517715"/>
            <a:ext cx="13821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70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2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p2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Construct a max heap tree including: 52, 69, 38, 79, 66, 64, 72, 3, 16, 89, 15, 37, 0, 28, 73, 95.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the following numbers into the above max heap tree: 5, 3, 9, 7, 2, 4, 6, 1, 8.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 max</a:t>
            </a:r>
            <a:endParaRPr/>
          </a:p>
        </p:txBody>
      </p:sp>
      <p:sp>
        <p:nvSpPr>
          <p:cNvPr id="419" name="Google Shape;419;p29"/>
          <p:cNvSpPr txBox="1"/>
          <p:nvPr/>
        </p:nvSpPr>
        <p:spPr>
          <a:xfrm>
            <a:off x="683568" y="2060848"/>
            <a:ext cx="7848872" cy="338554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remove_max </a:t>
            </a:r>
            <a:r>
              <a:rPr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400" b="1" i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1 − Remove the root node.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2 − Move the last element of the heap to the root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3 − Start from the root, compare the value at the node to their children. If it is smaller than the largest child, swap them, move down and continue Step 2.</a:t>
            </a:r>
            <a:endParaRPr/>
          </a:p>
        </p:txBody>
      </p:sp>
      <p:sp>
        <p:nvSpPr>
          <p:cNvPr id="420" name="Google Shape;420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8540096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 max</a:t>
            </a:r>
            <a:endParaRPr/>
          </a:p>
        </p:txBody>
      </p:sp>
      <p:sp>
        <p:nvSpPr>
          <p:cNvPr id="324" name="Google Shape;324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26" name="Google Shape;326;p25"/>
          <p:cNvCxnSpPr>
            <a:stCxn id="325" idx="3"/>
            <a:endCxn id="327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8" name="Google Shape;328;p25"/>
          <p:cNvCxnSpPr>
            <a:stCxn id="325" idx="5"/>
            <a:endCxn id="329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7" name="Google Shape;327;p25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330" name="Google Shape;330;p25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331" name="Google Shape;331;p25"/>
          <p:cNvCxnSpPr>
            <a:stCxn id="327" idx="3"/>
            <a:endCxn id="332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3" name="Google Shape;333;p25"/>
          <p:cNvCxnSpPr>
            <a:stCxn id="327" idx="5"/>
            <a:endCxn id="330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2" name="Google Shape;332;p25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35" name="Google Shape;335;p25"/>
          <p:cNvCxnSpPr>
            <a:stCxn id="329" idx="3"/>
            <a:endCxn id="336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7" name="Google Shape;337;p25"/>
          <p:cNvCxnSpPr>
            <a:stCxn id="329" idx="5"/>
            <a:endCxn id="334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6" name="Google Shape;336;p25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39" name="Google Shape;339;p25"/>
          <p:cNvCxnSpPr>
            <a:stCxn id="332" idx="3"/>
            <a:endCxn id="340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1" name="Google Shape;341;p25"/>
          <p:cNvCxnSpPr>
            <a:stCxn id="332" idx="5"/>
            <a:endCxn id="338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0" name="Google Shape;340;p25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3824907" y="5050012"/>
            <a:ext cx="461374" cy="369340"/>
          </a:xfrm>
          <a:prstGeom prst="ellipse">
            <a:avLst/>
          </a:prstGeom>
          <a:solidFill>
            <a:srgbClr val="FF0000">
              <a:alpha val="49803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cxnSp>
        <p:nvCxnSpPr>
          <p:cNvPr id="343" name="Google Shape;343;p25"/>
          <p:cNvCxnSpPr>
            <a:stCxn id="330" idx="4"/>
            <a:endCxn id="342" idx="0"/>
          </p:cNvCxnSpPr>
          <p:nvPr/>
        </p:nvCxnSpPr>
        <p:spPr>
          <a:xfrm>
            <a:off x="4005681" y="4537542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4" name="Google Shape;344;p25"/>
          <p:cNvSpPr txBox="1"/>
          <p:nvPr/>
        </p:nvSpPr>
        <p:spPr>
          <a:xfrm>
            <a:off x="1394825" y="2517715"/>
            <a:ext cx="23599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value 95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6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 max</a:t>
            </a:r>
            <a:endParaRPr/>
          </a:p>
        </p:txBody>
      </p:sp>
      <p:sp>
        <p:nvSpPr>
          <p:cNvPr id="350" name="Google Shape;350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rgbClr val="FF0000">
              <a:alpha val="49803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cxnSp>
        <p:nvCxnSpPr>
          <p:cNvPr id="352" name="Google Shape;352;p26"/>
          <p:cNvCxnSpPr>
            <a:stCxn id="351" idx="3"/>
            <a:endCxn id="353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" name="Google Shape;354;p26"/>
          <p:cNvCxnSpPr>
            <a:stCxn id="351" idx="5"/>
            <a:endCxn id="355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3" name="Google Shape;353;p26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356" name="Google Shape;356;p26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357" name="Google Shape;357;p26"/>
          <p:cNvCxnSpPr>
            <a:stCxn id="353" idx="3"/>
            <a:endCxn id="358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" name="Google Shape;359;p26"/>
          <p:cNvCxnSpPr>
            <a:stCxn id="353" idx="5"/>
            <a:endCxn id="356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8" name="Google Shape;358;p26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61" name="Google Shape;361;p26"/>
          <p:cNvCxnSpPr>
            <a:stCxn id="355" idx="3"/>
            <a:endCxn id="362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26"/>
          <p:cNvCxnSpPr>
            <a:stCxn id="355" idx="5"/>
            <a:endCxn id="360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2" name="Google Shape;362;p26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65" name="Google Shape;365;p26"/>
          <p:cNvCxnSpPr>
            <a:stCxn id="358" idx="3"/>
            <a:endCxn id="366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26"/>
          <p:cNvCxnSpPr>
            <a:stCxn id="358" idx="5"/>
            <a:endCxn id="364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6" name="Google Shape;366;p26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deletion</a:t>
            </a:r>
            <a:endParaRPr/>
          </a:p>
        </p:txBody>
      </p:sp>
      <p:sp>
        <p:nvSpPr>
          <p:cNvPr id="373" name="Google Shape;373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/>
          </a:p>
        </p:txBody>
      </p:sp>
      <p:cxnSp>
        <p:nvCxnSpPr>
          <p:cNvPr id="375" name="Google Shape;375;p27"/>
          <p:cNvCxnSpPr>
            <a:stCxn id="374" idx="3"/>
            <a:endCxn id="376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7" name="Google Shape;377;p27"/>
          <p:cNvCxnSpPr>
            <a:stCxn id="374" idx="5"/>
            <a:endCxn id="378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6" name="Google Shape;376;p27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379" name="Google Shape;379;p27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380" name="Google Shape;380;p27"/>
          <p:cNvCxnSpPr>
            <a:stCxn id="376" idx="3"/>
            <a:endCxn id="381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2" name="Google Shape;382;p27"/>
          <p:cNvCxnSpPr>
            <a:stCxn id="376" idx="5"/>
            <a:endCxn id="379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1" name="Google Shape;381;p27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8" name="Google Shape;378;p27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rgbClr val="FF0000">
              <a:alpha val="49803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84" name="Google Shape;384;p27"/>
          <p:cNvCxnSpPr>
            <a:stCxn id="378" idx="3"/>
            <a:endCxn id="385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6" name="Google Shape;386;p27"/>
          <p:cNvCxnSpPr>
            <a:stCxn id="378" idx="5"/>
            <a:endCxn id="383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5" name="Google Shape;385;p27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88" name="Google Shape;388;p27"/>
          <p:cNvCxnSpPr>
            <a:stCxn id="381" idx="3"/>
            <a:endCxn id="389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0" name="Google Shape;390;p27"/>
          <p:cNvCxnSpPr>
            <a:stCxn id="381" idx="5"/>
            <a:endCxn id="387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9" name="Google Shape;389;p27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 max</a:t>
            </a:r>
            <a:endParaRPr/>
          </a:p>
        </p:txBody>
      </p:sp>
      <p:sp>
        <p:nvSpPr>
          <p:cNvPr id="396" name="Google Shape;396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/>
          </a:p>
        </p:txBody>
      </p:sp>
      <p:cxnSp>
        <p:nvCxnSpPr>
          <p:cNvPr id="398" name="Google Shape;398;p28"/>
          <p:cNvCxnSpPr>
            <a:stCxn id="397" idx="3"/>
            <a:endCxn id="399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0" name="Google Shape;400;p28"/>
          <p:cNvCxnSpPr>
            <a:stCxn id="397" idx="5"/>
            <a:endCxn id="401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9" name="Google Shape;399;p28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402" name="Google Shape;402;p28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403" name="Google Shape;403;p28"/>
          <p:cNvCxnSpPr>
            <a:stCxn id="399" idx="3"/>
            <a:endCxn id="404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" name="Google Shape;405;p28"/>
          <p:cNvCxnSpPr>
            <a:stCxn id="399" idx="5"/>
            <a:endCxn id="402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4" name="Google Shape;404;p28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/>
          </a:p>
        </p:txBody>
      </p:sp>
      <p:sp>
        <p:nvSpPr>
          <p:cNvPr id="406" name="Google Shape;406;p28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07" name="Google Shape;407;p28"/>
          <p:cNvCxnSpPr>
            <a:stCxn id="401" idx="3"/>
            <a:endCxn id="408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9" name="Google Shape;409;p28"/>
          <p:cNvCxnSpPr>
            <a:stCxn id="401" idx="5"/>
            <a:endCxn id="406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8" name="Google Shape;408;p28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rgbClr val="FF0000">
              <a:alpha val="49803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sp>
        <p:nvSpPr>
          <p:cNvPr id="410" name="Google Shape;410;p28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11" name="Google Shape;411;p28"/>
          <p:cNvCxnSpPr>
            <a:stCxn id="404" idx="3"/>
            <a:endCxn id="412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3" name="Google Shape;413;p28"/>
          <p:cNvCxnSpPr>
            <a:stCxn id="404" idx="5"/>
            <a:endCxn id="410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2" name="Google Shape;412;p28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3</a:t>
            </a:r>
            <a:endParaRPr/>
          </a:p>
        </p:txBody>
      </p:sp>
      <p:sp>
        <p:nvSpPr>
          <p:cNvPr id="426" name="Google Shape;426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0"/>
          <p:cNvSpPr txBox="1"/>
          <p:nvPr/>
        </p:nvSpPr>
        <p:spPr>
          <a:xfrm>
            <a:off x="683568" y="1844824"/>
            <a:ext cx="756084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 step by step of removing max from the following max heap tree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0"/>
          <p:cNvSpPr/>
          <p:nvPr/>
        </p:nvSpPr>
        <p:spPr>
          <a:xfrm>
            <a:off x="4275336" y="3140968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29" name="Google Shape;429;p30"/>
          <p:cNvCxnSpPr>
            <a:stCxn id="428" idx="3"/>
            <a:endCxn id="430" idx="7"/>
          </p:cNvCxnSpPr>
          <p:nvPr/>
        </p:nvCxnSpPr>
        <p:spPr>
          <a:xfrm flipH="1">
            <a:off x="3307003" y="3454469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1" name="Google Shape;431;p30"/>
          <p:cNvCxnSpPr>
            <a:stCxn id="428" idx="5"/>
            <a:endCxn id="432" idx="1"/>
          </p:cNvCxnSpPr>
          <p:nvPr/>
        </p:nvCxnSpPr>
        <p:spPr>
          <a:xfrm>
            <a:off x="4669143" y="3454469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0" name="Google Shape;430;p30"/>
          <p:cNvSpPr/>
          <p:nvPr/>
        </p:nvSpPr>
        <p:spPr>
          <a:xfrm>
            <a:off x="2915246" y="390252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3" name="Google Shape;433;p30"/>
          <p:cNvSpPr/>
          <p:nvPr/>
        </p:nvSpPr>
        <p:spPr>
          <a:xfrm>
            <a:off x="3544284" y="474426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4" name="Google Shape;434;p30"/>
          <p:cNvCxnSpPr>
            <a:stCxn id="430" idx="3"/>
            <a:endCxn id="435" idx="0"/>
          </p:cNvCxnSpPr>
          <p:nvPr/>
        </p:nvCxnSpPr>
        <p:spPr>
          <a:xfrm flipH="1">
            <a:off x="2475437" y="4217773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" name="Google Shape;436;p30"/>
          <p:cNvCxnSpPr>
            <a:stCxn id="430" idx="5"/>
            <a:endCxn id="433" idx="0"/>
          </p:cNvCxnSpPr>
          <p:nvPr/>
        </p:nvCxnSpPr>
        <p:spPr>
          <a:xfrm>
            <a:off x="3306865" y="4217773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5" name="Google Shape;435;p30"/>
          <p:cNvSpPr/>
          <p:nvPr/>
        </p:nvSpPr>
        <p:spPr>
          <a:xfrm>
            <a:off x="2245883" y="474426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2" name="Google Shape;432;p30"/>
          <p:cNvSpPr/>
          <p:nvPr/>
        </p:nvSpPr>
        <p:spPr>
          <a:xfrm>
            <a:off x="5520914" y="391008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7" name="Google Shape;437;p30"/>
          <p:cNvSpPr/>
          <p:nvPr/>
        </p:nvSpPr>
        <p:spPr>
          <a:xfrm>
            <a:off x="6400196" y="4744450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8" name="Google Shape;438;p30"/>
          <p:cNvCxnSpPr>
            <a:stCxn id="432" idx="3"/>
            <a:endCxn id="439" idx="0"/>
          </p:cNvCxnSpPr>
          <p:nvPr/>
        </p:nvCxnSpPr>
        <p:spPr>
          <a:xfrm flipH="1">
            <a:off x="5145006" y="4225332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0" name="Google Shape;440;p30"/>
          <p:cNvCxnSpPr>
            <a:stCxn id="432" idx="5"/>
            <a:endCxn id="437" idx="1"/>
          </p:cNvCxnSpPr>
          <p:nvPr/>
        </p:nvCxnSpPr>
        <p:spPr>
          <a:xfrm>
            <a:off x="5912535" y="4225332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9" name="Google Shape;439;p30"/>
          <p:cNvSpPr/>
          <p:nvPr/>
        </p:nvSpPr>
        <p:spPr>
          <a:xfrm>
            <a:off x="4915610" y="4744450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1" name="Google Shape;441;p30"/>
          <p:cNvSpPr/>
          <p:nvPr/>
        </p:nvSpPr>
        <p:spPr>
          <a:xfrm>
            <a:off x="2849083" y="562607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42" name="Google Shape;442;p30"/>
          <p:cNvCxnSpPr>
            <a:stCxn id="435" idx="3"/>
            <a:endCxn id="443" idx="0"/>
          </p:cNvCxnSpPr>
          <p:nvPr/>
        </p:nvCxnSpPr>
        <p:spPr>
          <a:xfrm flipH="1">
            <a:off x="1779974" y="5059516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4" name="Google Shape;444;p30"/>
          <p:cNvCxnSpPr>
            <a:stCxn id="435" idx="5"/>
            <a:endCxn id="441" idx="0"/>
          </p:cNvCxnSpPr>
          <p:nvPr/>
        </p:nvCxnSpPr>
        <p:spPr>
          <a:xfrm>
            <a:off x="2637504" y="5059516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3" name="Google Shape;443;p30"/>
          <p:cNvSpPr/>
          <p:nvPr/>
        </p:nvSpPr>
        <p:spPr>
          <a:xfrm>
            <a:off x="1550682" y="562607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5" name="Google Shape;445;p30"/>
          <p:cNvSpPr/>
          <p:nvPr/>
        </p:nvSpPr>
        <p:spPr>
          <a:xfrm>
            <a:off x="3594197" y="562607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46" name="Google Shape;446;p30"/>
          <p:cNvCxnSpPr>
            <a:stCxn id="433" idx="4"/>
            <a:endCxn id="445" idx="0"/>
          </p:cNvCxnSpPr>
          <p:nvPr/>
        </p:nvCxnSpPr>
        <p:spPr>
          <a:xfrm>
            <a:off x="3774971" y="5113606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performance</a:t>
            </a:r>
            <a:endParaRPr/>
          </a:p>
        </p:txBody>
      </p:sp>
      <p:sp>
        <p:nvSpPr>
          <p:cNvPr id="452" name="Google Shape;452;p31"/>
          <p:cNvSpPr txBox="1"/>
          <p:nvPr/>
        </p:nvSpPr>
        <p:spPr>
          <a:xfrm>
            <a:off x="612701" y="1773238"/>
            <a:ext cx="4751387" cy="594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operation:  O(1)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Insertion operation:  The height of the tree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Deletion operation: The height of the tree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height of the tree: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Worse case: O(n)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case: O(log n) when the heap tree is balanced</a:t>
            </a:r>
            <a:endParaRPr/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 the heap tree:  If insertions and deletions make the heap tree unbalanced, perform balancing operations to make balanced again.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3" name="Google Shape;453;p31"/>
          <p:cNvGrpSpPr/>
          <p:nvPr/>
        </p:nvGrpSpPr>
        <p:grpSpPr>
          <a:xfrm>
            <a:off x="5724525" y="2060575"/>
            <a:ext cx="2570163" cy="1812925"/>
            <a:chOff x="3120" y="960"/>
            <a:chExt cx="1893" cy="1335"/>
          </a:xfrm>
        </p:grpSpPr>
        <p:sp>
          <p:nvSpPr>
            <p:cNvPr id="454" name="Google Shape;454;p31"/>
            <p:cNvSpPr/>
            <p:nvPr/>
          </p:nvSpPr>
          <p:spPr>
            <a:xfrm flipH="1">
              <a:off x="3120" y="960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55" name="Google Shape;455;p31"/>
            <p:cNvCxnSpPr>
              <a:stCxn id="456" idx="3"/>
              <a:endCxn id="457" idx="7"/>
            </p:cNvCxnSpPr>
            <p:nvPr/>
          </p:nvCxnSpPr>
          <p:spPr>
            <a:xfrm>
              <a:off x="3714" y="1415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8" name="Google Shape;458;p31"/>
            <p:cNvCxnSpPr>
              <a:stCxn id="454" idx="3"/>
              <a:endCxn id="456" idx="7"/>
            </p:cNvCxnSpPr>
            <p:nvPr/>
          </p:nvCxnSpPr>
          <p:spPr>
            <a:xfrm>
              <a:off x="3292" y="1132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9" name="Google Shape;459;p31"/>
            <p:cNvCxnSpPr>
              <a:stCxn id="460" idx="7"/>
              <a:endCxn id="461" idx="3"/>
            </p:cNvCxnSpPr>
            <p:nvPr/>
          </p:nvCxnSpPr>
          <p:spPr>
            <a:xfrm rot="10800000">
              <a:off x="4541" y="2123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2" name="Google Shape;462;p31"/>
            <p:cNvCxnSpPr>
              <a:stCxn id="461" idx="7"/>
              <a:endCxn id="457" idx="3"/>
            </p:cNvCxnSpPr>
            <p:nvPr/>
          </p:nvCxnSpPr>
          <p:spPr>
            <a:xfrm rot="10800000">
              <a:off x="4117" y="1840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0" name="Google Shape;460;p31"/>
            <p:cNvSpPr/>
            <p:nvPr/>
          </p:nvSpPr>
          <p:spPr>
            <a:xfrm flipH="1">
              <a:off x="4811" y="2093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7" name="Google Shape;457;p31"/>
            <p:cNvSpPr/>
            <p:nvPr/>
          </p:nvSpPr>
          <p:spPr>
            <a:xfrm flipH="1">
              <a:off x="3965" y="1527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6" name="Google Shape;456;p31"/>
            <p:cNvSpPr/>
            <p:nvPr/>
          </p:nvSpPr>
          <p:spPr>
            <a:xfrm flipH="1">
              <a:off x="3542" y="1243"/>
              <a:ext cx="202" cy="20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1" name="Google Shape;461;p31"/>
            <p:cNvSpPr/>
            <p:nvPr/>
          </p:nvSpPr>
          <p:spPr>
            <a:xfrm flipH="1">
              <a:off x="4387" y="1810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63" name="Google Shape;463;p31"/>
          <p:cNvSpPr/>
          <p:nvPr/>
        </p:nvSpPr>
        <p:spPr>
          <a:xfrm>
            <a:off x="6924675" y="4575175"/>
            <a:ext cx="285750" cy="28416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4" name="Google Shape;464;p31"/>
          <p:cNvCxnSpPr>
            <a:stCxn id="463" idx="3"/>
            <a:endCxn id="465" idx="7"/>
          </p:cNvCxnSpPr>
          <p:nvPr/>
        </p:nvCxnSpPr>
        <p:spPr>
          <a:xfrm flipH="1">
            <a:off x="6108222" y="4817723"/>
            <a:ext cx="858300" cy="25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31"/>
          <p:cNvCxnSpPr>
            <a:stCxn id="467" idx="1"/>
            <a:endCxn id="463" idx="5"/>
          </p:cNvCxnSpPr>
          <p:nvPr/>
        </p:nvCxnSpPr>
        <p:spPr>
          <a:xfrm rot="10800000">
            <a:off x="7168440" y="4817722"/>
            <a:ext cx="858300" cy="25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5" name="Google Shape;465;p31"/>
          <p:cNvSpPr/>
          <p:nvPr/>
        </p:nvSpPr>
        <p:spPr>
          <a:xfrm>
            <a:off x="5865813" y="5030788"/>
            <a:ext cx="284162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31"/>
          <p:cNvSpPr/>
          <p:nvPr/>
        </p:nvSpPr>
        <p:spPr>
          <a:xfrm>
            <a:off x="6388100" y="5486400"/>
            <a:ext cx="285750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9" name="Google Shape;469;p31"/>
          <p:cNvCxnSpPr>
            <a:stCxn id="470" idx="7"/>
            <a:endCxn id="465" idx="3"/>
          </p:cNvCxnSpPr>
          <p:nvPr/>
        </p:nvCxnSpPr>
        <p:spPr>
          <a:xfrm rot="10800000" flipH="1">
            <a:off x="5586073" y="5274747"/>
            <a:ext cx="3213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31"/>
          <p:cNvCxnSpPr>
            <a:stCxn id="468" idx="1"/>
            <a:endCxn id="465" idx="5"/>
          </p:cNvCxnSpPr>
          <p:nvPr/>
        </p:nvCxnSpPr>
        <p:spPr>
          <a:xfrm rot="10800000">
            <a:off x="6108347" y="5274747"/>
            <a:ext cx="3216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0" name="Google Shape;470;p31"/>
          <p:cNvSpPr/>
          <p:nvPr/>
        </p:nvSpPr>
        <p:spPr>
          <a:xfrm>
            <a:off x="5343525" y="5486400"/>
            <a:ext cx="284163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31"/>
          <p:cNvSpPr/>
          <p:nvPr/>
        </p:nvSpPr>
        <p:spPr>
          <a:xfrm>
            <a:off x="7985125" y="5032375"/>
            <a:ext cx="284163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31"/>
          <p:cNvSpPr/>
          <p:nvPr/>
        </p:nvSpPr>
        <p:spPr>
          <a:xfrm>
            <a:off x="8507413" y="5487988"/>
            <a:ext cx="285750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73" name="Google Shape;473;p31"/>
          <p:cNvCxnSpPr>
            <a:stCxn id="474" idx="7"/>
            <a:endCxn id="467" idx="3"/>
          </p:cNvCxnSpPr>
          <p:nvPr/>
        </p:nvCxnSpPr>
        <p:spPr>
          <a:xfrm rot="10800000" flipH="1">
            <a:off x="7705386" y="5276335"/>
            <a:ext cx="3213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31"/>
          <p:cNvCxnSpPr>
            <a:stCxn id="472" idx="1"/>
            <a:endCxn id="467" idx="5"/>
          </p:cNvCxnSpPr>
          <p:nvPr/>
        </p:nvCxnSpPr>
        <p:spPr>
          <a:xfrm rot="10800000">
            <a:off x="8227660" y="5276335"/>
            <a:ext cx="3216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4" name="Google Shape;474;p31"/>
          <p:cNvSpPr/>
          <p:nvPr/>
        </p:nvSpPr>
        <p:spPr>
          <a:xfrm>
            <a:off x="7462838" y="5487988"/>
            <a:ext cx="284162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heap tree library</a:t>
            </a:r>
            <a:endParaRPr/>
          </a:p>
        </p:txBody>
      </p:sp>
      <p:sp>
        <p:nvSpPr>
          <p:cNvPr id="482" name="Google Shape;482;p32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make_heap, pop_heap, push_heap, and sort_heap from the algorithm library of C++ programming language to implement the following tasks:</a:t>
            </a: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Make a heap tree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 the max from the heap tree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a node to the heap tree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Sort elements in the heap tree</a:t>
            </a: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3" name="Google Shape;483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3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76898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Search Trees</a:t>
            </a:r>
            <a:endParaRPr/>
          </a:p>
        </p:txBody>
      </p:sp>
      <p:sp>
        <p:nvSpPr>
          <p:cNvPr id="489" name="Google Shape;489;p3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55650" y="1881336"/>
            <a:ext cx="3810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binary search tree is a binary tree such that the value at the parent node is larger or equal to values of the left child, and smaller or equal to values of the right child.</a:t>
            </a:r>
            <a:endParaRPr/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inorder traversal of a binary search trees visits the keys in increasing order</a:t>
            </a:r>
            <a:endParaRPr/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1" name="Google Shape;491;p33"/>
          <p:cNvGrpSpPr/>
          <p:nvPr/>
        </p:nvGrpSpPr>
        <p:grpSpPr>
          <a:xfrm>
            <a:off x="4842774" y="2205003"/>
            <a:ext cx="3299792" cy="2023372"/>
            <a:chOff x="3110" y="2544"/>
            <a:chExt cx="1962" cy="1046"/>
          </a:xfrm>
        </p:grpSpPr>
        <p:sp>
          <p:nvSpPr>
            <p:cNvPr id="492" name="Google Shape;492;p33"/>
            <p:cNvSpPr/>
            <p:nvPr/>
          </p:nvSpPr>
          <p:spPr>
            <a:xfrm>
              <a:off x="4080" y="2544"/>
              <a:ext cx="202" cy="20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  <p:sp>
          <p:nvSpPr>
            <p:cNvPr id="493" name="Google Shape;493;p33"/>
            <p:cNvSpPr/>
            <p:nvPr/>
          </p:nvSpPr>
          <p:spPr>
            <a:xfrm>
              <a:off x="4871" y="2974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/>
            </a:p>
          </p:txBody>
        </p:sp>
        <p:sp>
          <p:nvSpPr>
            <p:cNvPr id="494" name="Google Shape;494;p33"/>
            <p:cNvSpPr/>
            <p:nvPr/>
          </p:nvSpPr>
          <p:spPr>
            <a:xfrm>
              <a:off x="3480" y="2938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95" name="Google Shape;495;p33"/>
            <p:cNvSpPr/>
            <p:nvPr/>
          </p:nvSpPr>
          <p:spPr>
            <a:xfrm>
              <a:off x="3850" y="338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cxnSp>
          <p:nvCxnSpPr>
            <p:cNvPr id="496" name="Google Shape;496;p33"/>
            <p:cNvCxnSpPr>
              <a:stCxn id="492" idx="3"/>
              <a:endCxn id="494" idx="7"/>
            </p:cNvCxnSpPr>
            <p:nvPr/>
          </p:nvCxnSpPr>
          <p:spPr>
            <a:xfrm flipH="1">
              <a:off x="3652" y="2716"/>
              <a:ext cx="458" cy="25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7" name="Google Shape;497;p33"/>
            <p:cNvCxnSpPr/>
            <p:nvPr/>
          </p:nvCxnSpPr>
          <p:spPr>
            <a:xfrm rot="10800000">
              <a:off x="4279" y="2704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8" name="Google Shape;498;p33"/>
            <p:cNvCxnSpPr>
              <a:stCxn id="499" idx="7"/>
              <a:endCxn id="493" idx="3"/>
            </p:cNvCxnSpPr>
            <p:nvPr/>
          </p:nvCxnSpPr>
          <p:spPr>
            <a:xfrm flipV="1">
              <a:off x="4732" y="3146"/>
              <a:ext cx="168" cy="18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0" name="Google Shape;500;p33"/>
            <p:cNvCxnSpPr>
              <a:stCxn id="501" idx="7"/>
            </p:cNvCxnSpPr>
            <p:nvPr/>
          </p:nvCxnSpPr>
          <p:spPr>
            <a:xfrm rot="10800000" flipH="1">
              <a:off x="3282" y="3118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2" name="Google Shape;502;p33"/>
            <p:cNvCxnSpPr>
              <a:stCxn id="495" idx="1"/>
            </p:cNvCxnSpPr>
            <p:nvPr/>
          </p:nvCxnSpPr>
          <p:spPr>
            <a:xfrm rot="10800000">
              <a:off x="3580" y="3118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1" name="Google Shape;501;p33"/>
            <p:cNvSpPr/>
            <p:nvPr/>
          </p:nvSpPr>
          <p:spPr>
            <a:xfrm>
              <a:off x="3110" y="3388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499" name="Google Shape;499;p33"/>
            <p:cNvSpPr/>
            <p:nvPr/>
          </p:nvSpPr>
          <p:spPr>
            <a:xfrm>
              <a:off x="4560" y="329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</a:t>
            </a:r>
            <a:endParaRPr/>
          </a:p>
        </p:txBody>
      </p:sp>
      <p:sp>
        <p:nvSpPr>
          <p:cNvPr id="511" name="Google Shape;511;p3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1916113"/>
            <a:ext cx="3276600" cy="417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search for a key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we trace a downward path starting at the root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next node visited depends on the outcome of the comparison of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the key of the current node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we reach a leaf, the key is not found and we return null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(4):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TreeSearch(4,root)</a:t>
            </a:r>
            <a:endParaRPr/>
          </a:p>
        </p:txBody>
      </p:sp>
      <p:sp>
        <p:nvSpPr>
          <p:cNvPr id="512" name="Google Shape;512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4"/>
          <p:cNvSpPr txBox="1"/>
          <p:nvPr/>
        </p:nvSpPr>
        <p:spPr>
          <a:xfrm>
            <a:off x="3962400" y="1908175"/>
            <a:ext cx="4838700" cy="27749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TreeSearch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	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T.isExternal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v;</a:t>
            </a:r>
            <a:endParaRPr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TreeSearch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T.left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v;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r>
              <a:rPr lang="en-US" sz="1800" b="1" i="1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en-US" sz="18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r>
              <a:rPr lang="en-US" sz="18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}</a:t>
            </a:r>
            <a:endParaRPr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TreeSearch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T.right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/>
          </a:p>
        </p:txBody>
      </p:sp>
      <p:sp>
        <p:nvSpPr>
          <p:cNvPr id="514" name="Google Shape;514;p34"/>
          <p:cNvSpPr/>
          <p:nvPr/>
        </p:nvSpPr>
        <p:spPr>
          <a:xfrm>
            <a:off x="6040438" y="4881563"/>
            <a:ext cx="320675" cy="319087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15" name="Google Shape;515;p34"/>
          <p:cNvSpPr/>
          <p:nvPr/>
        </p:nvSpPr>
        <p:spPr>
          <a:xfrm>
            <a:off x="7451725" y="5392738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16" name="Google Shape;516;p34"/>
          <p:cNvSpPr/>
          <p:nvPr/>
        </p:nvSpPr>
        <p:spPr>
          <a:xfrm>
            <a:off x="5087938" y="5392738"/>
            <a:ext cx="319087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17" name="Google Shape;517;p34"/>
          <p:cNvSpPr/>
          <p:nvPr/>
        </p:nvSpPr>
        <p:spPr>
          <a:xfrm>
            <a:off x="5675313" y="5888038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cxnSp>
        <p:nvCxnSpPr>
          <p:cNvPr id="518" name="Google Shape;518;p34"/>
          <p:cNvCxnSpPr>
            <a:stCxn id="514" idx="3"/>
            <a:endCxn id="516" idx="7"/>
          </p:cNvCxnSpPr>
          <p:nvPr/>
        </p:nvCxnSpPr>
        <p:spPr>
          <a:xfrm flipH="1">
            <a:off x="5360200" y="5153921"/>
            <a:ext cx="727200" cy="285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34"/>
          <p:cNvCxnSpPr>
            <a:stCxn id="515" idx="1"/>
            <a:endCxn id="514" idx="5"/>
          </p:cNvCxnSpPr>
          <p:nvPr/>
        </p:nvCxnSpPr>
        <p:spPr>
          <a:xfrm rot="10800000">
            <a:off x="6314054" y="5153800"/>
            <a:ext cx="11844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0" name="Google Shape;520;p34"/>
          <p:cNvCxnSpPr>
            <a:stCxn id="521" idx="7"/>
            <a:endCxn id="515" idx="3"/>
          </p:cNvCxnSpPr>
          <p:nvPr/>
        </p:nvCxnSpPr>
        <p:spPr>
          <a:xfrm rot="10800000" flipH="1">
            <a:off x="7268238" y="5666525"/>
            <a:ext cx="230100" cy="25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2" name="Google Shape;522;p34"/>
          <p:cNvCxnSpPr>
            <a:stCxn id="523" idx="7"/>
            <a:endCxn id="516" idx="3"/>
          </p:cNvCxnSpPr>
          <p:nvPr/>
        </p:nvCxnSpPr>
        <p:spPr>
          <a:xfrm rot="10800000" flipH="1">
            <a:off x="4772921" y="5666500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4" name="Google Shape;524;p34"/>
          <p:cNvCxnSpPr>
            <a:stCxn id="517" idx="1"/>
            <a:endCxn id="516" idx="5"/>
          </p:cNvCxnSpPr>
          <p:nvPr/>
        </p:nvCxnSpPr>
        <p:spPr>
          <a:xfrm rot="10800000">
            <a:off x="5360175" y="5666500"/>
            <a:ext cx="362100" cy="2685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3" name="Google Shape;523;p34"/>
          <p:cNvSpPr/>
          <p:nvPr/>
        </p:nvSpPr>
        <p:spPr>
          <a:xfrm>
            <a:off x="4500563" y="5888038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21" name="Google Shape;521;p34"/>
          <p:cNvSpPr/>
          <p:nvPr/>
        </p:nvSpPr>
        <p:spPr>
          <a:xfrm>
            <a:off x="6994525" y="5872163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25" name="Google Shape;525;p34"/>
          <p:cNvSpPr txBox="1"/>
          <p:nvPr/>
        </p:nvSpPr>
        <p:spPr>
          <a:xfrm>
            <a:off x="5489575" y="4913313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26" name="Google Shape;526;p34"/>
          <p:cNvSpPr txBox="1"/>
          <p:nvPr/>
        </p:nvSpPr>
        <p:spPr>
          <a:xfrm>
            <a:off x="5489575" y="5446713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27" name="Google Shape;527;p34"/>
          <p:cNvSpPr txBox="1"/>
          <p:nvPr/>
        </p:nvSpPr>
        <p:spPr>
          <a:xfrm>
            <a:off x="6003925" y="5840413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Insertion</a:t>
            </a:r>
            <a:endParaRPr/>
          </a:p>
        </p:txBody>
      </p:sp>
      <p:sp>
        <p:nvSpPr>
          <p:cNvPr id="533" name="Google Shape;533;p3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65920"/>
            <a:ext cx="36576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a value k into the binary tree.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Algorithm: Start from the root, compare k to the value at this node. If k is smaller, insert k into the left tree, otherwise insert k into the right tree.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Example: insert 5</a:t>
            </a:r>
            <a:endParaRPr/>
          </a:p>
        </p:txBody>
      </p:sp>
      <p:sp>
        <p:nvSpPr>
          <p:cNvPr id="534" name="Google Shape;534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5"/>
          <p:cNvSpPr/>
          <p:nvPr/>
        </p:nvSpPr>
        <p:spPr>
          <a:xfrm>
            <a:off x="6765925" y="3886200"/>
            <a:ext cx="320675" cy="31908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36" name="Google Shape;536;p35"/>
          <p:cNvSpPr/>
          <p:nvPr/>
        </p:nvSpPr>
        <p:spPr>
          <a:xfrm>
            <a:off x="7964488" y="43973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37" name="Google Shape;537;p35"/>
          <p:cNvSpPr/>
          <p:nvPr/>
        </p:nvSpPr>
        <p:spPr>
          <a:xfrm>
            <a:off x="5408613" y="43973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38" name="Google Shape;538;p35"/>
          <p:cNvSpPr/>
          <p:nvPr/>
        </p:nvSpPr>
        <p:spPr>
          <a:xfrm>
            <a:off x="5995988" y="4892675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cxnSp>
        <p:nvCxnSpPr>
          <p:cNvPr id="539" name="Google Shape;539;p35"/>
          <p:cNvCxnSpPr>
            <a:stCxn id="535" idx="3"/>
            <a:endCxn id="537" idx="7"/>
          </p:cNvCxnSpPr>
          <p:nvPr/>
        </p:nvCxnSpPr>
        <p:spPr>
          <a:xfrm flipH="1">
            <a:off x="5680987" y="4158559"/>
            <a:ext cx="11319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0" name="Google Shape;540;p35"/>
          <p:cNvCxnSpPr>
            <a:stCxn id="536" idx="1"/>
            <a:endCxn id="535" idx="5"/>
          </p:cNvCxnSpPr>
          <p:nvPr/>
        </p:nvCxnSpPr>
        <p:spPr>
          <a:xfrm rot="10800000">
            <a:off x="7039517" y="4158437"/>
            <a:ext cx="9717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1" name="Google Shape;541;p35"/>
          <p:cNvCxnSpPr>
            <a:stCxn id="542" idx="7"/>
            <a:endCxn id="536" idx="3"/>
          </p:cNvCxnSpPr>
          <p:nvPr/>
        </p:nvCxnSpPr>
        <p:spPr>
          <a:xfrm rot="10800000" flipH="1">
            <a:off x="7744488" y="4671137"/>
            <a:ext cx="2667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3" name="Google Shape;543;p35"/>
          <p:cNvCxnSpPr>
            <a:stCxn id="544" idx="1"/>
            <a:endCxn id="538" idx="5"/>
          </p:cNvCxnSpPr>
          <p:nvPr/>
        </p:nvCxnSpPr>
        <p:spPr>
          <a:xfrm rot="10800000">
            <a:off x="6269712" y="5166462"/>
            <a:ext cx="197100" cy="290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5" name="Google Shape;545;p35"/>
          <p:cNvCxnSpPr>
            <a:stCxn id="546" idx="7"/>
            <a:endCxn id="537" idx="3"/>
          </p:cNvCxnSpPr>
          <p:nvPr/>
        </p:nvCxnSpPr>
        <p:spPr>
          <a:xfrm rot="10800000" flipH="1">
            <a:off x="5093596" y="4671137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" name="Google Shape;547;p35"/>
          <p:cNvCxnSpPr>
            <a:stCxn id="538" idx="1"/>
            <a:endCxn id="537" idx="5"/>
          </p:cNvCxnSpPr>
          <p:nvPr/>
        </p:nvCxnSpPr>
        <p:spPr>
          <a:xfrm rot="10800000">
            <a:off x="5680850" y="4671137"/>
            <a:ext cx="3621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6" name="Google Shape;546;p35"/>
          <p:cNvSpPr/>
          <p:nvPr/>
        </p:nvSpPr>
        <p:spPr>
          <a:xfrm>
            <a:off x="4821238" y="48926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42" name="Google Shape;542;p35"/>
          <p:cNvSpPr/>
          <p:nvPr/>
        </p:nvSpPr>
        <p:spPr>
          <a:xfrm>
            <a:off x="7470775" y="4892675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48" name="Google Shape;548;p35"/>
          <p:cNvSpPr/>
          <p:nvPr/>
        </p:nvSpPr>
        <p:spPr>
          <a:xfrm>
            <a:off x="6553200" y="1524000"/>
            <a:ext cx="320675" cy="319088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49" name="Google Shape;549;p35"/>
          <p:cNvSpPr/>
          <p:nvPr/>
        </p:nvSpPr>
        <p:spPr>
          <a:xfrm>
            <a:off x="7964488" y="20351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50" name="Google Shape;550;p35"/>
          <p:cNvSpPr/>
          <p:nvPr/>
        </p:nvSpPr>
        <p:spPr>
          <a:xfrm>
            <a:off x="5600700" y="2035175"/>
            <a:ext cx="319088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51" name="Google Shape;551;p35"/>
          <p:cNvSpPr/>
          <p:nvPr/>
        </p:nvSpPr>
        <p:spPr>
          <a:xfrm>
            <a:off x="6188075" y="2530475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52" name="Google Shape;552;p35"/>
          <p:cNvSpPr/>
          <p:nvPr/>
        </p:nvSpPr>
        <p:spPr>
          <a:xfrm>
            <a:off x="6526213" y="3106738"/>
            <a:ext cx="231775" cy="230187"/>
          </a:xfrm>
          <a:prstGeom prst="rect">
            <a:avLst/>
          </a:prstGeom>
          <a:solidFill>
            <a:schemeClr val="folHlink"/>
          </a:solidFill>
          <a:ln w="5715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35"/>
          <p:cNvCxnSpPr>
            <a:stCxn id="548" idx="3"/>
            <a:endCxn id="550" idx="7"/>
          </p:cNvCxnSpPr>
          <p:nvPr/>
        </p:nvCxnSpPr>
        <p:spPr>
          <a:xfrm flipH="1">
            <a:off x="5872962" y="1796359"/>
            <a:ext cx="727200" cy="285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35"/>
          <p:cNvCxnSpPr>
            <a:stCxn id="549" idx="1"/>
            <a:endCxn id="548" idx="5"/>
          </p:cNvCxnSpPr>
          <p:nvPr/>
        </p:nvCxnSpPr>
        <p:spPr>
          <a:xfrm rot="10800000">
            <a:off x="6826817" y="1796237"/>
            <a:ext cx="11844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5" name="Google Shape;555;p35"/>
          <p:cNvCxnSpPr>
            <a:stCxn id="556" idx="7"/>
            <a:endCxn id="549" idx="3"/>
          </p:cNvCxnSpPr>
          <p:nvPr/>
        </p:nvCxnSpPr>
        <p:spPr>
          <a:xfrm rot="10800000" flipH="1">
            <a:off x="7744488" y="2308937"/>
            <a:ext cx="2667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35"/>
          <p:cNvCxnSpPr>
            <a:stCxn id="552" idx="0"/>
            <a:endCxn id="551" idx="5"/>
          </p:cNvCxnSpPr>
          <p:nvPr/>
        </p:nvCxnSpPr>
        <p:spPr>
          <a:xfrm rot="10800000">
            <a:off x="6461800" y="2804338"/>
            <a:ext cx="180300" cy="3024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35"/>
          <p:cNvCxnSpPr>
            <a:stCxn id="559" idx="7"/>
            <a:endCxn id="550" idx="3"/>
          </p:cNvCxnSpPr>
          <p:nvPr/>
        </p:nvCxnSpPr>
        <p:spPr>
          <a:xfrm rot="10800000" flipH="1">
            <a:off x="5285684" y="2308937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0" name="Google Shape;560;p35"/>
          <p:cNvCxnSpPr>
            <a:stCxn id="551" idx="1"/>
            <a:endCxn id="550" idx="5"/>
          </p:cNvCxnSpPr>
          <p:nvPr/>
        </p:nvCxnSpPr>
        <p:spPr>
          <a:xfrm rot="10800000">
            <a:off x="5872937" y="2308937"/>
            <a:ext cx="362100" cy="2685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35"/>
          <p:cNvSpPr/>
          <p:nvPr/>
        </p:nvSpPr>
        <p:spPr>
          <a:xfrm>
            <a:off x="5013325" y="2530475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56" name="Google Shape;556;p35"/>
          <p:cNvSpPr/>
          <p:nvPr/>
        </p:nvSpPr>
        <p:spPr>
          <a:xfrm>
            <a:off x="7470775" y="2530475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44" name="Google Shape;544;p35"/>
          <p:cNvSpPr/>
          <p:nvPr/>
        </p:nvSpPr>
        <p:spPr>
          <a:xfrm>
            <a:off x="6419850" y="5410200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61" name="Google Shape;561;p35"/>
          <p:cNvSpPr txBox="1"/>
          <p:nvPr/>
        </p:nvSpPr>
        <p:spPr>
          <a:xfrm>
            <a:off x="6029325" y="1581150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62" name="Google Shape;562;p35"/>
          <p:cNvSpPr txBox="1"/>
          <p:nvPr/>
        </p:nvSpPr>
        <p:spPr>
          <a:xfrm>
            <a:off x="6029325" y="2114550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63" name="Google Shape;563;p35"/>
          <p:cNvSpPr txBox="1"/>
          <p:nvPr/>
        </p:nvSpPr>
        <p:spPr>
          <a:xfrm>
            <a:off x="6534150" y="2667000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64" name="Google Shape;564;p35"/>
          <p:cNvSpPr txBox="1"/>
          <p:nvPr/>
        </p:nvSpPr>
        <p:spPr>
          <a:xfrm>
            <a:off x="6461125" y="3276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565" name="Google Shape;565;p35"/>
          <p:cNvSpPr txBox="1"/>
          <p:nvPr/>
        </p:nvSpPr>
        <p:spPr>
          <a:xfrm>
            <a:off x="6629400" y="51054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6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Deletion</a:t>
            </a:r>
            <a:endParaRPr/>
          </a:p>
        </p:txBody>
      </p:sp>
      <p:sp>
        <p:nvSpPr>
          <p:cNvPr id="571" name="Google Shape;571;p3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90575" y="1961728"/>
            <a:ext cx="3781425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perform operation 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we search for key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Assume key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in the tree, and let let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the node storing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node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leaf, remove v. If v has one child,  remove v and connect its child to its parent.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remove 4</a:t>
            </a:r>
            <a:endParaRPr/>
          </a:p>
        </p:txBody>
      </p:sp>
      <p:sp>
        <p:nvSpPr>
          <p:cNvPr id="572" name="Google Shape;572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6"/>
          <p:cNvSpPr/>
          <p:nvPr/>
        </p:nvSpPr>
        <p:spPr>
          <a:xfrm>
            <a:off x="6781800" y="1600200"/>
            <a:ext cx="320675" cy="319088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74" name="Google Shape;574;p36"/>
          <p:cNvSpPr/>
          <p:nvPr/>
        </p:nvSpPr>
        <p:spPr>
          <a:xfrm>
            <a:off x="7980363" y="21113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75" name="Google Shape;575;p36"/>
          <p:cNvSpPr/>
          <p:nvPr/>
        </p:nvSpPr>
        <p:spPr>
          <a:xfrm>
            <a:off x="5424488" y="2111375"/>
            <a:ext cx="319087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76" name="Google Shape;576;p36"/>
          <p:cNvSpPr/>
          <p:nvPr/>
        </p:nvSpPr>
        <p:spPr>
          <a:xfrm>
            <a:off x="6011863" y="2606675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cxnSp>
        <p:nvCxnSpPr>
          <p:cNvPr id="577" name="Google Shape;577;p36"/>
          <p:cNvCxnSpPr>
            <a:stCxn id="573" idx="3"/>
            <a:endCxn id="575" idx="7"/>
          </p:cNvCxnSpPr>
          <p:nvPr/>
        </p:nvCxnSpPr>
        <p:spPr>
          <a:xfrm flipH="1">
            <a:off x="5696862" y="1872559"/>
            <a:ext cx="1131900" cy="285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8" name="Google Shape;578;p36"/>
          <p:cNvCxnSpPr>
            <a:stCxn id="574" idx="1"/>
            <a:endCxn id="573" idx="5"/>
          </p:cNvCxnSpPr>
          <p:nvPr/>
        </p:nvCxnSpPr>
        <p:spPr>
          <a:xfrm rot="10800000">
            <a:off x="7055392" y="1872437"/>
            <a:ext cx="9717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9" name="Google Shape;579;p36"/>
          <p:cNvCxnSpPr>
            <a:stCxn id="580" idx="7"/>
            <a:endCxn id="574" idx="3"/>
          </p:cNvCxnSpPr>
          <p:nvPr/>
        </p:nvCxnSpPr>
        <p:spPr>
          <a:xfrm rot="10800000" flipH="1">
            <a:off x="7760363" y="2385137"/>
            <a:ext cx="2667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1" name="Google Shape;581;p36"/>
          <p:cNvCxnSpPr>
            <a:stCxn id="582" idx="1"/>
            <a:endCxn id="576" idx="5"/>
          </p:cNvCxnSpPr>
          <p:nvPr/>
        </p:nvCxnSpPr>
        <p:spPr>
          <a:xfrm rot="10800000">
            <a:off x="6285587" y="2880462"/>
            <a:ext cx="197100" cy="2907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3" name="Google Shape;583;p36"/>
          <p:cNvCxnSpPr>
            <a:stCxn id="584" idx="7"/>
            <a:endCxn id="575" idx="3"/>
          </p:cNvCxnSpPr>
          <p:nvPr/>
        </p:nvCxnSpPr>
        <p:spPr>
          <a:xfrm rot="10800000" flipH="1">
            <a:off x="5109471" y="2385137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36"/>
          <p:cNvCxnSpPr>
            <a:stCxn id="576" idx="1"/>
            <a:endCxn id="575" idx="5"/>
          </p:cNvCxnSpPr>
          <p:nvPr/>
        </p:nvCxnSpPr>
        <p:spPr>
          <a:xfrm rot="10800000">
            <a:off x="5696725" y="2385137"/>
            <a:ext cx="362100" cy="2685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4" name="Google Shape;584;p36"/>
          <p:cNvSpPr/>
          <p:nvPr/>
        </p:nvSpPr>
        <p:spPr>
          <a:xfrm>
            <a:off x="4837113" y="26066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80" name="Google Shape;580;p36"/>
          <p:cNvSpPr/>
          <p:nvPr/>
        </p:nvSpPr>
        <p:spPr>
          <a:xfrm>
            <a:off x="7486650" y="2606675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82" name="Google Shape;582;p36"/>
          <p:cNvSpPr/>
          <p:nvPr/>
        </p:nvSpPr>
        <p:spPr>
          <a:xfrm>
            <a:off x="6435725" y="3124200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86" name="Google Shape;586;p36"/>
          <p:cNvSpPr txBox="1"/>
          <p:nvPr/>
        </p:nvSpPr>
        <p:spPr>
          <a:xfrm>
            <a:off x="6324600" y="2498725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587" name="Google Shape;587;p36"/>
          <p:cNvSpPr/>
          <p:nvPr/>
        </p:nvSpPr>
        <p:spPr>
          <a:xfrm>
            <a:off x="6553200" y="4251325"/>
            <a:ext cx="320675" cy="31908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88" name="Google Shape;588;p36"/>
          <p:cNvSpPr/>
          <p:nvPr/>
        </p:nvSpPr>
        <p:spPr>
          <a:xfrm>
            <a:off x="7964488" y="4762500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89" name="Google Shape;589;p36"/>
          <p:cNvSpPr/>
          <p:nvPr/>
        </p:nvSpPr>
        <p:spPr>
          <a:xfrm>
            <a:off x="5600700" y="4762500"/>
            <a:ext cx="319088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90" name="Google Shape;590;p36"/>
          <p:cNvSpPr/>
          <p:nvPr/>
        </p:nvSpPr>
        <p:spPr>
          <a:xfrm>
            <a:off x="6188075" y="5257800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cxnSp>
        <p:nvCxnSpPr>
          <p:cNvPr id="591" name="Google Shape;591;p36"/>
          <p:cNvCxnSpPr>
            <a:stCxn id="587" idx="3"/>
            <a:endCxn id="589" idx="7"/>
          </p:cNvCxnSpPr>
          <p:nvPr/>
        </p:nvCxnSpPr>
        <p:spPr>
          <a:xfrm flipH="1">
            <a:off x="5872962" y="4523684"/>
            <a:ext cx="7272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36"/>
          <p:cNvCxnSpPr>
            <a:stCxn id="588" idx="1"/>
            <a:endCxn id="587" idx="5"/>
          </p:cNvCxnSpPr>
          <p:nvPr/>
        </p:nvCxnSpPr>
        <p:spPr>
          <a:xfrm rot="10800000">
            <a:off x="6826817" y="4523562"/>
            <a:ext cx="11844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3" name="Google Shape;593;p36"/>
          <p:cNvCxnSpPr>
            <a:stCxn id="594" idx="7"/>
            <a:endCxn id="588" idx="3"/>
          </p:cNvCxnSpPr>
          <p:nvPr/>
        </p:nvCxnSpPr>
        <p:spPr>
          <a:xfrm rot="10800000" flipH="1">
            <a:off x="7744488" y="5036262"/>
            <a:ext cx="2667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5" name="Google Shape;595;p36"/>
          <p:cNvCxnSpPr>
            <a:stCxn id="596" idx="7"/>
            <a:endCxn id="589" idx="3"/>
          </p:cNvCxnSpPr>
          <p:nvPr/>
        </p:nvCxnSpPr>
        <p:spPr>
          <a:xfrm rot="10800000" flipH="1">
            <a:off x="5285684" y="5036262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7" name="Google Shape;597;p36"/>
          <p:cNvCxnSpPr>
            <a:stCxn id="590" idx="1"/>
            <a:endCxn id="589" idx="5"/>
          </p:cNvCxnSpPr>
          <p:nvPr/>
        </p:nvCxnSpPr>
        <p:spPr>
          <a:xfrm rot="10800000">
            <a:off x="5872937" y="5036262"/>
            <a:ext cx="362100" cy="2685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6" name="Google Shape;596;p36"/>
          <p:cNvSpPr/>
          <p:nvPr/>
        </p:nvSpPr>
        <p:spPr>
          <a:xfrm>
            <a:off x="5013325" y="5257800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94" name="Google Shape;594;p36"/>
          <p:cNvSpPr/>
          <p:nvPr/>
        </p:nvSpPr>
        <p:spPr>
          <a:xfrm>
            <a:off x="7470775" y="5257800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98" name="Google Shape;598;p36"/>
          <p:cNvSpPr txBox="1"/>
          <p:nvPr/>
        </p:nvSpPr>
        <p:spPr>
          <a:xfrm>
            <a:off x="6019800" y="1660525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99" name="Google Shape;599;p36"/>
          <p:cNvSpPr txBox="1"/>
          <p:nvPr/>
        </p:nvSpPr>
        <p:spPr>
          <a:xfrm>
            <a:off x="5791200" y="2193925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7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Deletion (cont.)</a:t>
            </a:r>
            <a:endParaRPr/>
          </a:p>
        </p:txBody>
      </p:sp>
      <p:sp>
        <p:nvSpPr>
          <p:cNvPr id="605" name="Google Shape;605;p3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3886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consider the case where the key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be removed is stored at a node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two children: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find the node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follows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an inorder traversal (the most-left leaf of the right child of v).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replace node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remove node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remove 3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6" name="Google Shape;606;p37"/>
          <p:cNvSpPr/>
          <p:nvPr/>
        </p:nvSpPr>
        <p:spPr>
          <a:xfrm flipH="1">
            <a:off x="6248400" y="2343150"/>
            <a:ext cx="320675" cy="319088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07" name="Google Shape;607;p37"/>
          <p:cNvSpPr/>
          <p:nvPr/>
        </p:nvSpPr>
        <p:spPr>
          <a:xfrm flipH="1">
            <a:off x="5257800" y="1960563"/>
            <a:ext cx="319088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08" name="Google Shape;608;p37"/>
          <p:cNvSpPr/>
          <p:nvPr/>
        </p:nvSpPr>
        <p:spPr>
          <a:xfrm flipH="1">
            <a:off x="7586663" y="2722563"/>
            <a:ext cx="319087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609" name="Google Shape;609;p37"/>
          <p:cNvSpPr/>
          <p:nvPr/>
        </p:nvSpPr>
        <p:spPr>
          <a:xfrm flipH="1">
            <a:off x="6997700" y="3195638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cxnSp>
        <p:nvCxnSpPr>
          <p:cNvPr id="610" name="Google Shape;610;p37"/>
          <p:cNvCxnSpPr>
            <a:stCxn id="606" idx="3"/>
            <a:endCxn id="608" idx="7"/>
          </p:cNvCxnSpPr>
          <p:nvPr/>
        </p:nvCxnSpPr>
        <p:spPr>
          <a:xfrm>
            <a:off x="6522113" y="2615509"/>
            <a:ext cx="1111200" cy="153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1" name="Google Shape;611;p37"/>
          <p:cNvCxnSpPr>
            <a:stCxn id="607" idx="3"/>
            <a:endCxn id="606" idx="7"/>
          </p:cNvCxnSpPr>
          <p:nvPr/>
        </p:nvCxnSpPr>
        <p:spPr>
          <a:xfrm>
            <a:off x="5530159" y="2234276"/>
            <a:ext cx="765300" cy="1557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2" name="Google Shape;612;p37"/>
          <p:cNvCxnSpPr>
            <a:stCxn id="613" idx="1"/>
            <a:endCxn id="609" idx="5"/>
          </p:cNvCxnSpPr>
          <p:nvPr/>
        </p:nvCxnSpPr>
        <p:spPr>
          <a:xfrm rot="10800000" flipH="1">
            <a:off x="6847552" y="3469350"/>
            <a:ext cx="197100" cy="2622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4" name="Google Shape;614;p37"/>
          <p:cNvCxnSpPr>
            <a:stCxn id="615" idx="7"/>
            <a:endCxn id="608" idx="3"/>
          </p:cNvCxnSpPr>
          <p:nvPr/>
        </p:nvCxnSpPr>
        <p:spPr>
          <a:xfrm rot="10800000">
            <a:off x="7858967" y="2996300"/>
            <a:ext cx="361800" cy="24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6" name="Google Shape;616;p37"/>
          <p:cNvCxnSpPr>
            <a:stCxn id="609" idx="1"/>
            <a:endCxn id="608" idx="5"/>
          </p:cNvCxnSpPr>
          <p:nvPr/>
        </p:nvCxnSpPr>
        <p:spPr>
          <a:xfrm rot="10800000" flipH="1">
            <a:off x="7271413" y="2996300"/>
            <a:ext cx="362100" cy="2463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5" name="Google Shape;615;p37"/>
          <p:cNvSpPr/>
          <p:nvPr/>
        </p:nvSpPr>
        <p:spPr>
          <a:xfrm flipH="1">
            <a:off x="8174038" y="3195638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613" name="Google Shape;613;p37"/>
          <p:cNvSpPr/>
          <p:nvPr/>
        </p:nvSpPr>
        <p:spPr>
          <a:xfrm flipH="1">
            <a:off x="6573838" y="3684588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17" name="Google Shape;617;p37"/>
          <p:cNvSpPr txBox="1"/>
          <p:nvPr/>
        </p:nvSpPr>
        <p:spPr>
          <a:xfrm flipH="1">
            <a:off x="6477000" y="2052638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618" name="Google Shape;618;p37"/>
          <p:cNvSpPr txBox="1"/>
          <p:nvPr/>
        </p:nvSpPr>
        <p:spPr>
          <a:xfrm flipH="1">
            <a:off x="6286500" y="3449638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619" name="Google Shape;619;p37"/>
          <p:cNvSpPr/>
          <p:nvPr/>
        </p:nvSpPr>
        <p:spPr>
          <a:xfrm flipH="1">
            <a:off x="5486400" y="2722563"/>
            <a:ext cx="319088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620" name="Google Shape;620;p37"/>
          <p:cNvCxnSpPr>
            <a:stCxn id="619" idx="1"/>
            <a:endCxn id="606" idx="5"/>
          </p:cNvCxnSpPr>
          <p:nvPr/>
        </p:nvCxnSpPr>
        <p:spPr>
          <a:xfrm rot="10800000" flipH="1">
            <a:off x="5758759" y="2615625"/>
            <a:ext cx="536700" cy="153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1" name="Google Shape;621;p37"/>
          <p:cNvSpPr/>
          <p:nvPr/>
        </p:nvSpPr>
        <p:spPr>
          <a:xfrm flipH="1">
            <a:off x="6324600" y="4725988"/>
            <a:ext cx="320675" cy="319087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22" name="Google Shape;622;p37"/>
          <p:cNvSpPr/>
          <p:nvPr/>
        </p:nvSpPr>
        <p:spPr>
          <a:xfrm flipH="1">
            <a:off x="5334000" y="4343400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23" name="Google Shape;623;p37"/>
          <p:cNvSpPr/>
          <p:nvPr/>
        </p:nvSpPr>
        <p:spPr>
          <a:xfrm flipH="1">
            <a:off x="7662863" y="5075238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624" name="Google Shape;624;p37"/>
          <p:cNvSpPr/>
          <p:nvPr/>
        </p:nvSpPr>
        <p:spPr>
          <a:xfrm flipH="1">
            <a:off x="7073900" y="5548313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cxnSp>
        <p:nvCxnSpPr>
          <p:cNvPr id="625" name="Google Shape;625;p37"/>
          <p:cNvCxnSpPr>
            <a:stCxn id="621" idx="3"/>
            <a:endCxn id="623" idx="7"/>
          </p:cNvCxnSpPr>
          <p:nvPr/>
        </p:nvCxnSpPr>
        <p:spPr>
          <a:xfrm>
            <a:off x="6598313" y="4998346"/>
            <a:ext cx="1111200" cy="1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6" name="Google Shape;626;p37"/>
          <p:cNvCxnSpPr>
            <a:stCxn id="622" idx="3"/>
            <a:endCxn id="621" idx="7"/>
          </p:cNvCxnSpPr>
          <p:nvPr/>
        </p:nvCxnSpPr>
        <p:spPr>
          <a:xfrm>
            <a:off x="5606359" y="4617113"/>
            <a:ext cx="765300" cy="15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7" name="Google Shape;627;p37"/>
          <p:cNvCxnSpPr>
            <a:stCxn id="628" idx="7"/>
            <a:endCxn id="623" idx="3"/>
          </p:cNvCxnSpPr>
          <p:nvPr/>
        </p:nvCxnSpPr>
        <p:spPr>
          <a:xfrm rot="10800000">
            <a:off x="7935167" y="5348975"/>
            <a:ext cx="361800" cy="24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9" name="Google Shape;629;p37"/>
          <p:cNvCxnSpPr>
            <a:stCxn id="624" idx="1"/>
            <a:endCxn id="623" idx="5"/>
          </p:cNvCxnSpPr>
          <p:nvPr/>
        </p:nvCxnSpPr>
        <p:spPr>
          <a:xfrm rot="10800000" flipH="1">
            <a:off x="7347613" y="5348975"/>
            <a:ext cx="362100" cy="24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8" name="Google Shape;628;p37"/>
          <p:cNvSpPr/>
          <p:nvPr/>
        </p:nvSpPr>
        <p:spPr>
          <a:xfrm flipH="1">
            <a:off x="8250238" y="5548313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630" name="Google Shape;630;p37"/>
          <p:cNvSpPr txBox="1"/>
          <p:nvPr/>
        </p:nvSpPr>
        <p:spPr>
          <a:xfrm flipH="1">
            <a:off x="655320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631" name="Google Shape;631;p37"/>
          <p:cNvSpPr/>
          <p:nvPr/>
        </p:nvSpPr>
        <p:spPr>
          <a:xfrm flipH="1">
            <a:off x="5562600" y="5075238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632" name="Google Shape;632;p37"/>
          <p:cNvCxnSpPr>
            <a:stCxn id="631" idx="1"/>
            <a:endCxn id="621" idx="5"/>
          </p:cNvCxnSpPr>
          <p:nvPr/>
        </p:nvCxnSpPr>
        <p:spPr>
          <a:xfrm rot="10800000" flipH="1">
            <a:off x="5834959" y="4998300"/>
            <a:ext cx="536700" cy="1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3" name="Google Shape;633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</a:t>
            </a:r>
            <a:endParaRPr/>
          </a:p>
        </p:txBody>
      </p:sp>
      <p:sp>
        <p:nvSpPr>
          <p:cNvPr id="639" name="Google Shape;639;p3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3733800" cy="492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Operations: Searching, insertion, deletion: The height of the tree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height of the tree: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Worse case: O(n)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Best case: O(log n) when the heap tree is balanced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the binary search tree:  If insertions and deletions make the binary search tree unbalanced, perform balancing operations to make it balanced again.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0" name="Google Shape;640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1" name="Google Shape;641;p38"/>
          <p:cNvGrpSpPr/>
          <p:nvPr/>
        </p:nvGrpSpPr>
        <p:grpSpPr>
          <a:xfrm>
            <a:off x="5429250" y="1676400"/>
            <a:ext cx="2570163" cy="1812925"/>
            <a:chOff x="3120" y="960"/>
            <a:chExt cx="1893" cy="1335"/>
          </a:xfrm>
        </p:grpSpPr>
        <p:sp>
          <p:nvSpPr>
            <p:cNvPr id="642" name="Google Shape;642;p38"/>
            <p:cNvSpPr/>
            <p:nvPr/>
          </p:nvSpPr>
          <p:spPr>
            <a:xfrm flipH="1">
              <a:off x="3120" y="960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43" name="Google Shape;643;p38"/>
            <p:cNvCxnSpPr>
              <a:stCxn id="644" idx="3"/>
              <a:endCxn id="645" idx="7"/>
            </p:cNvCxnSpPr>
            <p:nvPr/>
          </p:nvCxnSpPr>
          <p:spPr>
            <a:xfrm>
              <a:off x="3714" y="1415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38"/>
            <p:cNvCxnSpPr>
              <a:stCxn id="642" idx="3"/>
              <a:endCxn id="644" idx="7"/>
            </p:cNvCxnSpPr>
            <p:nvPr/>
          </p:nvCxnSpPr>
          <p:spPr>
            <a:xfrm>
              <a:off x="3292" y="1132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38"/>
            <p:cNvCxnSpPr>
              <a:stCxn id="648" idx="7"/>
              <a:endCxn id="649" idx="3"/>
            </p:cNvCxnSpPr>
            <p:nvPr/>
          </p:nvCxnSpPr>
          <p:spPr>
            <a:xfrm rot="10800000">
              <a:off x="4541" y="2123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0" name="Google Shape;650;p38"/>
            <p:cNvCxnSpPr>
              <a:stCxn id="649" idx="7"/>
              <a:endCxn id="645" idx="3"/>
            </p:cNvCxnSpPr>
            <p:nvPr/>
          </p:nvCxnSpPr>
          <p:spPr>
            <a:xfrm rot="10800000">
              <a:off x="4117" y="1840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8" name="Google Shape;648;p38"/>
            <p:cNvSpPr/>
            <p:nvPr/>
          </p:nvSpPr>
          <p:spPr>
            <a:xfrm flipH="1">
              <a:off x="4811" y="2093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5" name="Google Shape;645;p38"/>
            <p:cNvSpPr/>
            <p:nvPr/>
          </p:nvSpPr>
          <p:spPr>
            <a:xfrm flipH="1">
              <a:off x="3965" y="1527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4" name="Google Shape;644;p38"/>
            <p:cNvSpPr/>
            <p:nvPr/>
          </p:nvSpPr>
          <p:spPr>
            <a:xfrm flipH="1">
              <a:off x="3542" y="1243"/>
              <a:ext cx="202" cy="20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9" name="Google Shape;649;p38"/>
            <p:cNvSpPr/>
            <p:nvPr/>
          </p:nvSpPr>
          <p:spPr>
            <a:xfrm flipH="1">
              <a:off x="4387" y="1810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51" name="Google Shape;651;p38"/>
          <p:cNvSpPr/>
          <p:nvPr/>
        </p:nvSpPr>
        <p:spPr>
          <a:xfrm>
            <a:off x="6629400" y="4191000"/>
            <a:ext cx="285750" cy="28416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52" name="Google Shape;652;p38"/>
          <p:cNvCxnSpPr>
            <a:stCxn id="651" idx="3"/>
            <a:endCxn id="653" idx="7"/>
          </p:cNvCxnSpPr>
          <p:nvPr/>
        </p:nvCxnSpPr>
        <p:spPr>
          <a:xfrm flipH="1">
            <a:off x="5812947" y="4433548"/>
            <a:ext cx="858300" cy="25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4" name="Google Shape;654;p38"/>
          <p:cNvCxnSpPr>
            <a:stCxn id="655" idx="1"/>
            <a:endCxn id="651" idx="5"/>
          </p:cNvCxnSpPr>
          <p:nvPr/>
        </p:nvCxnSpPr>
        <p:spPr>
          <a:xfrm rot="10800000">
            <a:off x="6873165" y="4433547"/>
            <a:ext cx="858300" cy="25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8"/>
          <p:cNvSpPr/>
          <p:nvPr/>
        </p:nvSpPr>
        <p:spPr>
          <a:xfrm>
            <a:off x="5570538" y="4646613"/>
            <a:ext cx="284162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6" name="Google Shape;656;p38"/>
          <p:cNvSpPr/>
          <p:nvPr/>
        </p:nvSpPr>
        <p:spPr>
          <a:xfrm>
            <a:off x="6092825" y="5102225"/>
            <a:ext cx="285750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57" name="Google Shape;657;p38"/>
          <p:cNvCxnSpPr>
            <a:stCxn id="658" idx="7"/>
            <a:endCxn id="653" idx="3"/>
          </p:cNvCxnSpPr>
          <p:nvPr/>
        </p:nvCxnSpPr>
        <p:spPr>
          <a:xfrm rot="10800000" flipH="1">
            <a:off x="5290798" y="4890572"/>
            <a:ext cx="3213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9" name="Google Shape;659;p38"/>
          <p:cNvCxnSpPr>
            <a:stCxn id="656" idx="1"/>
            <a:endCxn id="653" idx="5"/>
          </p:cNvCxnSpPr>
          <p:nvPr/>
        </p:nvCxnSpPr>
        <p:spPr>
          <a:xfrm rot="10800000">
            <a:off x="5813072" y="4890572"/>
            <a:ext cx="3216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8" name="Google Shape;658;p38"/>
          <p:cNvSpPr/>
          <p:nvPr/>
        </p:nvSpPr>
        <p:spPr>
          <a:xfrm>
            <a:off x="5048250" y="5102225"/>
            <a:ext cx="284163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5" name="Google Shape;655;p38"/>
          <p:cNvSpPr/>
          <p:nvPr/>
        </p:nvSpPr>
        <p:spPr>
          <a:xfrm>
            <a:off x="7689850" y="4648200"/>
            <a:ext cx="284163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0" name="Google Shape;660;p38"/>
          <p:cNvSpPr/>
          <p:nvPr/>
        </p:nvSpPr>
        <p:spPr>
          <a:xfrm>
            <a:off x="8212138" y="5103813"/>
            <a:ext cx="285750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61" name="Google Shape;661;p38"/>
          <p:cNvCxnSpPr>
            <a:stCxn id="662" idx="7"/>
            <a:endCxn id="655" idx="3"/>
          </p:cNvCxnSpPr>
          <p:nvPr/>
        </p:nvCxnSpPr>
        <p:spPr>
          <a:xfrm rot="10800000" flipH="1">
            <a:off x="7410111" y="4892160"/>
            <a:ext cx="3213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3" name="Google Shape;663;p38"/>
          <p:cNvCxnSpPr>
            <a:stCxn id="660" idx="1"/>
            <a:endCxn id="655" idx="5"/>
          </p:cNvCxnSpPr>
          <p:nvPr/>
        </p:nvCxnSpPr>
        <p:spPr>
          <a:xfrm rot="10800000">
            <a:off x="7932385" y="4892160"/>
            <a:ext cx="3216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2" name="Google Shape;662;p38"/>
          <p:cNvSpPr/>
          <p:nvPr/>
        </p:nvSpPr>
        <p:spPr>
          <a:xfrm>
            <a:off x="7167563" y="5103813"/>
            <a:ext cx="284162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4</a:t>
            </a:r>
            <a:endParaRPr/>
          </a:p>
        </p:txBody>
      </p:sp>
      <p:sp>
        <p:nvSpPr>
          <p:cNvPr id="669" name="Google Shape;669;p39"/>
          <p:cNvSpPr txBox="1">
            <a:spLocks noGrp="1"/>
          </p:cNvSpPr>
          <p:nvPr>
            <p:ph type="body" idx="1"/>
          </p:nvPr>
        </p:nvSpPr>
        <p:spPr>
          <a:xfrm>
            <a:off x="539552" y="1844824"/>
            <a:ext cx="8208912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binary search tree from following numbers: 34, 15, 65, 62, 69, 42, 40, 80, 50, 59, 23, 46, 57, 3, 29 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 BSTs after deleting keys 62, 42 and 3 from the above tree.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0" name="Google Shape;670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5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6" name="Google Shape;676;p40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 the BST for items with keys 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A S Y Q U E S T I O N 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 the BST for items with keys </a:t>
            </a:r>
            <a:endParaRPr/>
          </a:p>
          <a:p>
            <a:pPr marL="0" marR="0" lvl="0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 A T A S T R U C T R E S A N D A L G O R I T H M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7" name="Google Shape;677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38DBD4BE-9372-4611-82B3-47028BBE33F2}"/>
  <p:tag name="ISPRING_RESOURCE_FOLDER" val="C:\Users\Administrator\Documents\CTDL&amp;GT\Cai tien MH CTDL_GT\CTDL_GT\Slides and exercises\Lecture06_trees_part2\Lecture 6_trees_part2\"/>
  <p:tag name="ISPRING_PRESENTATION_PATH" val="C:\Users\Administrator\Documents\CTDL&amp;GT\Cai tien MH CTDL_GT\CTDL_GT\Slides and exercises\Lecture06_trees_part2\Lecture 6_trees_part2.pptx"/>
  <p:tag name="ISPRING_PROJECT_VERSION" val="9"/>
  <p:tag name="ISPRING_PROJECT_FOLDER_UPDATED" val="1"/>
  <p:tag name="ISPRING_SCREEN_RECS_UPDATED" val="C:\Users\Administrator\Documents\CTDL&amp;GT\Cai tien MH CTDL_GT\CTDL_GT\Slides and exercises\Lecture06_trees_part2\Lecture 6_trees_part2\"/>
  <p:tag name="FLASHSPRING_ZOOM_TAG" val="63"/>
  <p:tag name="ISPRING_PRESENTATION_INFO_2" val="&lt;?xml version=&quot;1.0&quot; encoding=&quot;UTF-8&quot; standalone=&quot;no&quot; ?&gt;&#10;&lt;presentation2&gt;&#10;&#10;  &lt;slides&gt;&#10;    &lt;slide id=&quot;{23E5DE14-9ECC-4967-818C-A01D61203A68}&quot; pptId=&quot;256&quot;/&gt;&#10;    &lt;slide id=&quot;{A59C3067-DB6F-4FA5-97DB-0DFA47B04ED5}&quot; pptId=&quot;257&quot;/&gt;&#10;    &lt;slide id=&quot;{49683030-2B08-48A9-A5AC-8F6365C3CF7E}&quot; pptId=&quot;258&quot;/&gt;&#10;    &lt;slide id=&quot;{679AF561-F3CD-42FF-A56A-35095D074CE5}&quot; pptId=&quot;259&quot;/&gt;&#10;    &lt;slide id=&quot;{DB5F4797-5427-427E-AC97-3D152D50975B}&quot; pptId=&quot;260&quot;/&gt;&#10;    &lt;slide id=&quot;{1E7E1362-8065-4938-9F25-00367ADE21F8}&quot; pptId=&quot;261&quot;/&gt;&#10;    &lt;slide id=&quot;{9B957D1A-D523-4B8C-8B16-001F98941816}&quot; pptId=&quot;262&quot;/&gt;&#10;    &lt;slide id=&quot;{4731A4CF-FB53-444B-A6CE-D84B765AFDEA}&quot; pptId=&quot;284&quot;/&gt;&#10;    &lt;slide id=&quot;{3D351DE3-7A39-4913-ADD0-77B7660CD1D4}&quot; pptId=&quot;263&quot;/&gt;&#10;    &lt;slide id=&quot;{BC69CE83-2657-4702-9922-7F6325F16BF9}&quot; pptId=&quot;264&quot;/&gt;&#10;    &lt;slide id=&quot;{E452FA90-2A43-492A-B9EB-6787E83CD01E}&quot; pptId=&quot;265&quot;/&gt;&#10;    &lt;slide id=&quot;{25F1160B-C92D-40A0-BBE2-6DD0197B775E}&quot; pptId=&quot;267&quot;/&gt;&#10;    &lt;slide id=&quot;{03808CBC-DC12-4B51-8DCD-301E4F1FF4C0}&quot; pptId=&quot;285&quot;/&gt;&#10;    &lt;slide id=&quot;{5A228385-AD75-4B2B-82B6-B1EDFE281E3A}&quot; pptId=&quot;268&quot;/&gt;&#10;    &lt;slide id=&quot;{9F894243-6B9B-4FC0-B8C9-5D3C7FE6B8AC}&quot; pptId=&quot;269&quot;/&gt;&#10;    &lt;slide id=&quot;{76DA1004-D2FC-48D5-B403-E045ECA8D30F}&quot; pptId=&quot;270&quot;/&gt;&#10;    &lt;slide id=&quot;{10645548-AADB-414D-8766-5970206C7A21}&quot; pptId=&quot;271&quot;/&gt;&#10;    &lt;slide id=&quot;{352FBC1B-E7A2-442B-96B7-2F6E4D58862F}&quot; pptId=&quot;273&quot;/&gt;&#10;    &lt;slide id=&quot;{8D5B4D9C-DA3C-4F2C-93DC-2E010C2AAA66}&quot; pptId=&quot;274&quot;/&gt;&#10;    &lt;slide id=&quot;{FC226CDC-DAFE-483E-AF9B-35F383B086C2}&quot; pptId=&quot;275&quot;/&gt;&#10;    &lt;slide id=&quot;{F091F40C-5914-4B98-B8ED-7892790E57F0}&quot; pptId=&quot;276&quot;/&gt;&#10;    &lt;slide id=&quot;{D81713D3-7977-4333-9643-793201F51295}&quot; pptId=&quot;277&quot;/&gt;&#10;    &lt;slide id=&quot;{A7320F89-5A9A-44CA-90BA-BE7C2E4B0A62}&quot; pptId=&quot;278&quot;/&gt;&#10;    &lt;slide id=&quot;{7C38A48C-59B2-403E-BE83-0074822BC155}&quot; pptId=&quot;279&quot;/&gt;&#10;    &lt;slide id=&quot;{59061040-5D3B-40D8-9FA8-CFA34FF4282C}&quot; pptId=&quot;280&quot;/&gt;&#10;    &lt;slide id=&quot;{409B9F5F-66B7-4325-8795-4EA1AC8EFF2E}&quot; pptId=&quot;281&quot;/&gt;&#10;    &lt;slide id=&quot;{16C4A874-C986-412F-A3BE-4764B81391B2}&quot; pptId=&quot;282&quot;/&gt;&#10;    &lt;slide id=&quot;{A00D8D84-5E14-4B46-82DC-B1616724D97A}&quot; pptId=&quot;283&quot;/&gt;&#10;  &lt;/slides&gt;&#10;&#10;  &lt;narration&gt;&#10;    &lt;audioTracks&gt;&#10;      &lt;audioTrack muted=&quot;false&quot; name=&quot;Lect 6 part 1&quot; resource=&quot;f31dbd09&quot; slideId=&quot;{23E5DE14-9ECC-4967-818C-A01D61203A68}&quot; startTime=&quot;0&quot; stepIndex=&quot;0&quot; volume=&quot;1&quot;&gt;&#10;        &lt;audio channels=&quot;1&quot; format=&quot;s16&quot; sampleRate=&quot;48000&quot;/&gt;&#10;      &lt;/audioTrack&gt;&#10;      &lt;audioTrack muted=&quot;false&quot; name=&quot;Lect 6 part 2&quot; resource=&quot;99b62705&quot; slideId=&quot;{352FBC1B-E7A2-442B-96B7-2F6E4D58862F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939FA83A-1DC1-4867-9CA1-78DE64F7F012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6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6_trees_part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3E5DE14-9ECC-4967-818C-A01D61203A68}"/>
  <p:tag name="GENSWF_ADVANCE_TIME" val="3.999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59C3067-DB6F-4FA5-97DB-0DFA47B04ED5}"/>
  <p:tag name="GENSWF_ADVANCE_TIME" val="25.735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9683030-2B08-48A9-A5AC-8F6365C3CF7E}"/>
  <p:tag name="GENSWF_ADVANCE_TIME" val="12.579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79AF561-F3CD-42FF-A56A-35095D074CE5}"/>
  <p:tag name="GENSWF_ADVANCE_TIME" val="17.584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B5F4797-5427-427E-AC97-3D152D50975B}"/>
  <p:tag name="GENSWF_ADVANCE_TIME" val="13.294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E7E1362-8065-4938-9F25-00367ADE21F8}"/>
  <p:tag name="GENSWF_ADVANCE_TIME" val="8.003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B957D1A-D523-4B8C-8B16-001F98941816}"/>
  <p:tag name="GENSWF_ADVANCE_TIME" val="1.854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731A4CF-FB53-444B-A6CE-D84B765AFDEA}"/>
  <p:tag name="GENSWF_ADVANCE_TIME" val="17.012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D351DE3-7A39-4913-ADD0-77B7660CD1D4}"/>
  <p:tag name="GENSWF_ADVANCE_TIME" val="6.144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C69CE83-2657-4702-9922-7F6325F16BF9}"/>
  <p:tag name="GENSWF_ADVANCE_TIME" val="7.288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452FA90-2A43-492A-B9EB-6787E83CD01E}"/>
  <p:tag name="GENSWF_ADVANCE_TIME" val="17.727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5F1160B-C92D-40A0-BBE2-6DD0197B775E}"/>
  <p:tag name="GENSWF_ADVANCE_TIME" val="27.737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3808CBC-DC12-4B51-8DCD-301E4F1FF4C0}"/>
  <p:tag name="GENSWF_ADVANCE_TIME" val="25.306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A228385-AD75-4B2B-82B6-B1EDFE281E3A}"/>
  <p:tag name="GENSWF_ADVANCE_TIME" val="7.717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F894243-6B9B-4FC0-B8C9-5D3C7FE6B8AC}"/>
  <p:tag name="GENSWF_ADVANCE_TIME" val="2.14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6DA1004-D2FC-48D5-B403-E045ECA8D30F}"/>
  <p:tag name="GENSWF_ADVANCE_TIME" val="7.288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0645548-AADB-414D-8766-5970206C7A21}"/>
  <p:tag name="GENSWF_ADVANCE_TIME" val="11.743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52FBC1B-E7A2-442B-96B7-2F6E4D58862F}"/>
  <p:tag name="GENSWF_ADVANCE_TIME" val="3.141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D5B4D9C-DA3C-4F2C-93DC-2E010C2AAA66}"/>
  <p:tag name="GENSWF_ADVANCE_TIME" val="18.871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C226CDC-DAFE-483E-AF9B-35F383B086C2}"/>
  <p:tag name="GENSWF_ADVANCE_TIME" val="12.436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091F40C-5914-4B98-B8ED-7892790E57F0}"/>
  <p:tag name="GENSWF_ADVANCE_TIME" val="17.87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81713D3-7977-4333-9643-793201F51295}"/>
  <p:tag name="GENSWF_ADVANCE_TIME" val="30.311"/>
  <p:tag name="ISPRING_CUSTOM_TIMING_US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7320F89-5A9A-44CA-90BA-BE7C2E4B0A62}"/>
  <p:tag name="GENSWF_ADVANCE_TIME" val="5"/>
  <p:tag name="ISPRING_CUSTOM_TIMING_USED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C38A48C-59B2-403E-BE83-0074822BC155}"/>
  <p:tag name="GENSWF_ADVANCE_TIME" val="20.587"/>
  <p:tag name="ISPRING_CUSTOM_TIMING_USED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9061040-5D3B-40D8-9FA8-CFA34FF4282C}"/>
  <p:tag name="GENSWF_ADVANCE_TIME" val="12.007"/>
  <p:tag name="ISPRING_CUSTOM_TIMING_USED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09B9F5F-66B7-4325-8795-4EA1AC8EFF2E}"/>
  <p:tag name="GENSWF_ADVANCE_TIME" val="8.861"/>
  <p:tag name="ISPRING_CUSTOM_TIMING_USED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6C4A874-C986-412F-A3BE-4764B81391B2}"/>
  <p:tag name="GENSWF_ADVANCE_TIME" val="6.743"/>
  <p:tag name="ISPRING_CUSTOM_TIMING_USED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00D8D84-5E14-4B46-82DC-B1616724D97A}"/>
  <p:tag name="GENSWF_ADVANCE_TIME" val="8.575"/>
  <p:tag name="ISPRING_CUSTOM_TIMING_USED" val="1"/>
</p:tagLst>
</file>

<file path=ppt/theme/theme1.xml><?xml version="1.0" encoding="utf-8"?>
<a:theme xmlns:a="http://schemas.openxmlformats.org/drawingml/2006/main" name="1_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</TotalTime>
  <Words>1162</Words>
  <Application>Microsoft Office PowerPoint</Application>
  <PresentationFormat>On-screen Show (4:3)</PresentationFormat>
  <Paragraphs>350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Helvetica Neue</vt:lpstr>
      <vt:lpstr>Times New Roman</vt:lpstr>
      <vt:lpstr>Noto Sans Symbols</vt:lpstr>
      <vt:lpstr>Calibri</vt:lpstr>
      <vt:lpstr>1_Koi</vt:lpstr>
      <vt:lpstr>Data Structures and Algorithms </vt:lpstr>
      <vt:lpstr>What is a Tree</vt:lpstr>
      <vt:lpstr>List of Children Tree Presentation</vt:lpstr>
      <vt:lpstr>Priority Queue</vt:lpstr>
      <vt:lpstr>Priority Queue</vt:lpstr>
      <vt:lpstr>Heap tree</vt:lpstr>
      <vt:lpstr>Heap tree</vt:lpstr>
      <vt:lpstr>Heap tree insertion</vt:lpstr>
      <vt:lpstr>Heap tree insertion</vt:lpstr>
      <vt:lpstr>Heap tree insertion</vt:lpstr>
      <vt:lpstr>Heap tree insertion</vt:lpstr>
      <vt:lpstr>Exercise 2</vt:lpstr>
      <vt:lpstr>Remove max</vt:lpstr>
      <vt:lpstr>Remove max</vt:lpstr>
      <vt:lpstr>Remove max</vt:lpstr>
      <vt:lpstr>Heap tree deletion</vt:lpstr>
      <vt:lpstr>Remove max</vt:lpstr>
      <vt:lpstr>Exercise 3</vt:lpstr>
      <vt:lpstr>Heap tree performance</vt:lpstr>
      <vt:lpstr>Using heap tree library</vt:lpstr>
      <vt:lpstr>Binary Search Trees</vt:lpstr>
      <vt:lpstr>Search</vt:lpstr>
      <vt:lpstr>Insertion</vt:lpstr>
      <vt:lpstr>Deletion</vt:lpstr>
      <vt:lpstr>Deletion (cont.)</vt:lpstr>
      <vt:lpstr>Performance</vt:lpstr>
      <vt:lpstr>Exercise 4</vt:lpstr>
      <vt:lpstr>Exercise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6_trees_part2</dc:title>
  <cp:lastModifiedBy>DHQG</cp:lastModifiedBy>
  <cp:revision>6</cp:revision>
  <dcterms:modified xsi:type="dcterms:W3CDTF">2019-03-23T07:20:40Z</dcterms:modified>
</cp:coreProperties>
</file>