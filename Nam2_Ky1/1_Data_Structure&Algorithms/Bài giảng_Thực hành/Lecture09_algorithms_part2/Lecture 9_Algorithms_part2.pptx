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7099300" cy="10234613"/>
  <p:embeddedFontLst>
    <p:embeddedFont>
      <p:font typeface="Calibri" pitchFamily="3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70908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algorithms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science department</a:t>
            </a:r>
            <a:endParaRPr dirty="0"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914400" y="2133600"/>
            <a:ext cx="7162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and conquer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55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the counting Fibonacci problem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 numbers are defined recursively: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0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1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i-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i-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for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&gt;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naïve recursive algorithm: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&lt;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k;</a:t>
            </a:r>
            <a:endParaRPr sz="20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	else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+ 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Analyzing the Binary Recursion Fibonacci Algorithm</a:t>
            </a:r>
            <a:endParaRPr/>
          </a:p>
        </p:txBody>
      </p:sp>
      <p:sp>
        <p:nvSpPr>
          <p:cNvPr id="114" name="Google Shape;114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 number of recursive calls made by BinaryFib(k).  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 + 1 + 1 = 3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3 + 1 + 1 = 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5 + 3 + 1 = 9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9 + 5 + 1 = 15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15 + 9 + 1 = 25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25 + 15 + 1 = 41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41 + 25 + 1 = 67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 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exponential!</a:t>
            </a:r>
            <a:endParaRPr/>
          </a:p>
          <a:p>
            <a:pPr marL="742950" marR="0" lvl="1" indent="-1841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employs divide and conquer strategy.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stores the solutions of all smaller problems so each smaller problem is solved once.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usually used to solve optimization problems.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1371600" y="1905000"/>
            <a:ext cx="6477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 fib[N];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(int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N;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++)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fib[i] = -1;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fib[0] = 0;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fib[1] = 1;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Fibonacci (int k):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(fib[k] == -1)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fib[k] = Fibonacci (k-1) + Fibonacci (k-2);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fib[k];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template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85800" y="2057400"/>
            <a:ext cx="6781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solutions for base problems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method to solve problem from smaller problems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data structure to store solutions of problems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solutions from smaller problems to bigger problems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problems</a:t>
            </a:r>
            <a:b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(http://people.csail.mit.edu/bdean/6.046/dp/)</a:t>
            </a:r>
            <a:endParaRPr sz="28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924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find a contiguous subsequence A(i) ... A(j) for which the sum of elements in the subsequence is maximized. 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find the longest subsequence (not necessarily contiguous) in which the values in the subsequence form a strictly increasing sequence.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problems</a:t>
            </a:r>
            <a:b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(http://people.csail.mit.edu/bdean/6.046/dp/)</a:t>
            </a:r>
            <a:endParaRPr sz="28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620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two text strings A and B, we can transform string A to string B using following operations: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 character from A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character into A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 some character in A into a new character. </a:t>
            </a:r>
            <a:endParaRPr/>
          </a:p>
          <a:p>
            <a:pPr marL="342900" marR="0" lvl="0" indent="-215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minimal number of such operations required to transform A into B is called the edit distance between A and B.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find the edit distance between A and B.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 distance</a:t>
            </a: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Input: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Strings  A[1..n]  and  B[1..m]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Costs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       Deletion	Replacement</a:t>
            </a:r>
            <a:endParaRPr sz="1600" b="0" i="1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Goal: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minimum cost of transforming A → B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T(i, j): Minimum cost to transform A[1..i] into B[1..j]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T(i-1, j)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T(i, j) = min      T(i, j-1) +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T(i-1, j-1) 	if A[i] = B[j]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T(i-1, j-1) +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A[i] != B[j]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590800" y="4724400"/>
            <a:ext cx="152400" cy="1371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3048000" y="5410200"/>
            <a:ext cx="152400" cy="609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rot="10800000" flipH="1">
            <a:off x="2895600" y="2667000"/>
            <a:ext cx="3810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0" name="Google Shape;160;p22"/>
          <p:cNvCxnSpPr/>
          <p:nvPr/>
        </p:nvCxnSpPr>
        <p:spPr>
          <a:xfrm rot="10800000">
            <a:off x="4343400" y="2667000"/>
            <a:ext cx="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1" name="Google Shape;161;p22"/>
          <p:cNvCxnSpPr/>
          <p:nvPr/>
        </p:nvCxnSpPr>
        <p:spPr>
          <a:xfrm rot="10800000">
            <a:off x="5410200" y="2667000"/>
            <a:ext cx="4572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majority real-world problem is optimization problems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Good solutions versus optimal solutions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 work in different phases. At each phase, we take the locally optimal choices.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1905000"/>
            <a:ext cx="6096000" cy="4056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382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algorithm: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the current city, visit the nearest unvisited city. Repeat the process until all cities have been visited, then return to the start city.</a:t>
            </a:r>
            <a:endParaRPr sz="16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2743200"/>
            <a:ext cx="5753100" cy="382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pic>
        <p:nvPicPr>
          <p:cNvPr id="190" name="Google Shape;190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1116012"/>
            <a:ext cx="6102350" cy="406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838200" y="5181600"/>
            <a:ext cx="7086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path: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X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7  → 8  → 6 → 5 → 4 → 9 → 1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838200" y="5791200"/>
            <a:ext cx="757069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path:         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4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5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 → 8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7 → X → 9 → 1</a:t>
            </a:r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Hill climbing strategy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609600" y="1922785"/>
            <a:ext cx="2819400" cy="46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from a solution, then iteratively change the current solution to get a better one.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0880" y="1828800"/>
            <a:ext cx="5617369" cy="4267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Hill climbing strategy</a:t>
            </a:r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65455" y="2286000"/>
            <a:ext cx="10323770" cy="350519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Knapsack problem</a:t>
            </a:r>
            <a:endParaRPr/>
          </a:p>
        </p:txBody>
      </p:sp>
      <p:pic>
        <p:nvPicPr>
          <p:cNvPr id="214" name="Google Shape;21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1462088"/>
            <a:ext cx="5715000" cy="4952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2EB7C8D8-9D09-4567-A67F-CF65F7187DF7}"/>
  <p:tag name="ISPRING_RESOURCE_FOLDER" val="C:\Users\Administrator\Documents\CTDL&amp;GT\Cai tien MH CTDL_GT\CTDL_GT\Slides and exercises\Lecture09_algorithms_part2\Lecture 9_Algorithms_part2\"/>
  <p:tag name="ISPRING_PRESENTATION_PATH" val="C:\Users\Administrator\Documents\CTDL&amp;GT\Cai tien MH CTDL_GT\CTDL_GT\Slides and exercises\Lecture09_algorithms_part2\Lecture 9_Algorithms_part2.pptx"/>
  <p:tag name="ISPRING_PROJECT_VERSION" val="9"/>
  <p:tag name="ISPRING_PROJECT_FOLDER_UPDATED" val="1"/>
  <p:tag name="ISPRING_SCREEN_RECS_UPDATED" val="C:\Users\Administrator\Documents\CTDL&amp;GT\Cai tien MH CTDL_GT\CTDL_GT\Slides and exercises\Lecture09_algorithms_part2\Lecture 9_Algorithms_part2\"/>
  <p:tag name="FLASHSPRING_ZOOM_TAG" val="70"/>
  <p:tag name="ISPRING_PRESENTATION_INFO_2" val="&lt;?xml version=&quot;1.0&quot; encoding=&quot;UTF-8&quot; standalone=&quot;no&quot; ?&gt;&#10;&lt;presentation2&gt;&#10;&#10;  &lt;slides&gt;&#10;    &lt;slide id=&quot;{AD974D7B-6086-4A41-B57B-1038B3831308}&quot; pptId=&quot;256&quot;/&gt;&#10;    &lt;slide id=&quot;{741512BF-B536-4963-89BA-531B75BC7B6F}&quot; pptId=&quot;257&quot;/&gt;&#10;    &lt;slide id=&quot;{17083968-0B12-4C70-A49B-B6ABAFD11C83}&quot; pptId=&quot;258&quot;/&gt;&#10;    &lt;slide id=&quot;{108C72D6-C9E1-44BF-8553-F970E753FAD5}&quot; pptId=&quot;259&quot;/&gt;&#10;    &lt;slide id=&quot;{E319134A-65E8-49D9-B2AF-BCE1A06BA2F6}&quot; pptId=&quot;260&quot;/&gt;&#10;    &lt;slide id=&quot;{57C84105-E8AA-468F-933C-710F8AE5A8D4}&quot; pptId=&quot;261&quot;/&gt;&#10;    &lt;slide id=&quot;{DED90F8D-12C9-4C40-9FB9-B76BDF154AB8}&quot; pptId=&quot;262&quot;/&gt;&#10;    &lt;slide id=&quot;{53A5BD25-0217-4A12-83F5-D59720C8D7C1}&quot; pptId=&quot;263&quot;/&gt;&#10;    &lt;slide id=&quot;{57BF881A-1269-4BBA-AF4A-57DCDE47271C}&quot; pptId=&quot;264&quot;/&gt;&#10;    &lt;slide id=&quot;{09FAF6FD-C412-4254-BD4E-9F53CA249FBF}&quot; pptId=&quot;265&quot;/&gt;&#10;    &lt;slide id=&quot;{3438CFDF-06D3-4621-94F1-00F8D58EBC79}&quot; pptId=&quot;266&quot;/&gt;&#10;    &lt;slide id=&quot;{B3E68D9F-6988-49FD-A27D-C7E79D87CBF1}&quot; pptId=&quot;267&quot;/&gt;&#10;    &lt;slide id=&quot;{1CE1838C-0FBE-4CB7-9A73-3CC20183398C}&quot; pptId=&quot;268&quot;/&gt;&#10;    &lt;slide id=&quot;{CEAEE898-BBE6-42CE-BE96-14D3CAAB4C0D}&quot; pptId=&quot;269&quot;/&gt;&#10;    &lt;slide id=&quot;{440BEC35-F2B8-43D2-9E40-B568ECCCFECB}&quot; pptId=&quot;270&quot;/&gt;&#10;    &lt;slide id=&quot;{E6248158-78CA-481D-9AD0-078133EA7760}&quot; pptId=&quot;271&quot;/&gt;&#10;    &lt;slide id=&quot;{470FA5D0-1714-4126-86DA-941633ABDFEF}&quot; pptId=&quot;272&quot;/&gt;&#10;  &lt;/slides&gt;&#10;&#10;  &lt;narration&gt;&#10;    &lt;audioTracks&gt;&#10;      &lt;audioTrack muted=&quot;false&quot; name=&quot;Lect 9 part 1&quot; resource=&quot;ea0cf080&quot; slideId=&quot;{AD974D7B-6086-4A41-B57B-1038B3831308}&quot; startTime=&quot;0&quot; stepIndex=&quot;0&quot; volume=&quot;1&quot;&gt;&#10;        &lt;audio channels=&quot;1&quot; format=&quot;s16&quot; sampleRate=&quot;48000&quot;/&gt;&#10;      &lt;/audioTrack&gt;&#10;      &lt;audioTrack muted=&quot;false&quot; name=&quot;Lect 9 part 2&quot; resource=&quot;6cba833e&quot; slideId=&quot;{09FAF6FD-C412-4254-BD4E-9F53CA249FBF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DE5D4AB-124C-4CDB-BAB5-98125492489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9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9_Algorithms_part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D974D7B-6086-4A41-B57B-1038B3831308}"/>
  <p:tag name="GENSWF_ADVANCE_TIME" val="4.575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41512BF-B536-4963-89BA-531B75BC7B6F}"/>
  <p:tag name="GENSWF_ADVANCE_TIME" val="2.36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7083968-0B12-4C70-A49B-B6ABAFD11C83}"/>
  <p:tag name="GENSWF_ADVANCE_TIME" val="19.19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08C72D6-C9E1-44BF-8553-F970E753FAD5}"/>
  <p:tag name="GENSWF_ADVANCE_TIME" val="30.41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319134A-65E8-49D9-B2AF-BCE1A06BA2F6}"/>
  <p:tag name="GENSWF_ADVANCE_TIME" val="17.0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C84105-E8AA-468F-933C-710F8AE5A8D4}"/>
  <p:tag name="GENSWF_ADVANCE_TIME" val="11.20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ED90F8D-12C9-4C40-9FB9-B76BDF154AB8}"/>
  <p:tag name="GENSWF_ADVANCE_TIME" val="18.685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3A5BD25-0217-4A12-83F5-D59720C8D7C1}"/>
  <p:tag name="GENSWF_ADVANCE_TIME" val="19.195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BF881A-1269-4BBA-AF4A-57DCDE47271C}"/>
  <p:tag name="GENSWF_ADVANCE_TIME" val="28.9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9FAF6FD-C412-4254-BD4E-9F53CA249FBF}"/>
  <p:tag name="GENSWF_ADVANCE_TIME" val="55.405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438CFDF-06D3-4621-94F1-00F8D58EBC79}"/>
  <p:tag name="GENSWF_ADVANCE_TIME" val="18.6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E68D9F-6988-49FD-A27D-C7E79D87CBF1}"/>
  <p:tag name="GENSWF_ADVANCE_TIME" val="4.32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CE1838C-0FBE-4CB7-9A73-3CC20183398C}"/>
  <p:tag name="GENSWF_ADVANCE_TIME" val="4.66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EAEE898-BBE6-42CE-BE96-14D3CAAB4C0D}"/>
  <p:tag name="GENSWF_ADVANCE_TIME" val="17.325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40BEC35-F2B8-43D2-9E40-B568ECCCFECB}"/>
  <p:tag name="GENSWF_ADVANCE_TIME" val="5.255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6248158-78CA-481D-9AD0-078133EA7760}"/>
  <p:tag name="GENSWF_ADVANCE_TIME" val="6.965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0FA5D0-1714-4126-86DA-941633ABDFEF}"/>
  <p:tag name="GENSWF_ADVANCE_TIME" val="13.85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446</Words>
  <Application>Microsoft Office PowerPoint</Application>
  <PresentationFormat>On-screen Show (4:3)</PresentationFormat>
  <Paragraphs>116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Helvetica Neue</vt:lpstr>
      <vt:lpstr>Times New Roman</vt:lpstr>
      <vt:lpstr>Calibri</vt:lpstr>
      <vt:lpstr>Noto Sans Symbols</vt:lpstr>
      <vt:lpstr>Koi</vt:lpstr>
      <vt:lpstr>Advanced algorithms</vt:lpstr>
      <vt:lpstr>Outlines</vt:lpstr>
      <vt:lpstr>Dynamic programming</vt:lpstr>
      <vt:lpstr>Analyzing the Binary Recursion Fibonacci Algorithm</vt:lpstr>
      <vt:lpstr>Dynamic programming</vt:lpstr>
      <vt:lpstr>Fibonacci</vt:lpstr>
      <vt:lpstr>Dynamic programming template</vt:lpstr>
      <vt:lpstr>Dynamic programming problems (http://people.csail.mit.edu/bdean/6.046/dp/)</vt:lpstr>
      <vt:lpstr>Dynamic programming problems (http://people.csail.mit.edu/bdean/6.046/dp/)</vt:lpstr>
      <vt:lpstr>Edit distance</vt:lpstr>
      <vt:lpstr>Greedy algorithms</vt:lpstr>
      <vt:lpstr>Traveling salesman problem (TSP)</vt:lpstr>
      <vt:lpstr>Traveling salesman problem (TSP)</vt:lpstr>
      <vt:lpstr>Traveling salesman problem (TSP)</vt:lpstr>
      <vt:lpstr>Hill climbing strategy</vt:lpstr>
      <vt:lpstr>Hill climbing strategy</vt:lpstr>
      <vt:lpstr>Knapsack problem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9_Algorithms_part2</dc:title>
  <cp:lastModifiedBy>DHQG</cp:lastModifiedBy>
  <cp:revision>6</cp:revision>
  <dcterms:modified xsi:type="dcterms:W3CDTF">2019-03-23T08:26:32Z</dcterms:modified>
</cp:coreProperties>
</file>