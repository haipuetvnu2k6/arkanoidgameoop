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tags/tag16.xml" ContentType="application/vnd.openxmlformats-officedocument.presentationml.tags+xml"/>
  <Override PartName="/ppt/notesSlides/notesSlide23.xml" ContentType="application/vnd.openxmlformats-officedocument.presentationml.notesSlide+xml"/>
  <Override PartName="/ppt/tags/tag27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tags/tag34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21.xml" ContentType="application/vnd.openxmlformats-officedocument.presentationml.tags+xml"/>
  <Override PartName="/ppt/tags/tag30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tags/tag3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tags/tag19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28.xml" ContentType="application/vnd.openxmlformats-officedocument.presentationml.tags+xml"/>
  <Override PartName="/ppt/notesSlides/notesSlide35.xml" ContentType="application/vnd.openxmlformats-officedocument.presentationml.notesSlide+xml"/>
  <Override PartName="/ppt/tags/tag37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tags/tag17.xml" ContentType="application/vnd.openxmlformats-officedocument.presentationml.tags+xml"/>
  <Override PartName="/ppt/notesSlides/notesSlide22.xml" ContentType="application/vnd.openxmlformats-officedocument.presentationml.notesSlide+xml"/>
  <Override PartName="/ppt/tags/tag26.xml" ContentType="application/vnd.openxmlformats-officedocument.presentationml.tags+xml"/>
  <Override PartName="/ppt/notesSlides/notesSlide33.xml" ContentType="application/vnd.openxmlformats-officedocument.presentationml.notesSlide+xml"/>
  <Override PartName="/ppt/tags/tag35.xml" ContentType="application/vnd.openxmlformats-officedocument.presentationml.tag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5.xml" ContentType="application/vnd.openxmlformats-officedocument.presentationml.tags+xml"/>
  <Override PartName="/ppt/notesSlides/notesSlide20.xml" ContentType="application/vnd.openxmlformats-officedocument.presentationml.notesSlide+xml"/>
  <Override PartName="/ppt/tags/tag24.xml" ContentType="application/vnd.openxmlformats-officedocument.presentationml.tags+xml"/>
  <Override PartName="/ppt/notesSlides/notesSlide31.xml" ContentType="application/vnd.openxmlformats-officedocument.presentationml.notesSlide+xml"/>
  <Override PartName="/ppt/tags/tag33.xml" ContentType="application/vnd.openxmlformats-officedocument.presentationml.tags+xml"/>
  <Override PartName="/ppt/notesSlides/notesSlide6.xml" ContentType="application/vnd.openxmlformats-officedocument.presentationml.notesSlide+xml"/>
  <Override PartName="/ppt/tags/tag13.xml" ContentType="application/vnd.openxmlformats-officedocument.presentationml.tags+xml"/>
  <Override PartName="/ppt/tags/tag22.xml" ContentType="application/vnd.openxmlformats-officedocument.presentationml.tags+xml"/>
  <Override PartName="/ppt/tags/tag31.xml" ContentType="application/vnd.openxmlformats-officedocument.presentationml.tags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tags/tag2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notesSlides/notesSlide25.xml" ContentType="application/vnd.openxmlformats-officedocument.presentationml.notesSlide+xml"/>
  <Override PartName="/ppt/tags/tag29.xml" ContentType="application/vnd.openxmlformats-officedocument.presentationml.tags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notesSlides/notesSlide14.xml" ContentType="application/vnd.openxmlformats-officedocument.presentationml.notesSlide+xml"/>
  <Override PartName="/ppt/tags/tag18.xml" ContentType="application/vnd.openxmlformats-officedocument.presentationml.tags+xml"/>
  <Override PartName="/ppt/notesSlides/notesSlide32.xml" ContentType="application/vnd.openxmlformats-officedocument.presentationml.notesSlide+xml"/>
  <Override PartName="/ppt/tags/tag36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21.xml" ContentType="application/vnd.openxmlformats-officedocument.presentationml.notesSlide+xml"/>
  <Override PartName="/ppt/tags/tag25.xml" ContentType="application/vnd.openxmlformats-officedocument.presentationml.tags+xml"/>
  <Override PartName="/ppt/notesSlides/notesSlide10.xml" ContentType="application/vnd.openxmlformats-officedocument.presentationml.notesSlide+xml"/>
  <Override PartName="/ppt/tags/tag32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6858000" type="screen4x3"/>
  <p:notesSz cx="7099300" cy="10234613"/>
  <p:embeddedFontLst>
    <p:embeddedFont>
      <p:font typeface="Helvetica" pitchFamily="34" charset="0"/>
      <p:regular r:id="rId39"/>
      <p:bold r:id="rId40"/>
      <p:italic r:id="rId41"/>
      <p:boldItalic r:id="rId42"/>
    </p:embeddedFont>
    <p:embeddedFont>
      <p:font typeface="Calibri" pitchFamily="34" charset="0"/>
      <p:regular r:id="rId43"/>
      <p:bold r:id="rId44"/>
      <p:italic r:id="rId45"/>
      <p:boldItalic r:id="rId46"/>
    </p:embeddedFont>
  </p:embeddedFontLst>
  <p:custDataLst>
    <p:tags r:id="rId47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CB64386A-01CC-41CD-9099-2ECCFB59C75D}">
  <a:tblStyle styleId="{CB64386A-01CC-41CD-9099-2ECCFB59C75D}" styleName="Table_0">
    <a:wholeTbl>
      <a:tcTxStyle b="off" i="off">
        <a:font>
          <a:latin typeface="Helvetica"/>
          <a:ea typeface="Helvetica"/>
          <a:cs typeface="Helvetica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6FE"/>
          </a:solidFill>
        </a:fill>
      </a:tcStyle>
    </a:wholeTbl>
    <a:band1H>
      <a:tcTxStyle/>
      <a:tcStyle>
        <a:tcBdr/>
        <a:fill>
          <a:solidFill>
            <a:srgbClr val="E6EDFD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6EDFD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-64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tags" Target="tags/tag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294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6866633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0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1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2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3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4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5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Breadth-First Search</a:t>
            </a:r>
            <a:endParaRPr/>
          </a:p>
        </p:txBody>
      </p:sp>
      <p:sp>
        <p:nvSpPr>
          <p:cNvPr id="516" name="Google Shape;516;p16:notes"/>
          <p:cNvSpPr txBox="1">
            <a:spLocks noGrp="1"/>
          </p:cNvSpPr>
          <p:nvPr>
            <p:ph type="dt" idx="10"/>
          </p:nvPr>
        </p:nvSpPr>
        <p:spPr>
          <a:xfrm>
            <a:off x="4021294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11/1/17 13:03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6:notes"/>
          <p:cNvSpPr>
            <a:spLocks noGrp="1" noRot="1" noChangeAspect="1"/>
          </p:cNvSpPr>
          <p:nvPr>
            <p:ph type="sldImg" idx="3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9" name="Google Shape;519;p16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7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8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9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20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22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23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24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25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26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27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6" name="Google Shape;81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28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29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9" name="Google Shape;88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30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6" name="Google Shape;92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31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3" name="Google Shape;93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32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1" name="Google Shape;941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33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1" name="Google Shape;97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34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1" name="Google Shape;100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35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8" name="Google Shape;100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36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2" name="Google Shape;106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914400" y="28956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9144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3124200" y="60960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 rot="5400000">
            <a:off x="2552700" y="114300"/>
            <a:ext cx="40386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 rot="5400000">
            <a:off x="4705350" y="2266950"/>
            <a:ext cx="55626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 rot="5400000">
            <a:off x="742950" y="400050"/>
            <a:ext cx="55626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219200" y="1600200"/>
            <a:ext cx="5926138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</p:sldLayoutIdLst>
  <p:timing>
    <p:tnLst>
      <p:par>
        <p:cTn id="1" dur="indefinite" restart="never" nodeType="tmRoot"/>
      </p:par>
    </p:tnLst>
  </p:timing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Relationship Id="rId4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>
            <a:spLocks noGrp="1"/>
          </p:cNvSpPr>
          <p:nvPr>
            <p:ph type="ctrTitle"/>
          </p:nvPr>
        </p:nvSpPr>
        <p:spPr>
          <a:xfrm>
            <a:off x="914400" y="12954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Introduction to graphs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1"/>
          </p:nvPr>
        </p:nvSpPr>
        <p:spPr>
          <a:xfrm>
            <a:off x="914400" y="36576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Helvetica Neue"/>
              <a:buNone/>
            </a:pPr>
            <a:r>
              <a:rPr lang="en-US" sz="2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Computational 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Science and Engineering</a:t>
            </a:r>
            <a:endParaRPr sz="26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Helvetica Neue"/>
              <a:buNone/>
            </a:pPr>
            <a:endParaRPr sz="26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13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9" name="Google Shape;99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9600" y="1879600"/>
            <a:ext cx="4292600" cy="42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457200" y="2209800"/>
            <a:ext cx="3962400" cy="2831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Computer network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Facebook friend network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Road map (Google map)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Airlines routes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Family trees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" name="Google Shape;101;p1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Graphs</a:t>
            </a:r>
            <a:endParaRPr/>
          </a:p>
        </p:txBody>
      </p:sp>
      <p:sp>
        <p:nvSpPr>
          <p:cNvPr id="107" name="Google Shape;107;p15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04850" y="1676400"/>
            <a:ext cx="8145463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graph is a pair 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V, E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where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set of nodes, called </a:t>
            </a:r>
            <a:r>
              <a:rPr lang="en-US" sz="18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vertices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collection of pairs of vertices, called </a:t>
            </a:r>
            <a:r>
              <a:rPr lang="en-US" sz="18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edges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Vertices and edges are positions and store elements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vertex represents an airport and stores the three-letter airport code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edge represents a flight route between two airports and stores the mileage of the route</a:t>
            </a:r>
            <a:endParaRPr/>
          </a:p>
        </p:txBody>
      </p:sp>
      <p:sp>
        <p:nvSpPr>
          <p:cNvPr id="108" name="Google Shape;108;p15"/>
          <p:cNvSpPr txBox="1">
            <a:spLocks noGrp="1"/>
          </p:cNvSpPr>
          <p:nvPr>
            <p:ph type="sldNum" idx="12"/>
          </p:nvPr>
        </p:nvSpPr>
        <p:spPr>
          <a:xfrm>
            <a:off x="6629400" y="60960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4495800" y="4089992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7010400" y="3934417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PVD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6759575" y="5943600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MIA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4206875" y="5604467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DFW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2286000" y="4318592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SFO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2438400" y="5461592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LAX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6073775" y="4699592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LGA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457200" y="5232992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HNL</a:t>
            </a:r>
            <a:endParaRPr/>
          </a:p>
        </p:txBody>
      </p:sp>
      <p:cxnSp>
        <p:nvCxnSpPr>
          <p:cNvPr id="117" name="Google Shape;117;p15"/>
          <p:cNvCxnSpPr>
            <a:stCxn id="113" idx="6"/>
            <a:endCxn id="109" idx="2"/>
          </p:cNvCxnSpPr>
          <p:nvPr/>
        </p:nvCxnSpPr>
        <p:spPr>
          <a:xfrm rot="10800000" flipH="1">
            <a:off x="3222625" y="4318592"/>
            <a:ext cx="1273200" cy="228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" name="Google Shape;118;p15"/>
          <p:cNvCxnSpPr>
            <a:stCxn id="112" idx="0"/>
            <a:endCxn id="109" idx="4"/>
          </p:cNvCxnSpPr>
          <p:nvPr/>
        </p:nvCxnSpPr>
        <p:spPr>
          <a:xfrm rot="10800000" flipH="1">
            <a:off x="4675187" y="4547267"/>
            <a:ext cx="288900" cy="1057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" name="Google Shape;119;p15"/>
          <p:cNvCxnSpPr>
            <a:stCxn id="112" idx="7"/>
            <a:endCxn id="115" idx="3"/>
          </p:cNvCxnSpPr>
          <p:nvPr/>
        </p:nvCxnSpPr>
        <p:spPr>
          <a:xfrm rot="10800000" flipH="1">
            <a:off x="5006334" y="5089723"/>
            <a:ext cx="1204500" cy="581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" name="Google Shape;120;p15"/>
          <p:cNvCxnSpPr>
            <a:stCxn id="115" idx="0"/>
            <a:endCxn id="110" idx="3"/>
          </p:cNvCxnSpPr>
          <p:nvPr/>
        </p:nvCxnSpPr>
        <p:spPr>
          <a:xfrm rot="10800000" flipH="1">
            <a:off x="6542087" y="4324592"/>
            <a:ext cx="605400" cy="375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" name="Google Shape;121;p15"/>
          <p:cNvCxnSpPr>
            <a:stCxn id="109" idx="6"/>
            <a:endCxn id="110" idx="2"/>
          </p:cNvCxnSpPr>
          <p:nvPr/>
        </p:nvCxnSpPr>
        <p:spPr>
          <a:xfrm rot="10800000" flipH="1">
            <a:off x="5432425" y="4162892"/>
            <a:ext cx="1578000" cy="155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p15"/>
          <p:cNvCxnSpPr>
            <a:stCxn id="116" idx="6"/>
            <a:endCxn id="114" idx="2"/>
          </p:cNvCxnSpPr>
          <p:nvPr/>
        </p:nvCxnSpPr>
        <p:spPr>
          <a:xfrm>
            <a:off x="1393825" y="5461592"/>
            <a:ext cx="1044600" cy="228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" name="Google Shape;123;p15"/>
          <p:cNvCxnSpPr>
            <a:stCxn id="113" idx="4"/>
            <a:endCxn id="114" idx="0"/>
          </p:cNvCxnSpPr>
          <p:nvPr/>
        </p:nvCxnSpPr>
        <p:spPr>
          <a:xfrm>
            <a:off x="2754312" y="4775792"/>
            <a:ext cx="152400" cy="685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15"/>
          <p:cNvCxnSpPr>
            <a:stCxn id="115" idx="4"/>
          </p:cNvCxnSpPr>
          <p:nvPr/>
        </p:nvCxnSpPr>
        <p:spPr>
          <a:xfrm>
            <a:off x="6542087" y="5156792"/>
            <a:ext cx="685800" cy="666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" name="Google Shape;125;p15"/>
          <p:cNvCxnSpPr>
            <a:endCxn id="112" idx="6"/>
          </p:cNvCxnSpPr>
          <p:nvPr/>
        </p:nvCxnSpPr>
        <p:spPr>
          <a:xfrm rot="10800000">
            <a:off x="5143500" y="5833067"/>
            <a:ext cx="1596900" cy="238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" name="Google Shape;126;p15"/>
          <p:cNvCxnSpPr>
            <a:stCxn id="114" idx="6"/>
            <a:endCxn id="112" idx="2"/>
          </p:cNvCxnSpPr>
          <p:nvPr/>
        </p:nvCxnSpPr>
        <p:spPr>
          <a:xfrm>
            <a:off x="3375025" y="5690192"/>
            <a:ext cx="831900" cy="14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" name="Google Shape;127;p15"/>
          <p:cNvCxnSpPr>
            <a:stCxn id="114" idx="7"/>
            <a:endCxn id="109" idx="3"/>
          </p:cNvCxnSpPr>
          <p:nvPr/>
        </p:nvCxnSpPr>
        <p:spPr>
          <a:xfrm rot="10800000" flipH="1">
            <a:off x="3237859" y="4480348"/>
            <a:ext cx="1395000" cy="1048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8" name="Google Shape;128;p15"/>
          <p:cNvSpPr txBox="1"/>
          <p:nvPr/>
        </p:nvSpPr>
        <p:spPr>
          <a:xfrm rot="-347285">
            <a:off x="5776913" y="3915367"/>
            <a:ext cx="5984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849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 rot="-4662247">
            <a:off x="4455319" y="4647998"/>
            <a:ext cx="598488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802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 rot="-1544869">
            <a:off x="5130800" y="5064717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1387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 rot="-2136302">
            <a:off x="3317875" y="4826592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1743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 rot="-689345">
            <a:off x="3429000" y="4089992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1843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 rot="2626382">
            <a:off x="6726238" y="5293317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1099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 rot="565849">
            <a:off x="5670550" y="5598117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1120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 rot="695916">
            <a:off x="3470275" y="5417142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1233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 rot="4665015">
            <a:off x="2690019" y="4954386"/>
            <a:ext cx="5984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337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 rot="832501">
            <a:off x="1622425" y="5232992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2555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 rot="-1891667">
            <a:off x="6478588" y="4226517"/>
            <a:ext cx="5984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142</a:t>
            </a:r>
            <a:endParaRPr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6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077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Edge Types</a:t>
            </a:r>
            <a:endParaRPr/>
          </a:p>
        </p:txBody>
      </p:sp>
      <p:sp>
        <p:nvSpPr>
          <p:cNvPr id="144" name="Google Shape;144;p16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4419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Directed edge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ordered pair of vertices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first vertex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the origin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second vertex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the destination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e.g., a flight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Undirected edge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unordered pair of vertices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e.g., a flight route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Directed graph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the edges are directed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e.g., route network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Undirected graph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the edges are undirected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e.g., flight network</a:t>
            </a:r>
            <a:endParaRPr/>
          </a:p>
        </p:txBody>
      </p:sp>
      <p:sp>
        <p:nvSpPr>
          <p:cNvPr id="145" name="Google Shape;145;p16"/>
          <p:cNvSpPr txBox="1">
            <a:spLocks noGrp="1"/>
          </p:cNvSpPr>
          <p:nvPr>
            <p:ph type="sldNum" idx="12"/>
          </p:nvPr>
        </p:nvSpPr>
        <p:spPr>
          <a:xfrm>
            <a:off x="6527800" y="648561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5257800" y="2200275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7750175" y="2200275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PVD</a:t>
            </a:r>
            <a:endParaRPr/>
          </a:p>
        </p:txBody>
      </p:sp>
      <p:cxnSp>
        <p:nvCxnSpPr>
          <p:cNvPr id="148" name="Google Shape;148;p16"/>
          <p:cNvCxnSpPr>
            <a:stCxn id="146" idx="6"/>
            <a:endCxn id="147" idx="2"/>
          </p:cNvCxnSpPr>
          <p:nvPr/>
        </p:nvCxnSpPr>
        <p:spPr>
          <a:xfrm>
            <a:off x="6194425" y="2428875"/>
            <a:ext cx="1555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9" name="Google Shape;149;p16"/>
          <p:cNvSpPr txBox="1"/>
          <p:nvPr/>
        </p:nvSpPr>
        <p:spPr>
          <a:xfrm>
            <a:off x="5972175" y="1981200"/>
            <a:ext cx="1987550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flight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AA 1206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5267325" y="3536950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7759700" y="3536950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PVD</a:t>
            </a:r>
            <a:endParaRPr/>
          </a:p>
        </p:txBody>
      </p:sp>
      <p:cxnSp>
        <p:nvCxnSpPr>
          <p:cNvPr id="152" name="Google Shape;152;p16"/>
          <p:cNvCxnSpPr>
            <a:stCxn id="150" idx="6"/>
            <a:endCxn id="151" idx="2"/>
          </p:cNvCxnSpPr>
          <p:nvPr/>
        </p:nvCxnSpPr>
        <p:spPr>
          <a:xfrm>
            <a:off x="6203950" y="3765550"/>
            <a:ext cx="1555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3" name="Google Shape;153;p16"/>
          <p:cNvSpPr txBox="1"/>
          <p:nvPr/>
        </p:nvSpPr>
        <p:spPr>
          <a:xfrm>
            <a:off x="6527800" y="3352800"/>
            <a:ext cx="876300" cy="822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849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miles</a:t>
            </a:r>
            <a:endParaRPr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Terminology</a:t>
            </a:r>
            <a:endParaRPr dirty="0"/>
          </a:p>
        </p:txBody>
      </p:sp>
      <p:sp>
        <p:nvSpPr>
          <p:cNvPr id="159" name="Google Shape;159;p17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09600" y="2057400"/>
            <a:ext cx="4048125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 vertices (or endpoints) of an edge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 and V are the endpoints of a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Edges incident on a vertex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a, d, and b are incident on V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Adjacent vertices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 and V are adjacent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Degree of a vertex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 has degree 4 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Self-loop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 is a self-loop</a:t>
            </a:r>
            <a:endParaRPr/>
          </a:p>
        </p:txBody>
      </p:sp>
      <p:sp>
        <p:nvSpPr>
          <p:cNvPr id="160" name="Google Shape;160;p1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6464913" y="3170093"/>
            <a:ext cx="4572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4636113" y="3170093"/>
            <a:ext cx="4572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5550513" y="2255693"/>
            <a:ext cx="4572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5550513" y="4084493"/>
            <a:ext cx="4572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</a:t>
            </a: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7684113" y="3170093"/>
            <a:ext cx="4572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Z</a:t>
            </a:r>
            <a:endParaRPr/>
          </a:p>
        </p:txBody>
      </p:sp>
      <p:cxnSp>
        <p:nvCxnSpPr>
          <p:cNvPr id="167" name="Google Shape;167;p17"/>
          <p:cNvCxnSpPr>
            <a:stCxn id="164" idx="3"/>
            <a:endCxn id="163" idx="7"/>
          </p:cNvCxnSpPr>
          <p:nvPr/>
        </p:nvCxnSpPr>
        <p:spPr>
          <a:xfrm flipH="1">
            <a:off x="5026358" y="2645938"/>
            <a:ext cx="591110" cy="59111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" name="Google Shape;168;p17"/>
          <p:cNvCxnSpPr>
            <a:stCxn id="165" idx="1"/>
            <a:endCxn id="163" idx="5"/>
          </p:cNvCxnSpPr>
          <p:nvPr/>
        </p:nvCxnSpPr>
        <p:spPr>
          <a:xfrm flipH="1" flipV="1">
            <a:off x="5026358" y="3560338"/>
            <a:ext cx="591110" cy="59111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169;p17"/>
          <p:cNvCxnSpPr>
            <a:stCxn id="165" idx="7"/>
            <a:endCxn id="162" idx="3"/>
          </p:cNvCxnSpPr>
          <p:nvPr/>
        </p:nvCxnSpPr>
        <p:spPr>
          <a:xfrm flipV="1">
            <a:off x="5940758" y="3560338"/>
            <a:ext cx="591110" cy="59111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170;p17"/>
          <p:cNvCxnSpPr>
            <a:stCxn id="164" idx="5"/>
            <a:endCxn id="162" idx="1"/>
          </p:cNvCxnSpPr>
          <p:nvPr/>
        </p:nvCxnSpPr>
        <p:spPr>
          <a:xfrm>
            <a:off x="5940758" y="2645938"/>
            <a:ext cx="591110" cy="59111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171;p17"/>
          <p:cNvCxnSpPr>
            <a:stCxn id="164" idx="4"/>
            <a:endCxn id="165" idx="0"/>
          </p:cNvCxnSpPr>
          <p:nvPr/>
        </p:nvCxnSpPr>
        <p:spPr>
          <a:xfrm>
            <a:off x="5779113" y="2712893"/>
            <a:ext cx="0" cy="142875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2" name="Google Shape;172;p17"/>
          <p:cNvSpPr/>
          <p:nvPr/>
        </p:nvSpPr>
        <p:spPr>
          <a:xfrm>
            <a:off x="6474438" y="4998893"/>
            <a:ext cx="4572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endParaRPr/>
          </a:p>
        </p:txBody>
      </p:sp>
      <p:cxnSp>
        <p:nvCxnSpPr>
          <p:cNvPr id="173" name="Google Shape;173;p17"/>
          <p:cNvCxnSpPr>
            <a:stCxn id="165" idx="5"/>
            <a:endCxn id="172" idx="1"/>
          </p:cNvCxnSpPr>
          <p:nvPr/>
        </p:nvCxnSpPr>
        <p:spPr>
          <a:xfrm>
            <a:off x="5940758" y="4474738"/>
            <a:ext cx="600635" cy="59111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4" name="Google Shape;174;p17"/>
          <p:cNvCxnSpPr>
            <a:stCxn id="162" idx="4"/>
            <a:endCxn id="172" idx="0"/>
          </p:cNvCxnSpPr>
          <p:nvPr/>
        </p:nvCxnSpPr>
        <p:spPr>
          <a:xfrm>
            <a:off x="6693513" y="3627293"/>
            <a:ext cx="0" cy="142875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5" name="Google Shape;175;p17"/>
          <p:cNvSpPr txBox="1"/>
          <p:nvPr/>
        </p:nvSpPr>
        <p:spPr>
          <a:xfrm>
            <a:off x="5026638" y="2493818"/>
            <a:ext cx="34448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5013938" y="3636818"/>
            <a:ext cx="32543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6188688" y="2493818"/>
            <a:ext cx="352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6193451" y="3684443"/>
            <a:ext cx="34448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dirty="0"/>
          </a:p>
        </p:txBody>
      </p:sp>
      <p:sp>
        <p:nvSpPr>
          <p:cNvPr id="179" name="Google Shape;179;p17"/>
          <p:cNvSpPr txBox="1"/>
          <p:nvPr/>
        </p:nvSpPr>
        <p:spPr>
          <a:xfrm>
            <a:off x="5741013" y="3170093"/>
            <a:ext cx="352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6014063" y="4703618"/>
            <a:ext cx="28098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6655413" y="4141643"/>
            <a:ext cx="352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7145951" y="2943081"/>
            <a:ext cx="352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8433018" y="3342003"/>
            <a:ext cx="2698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 dirty="0"/>
          </a:p>
        </p:txBody>
      </p:sp>
      <p:cxnSp>
        <p:nvCxnSpPr>
          <p:cNvPr id="184" name="Google Shape;184;p17"/>
          <p:cNvCxnSpPr>
            <a:stCxn id="162" idx="6"/>
            <a:endCxn id="166" idx="2"/>
          </p:cNvCxnSpPr>
          <p:nvPr/>
        </p:nvCxnSpPr>
        <p:spPr>
          <a:xfrm>
            <a:off x="6922113" y="3398693"/>
            <a:ext cx="762000" cy="127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Elbow Connector 11"/>
          <p:cNvCxnSpPr>
            <a:stCxn id="166" idx="6"/>
            <a:endCxn id="166" idx="4"/>
          </p:cNvCxnSpPr>
          <p:nvPr/>
        </p:nvCxnSpPr>
        <p:spPr>
          <a:xfrm flipH="1">
            <a:off x="7912713" y="3398693"/>
            <a:ext cx="228600" cy="228600"/>
          </a:xfrm>
          <a:prstGeom prst="bentConnector4">
            <a:avLst>
              <a:gd name="adj1" fmla="val -100000"/>
              <a:gd name="adj2" fmla="val 20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Terminology (cont.)</a:t>
            </a:r>
            <a:endParaRPr/>
          </a:p>
        </p:txBody>
      </p:sp>
      <p:sp>
        <p:nvSpPr>
          <p:cNvPr id="191" name="Google Shape;191;p18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2057400"/>
            <a:ext cx="41148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Path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sequence of alternating vertices and edges 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begins with a vertex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ends with a vertex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edge is preceded and followed by its endpoints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Simple path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path such that all its vertices and edges are distinct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Examples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lang="en-US" sz="1800" b="0" i="0" u="none" strike="noStrike" cap="none" baseline="-25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18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=(V,b,X,h,Z)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simple path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lang="en-US" sz="1800" b="0" i="0" u="none" strike="noStrike" cap="none" baseline="-25000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=(U,c,W,e,X,g,Y,f,W,d,V)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path that is not simple</a:t>
            </a:r>
            <a:endParaRPr/>
          </a:p>
        </p:txBody>
      </p:sp>
      <p:sp>
        <p:nvSpPr>
          <p:cNvPr id="192" name="Google Shape;192;p1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5572125" y="2905125"/>
            <a:ext cx="1570038" cy="2149475"/>
          </a:xfrm>
          <a:custGeom>
            <a:avLst/>
            <a:gdLst/>
            <a:ahLst/>
            <a:cxnLst/>
            <a:rect l="l" t="t" r="r" b="b"/>
            <a:pathLst>
              <a:path w="989" h="1354" extrusionOk="0">
                <a:moveTo>
                  <a:pt x="468" y="0"/>
                </a:moveTo>
                <a:cubicBezTo>
                  <a:pt x="475" y="142"/>
                  <a:pt x="439" y="636"/>
                  <a:pt x="516" y="852"/>
                </a:cubicBezTo>
                <a:cubicBezTo>
                  <a:pt x="593" y="1068"/>
                  <a:pt x="871" y="1354"/>
                  <a:pt x="930" y="1296"/>
                </a:cubicBezTo>
                <a:cubicBezTo>
                  <a:pt x="989" y="1238"/>
                  <a:pt x="952" y="586"/>
                  <a:pt x="870" y="504"/>
                </a:cubicBezTo>
                <a:cubicBezTo>
                  <a:pt x="788" y="422"/>
                  <a:pt x="583" y="808"/>
                  <a:pt x="438" y="804"/>
                </a:cubicBezTo>
                <a:cubicBezTo>
                  <a:pt x="293" y="800"/>
                  <a:pt x="91" y="547"/>
                  <a:pt x="0" y="480"/>
                </a:cubicBezTo>
              </a:path>
            </a:pathLst>
          </a:custGeom>
          <a:noFill/>
          <a:ln w="571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7010400" y="2819400"/>
            <a:ext cx="463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400" baseline="-25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6505575" y="2724150"/>
            <a:ext cx="1638300" cy="736600"/>
          </a:xfrm>
          <a:custGeom>
            <a:avLst/>
            <a:gdLst/>
            <a:ahLst/>
            <a:cxnLst/>
            <a:rect l="l" t="t" r="r" b="b"/>
            <a:pathLst>
              <a:path w="1032" h="464" extrusionOk="0">
                <a:moveTo>
                  <a:pt x="0" y="0"/>
                </a:moveTo>
                <a:cubicBezTo>
                  <a:pt x="77" y="66"/>
                  <a:pt x="290" y="328"/>
                  <a:pt x="462" y="396"/>
                </a:cubicBezTo>
                <a:cubicBezTo>
                  <a:pt x="634" y="464"/>
                  <a:pt x="913" y="406"/>
                  <a:pt x="1032" y="408"/>
                </a:cubicBezTo>
              </a:path>
            </a:pathLst>
          </a:custGeom>
          <a:noFill/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6934200" y="3276600"/>
            <a:ext cx="4572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endParaRPr/>
          </a:p>
        </p:txBody>
      </p:sp>
      <p:sp>
        <p:nvSpPr>
          <p:cNvPr id="197" name="Google Shape;197;p18"/>
          <p:cNvSpPr/>
          <p:nvPr/>
        </p:nvSpPr>
        <p:spPr>
          <a:xfrm>
            <a:off x="5105400" y="3276600"/>
            <a:ext cx="4572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endParaRPr/>
          </a:p>
        </p:txBody>
      </p:sp>
      <p:sp>
        <p:nvSpPr>
          <p:cNvPr id="198" name="Google Shape;198;p18"/>
          <p:cNvSpPr/>
          <p:nvPr/>
        </p:nvSpPr>
        <p:spPr>
          <a:xfrm>
            <a:off x="6019800" y="2362200"/>
            <a:ext cx="4572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>
            <a:off x="6019800" y="4191000"/>
            <a:ext cx="4572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</a:t>
            </a:r>
            <a:endParaRPr/>
          </a:p>
        </p:txBody>
      </p:sp>
      <p:sp>
        <p:nvSpPr>
          <p:cNvPr id="200" name="Google Shape;200;p18"/>
          <p:cNvSpPr/>
          <p:nvPr/>
        </p:nvSpPr>
        <p:spPr>
          <a:xfrm>
            <a:off x="8153400" y="3276600"/>
            <a:ext cx="4572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Z</a:t>
            </a:r>
            <a:endParaRPr/>
          </a:p>
        </p:txBody>
      </p:sp>
      <p:cxnSp>
        <p:nvCxnSpPr>
          <p:cNvPr id="201" name="Google Shape;201;p18"/>
          <p:cNvCxnSpPr>
            <a:stCxn id="198" idx="3"/>
            <a:endCxn id="197" idx="7"/>
          </p:cNvCxnSpPr>
          <p:nvPr/>
        </p:nvCxnSpPr>
        <p:spPr>
          <a:xfrm flipH="1">
            <a:off x="5495755" y="2752445"/>
            <a:ext cx="591000" cy="59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2" name="Google Shape;202;p18"/>
          <p:cNvCxnSpPr>
            <a:stCxn id="199" idx="1"/>
            <a:endCxn id="197" idx="5"/>
          </p:cNvCxnSpPr>
          <p:nvPr/>
        </p:nvCxnSpPr>
        <p:spPr>
          <a:xfrm rot="10800000">
            <a:off x="5495755" y="3666955"/>
            <a:ext cx="591000" cy="59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" name="Google Shape;203;p18"/>
          <p:cNvCxnSpPr>
            <a:stCxn id="199" idx="7"/>
            <a:endCxn id="196" idx="3"/>
          </p:cNvCxnSpPr>
          <p:nvPr/>
        </p:nvCxnSpPr>
        <p:spPr>
          <a:xfrm rot="10800000" flipH="1">
            <a:off x="6410045" y="3666955"/>
            <a:ext cx="591000" cy="59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4" name="Google Shape;204;p18"/>
          <p:cNvCxnSpPr>
            <a:stCxn id="196" idx="6"/>
            <a:endCxn id="200" idx="2"/>
          </p:cNvCxnSpPr>
          <p:nvPr/>
        </p:nvCxnSpPr>
        <p:spPr>
          <a:xfrm>
            <a:off x="7391400" y="3505200"/>
            <a:ext cx="762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5" name="Google Shape;205;p18"/>
          <p:cNvCxnSpPr>
            <a:stCxn id="198" idx="5"/>
            <a:endCxn id="196" idx="1"/>
          </p:cNvCxnSpPr>
          <p:nvPr/>
        </p:nvCxnSpPr>
        <p:spPr>
          <a:xfrm>
            <a:off x="6410045" y="2752445"/>
            <a:ext cx="591000" cy="59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" name="Google Shape;206;p18"/>
          <p:cNvCxnSpPr>
            <a:stCxn id="198" idx="4"/>
            <a:endCxn id="199" idx="0"/>
          </p:cNvCxnSpPr>
          <p:nvPr/>
        </p:nvCxnSpPr>
        <p:spPr>
          <a:xfrm>
            <a:off x="6248400" y="2819400"/>
            <a:ext cx="0" cy="1371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7" name="Google Shape;207;p18"/>
          <p:cNvSpPr/>
          <p:nvPr/>
        </p:nvSpPr>
        <p:spPr>
          <a:xfrm>
            <a:off x="6943725" y="5105400"/>
            <a:ext cx="4572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endParaRPr/>
          </a:p>
        </p:txBody>
      </p:sp>
      <p:cxnSp>
        <p:nvCxnSpPr>
          <p:cNvPr id="208" name="Google Shape;208;p18"/>
          <p:cNvCxnSpPr>
            <a:stCxn id="199" idx="5"/>
            <a:endCxn id="207" idx="1"/>
          </p:cNvCxnSpPr>
          <p:nvPr/>
        </p:nvCxnSpPr>
        <p:spPr>
          <a:xfrm>
            <a:off x="6410045" y="4581245"/>
            <a:ext cx="600600" cy="59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" name="Google Shape;209;p18"/>
          <p:cNvCxnSpPr>
            <a:stCxn id="196" idx="4"/>
            <a:endCxn id="207" idx="0"/>
          </p:cNvCxnSpPr>
          <p:nvPr/>
        </p:nvCxnSpPr>
        <p:spPr>
          <a:xfrm>
            <a:off x="7162800" y="3733800"/>
            <a:ext cx="9600" cy="1371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0" name="Google Shape;210;p18"/>
          <p:cNvSpPr txBox="1"/>
          <p:nvPr/>
        </p:nvSpPr>
        <p:spPr>
          <a:xfrm>
            <a:off x="5495925" y="2600325"/>
            <a:ext cx="34448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5483225" y="3743325"/>
            <a:ext cx="32543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6705600" y="2590800"/>
            <a:ext cx="352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6629400" y="3810000"/>
            <a:ext cx="34448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5943600" y="3124200"/>
            <a:ext cx="352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6483350" y="4810125"/>
            <a:ext cx="28098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7124700" y="4248150"/>
            <a:ext cx="352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7629525" y="3505200"/>
            <a:ext cx="352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5791200" y="3505200"/>
            <a:ext cx="463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400" baseline="-25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9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Terminology (cont.)</a:t>
            </a:r>
            <a:endParaRPr/>
          </a:p>
        </p:txBody>
      </p:sp>
      <p:sp>
        <p:nvSpPr>
          <p:cNvPr id="224" name="Google Shape;224;p19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41910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Cycle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circular sequence of alternating vertices and edges 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edge is preceded and followed by its endpoints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Simple cycle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cycle such that all its vertices and edges are distinct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Examples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lang="en-US" sz="1800" b="0" i="0" u="none" strike="noStrike" cap="none" baseline="-25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18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=(V,b,X,g,Y,f,W,c,U,a,↵)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simple cycle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lang="en-US" sz="1800" b="0" i="0" u="none" strike="noStrike" cap="none" baseline="-25000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=(U,c,W,e,X,g,Y,f,W,d,V,a,↵)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cycle that is not simple</a:t>
            </a:r>
            <a:endParaRPr/>
          </a:p>
        </p:txBody>
      </p:sp>
      <p:sp>
        <p:nvSpPr>
          <p:cNvPr id="225" name="Google Shape;225;p1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5067300" y="2667000"/>
            <a:ext cx="2182813" cy="2652713"/>
          </a:xfrm>
          <a:custGeom>
            <a:avLst/>
            <a:gdLst/>
            <a:ahLst/>
            <a:cxnLst/>
            <a:rect l="l" t="t" r="r" b="b"/>
            <a:pathLst>
              <a:path w="1375" h="1671" extrusionOk="0">
                <a:moveTo>
                  <a:pt x="762" y="36"/>
                </a:moveTo>
                <a:cubicBezTo>
                  <a:pt x="838" y="117"/>
                  <a:pt x="1149" y="250"/>
                  <a:pt x="1218" y="522"/>
                </a:cubicBezTo>
                <a:cubicBezTo>
                  <a:pt x="1287" y="794"/>
                  <a:pt x="1375" y="1671"/>
                  <a:pt x="1176" y="1668"/>
                </a:cubicBezTo>
                <a:cubicBezTo>
                  <a:pt x="977" y="1665"/>
                  <a:pt x="0" y="798"/>
                  <a:pt x="24" y="504"/>
                </a:cubicBezTo>
                <a:cubicBezTo>
                  <a:pt x="48" y="210"/>
                  <a:pt x="366" y="105"/>
                  <a:pt x="456" y="0"/>
                </a:cubicBezTo>
              </a:path>
            </a:pathLst>
          </a:custGeom>
          <a:noFill/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5343525" y="2735263"/>
            <a:ext cx="1570038" cy="2319337"/>
          </a:xfrm>
          <a:custGeom>
            <a:avLst/>
            <a:gdLst/>
            <a:ahLst/>
            <a:cxnLst/>
            <a:rect l="l" t="t" r="r" b="b"/>
            <a:pathLst>
              <a:path w="989" h="1461" extrusionOk="0">
                <a:moveTo>
                  <a:pt x="6" y="389"/>
                </a:moveTo>
                <a:cubicBezTo>
                  <a:pt x="79" y="341"/>
                  <a:pt x="359" y="0"/>
                  <a:pt x="444" y="95"/>
                </a:cubicBezTo>
                <a:cubicBezTo>
                  <a:pt x="529" y="190"/>
                  <a:pt x="435" y="741"/>
                  <a:pt x="516" y="959"/>
                </a:cubicBezTo>
                <a:cubicBezTo>
                  <a:pt x="597" y="1177"/>
                  <a:pt x="871" y="1461"/>
                  <a:pt x="930" y="1403"/>
                </a:cubicBezTo>
                <a:cubicBezTo>
                  <a:pt x="989" y="1345"/>
                  <a:pt x="952" y="693"/>
                  <a:pt x="870" y="611"/>
                </a:cubicBezTo>
                <a:cubicBezTo>
                  <a:pt x="788" y="529"/>
                  <a:pt x="583" y="915"/>
                  <a:pt x="438" y="911"/>
                </a:cubicBezTo>
                <a:cubicBezTo>
                  <a:pt x="293" y="907"/>
                  <a:pt x="91" y="654"/>
                  <a:pt x="0" y="587"/>
                </a:cubicBezTo>
              </a:path>
            </a:pathLst>
          </a:custGeom>
          <a:noFill/>
          <a:ln w="571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8" name="Google Shape;228;p19"/>
          <p:cNvSpPr txBox="1"/>
          <p:nvPr/>
        </p:nvSpPr>
        <p:spPr>
          <a:xfrm>
            <a:off x="7142163" y="3886200"/>
            <a:ext cx="4778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400" baseline="-25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29" name="Google Shape;229;p19"/>
          <p:cNvSpPr/>
          <p:nvPr/>
        </p:nvSpPr>
        <p:spPr>
          <a:xfrm>
            <a:off x="6705600" y="3276600"/>
            <a:ext cx="4572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endParaRPr/>
          </a:p>
        </p:txBody>
      </p:sp>
      <p:sp>
        <p:nvSpPr>
          <p:cNvPr id="230" name="Google Shape;230;p19"/>
          <p:cNvSpPr/>
          <p:nvPr/>
        </p:nvSpPr>
        <p:spPr>
          <a:xfrm>
            <a:off x="4876800" y="3276600"/>
            <a:ext cx="4572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endParaRPr/>
          </a:p>
        </p:txBody>
      </p:sp>
      <p:sp>
        <p:nvSpPr>
          <p:cNvPr id="231" name="Google Shape;231;p19"/>
          <p:cNvSpPr/>
          <p:nvPr/>
        </p:nvSpPr>
        <p:spPr>
          <a:xfrm>
            <a:off x="5791200" y="2362200"/>
            <a:ext cx="4572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/>
          </a:p>
        </p:txBody>
      </p:sp>
      <p:sp>
        <p:nvSpPr>
          <p:cNvPr id="232" name="Google Shape;232;p19"/>
          <p:cNvSpPr/>
          <p:nvPr/>
        </p:nvSpPr>
        <p:spPr>
          <a:xfrm>
            <a:off x="5791200" y="4191000"/>
            <a:ext cx="4572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</a:t>
            </a:r>
            <a:endParaRPr/>
          </a:p>
        </p:txBody>
      </p:sp>
      <p:sp>
        <p:nvSpPr>
          <p:cNvPr id="233" name="Google Shape;233;p19"/>
          <p:cNvSpPr/>
          <p:nvPr/>
        </p:nvSpPr>
        <p:spPr>
          <a:xfrm>
            <a:off x="7924800" y="3276600"/>
            <a:ext cx="4572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Z</a:t>
            </a:r>
            <a:endParaRPr/>
          </a:p>
        </p:txBody>
      </p:sp>
      <p:cxnSp>
        <p:nvCxnSpPr>
          <p:cNvPr id="234" name="Google Shape;234;p19"/>
          <p:cNvCxnSpPr>
            <a:stCxn id="231" idx="3"/>
            <a:endCxn id="230" idx="7"/>
          </p:cNvCxnSpPr>
          <p:nvPr/>
        </p:nvCxnSpPr>
        <p:spPr>
          <a:xfrm flipH="1">
            <a:off x="5267155" y="2752445"/>
            <a:ext cx="591000" cy="59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5" name="Google Shape;235;p19"/>
          <p:cNvCxnSpPr>
            <a:stCxn id="232" idx="1"/>
            <a:endCxn id="230" idx="5"/>
          </p:cNvCxnSpPr>
          <p:nvPr/>
        </p:nvCxnSpPr>
        <p:spPr>
          <a:xfrm rot="10800000">
            <a:off x="5267155" y="3666955"/>
            <a:ext cx="591000" cy="59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6" name="Google Shape;236;p19"/>
          <p:cNvCxnSpPr>
            <a:stCxn id="232" idx="7"/>
            <a:endCxn id="229" idx="3"/>
          </p:cNvCxnSpPr>
          <p:nvPr/>
        </p:nvCxnSpPr>
        <p:spPr>
          <a:xfrm rot="10800000" flipH="1">
            <a:off x="6181445" y="3666955"/>
            <a:ext cx="591000" cy="59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7" name="Google Shape;237;p19"/>
          <p:cNvCxnSpPr>
            <a:stCxn id="229" idx="6"/>
            <a:endCxn id="233" idx="2"/>
          </p:cNvCxnSpPr>
          <p:nvPr/>
        </p:nvCxnSpPr>
        <p:spPr>
          <a:xfrm>
            <a:off x="7162800" y="3505200"/>
            <a:ext cx="762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8" name="Google Shape;238;p19"/>
          <p:cNvCxnSpPr>
            <a:stCxn id="231" idx="5"/>
            <a:endCxn id="229" idx="1"/>
          </p:cNvCxnSpPr>
          <p:nvPr/>
        </p:nvCxnSpPr>
        <p:spPr>
          <a:xfrm>
            <a:off x="6181445" y="2752445"/>
            <a:ext cx="591000" cy="59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9" name="Google Shape;239;p19"/>
          <p:cNvCxnSpPr>
            <a:stCxn id="231" idx="4"/>
            <a:endCxn id="232" idx="0"/>
          </p:cNvCxnSpPr>
          <p:nvPr/>
        </p:nvCxnSpPr>
        <p:spPr>
          <a:xfrm>
            <a:off x="6019800" y="2819400"/>
            <a:ext cx="0" cy="1371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0" name="Google Shape;240;p19"/>
          <p:cNvSpPr/>
          <p:nvPr/>
        </p:nvSpPr>
        <p:spPr>
          <a:xfrm>
            <a:off x="6715125" y="5105400"/>
            <a:ext cx="4572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endParaRPr/>
          </a:p>
        </p:txBody>
      </p:sp>
      <p:cxnSp>
        <p:nvCxnSpPr>
          <p:cNvPr id="241" name="Google Shape;241;p19"/>
          <p:cNvCxnSpPr>
            <a:stCxn id="232" idx="5"/>
            <a:endCxn id="240" idx="1"/>
          </p:cNvCxnSpPr>
          <p:nvPr/>
        </p:nvCxnSpPr>
        <p:spPr>
          <a:xfrm>
            <a:off x="6181445" y="4581245"/>
            <a:ext cx="600600" cy="59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2" name="Google Shape;242;p19"/>
          <p:cNvCxnSpPr>
            <a:stCxn id="229" idx="4"/>
            <a:endCxn id="240" idx="0"/>
          </p:cNvCxnSpPr>
          <p:nvPr/>
        </p:nvCxnSpPr>
        <p:spPr>
          <a:xfrm>
            <a:off x="6934200" y="3733800"/>
            <a:ext cx="9600" cy="1371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3" name="Google Shape;243;p19"/>
          <p:cNvSpPr txBox="1"/>
          <p:nvPr/>
        </p:nvSpPr>
        <p:spPr>
          <a:xfrm>
            <a:off x="5105400" y="2590800"/>
            <a:ext cx="34448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44" name="Google Shape;244;p19"/>
          <p:cNvSpPr txBox="1"/>
          <p:nvPr/>
        </p:nvSpPr>
        <p:spPr>
          <a:xfrm>
            <a:off x="5105400" y="3962400"/>
            <a:ext cx="32543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245" name="Google Shape;245;p19"/>
          <p:cNvSpPr txBox="1"/>
          <p:nvPr/>
        </p:nvSpPr>
        <p:spPr>
          <a:xfrm>
            <a:off x="6553200" y="2590800"/>
            <a:ext cx="352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246" name="Google Shape;246;p19"/>
          <p:cNvSpPr txBox="1"/>
          <p:nvPr/>
        </p:nvSpPr>
        <p:spPr>
          <a:xfrm>
            <a:off x="6400800" y="3810000"/>
            <a:ext cx="34448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sp>
        <p:nvSpPr>
          <p:cNvPr id="247" name="Google Shape;247;p19"/>
          <p:cNvSpPr txBox="1"/>
          <p:nvPr/>
        </p:nvSpPr>
        <p:spPr>
          <a:xfrm>
            <a:off x="5715000" y="3124200"/>
            <a:ext cx="352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248" name="Google Shape;248;p19"/>
          <p:cNvSpPr txBox="1"/>
          <p:nvPr/>
        </p:nvSpPr>
        <p:spPr>
          <a:xfrm>
            <a:off x="6086475" y="4895850"/>
            <a:ext cx="28098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249" name="Google Shape;249;p19"/>
          <p:cNvSpPr txBox="1"/>
          <p:nvPr/>
        </p:nvSpPr>
        <p:spPr>
          <a:xfrm>
            <a:off x="7086600" y="4267200"/>
            <a:ext cx="352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</p:txBody>
      </p:sp>
      <p:sp>
        <p:nvSpPr>
          <p:cNvPr id="250" name="Google Shape;250;p19"/>
          <p:cNvSpPr txBox="1"/>
          <p:nvPr/>
        </p:nvSpPr>
        <p:spPr>
          <a:xfrm>
            <a:off x="7400925" y="3505200"/>
            <a:ext cx="352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/>
          </a:p>
        </p:txBody>
      </p:sp>
      <p:sp>
        <p:nvSpPr>
          <p:cNvPr id="251" name="Google Shape;251;p19"/>
          <p:cNvSpPr txBox="1"/>
          <p:nvPr/>
        </p:nvSpPr>
        <p:spPr>
          <a:xfrm>
            <a:off x="5556250" y="3505200"/>
            <a:ext cx="47783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400" baseline="-25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0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Weighted and unweighted graphs</a:t>
            </a:r>
            <a:endParaRPr sz="36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1143000" y="4572000"/>
            <a:ext cx="7543800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 = (V, E) is a weighted graph if each edge (u,v)∈E is assigned a weight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of weighted graph?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of unweighted graph?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8" name="Google Shape;258;p2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9" name="Google Shape;259;p20"/>
          <p:cNvSpPr/>
          <p:nvPr/>
        </p:nvSpPr>
        <p:spPr>
          <a:xfrm>
            <a:off x="2825750" y="2956989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1362075" y="263683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1" name="Google Shape;261;p20"/>
          <p:cNvSpPr/>
          <p:nvPr/>
        </p:nvSpPr>
        <p:spPr>
          <a:xfrm>
            <a:off x="2093913" y="1905000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3747024" y="3845437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63" name="Google Shape;263;p20"/>
          <p:cNvCxnSpPr>
            <a:stCxn id="261" idx="3"/>
            <a:endCxn id="260" idx="7"/>
          </p:cNvCxnSpPr>
          <p:nvPr/>
        </p:nvCxnSpPr>
        <p:spPr>
          <a:xfrm flipH="1">
            <a:off x="1675117" y="2218009"/>
            <a:ext cx="472500" cy="472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4" name="Google Shape;264;p20"/>
          <p:cNvCxnSpPr>
            <a:stCxn id="262" idx="1"/>
            <a:endCxn id="259" idx="5"/>
          </p:cNvCxnSpPr>
          <p:nvPr/>
        </p:nvCxnSpPr>
        <p:spPr>
          <a:xfrm rot="10800000">
            <a:off x="3138628" y="3270041"/>
            <a:ext cx="662100" cy="629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5" name="Google Shape;265;p20"/>
          <p:cNvCxnSpPr>
            <a:stCxn id="261" idx="5"/>
            <a:endCxn id="259" idx="1"/>
          </p:cNvCxnSpPr>
          <p:nvPr/>
        </p:nvCxnSpPr>
        <p:spPr>
          <a:xfrm>
            <a:off x="2406921" y="2218009"/>
            <a:ext cx="472500" cy="792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6" name="Google Shape;266;p20"/>
          <p:cNvSpPr/>
          <p:nvPr/>
        </p:nvSpPr>
        <p:spPr>
          <a:xfrm>
            <a:off x="4068763" y="1961310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67" name="Google Shape;267;p20"/>
          <p:cNvCxnSpPr>
            <a:stCxn id="268" idx="7"/>
            <a:endCxn id="266" idx="4"/>
          </p:cNvCxnSpPr>
          <p:nvPr/>
        </p:nvCxnSpPr>
        <p:spPr>
          <a:xfrm rot="10800000" flipH="1">
            <a:off x="3984084" y="2327979"/>
            <a:ext cx="267900" cy="408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9" name="Google Shape;269;p20"/>
          <p:cNvCxnSpPr>
            <a:stCxn id="266" idx="1"/>
            <a:endCxn id="261" idx="6"/>
          </p:cNvCxnSpPr>
          <p:nvPr/>
        </p:nvCxnSpPr>
        <p:spPr>
          <a:xfrm flipH="1">
            <a:off x="2460767" y="2015014"/>
            <a:ext cx="1661700" cy="73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0" name="Google Shape;270;p20"/>
          <p:cNvCxnSpPr>
            <a:stCxn id="259" idx="2"/>
            <a:endCxn id="260" idx="6"/>
          </p:cNvCxnSpPr>
          <p:nvPr/>
        </p:nvCxnSpPr>
        <p:spPr>
          <a:xfrm rot="10800000">
            <a:off x="1728650" y="2820245"/>
            <a:ext cx="1097100" cy="320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8" name="Google Shape;268;p20"/>
          <p:cNvSpPr/>
          <p:nvPr/>
        </p:nvSpPr>
        <p:spPr>
          <a:xfrm>
            <a:off x="3671075" y="2682875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71" name="Google Shape;271;p20"/>
          <p:cNvCxnSpPr>
            <a:stCxn id="268" idx="2"/>
            <a:endCxn id="259" idx="6"/>
          </p:cNvCxnSpPr>
          <p:nvPr/>
        </p:nvCxnSpPr>
        <p:spPr>
          <a:xfrm flipH="1">
            <a:off x="3192575" y="2866231"/>
            <a:ext cx="478500" cy="27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2" name="Google Shape;272;p20"/>
          <p:cNvCxnSpPr>
            <a:stCxn id="262" idx="0"/>
            <a:endCxn id="268" idx="4"/>
          </p:cNvCxnSpPr>
          <p:nvPr/>
        </p:nvCxnSpPr>
        <p:spPr>
          <a:xfrm rot="10800000">
            <a:off x="3854480" y="3049537"/>
            <a:ext cx="75900" cy="795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3" name="Google Shape;273;p20"/>
          <p:cNvSpPr/>
          <p:nvPr/>
        </p:nvSpPr>
        <p:spPr>
          <a:xfrm>
            <a:off x="1489868" y="3898346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74" name="Google Shape;274;p20"/>
          <p:cNvCxnSpPr>
            <a:stCxn id="273" idx="0"/>
            <a:endCxn id="260" idx="4"/>
          </p:cNvCxnSpPr>
          <p:nvPr/>
        </p:nvCxnSpPr>
        <p:spPr>
          <a:xfrm rot="10800000">
            <a:off x="1545424" y="3003446"/>
            <a:ext cx="127800" cy="894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5" name="Google Shape;275;p20"/>
          <p:cNvCxnSpPr>
            <a:stCxn id="273" idx="6"/>
            <a:endCxn id="262" idx="2"/>
          </p:cNvCxnSpPr>
          <p:nvPr/>
        </p:nvCxnSpPr>
        <p:spPr>
          <a:xfrm rot="10800000" flipH="1">
            <a:off x="1856581" y="4028902"/>
            <a:ext cx="1890300" cy="5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6" name="Google Shape;276;p20"/>
          <p:cNvSpPr/>
          <p:nvPr/>
        </p:nvSpPr>
        <p:spPr>
          <a:xfrm>
            <a:off x="6698726" y="2964373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5235051" y="2644222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5966889" y="1912384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7620000" y="3852821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80" name="Google Shape;280;p20"/>
          <p:cNvCxnSpPr>
            <a:stCxn id="278" idx="3"/>
            <a:endCxn id="277" idx="7"/>
          </p:cNvCxnSpPr>
          <p:nvPr/>
        </p:nvCxnSpPr>
        <p:spPr>
          <a:xfrm flipH="1">
            <a:off x="5548093" y="2225393"/>
            <a:ext cx="472500" cy="472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1" name="Google Shape;281;p20"/>
          <p:cNvCxnSpPr>
            <a:stCxn id="279" idx="1"/>
            <a:endCxn id="276" idx="5"/>
          </p:cNvCxnSpPr>
          <p:nvPr/>
        </p:nvCxnSpPr>
        <p:spPr>
          <a:xfrm rot="10800000">
            <a:off x="7011604" y="3277425"/>
            <a:ext cx="662100" cy="629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2" name="Google Shape;282;p20"/>
          <p:cNvCxnSpPr>
            <a:stCxn id="278" idx="5"/>
            <a:endCxn id="276" idx="1"/>
          </p:cNvCxnSpPr>
          <p:nvPr/>
        </p:nvCxnSpPr>
        <p:spPr>
          <a:xfrm>
            <a:off x="6279897" y="2225393"/>
            <a:ext cx="472500" cy="792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3" name="Google Shape;283;p20"/>
          <p:cNvSpPr/>
          <p:nvPr/>
        </p:nvSpPr>
        <p:spPr>
          <a:xfrm>
            <a:off x="7941739" y="1968694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84" name="Google Shape;284;p20"/>
          <p:cNvCxnSpPr>
            <a:stCxn id="285" idx="7"/>
            <a:endCxn id="283" idx="4"/>
          </p:cNvCxnSpPr>
          <p:nvPr/>
        </p:nvCxnSpPr>
        <p:spPr>
          <a:xfrm rot="10800000" flipH="1">
            <a:off x="7857060" y="2335363"/>
            <a:ext cx="267900" cy="408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6" name="Google Shape;286;p20"/>
          <p:cNvCxnSpPr>
            <a:stCxn id="283" idx="1"/>
            <a:endCxn id="278" idx="6"/>
          </p:cNvCxnSpPr>
          <p:nvPr/>
        </p:nvCxnSpPr>
        <p:spPr>
          <a:xfrm flipH="1">
            <a:off x="6333743" y="2022398"/>
            <a:ext cx="1661700" cy="73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7" name="Google Shape;287;p20"/>
          <p:cNvCxnSpPr>
            <a:stCxn id="276" idx="2"/>
            <a:endCxn id="277" idx="6"/>
          </p:cNvCxnSpPr>
          <p:nvPr/>
        </p:nvCxnSpPr>
        <p:spPr>
          <a:xfrm rot="10800000">
            <a:off x="5601626" y="2827629"/>
            <a:ext cx="1097100" cy="320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5" name="Google Shape;285;p20"/>
          <p:cNvSpPr/>
          <p:nvPr/>
        </p:nvSpPr>
        <p:spPr>
          <a:xfrm>
            <a:off x="7544051" y="2690259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88" name="Google Shape;288;p20"/>
          <p:cNvCxnSpPr>
            <a:stCxn id="285" idx="2"/>
            <a:endCxn id="276" idx="6"/>
          </p:cNvCxnSpPr>
          <p:nvPr/>
        </p:nvCxnSpPr>
        <p:spPr>
          <a:xfrm flipH="1">
            <a:off x="7065551" y="2873615"/>
            <a:ext cx="478500" cy="27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9" name="Google Shape;289;p20"/>
          <p:cNvCxnSpPr>
            <a:stCxn id="279" idx="0"/>
            <a:endCxn id="285" idx="4"/>
          </p:cNvCxnSpPr>
          <p:nvPr/>
        </p:nvCxnSpPr>
        <p:spPr>
          <a:xfrm rot="10800000">
            <a:off x="7727456" y="3056921"/>
            <a:ext cx="75900" cy="795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0" name="Google Shape;290;p20"/>
          <p:cNvSpPr/>
          <p:nvPr/>
        </p:nvSpPr>
        <p:spPr>
          <a:xfrm>
            <a:off x="5362844" y="3905730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91" name="Google Shape;291;p20"/>
          <p:cNvCxnSpPr>
            <a:stCxn id="290" idx="0"/>
            <a:endCxn id="277" idx="4"/>
          </p:cNvCxnSpPr>
          <p:nvPr/>
        </p:nvCxnSpPr>
        <p:spPr>
          <a:xfrm rot="10800000">
            <a:off x="5418401" y="3010830"/>
            <a:ext cx="127800" cy="894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2" name="Google Shape;292;p20"/>
          <p:cNvCxnSpPr>
            <a:stCxn id="290" idx="6"/>
            <a:endCxn id="279" idx="2"/>
          </p:cNvCxnSpPr>
          <p:nvPr/>
        </p:nvCxnSpPr>
        <p:spPr>
          <a:xfrm rot="10800000" flipH="1">
            <a:off x="5729557" y="4036286"/>
            <a:ext cx="1890300" cy="5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3" name="Google Shape;293;p20"/>
          <p:cNvSpPr txBox="1"/>
          <p:nvPr/>
        </p:nvSpPr>
        <p:spPr>
          <a:xfrm>
            <a:off x="5175164" y="3324091"/>
            <a:ext cx="26321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4" name="Google Shape;294;p20"/>
          <p:cNvSpPr txBox="1"/>
          <p:nvPr/>
        </p:nvSpPr>
        <p:spPr>
          <a:xfrm>
            <a:off x="5562600" y="2209800"/>
            <a:ext cx="26321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5" name="Google Shape;295;p20"/>
          <p:cNvSpPr txBox="1"/>
          <p:nvPr/>
        </p:nvSpPr>
        <p:spPr>
          <a:xfrm>
            <a:off x="7051986" y="1795790"/>
            <a:ext cx="26321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6" name="Google Shape;296;p20"/>
          <p:cNvSpPr txBox="1"/>
          <p:nvPr/>
        </p:nvSpPr>
        <p:spPr>
          <a:xfrm>
            <a:off x="8001000" y="2405390"/>
            <a:ext cx="26321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7" name="Google Shape;297;p20"/>
          <p:cNvSpPr txBox="1"/>
          <p:nvPr/>
        </p:nvSpPr>
        <p:spPr>
          <a:xfrm>
            <a:off x="7737786" y="3319790"/>
            <a:ext cx="26321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8" name="Google Shape;298;p20"/>
          <p:cNvSpPr txBox="1"/>
          <p:nvPr/>
        </p:nvSpPr>
        <p:spPr>
          <a:xfrm>
            <a:off x="7239000" y="3352800"/>
            <a:ext cx="26321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9" name="Google Shape;299;p20"/>
          <p:cNvSpPr txBox="1"/>
          <p:nvPr/>
        </p:nvSpPr>
        <p:spPr>
          <a:xfrm>
            <a:off x="6477000" y="2481590"/>
            <a:ext cx="26321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0" name="Google Shape;300;p20"/>
          <p:cNvSpPr txBox="1"/>
          <p:nvPr/>
        </p:nvSpPr>
        <p:spPr>
          <a:xfrm>
            <a:off x="7128186" y="2786390"/>
            <a:ext cx="26321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1" name="Google Shape;301;p20"/>
          <p:cNvSpPr txBox="1"/>
          <p:nvPr/>
        </p:nvSpPr>
        <p:spPr>
          <a:xfrm>
            <a:off x="5985186" y="2743200"/>
            <a:ext cx="26321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2" name="Google Shape;302;p20"/>
          <p:cNvSpPr txBox="1"/>
          <p:nvPr/>
        </p:nvSpPr>
        <p:spPr>
          <a:xfrm>
            <a:off x="6518586" y="3810000"/>
            <a:ext cx="34176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1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Graph Presentation</a:t>
            </a:r>
            <a:endParaRPr sz="32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8" name="Google Shape;308;p21"/>
          <p:cNvSpPr txBox="1">
            <a:spLocks noGrp="1"/>
          </p:cNvSpPr>
          <p:nvPr>
            <p:ph type="body" idx="1"/>
          </p:nvPr>
        </p:nvSpPr>
        <p:spPr>
          <a:xfrm>
            <a:off x="457200" y="1828800"/>
            <a:ext cx="83058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 = (V, E); V = {0, 1,…, n-1}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 a graph by an adjacency matrix</a:t>
            </a:r>
            <a:endParaRPr/>
          </a:p>
          <a:p>
            <a:pPr marL="742950" marR="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A[u][v] = 1   if (u,v) ∈ E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A[u][v] = 0   Otherwise</a:t>
            </a:r>
            <a:endParaRPr/>
          </a:p>
        </p:txBody>
      </p:sp>
      <p:sp>
        <p:nvSpPr>
          <p:cNvPr id="309" name="Google Shape;309;p2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310" name="Google Shape;310;p21"/>
          <p:cNvGraphicFramePr/>
          <p:nvPr/>
        </p:nvGraphicFramePr>
        <p:xfrm>
          <a:off x="4343400" y="3733800"/>
          <a:ext cx="4419600" cy="2438400"/>
        </p:xfrm>
        <a:graphic>
          <a:graphicData uri="http://schemas.openxmlformats.org/drawingml/2006/table">
            <a:tbl>
              <a:tblPr firstRow="1" bandRow="1">
                <a:noFill/>
                <a:tableStyleId>{CB64386A-01CC-41CD-9099-2ECCFB59C75D}</a:tableStyleId>
              </a:tblPr>
              <a:tblGrid>
                <a:gridCol w="736600"/>
                <a:gridCol w="736600"/>
                <a:gridCol w="736600"/>
                <a:gridCol w="736600"/>
                <a:gridCol w="736600"/>
                <a:gridCol w="736600"/>
              </a:tblGrid>
              <a:tr h="406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311" name="Google Shape;311;p21"/>
          <p:cNvSpPr/>
          <p:nvPr/>
        </p:nvSpPr>
        <p:spPr>
          <a:xfrm>
            <a:off x="959739" y="4184387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12" name="Google Shape;312;p21"/>
          <p:cNvCxnSpPr/>
          <p:nvPr/>
        </p:nvCxnSpPr>
        <p:spPr>
          <a:xfrm>
            <a:off x="1326451" y="4367744"/>
            <a:ext cx="1797749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3" name="Google Shape;313;p21"/>
          <p:cNvSpPr/>
          <p:nvPr/>
        </p:nvSpPr>
        <p:spPr>
          <a:xfrm>
            <a:off x="959739" y="5562600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4" name="Google Shape;314;p21"/>
          <p:cNvSpPr/>
          <p:nvPr/>
        </p:nvSpPr>
        <p:spPr>
          <a:xfrm>
            <a:off x="3124200" y="4184387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315" name="Google Shape;315;p21"/>
          <p:cNvSpPr/>
          <p:nvPr/>
        </p:nvSpPr>
        <p:spPr>
          <a:xfrm>
            <a:off x="3124200" y="5562599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316" name="Google Shape;316;p21"/>
          <p:cNvSpPr/>
          <p:nvPr/>
        </p:nvSpPr>
        <p:spPr>
          <a:xfrm>
            <a:off x="2057400" y="4800600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17" name="Google Shape;317;p21"/>
          <p:cNvCxnSpPr>
            <a:stCxn id="313" idx="0"/>
            <a:endCxn id="311" idx="4"/>
          </p:cNvCxnSpPr>
          <p:nvPr/>
        </p:nvCxnSpPr>
        <p:spPr>
          <a:xfrm rot="10800000">
            <a:off x="1143095" y="4551000"/>
            <a:ext cx="0" cy="1011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8" name="Google Shape;318;p21"/>
          <p:cNvCxnSpPr/>
          <p:nvPr/>
        </p:nvCxnSpPr>
        <p:spPr>
          <a:xfrm rot="10800000">
            <a:off x="1326451" y="5745956"/>
            <a:ext cx="1797749" cy="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9" name="Google Shape;319;p21"/>
          <p:cNvCxnSpPr/>
          <p:nvPr/>
        </p:nvCxnSpPr>
        <p:spPr>
          <a:xfrm>
            <a:off x="3307556" y="4551100"/>
            <a:ext cx="0" cy="101149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0" name="Google Shape;320;p21"/>
          <p:cNvCxnSpPr/>
          <p:nvPr/>
        </p:nvCxnSpPr>
        <p:spPr>
          <a:xfrm>
            <a:off x="1272747" y="4497396"/>
            <a:ext cx="838357" cy="35690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1" name="Google Shape;321;p21"/>
          <p:cNvCxnSpPr/>
          <p:nvPr/>
        </p:nvCxnSpPr>
        <p:spPr>
          <a:xfrm flipH="1">
            <a:off x="2370408" y="4497396"/>
            <a:ext cx="807496" cy="35690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2" name="Google Shape;322;p21"/>
          <p:cNvCxnSpPr>
            <a:stCxn id="316" idx="5"/>
            <a:endCxn id="315" idx="1"/>
          </p:cNvCxnSpPr>
          <p:nvPr/>
        </p:nvCxnSpPr>
        <p:spPr>
          <a:xfrm>
            <a:off x="2370408" y="5113609"/>
            <a:ext cx="807600" cy="50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3" name="Google Shape;323;p21"/>
          <p:cNvCxnSpPr/>
          <p:nvPr/>
        </p:nvCxnSpPr>
        <p:spPr>
          <a:xfrm flipH="1">
            <a:off x="1272747" y="5113609"/>
            <a:ext cx="838357" cy="50269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2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presentation</a:t>
            </a:r>
            <a:endParaRPr sz="3200" b="1" i="0" u="none" strike="noStrike" cap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" name="Google Shape;329;p22"/>
          <p:cNvSpPr txBox="1">
            <a:spLocks noGrp="1"/>
          </p:cNvSpPr>
          <p:nvPr>
            <p:ph type="body" idx="1"/>
          </p:nvPr>
        </p:nvSpPr>
        <p:spPr>
          <a:xfrm>
            <a:off x="838200" y="1976718"/>
            <a:ext cx="7391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G = (V, E); V = {0, 1,…, n-1}</a:t>
            </a:r>
            <a:endParaRPr/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 a graph by edge list structure</a:t>
            </a:r>
            <a:endParaRPr/>
          </a:p>
        </p:txBody>
      </p:sp>
      <p:sp>
        <p:nvSpPr>
          <p:cNvPr id="330" name="Google Shape;330;p2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1" name="Google Shape;331;p22"/>
          <p:cNvSpPr/>
          <p:nvPr/>
        </p:nvSpPr>
        <p:spPr>
          <a:xfrm>
            <a:off x="1810871" y="3760694"/>
            <a:ext cx="4572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2"/>
          <p:cNvSpPr/>
          <p:nvPr/>
        </p:nvSpPr>
        <p:spPr>
          <a:xfrm>
            <a:off x="1810871" y="4217894"/>
            <a:ext cx="4572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2"/>
          <p:cNvSpPr/>
          <p:nvPr/>
        </p:nvSpPr>
        <p:spPr>
          <a:xfrm>
            <a:off x="1810871" y="4675094"/>
            <a:ext cx="4572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2"/>
          <p:cNvSpPr/>
          <p:nvPr/>
        </p:nvSpPr>
        <p:spPr>
          <a:xfrm>
            <a:off x="1810871" y="5132294"/>
            <a:ext cx="4572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2"/>
          <p:cNvSpPr/>
          <p:nvPr/>
        </p:nvSpPr>
        <p:spPr>
          <a:xfrm>
            <a:off x="1810871" y="5589494"/>
            <a:ext cx="4572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2"/>
          <p:cNvSpPr/>
          <p:nvPr/>
        </p:nvSpPr>
        <p:spPr>
          <a:xfrm>
            <a:off x="2819400" y="3760694"/>
            <a:ext cx="685800" cy="354106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7" name="Google Shape;337;p22"/>
          <p:cNvSpPr/>
          <p:nvPr/>
        </p:nvSpPr>
        <p:spPr>
          <a:xfrm>
            <a:off x="3505199" y="3760694"/>
            <a:ext cx="286871" cy="354106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8" name="Google Shape;338;p22"/>
          <p:cNvSpPr/>
          <p:nvPr/>
        </p:nvSpPr>
        <p:spPr>
          <a:xfrm>
            <a:off x="2819400" y="4217894"/>
            <a:ext cx="685800" cy="354106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9" name="Google Shape;339;p22"/>
          <p:cNvSpPr/>
          <p:nvPr/>
        </p:nvSpPr>
        <p:spPr>
          <a:xfrm>
            <a:off x="3505199" y="4217894"/>
            <a:ext cx="286871" cy="354106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0" name="Google Shape;340;p22"/>
          <p:cNvSpPr/>
          <p:nvPr/>
        </p:nvSpPr>
        <p:spPr>
          <a:xfrm>
            <a:off x="2819400" y="4675094"/>
            <a:ext cx="685800" cy="354106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1" name="Google Shape;341;p22"/>
          <p:cNvSpPr/>
          <p:nvPr/>
        </p:nvSpPr>
        <p:spPr>
          <a:xfrm>
            <a:off x="3505199" y="4675094"/>
            <a:ext cx="286871" cy="354106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2" name="Google Shape;342;p22"/>
          <p:cNvSpPr/>
          <p:nvPr/>
        </p:nvSpPr>
        <p:spPr>
          <a:xfrm>
            <a:off x="2819400" y="5589494"/>
            <a:ext cx="685800" cy="354106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3" name="Google Shape;343;p22"/>
          <p:cNvSpPr/>
          <p:nvPr/>
        </p:nvSpPr>
        <p:spPr>
          <a:xfrm>
            <a:off x="3505199" y="5589494"/>
            <a:ext cx="286871" cy="354106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</p:txBody>
      </p:sp>
      <p:sp>
        <p:nvSpPr>
          <p:cNvPr id="344" name="Google Shape;344;p22"/>
          <p:cNvSpPr/>
          <p:nvPr/>
        </p:nvSpPr>
        <p:spPr>
          <a:xfrm>
            <a:off x="4419600" y="3760694"/>
            <a:ext cx="685800" cy="354106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5" name="Google Shape;345;p22"/>
          <p:cNvSpPr/>
          <p:nvPr/>
        </p:nvSpPr>
        <p:spPr>
          <a:xfrm>
            <a:off x="5105399" y="3760694"/>
            <a:ext cx="286871" cy="354106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</p:txBody>
      </p:sp>
      <p:sp>
        <p:nvSpPr>
          <p:cNvPr id="346" name="Google Shape;346;p22"/>
          <p:cNvSpPr/>
          <p:nvPr/>
        </p:nvSpPr>
        <p:spPr>
          <a:xfrm>
            <a:off x="4419600" y="4211170"/>
            <a:ext cx="685800" cy="354106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7" name="Google Shape;347;p22"/>
          <p:cNvSpPr/>
          <p:nvPr/>
        </p:nvSpPr>
        <p:spPr>
          <a:xfrm>
            <a:off x="5105399" y="4211170"/>
            <a:ext cx="286871" cy="354106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</p:txBody>
      </p:sp>
      <p:sp>
        <p:nvSpPr>
          <p:cNvPr id="348" name="Google Shape;348;p22"/>
          <p:cNvSpPr/>
          <p:nvPr/>
        </p:nvSpPr>
        <p:spPr>
          <a:xfrm>
            <a:off x="4419600" y="4661646"/>
            <a:ext cx="685800" cy="354106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9" name="Google Shape;349;p22"/>
          <p:cNvSpPr/>
          <p:nvPr/>
        </p:nvSpPr>
        <p:spPr>
          <a:xfrm>
            <a:off x="5105399" y="4661646"/>
            <a:ext cx="286871" cy="354106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0" name="Google Shape;350;p22"/>
          <p:cNvSpPr/>
          <p:nvPr/>
        </p:nvSpPr>
        <p:spPr>
          <a:xfrm>
            <a:off x="6057900" y="4675094"/>
            <a:ext cx="685800" cy="354106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1" name="Google Shape;351;p22"/>
          <p:cNvSpPr/>
          <p:nvPr/>
        </p:nvSpPr>
        <p:spPr>
          <a:xfrm>
            <a:off x="6743699" y="4675094"/>
            <a:ext cx="286871" cy="354106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</p:txBody>
      </p:sp>
      <p:cxnSp>
        <p:nvCxnSpPr>
          <p:cNvPr id="352" name="Google Shape;352;p22"/>
          <p:cNvCxnSpPr>
            <a:endCxn id="336" idx="1"/>
          </p:cNvCxnSpPr>
          <p:nvPr/>
        </p:nvCxnSpPr>
        <p:spPr>
          <a:xfrm>
            <a:off x="2039400" y="3937747"/>
            <a:ext cx="7800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53" name="Google Shape;353;p22"/>
          <p:cNvCxnSpPr/>
          <p:nvPr/>
        </p:nvCxnSpPr>
        <p:spPr>
          <a:xfrm>
            <a:off x="2039471" y="4394947"/>
            <a:ext cx="779929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54" name="Google Shape;354;p22"/>
          <p:cNvCxnSpPr/>
          <p:nvPr/>
        </p:nvCxnSpPr>
        <p:spPr>
          <a:xfrm>
            <a:off x="2039471" y="4852147"/>
            <a:ext cx="779929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55" name="Google Shape;355;p22"/>
          <p:cNvCxnSpPr/>
          <p:nvPr/>
        </p:nvCxnSpPr>
        <p:spPr>
          <a:xfrm>
            <a:off x="2039471" y="5766547"/>
            <a:ext cx="779929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56" name="Google Shape;356;p22"/>
          <p:cNvCxnSpPr/>
          <p:nvPr/>
        </p:nvCxnSpPr>
        <p:spPr>
          <a:xfrm>
            <a:off x="3648634" y="3937747"/>
            <a:ext cx="779929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57" name="Google Shape;357;p22"/>
          <p:cNvCxnSpPr/>
          <p:nvPr/>
        </p:nvCxnSpPr>
        <p:spPr>
          <a:xfrm>
            <a:off x="3648634" y="4388223"/>
            <a:ext cx="779929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58" name="Google Shape;358;p22"/>
          <p:cNvCxnSpPr/>
          <p:nvPr/>
        </p:nvCxnSpPr>
        <p:spPr>
          <a:xfrm>
            <a:off x="3648634" y="4838699"/>
            <a:ext cx="779929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59" name="Google Shape;359;p22"/>
          <p:cNvCxnSpPr/>
          <p:nvPr/>
        </p:nvCxnSpPr>
        <p:spPr>
          <a:xfrm>
            <a:off x="5277971" y="4838699"/>
            <a:ext cx="779929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60" name="Google Shape;360;p22"/>
          <p:cNvSpPr txBox="1"/>
          <p:nvPr/>
        </p:nvSpPr>
        <p:spPr>
          <a:xfrm>
            <a:off x="1524000" y="3810000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1" name="Google Shape;361;p22"/>
          <p:cNvSpPr txBox="1"/>
          <p:nvPr/>
        </p:nvSpPr>
        <p:spPr>
          <a:xfrm>
            <a:off x="1524000" y="4264223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2" name="Google Shape;362;p22"/>
          <p:cNvSpPr txBox="1"/>
          <p:nvPr/>
        </p:nvSpPr>
        <p:spPr>
          <a:xfrm>
            <a:off x="1524000" y="4718446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3" name="Google Shape;363;p22"/>
          <p:cNvSpPr txBox="1"/>
          <p:nvPr/>
        </p:nvSpPr>
        <p:spPr>
          <a:xfrm>
            <a:off x="1524000" y="517266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4" name="Google Shape;364;p22"/>
          <p:cNvSpPr txBox="1"/>
          <p:nvPr/>
        </p:nvSpPr>
        <p:spPr>
          <a:xfrm>
            <a:off x="1524000" y="5626892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Subgraphs</a:t>
            </a:r>
            <a:endParaRPr/>
          </a:p>
        </p:txBody>
      </p:sp>
      <p:sp>
        <p:nvSpPr>
          <p:cNvPr id="370" name="Google Shape;370;p23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62000" y="1905000"/>
            <a:ext cx="4038600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subgraph S of a graph G is a graph such that </a:t>
            </a:r>
            <a:endParaRPr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vertices of S are a subset of the vertices of G</a:t>
            </a:r>
            <a:endParaRPr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edges of S are a subset of the edges of G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spanning subgraph of G is a subgraph that contains all the vertices of G</a:t>
            </a:r>
            <a:endParaRPr/>
          </a:p>
        </p:txBody>
      </p:sp>
      <p:sp>
        <p:nvSpPr>
          <p:cNvPr id="371" name="Google Shape;371;p2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3"/>
          <p:cNvSpPr txBox="1"/>
          <p:nvPr/>
        </p:nvSpPr>
        <p:spPr>
          <a:xfrm>
            <a:off x="5435600" y="3346450"/>
            <a:ext cx="28575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Subgraph</a:t>
            </a:r>
            <a:endParaRPr/>
          </a:p>
        </p:txBody>
      </p:sp>
      <p:sp>
        <p:nvSpPr>
          <p:cNvPr id="373" name="Google Shape;373;p23"/>
          <p:cNvSpPr txBox="1"/>
          <p:nvPr/>
        </p:nvSpPr>
        <p:spPr>
          <a:xfrm>
            <a:off x="5041900" y="5927725"/>
            <a:ext cx="36449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Spanning subgraph</a:t>
            </a:r>
            <a:endParaRPr/>
          </a:p>
        </p:txBody>
      </p:sp>
      <p:sp>
        <p:nvSpPr>
          <p:cNvPr id="374" name="Google Shape;374;p23"/>
          <p:cNvSpPr/>
          <p:nvPr/>
        </p:nvSpPr>
        <p:spPr>
          <a:xfrm>
            <a:off x="6788150" y="2179638"/>
            <a:ext cx="366713" cy="366712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5" name="Google Shape;375;p23"/>
          <p:cNvSpPr/>
          <p:nvPr/>
        </p:nvSpPr>
        <p:spPr>
          <a:xfrm>
            <a:off x="5324475" y="217963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6" name="Google Shape;376;p23"/>
          <p:cNvSpPr/>
          <p:nvPr/>
        </p:nvSpPr>
        <p:spPr>
          <a:xfrm>
            <a:off x="6056313" y="1447800"/>
            <a:ext cx="366712" cy="366713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7" name="Google Shape;377;p23"/>
          <p:cNvSpPr/>
          <p:nvPr/>
        </p:nvSpPr>
        <p:spPr>
          <a:xfrm>
            <a:off x="6056313" y="2911475"/>
            <a:ext cx="366712" cy="366713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78" name="Google Shape;378;p23"/>
          <p:cNvCxnSpPr>
            <a:stCxn id="376" idx="3"/>
            <a:endCxn id="375" idx="7"/>
          </p:cNvCxnSpPr>
          <p:nvPr/>
        </p:nvCxnSpPr>
        <p:spPr>
          <a:xfrm flipH="1">
            <a:off x="5637517" y="1760809"/>
            <a:ext cx="472500" cy="472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79" name="Google Shape;379;p23"/>
          <p:cNvCxnSpPr>
            <a:stCxn id="377" idx="1"/>
            <a:endCxn id="375" idx="5"/>
          </p:cNvCxnSpPr>
          <p:nvPr/>
        </p:nvCxnSpPr>
        <p:spPr>
          <a:xfrm rot="10800000">
            <a:off x="5637517" y="2492679"/>
            <a:ext cx="472500" cy="472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80" name="Google Shape;380;p23"/>
          <p:cNvCxnSpPr>
            <a:stCxn id="377" idx="7"/>
            <a:endCxn id="374" idx="3"/>
          </p:cNvCxnSpPr>
          <p:nvPr/>
        </p:nvCxnSpPr>
        <p:spPr>
          <a:xfrm rot="10800000" flipH="1">
            <a:off x="6369321" y="2492679"/>
            <a:ext cx="472500" cy="472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1" name="Google Shape;381;p23"/>
          <p:cNvCxnSpPr>
            <a:stCxn id="376" idx="5"/>
            <a:endCxn id="374" idx="1"/>
          </p:cNvCxnSpPr>
          <p:nvPr/>
        </p:nvCxnSpPr>
        <p:spPr>
          <a:xfrm>
            <a:off x="6369321" y="1760809"/>
            <a:ext cx="472500" cy="472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2" name="Google Shape;382;p23"/>
          <p:cNvCxnSpPr>
            <a:stCxn id="376" idx="4"/>
            <a:endCxn id="377" idx="0"/>
          </p:cNvCxnSpPr>
          <p:nvPr/>
        </p:nvCxnSpPr>
        <p:spPr>
          <a:xfrm>
            <a:off x="6239669" y="1814513"/>
            <a:ext cx="0" cy="1097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3" name="Google Shape;383;p23"/>
          <p:cNvSpPr/>
          <p:nvPr/>
        </p:nvSpPr>
        <p:spPr>
          <a:xfrm>
            <a:off x="8039100" y="217963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84" name="Google Shape;384;p23"/>
          <p:cNvCxnSpPr>
            <a:stCxn id="374" idx="6"/>
            <a:endCxn id="383" idx="2"/>
          </p:cNvCxnSpPr>
          <p:nvPr/>
        </p:nvCxnSpPr>
        <p:spPr>
          <a:xfrm>
            <a:off x="7154863" y="2362994"/>
            <a:ext cx="884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85" name="Google Shape;385;p23"/>
          <p:cNvCxnSpPr>
            <a:stCxn id="377" idx="6"/>
            <a:endCxn id="383" idx="3"/>
          </p:cNvCxnSpPr>
          <p:nvPr/>
        </p:nvCxnSpPr>
        <p:spPr>
          <a:xfrm rot="10800000" flipH="1">
            <a:off x="6423025" y="2492732"/>
            <a:ext cx="1669800" cy="602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86" name="Google Shape;386;p23"/>
          <p:cNvCxnSpPr>
            <a:stCxn id="383" idx="1"/>
            <a:endCxn id="376" idx="6"/>
          </p:cNvCxnSpPr>
          <p:nvPr/>
        </p:nvCxnSpPr>
        <p:spPr>
          <a:xfrm rot="10800000">
            <a:off x="6423004" y="1631242"/>
            <a:ext cx="1669800" cy="602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87" name="Google Shape;387;p23"/>
          <p:cNvSpPr/>
          <p:nvPr/>
        </p:nvSpPr>
        <p:spPr>
          <a:xfrm>
            <a:off x="6786563" y="4760913"/>
            <a:ext cx="366712" cy="366712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8" name="Google Shape;388;p23"/>
          <p:cNvSpPr/>
          <p:nvPr/>
        </p:nvSpPr>
        <p:spPr>
          <a:xfrm>
            <a:off x="5322888" y="4760913"/>
            <a:ext cx="366712" cy="366712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9" name="Google Shape;389;p23"/>
          <p:cNvSpPr/>
          <p:nvPr/>
        </p:nvSpPr>
        <p:spPr>
          <a:xfrm>
            <a:off x="6054725" y="4029075"/>
            <a:ext cx="366713" cy="366713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0" name="Google Shape;390;p23"/>
          <p:cNvSpPr/>
          <p:nvPr/>
        </p:nvSpPr>
        <p:spPr>
          <a:xfrm>
            <a:off x="6054725" y="5492750"/>
            <a:ext cx="366713" cy="366713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91" name="Google Shape;391;p23"/>
          <p:cNvCxnSpPr>
            <a:stCxn id="389" idx="3"/>
            <a:endCxn id="388" idx="7"/>
          </p:cNvCxnSpPr>
          <p:nvPr/>
        </p:nvCxnSpPr>
        <p:spPr>
          <a:xfrm flipH="1">
            <a:off x="5635929" y="4342084"/>
            <a:ext cx="472500" cy="472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2" name="Google Shape;392;p23"/>
          <p:cNvCxnSpPr>
            <a:stCxn id="390" idx="1"/>
            <a:endCxn id="388" idx="5"/>
          </p:cNvCxnSpPr>
          <p:nvPr/>
        </p:nvCxnSpPr>
        <p:spPr>
          <a:xfrm rot="10800000">
            <a:off x="5635929" y="5073954"/>
            <a:ext cx="472500" cy="472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93" name="Google Shape;393;p23"/>
          <p:cNvCxnSpPr>
            <a:stCxn id="390" idx="7"/>
            <a:endCxn id="387" idx="3"/>
          </p:cNvCxnSpPr>
          <p:nvPr/>
        </p:nvCxnSpPr>
        <p:spPr>
          <a:xfrm rot="10800000" flipH="1">
            <a:off x="6367734" y="5073954"/>
            <a:ext cx="472500" cy="472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4" name="Google Shape;394;p23"/>
          <p:cNvCxnSpPr>
            <a:stCxn id="389" idx="5"/>
            <a:endCxn id="387" idx="1"/>
          </p:cNvCxnSpPr>
          <p:nvPr/>
        </p:nvCxnSpPr>
        <p:spPr>
          <a:xfrm>
            <a:off x="6367734" y="4342084"/>
            <a:ext cx="472500" cy="472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5" name="Google Shape;395;p23"/>
          <p:cNvCxnSpPr>
            <a:stCxn id="389" idx="4"/>
            <a:endCxn id="390" idx="0"/>
          </p:cNvCxnSpPr>
          <p:nvPr/>
        </p:nvCxnSpPr>
        <p:spPr>
          <a:xfrm>
            <a:off x="6238082" y="4395788"/>
            <a:ext cx="0" cy="1097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6" name="Google Shape;396;p23"/>
          <p:cNvSpPr/>
          <p:nvPr/>
        </p:nvSpPr>
        <p:spPr>
          <a:xfrm>
            <a:off x="8037513" y="4760913"/>
            <a:ext cx="366712" cy="366712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97" name="Google Shape;397;p23"/>
          <p:cNvCxnSpPr>
            <a:stCxn id="387" idx="6"/>
            <a:endCxn id="396" idx="2"/>
          </p:cNvCxnSpPr>
          <p:nvPr/>
        </p:nvCxnSpPr>
        <p:spPr>
          <a:xfrm>
            <a:off x="7153275" y="4944269"/>
            <a:ext cx="884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98" name="Google Shape;398;p23"/>
          <p:cNvCxnSpPr>
            <a:stCxn id="390" idx="6"/>
            <a:endCxn id="396" idx="3"/>
          </p:cNvCxnSpPr>
          <p:nvPr/>
        </p:nvCxnSpPr>
        <p:spPr>
          <a:xfrm rot="10800000" flipH="1">
            <a:off x="6421438" y="5074007"/>
            <a:ext cx="1669800" cy="602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99" name="Google Shape;399;p23"/>
          <p:cNvCxnSpPr>
            <a:stCxn id="396" idx="1"/>
            <a:endCxn id="389" idx="6"/>
          </p:cNvCxnSpPr>
          <p:nvPr/>
        </p:nvCxnSpPr>
        <p:spPr>
          <a:xfrm rot="10800000">
            <a:off x="6421417" y="4212517"/>
            <a:ext cx="1669800" cy="602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4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Connectivity</a:t>
            </a:r>
            <a:endParaRPr/>
          </a:p>
        </p:txBody>
      </p:sp>
      <p:sp>
        <p:nvSpPr>
          <p:cNvPr id="405" name="Google Shape;405;p24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graph is connected if there is a path between every pair of vertices</a:t>
            </a:r>
            <a:endParaRPr/>
          </a:p>
          <a:p>
            <a:pPr marL="342900" marR="0" lvl="0" indent="-1905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connected component of a graph G is a maximal connected subgraph of G</a:t>
            </a:r>
            <a:endParaRPr/>
          </a:p>
        </p:txBody>
      </p:sp>
      <p:sp>
        <p:nvSpPr>
          <p:cNvPr id="406" name="Google Shape;406;p2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7" name="Google Shape;407;p24"/>
          <p:cNvGrpSpPr/>
          <p:nvPr/>
        </p:nvGrpSpPr>
        <p:grpSpPr>
          <a:xfrm>
            <a:off x="4714875" y="1665287"/>
            <a:ext cx="3081338" cy="1830388"/>
            <a:chOff x="2855" y="994"/>
            <a:chExt cx="2425" cy="1440"/>
          </a:xfrm>
        </p:grpSpPr>
        <p:sp>
          <p:nvSpPr>
            <p:cNvPr id="408" name="Google Shape;408;p24"/>
            <p:cNvSpPr/>
            <p:nvPr/>
          </p:nvSpPr>
          <p:spPr>
            <a:xfrm>
              <a:off x="4007" y="1570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09" name="Google Shape;409;p24"/>
            <p:cNvSpPr/>
            <p:nvPr/>
          </p:nvSpPr>
          <p:spPr>
            <a:xfrm>
              <a:off x="2855" y="1570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10" name="Google Shape;410;p24"/>
            <p:cNvSpPr/>
            <p:nvPr/>
          </p:nvSpPr>
          <p:spPr>
            <a:xfrm>
              <a:off x="3431" y="994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11" name="Google Shape;411;p24"/>
            <p:cNvSpPr/>
            <p:nvPr/>
          </p:nvSpPr>
          <p:spPr>
            <a:xfrm>
              <a:off x="3431" y="2146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cxnSp>
          <p:nvCxnSpPr>
            <p:cNvPr id="412" name="Google Shape;412;p24"/>
            <p:cNvCxnSpPr>
              <a:stCxn id="410" idx="3"/>
              <a:endCxn id="409" idx="7"/>
            </p:cNvCxnSpPr>
            <p:nvPr/>
          </p:nvCxnSpPr>
          <p:spPr>
            <a:xfrm flipH="1">
              <a:off x="3173" y="1240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3" name="Google Shape;413;p24"/>
            <p:cNvCxnSpPr>
              <a:stCxn id="411" idx="1"/>
              <a:endCxn id="409" idx="5"/>
            </p:cNvCxnSpPr>
            <p:nvPr/>
          </p:nvCxnSpPr>
          <p:spPr>
            <a:xfrm rot="10800000">
              <a:off x="3173" y="1888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4" name="Google Shape;414;p24"/>
            <p:cNvCxnSpPr>
              <a:stCxn id="411" idx="7"/>
              <a:endCxn id="408" idx="3"/>
            </p:cNvCxnSpPr>
            <p:nvPr/>
          </p:nvCxnSpPr>
          <p:spPr>
            <a:xfrm rot="10800000" flipH="1">
              <a:off x="3677" y="1888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5" name="Google Shape;415;p24"/>
            <p:cNvCxnSpPr>
              <a:stCxn id="410" idx="5"/>
              <a:endCxn id="408" idx="1"/>
            </p:cNvCxnSpPr>
            <p:nvPr/>
          </p:nvCxnSpPr>
          <p:spPr>
            <a:xfrm>
              <a:off x="3677" y="1240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6" name="Google Shape;416;p24"/>
            <p:cNvCxnSpPr>
              <a:stCxn id="410" idx="4"/>
              <a:endCxn id="411" idx="0"/>
            </p:cNvCxnSpPr>
            <p:nvPr/>
          </p:nvCxnSpPr>
          <p:spPr>
            <a:xfrm>
              <a:off x="3575" y="1282"/>
              <a:ext cx="0" cy="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17" name="Google Shape;417;p24"/>
            <p:cNvSpPr/>
            <p:nvPr/>
          </p:nvSpPr>
          <p:spPr>
            <a:xfrm>
              <a:off x="4992" y="1570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cxnSp>
          <p:nvCxnSpPr>
            <p:cNvPr id="418" name="Google Shape;418;p24"/>
            <p:cNvCxnSpPr>
              <a:stCxn id="408" idx="6"/>
              <a:endCxn id="417" idx="2"/>
            </p:cNvCxnSpPr>
            <p:nvPr/>
          </p:nvCxnSpPr>
          <p:spPr>
            <a:xfrm>
              <a:off x="4295" y="1714"/>
              <a:ext cx="6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19" name="Google Shape;419;p24"/>
          <p:cNvSpPr txBox="1"/>
          <p:nvPr/>
        </p:nvSpPr>
        <p:spPr>
          <a:xfrm>
            <a:off x="4826000" y="3494087"/>
            <a:ext cx="28575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Connected graph</a:t>
            </a:r>
            <a:endParaRPr/>
          </a:p>
        </p:txBody>
      </p:sp>
      <p:grpSp>
        <p:nvGrpSpPr>
          <p:cNvPr id="420" name="Google Shape;420;p24"/>
          <p:cNvGrpSpPr/>
          <p:nvPr/>
        </p:nvGrpSpPr>
        <p:grpSpPr>
          <a:xfrm>
            <a:off x="4714875" y="3886200"/>
            <a:ext cx="3081338" cy="1830388"/>
            <a:chOff x="3353" y="2543"/>
            <a:chExt cx="1941" cy="1153"/>
          </a:xfrm>
        </p:grpSpPr>
        <p:sp>
          <p:nvSpPr>
            <p:cNvPr id="421" name="Google Shape;421;p24"/>
            <p:cNvSpPr/>
            <p:nvPr/>
          </p:nvSpPr>
          <p:spPr>
            <a:xfrm>
              <a:off x="4275" y="3004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22" name="Google Shape;422;p24"/>
            <p:cNvSpPr/>
            <p:nvPr/>
          </p:nvSpPr>
          <p:spPr>
            <a:xfrm>
              <a:off x="3353" y="3004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23" name="Google Shape;423;p24"/>
            <p:cNvSpPr/>
            <p:nvPr/>
          </p:nvSpPr>
          <p:spPr>
            <a:xfrm>
              <a:off x="3814" y="2543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24" name="Google Shape;424;p24"/>
            <p:cNvSpPr/>
            <p:nvPr/>
          </p:nvSpPr>
          <p:spPr>
            <a:xfrm>
              <a:off x="3814" y="3465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cxnSp>
          <p:nvCxnSpPr>
            <p:cNvPr id="425" name="Google Shape;425;p24"/>
            <p:cNvCxnSpPr>
              <a:stCxn id="423" idx="3"/>
              <a:endCxn id="422" idx="7"/>
            </p:cNvCxnSpPr>
            <p:nvPr/>
          </p:nvCxnSpPr>
          <p:spPr>
            <a:xfrm flipH="1">
              <a:off x="3548" y="2740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6" name="Google Shape;426;p24"/>
            <p:cNvCxnSpPr>
              <a:stCxn id="424" idx="1"/>
              <a:endCxn id="422" idx="5"/>
            </p:cNvCxnSpPr>
            <p:nvPr/>
          </p:nvCxnSpPr>
          <p:spPr>
            <a:xfrm rot="10800000">
              <a:off x="3548" y="3199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7" name="Google Shape;427;p24"/>
            <p:cNvCxnSpPr>
              <a:stCxn id="423" idx="4"/>
              <a:endCxn id="424" idx="0"/>
            </p:cNvCxnSpPr>
            <p:nvPr/>
          </p:nvCxnSpPr>
          <p:spPr>
            <a:xfrm>
              <a:off x="3930" y="2774"/>
              <a:ext cx="0" cy="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28" name="Google Shape;428;p24"/>
            <p:cNvSpPr/>
            <p:nvPr/>
          </p:nvSpPr>
          <p:spPr>
            <a:xfrm>
              <a:off x="5063" y="3004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cxnSp>
          <p:nvCxnSpPr>
            <p:cNvPr id="429" name="Google Shape;429;p24"/>
            <p:cNvCxnSpPr>
              <a:stCxn id="421" idx="6"/>
              <a:endCxn id="428" idx="2"/>
            </p:cNvCxnSpPr>
            <p:nvPr/>
          </p:nvCxnSpPr>
          <p:spPr>
            <a:xfrm>
              <a:off x="4506" y="3120"/>
              <a:ext cx="6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30" name="Google Shape;430;p24"/>
          <p:cNvSpPr txBox="1"/>
          <p:nvPr/>
        </p:nvSpPr>
        <p:spPr>
          <a:xfrm>
            <a:off x="4432300" y="5716588"/>
            <a:ext cx="36449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 connected graph with two connected components</a:t>
            </a:r>
            <a:endParaRPr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5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Unrooted trees</a:t>
            </a:r>
            <a:endParaRPr/>
          </a:p>
        </p:txBody>
      </p:sp>
      <p:sp>
        <p:nvSpPr>
          <p:cNvPr id="436" name="Google Shape;436;p25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81200"/>
            <a:ext cx="38862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unrooted tree is an undirected graph T such that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 is connected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 has no cycles</a:t>
            </a:r>
            <a:endParaRPr/>
          </a:p>
          <a:p>
            <a:pPr marL="57150" marR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57150" marR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Note: This definition of tree is different from the one of a rooted tree</a:t>
            </a:r>
            <a:endParaRPr/>
          </a:p>
        </p:txBody>
      </p:sp>
      <p:sp>
        <p:nvSpPr>
          <p:cNvPr id="437" name="Google Shape;437;p2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5"/>
          <p:cNvSpPr txBox="1"/>
          <p:nvPr/>
        </p:nvSpPr>
        <p:spPr>
          <a:xfrm>
            <a:off x="5429250" y="3117850"/>
            <a:ext cx="28575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5"/>
          <p:cNvSpPr txBox="1"/>
          <p:nvPr/>
        </p:nvSpPr>
        <p:spPr>
          <a:xfrm>
            <a:off x="5041900" y="5699125"/>
            <a:ext cx="36449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Forest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5"/>
          <p:cNvSpPr/>
          <p:nvPr/>
        </p:nvSpPr>
        <p:spPr>
          <a:xfrm>
            <a:off x="7569200" y="195103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1" name="Google Shape;441;p25"/>
          <p:cNvSpPr/>
          <p:nvPr/>
        </p:nvSpPr>
        <p:spPr>
          <a:xfrm>
            <a:off x="6659563" y="1952625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2" name="Google Shape;442;p25"/>
          <p:cNvSpPr/>
          <p:nvPr/>
        </p:nvSpPr>
        <p:spPr>
          <a:xfrm>
            <a:off x="5780088" y="1946275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3" name="Google Shape;443;p25"/>
          <p:cNvSpPr/>
          <p:nvPr/>
        </p:nvSpPr>
        <p:spPr>
          <a:xfrm>
            <a:off x="6664325" y="2682875"/>
            <a:ext cx="366713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44" name="Google Shape;444;p25"/>
          <p:cNvCxnSpPr>
            <a:stCxn id="442" idx="6"/>
            <a:endCxn id="441" idx="2"/>
          </p:cNvCxnSpPr>
          <p:nvPr/>
        </p:nvCxnSpPr>
        <p:spPr>
          <a:xfrm>
            <a:off x="6146800" y="2129632"/>
            <a:ext cx="512700" cy="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5" name="Google Shape;445;p25"/>
          <p:cNvCxnSpPr>
            <a:stCxn id="443" idx="0"/>
            <a:endCxn id="441" idx="4"/>
          </p:cNvCxnSpPr>
          <p:nvPr/>
        </p:nvCxnSpPr>
        <p:spPr>
          <a:xfrm rot="10800000">
            <a:off x="6842882" y="2319275"/>
            <a:ext cx="4800" cy="363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6" name="Google Shape;446;p25"/>
          <p:cNvSpPr/>
          <p:nvPr/>
        </p:nvSpPr>
        <p:spPr>
          <a:xfrm>
            <a:off x="7569200" y="268128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47" name="Google Shape;447;p25"/>
          <p:cNvCxnSpPr>
            <a:stCxn id="440" idx="2"/>
            <a:endCxn id="441" idx="6"/>
          </p:cNvCxnSpPr>
          <p:nvPr/>
        </p:nvCxnSpPr>
        <p:spPr>
          <a:xfrm flipH="1">
            <a:off x="7026200" y="2134394"/>
            <a:ext cx="543000" cy="1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8" name="Google Shape;448;p25"/>
          <p:cNvCxnSpPr>
            <a:stCxn id="443" idx="6"/>
            <a:endCxn id="446" idx="2"/>
          </p:cNvCxnSpPr>
          <p:nvPr/>
        </p:nvCxnSpPr>
        <p:spPr>
          <a:xfrm rot="10800000" flipH="1">
            <a:off x="7031038" y="2864732"/>
            <a:ext cx="538200" cy="1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9" name="Google Shape;449;p25"/>
          <p:cNvGrpSpPr/>
          <p:nvPr/>
        </p:nvGrpSpPr>
        <p:grpSpPr>
          <a:xfrm>
            <a:off x="5029200" y="4368800"/>
            <a:ext cx="3657600" cy="1098550"/>
            <a:chOff x="3168" y="2752"/>
            <a:chExt cx="2304" cy="692"/>
          </a:xfrm>
        </p:grpSpPr>
        <p:sp>
          <p:nvSpPr>
            <p:cNvPr id="450" name="Google Shape;450;p25"/>
            <p:cNvSpPr/>
            <p:nvPr/>
          </p:nvSpPr>
          <p:spPr>
            <a:xfrm>
              <a:off x="3168" y="2982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grpSp>
          <p:nvGrpSpPr>
            <p:cNvPr id="451" name="Google Shape;451;p25"/>
            <p:cNvGrpSpPr/>
            <p:nvPr/>
          </p:nvGrpSpPr>
          <p:grpSpPr>
            <a:xfrm>
              <a:off x="3691" y="2752"/>
              <a:ext cx="685" cy="692"/>
              <a:chOff x="3722" y="2755"/>
              <a:chExt cx="685" cy="692"/>
            </a:xfrm>
          </p:grpSpPr>
          <p:sp>
            <p:nvSpPr>
              <p:cNvPr id="452" name="Google Shape;452;p25"/>
              <p:cNvSpPr/>
              <p:nvPr/>
            </p:nvSpPr>
            <p:spPr>
              <a:xfrm>
                <a:off x="4176" y="2755"/>
                <a:ext cx="231" cy="231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453" name="Google Shape;453;p25"/>
              <p:cNvSpPr/>
              <p:nvPr/>
            </p:nvSpPr>
            <p:spPr>
              <a:xfrm>
                <a:off x="3722" y="2756"/>
                <a:ext cx="231" cy="231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454" name="Google Shape;454;p25"/>
              <p:cNvSpPr/>
              <p:nvPr/>
            </p:nvSpPr>
            <p:spPr>
              <a:xfrm>
                <a:off x="3725" y="3216"/>
                <a:ext cx="231" cy="231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cxnSp>
            <p:nvCxnSpPr>
              <p:cNvPr id="455" name="Google Shape;455;p25"/>
              <p:cNvCxnSpPr>
                <a:stCxn id="454" idx="0"/>
                <a:endCxn id="453" idx="4"/>
              </p:cNvCxnSpPr>
              <p:nvPr/>
            </p:nvCxnSpPr>
            <p:spPr>
              <a:xfrm rot="10800000">
                <a:off x="3841" y="2916"/>
                <a:ext cx="0" cy="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56" name="Google Shape;456;p25"/>
              <p:cNvSpPr/>
              <p:nvPr/>
            </p:nvSpPr>
            <p:spPr>
              <a:xfrm>
                <a:off x="4176" y="3215"/>
                <a:ext cx="231" cy="231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cxnSp>
            <p:nvCxnSpPr>
              <p:cNvPr id="457" name="Google Shape;457;p25"/>
              <p:cNvCxnSpPr>
                <a:stCxn id="452" idx="2"/>
                <a:endCxn id="453" idx="6"/>
              </p:cNvCxnSpPr>
              <p:nvPr/>
            </p:nvCxnSpPr>
            <p:spPr>
              <a:xfrm rot="10800000">
                <a:off x="3876" y="2871"/>
                <a:ext cx="3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25"/>
              <p:cNvCxnSpPr>
                <a:stCxn id="454" idx="6"/>
                <a:endCxn id="456" idx="2"/>
              </p:cNvCxnSpPr>
              <p:nvPr/>
            </p:nvCxnSpPr>
            <p:spPr>
              <a:xfrm>
                <a:off x="3956" y="3331"/>
                <a:ext cx="3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59" name="Google Shape;459;p25"/>
            <p:cNvGrpSpPr/>
            <p:nvPr/>
          </p:nvGrpSpPr>
          <p:grpSpPr>
            <a:xfrm flipH="1">
              <a:off x="4668" y="2752"/>
              <a:ext cx="804" cy="692"/>
              <a:chOff x="4668" y="2755"/>
              <a:chExt cx="804" cy="692"/>
            </a:xfrm>
          </p:grpSpPr>
          <p:sp>
            <p:nvSpPr>
              <p:cNvPr id="460" name="Google Shape;460;p25"/>
              <p:cNvSpPr/>
              <p:nvPr/>
            </p:nvSpPr>
            <p:spPr>
              <a:xfrm>
                <a:off x="5241" y="2755"/>
                <a:ext cx="231" cy="231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461" name="Google Shape;461;p25"/>
              <p:cNvSpPr/>
              <p:nvPr/>
            </p:nvSpPr>
            <p:spPr>
              <a:xfrm>
                <a:off x="4668" y="2756"/>
                <a:ext cx="231" cy="231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462" name="Google Shape;462;p25"/>
              <p:cNvSpPr/>
              <p:nvPr/>
            </p:nvSpPr>
            <p:spPr>
              <a:xfrm>
                <a:off x="4671" y="3216"/>
                <a:ext cx="231" cy="231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463" name="Google Shape;463;p25"/>
              <p:cNvSpPr/>
              <p:nvPr/>
            </p:nvSpPr>
            <p:spPr>
              <a:xfrm>
                <a:off x="4956" y="3024"/>
                <a:ext cx="231" cy="231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cxnSp>
            <p:nvCxnSpPr>
              <p:cNvPr id="464" name="Google Shape;464;p25"/>
              <p:cNvCxnSpPr>
                <a:stCxn id="463" idx="1"/>
                <a:endCxn id="461" idx="5"/>
              </p:cNvCxnSpPr>
              <p:nvPr/>
            </p:nvCxnSpPr>
            <p:spPr>
              <a:xfrm>
                <a:off x="4990" y="3058"/>
                <a:ext cx="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5" name="Google Shape;465;p25"/>
              <p:cNvCxnSpPr>
                <a:stCxn id="462" idx="0"/>
                <a:endCxn id="461" idx="4"/>
              </p:cNvCxnSpPr>
              <p:nvPr/>
            </p:nvCxnSpPr>
            <p:spPr>
              <a:xfrm rot="10800000">
                <a:off x="4787" y="2916"/>
                <a:ext cx="0" cy="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6" name="Google Shape;466;p25"/>
              <p:cNvCxnSpPr>
                <a:stCxn id="460" idx="2"/>
                <a:endCxn id="461" idx="6"/>
              </p:cNvCxnSpPr>
              <p:nvPr/>
            </p:nvCxnSpPr>
            <p:spPr>
              <a:xfrm rot="10800000">
                <a:off x="4941" y="2871"/>
                <a:ext cx="3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6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Spanning Trees and Forests</a:t>
            </a:r>
            <a:endParaRPr/>
          </a:p>
        </p:txBody>
      </p:sp>
      <p:sp>
        <p:nvSpPr>
          <p:cNvPr id="472" name="Google Shape;472;p26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62000" y="1928813"/>
            <a:ext cx="3810000" cy="4243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spanning tree of a connected graph is a spanning subgraph that is a tree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spanning tree is not unique unless the graph is a tree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Spanning trees have applications to the design of communication networks</a:t>
            </a:r>
            <a:endParaRPr/>
          </a:p>
        </p:txBody>
      </p:sp>
      <p:sp>
        <p:nvSpPr>
          <p:cNvPr id="473" name="Google Shape;473;p2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6"/>
          <p:cNvSpPr txBox="1"/>
          <p:nvPr/>
        </p:nvSpPr>
        <p:spPr>
          <a:xfrm>
            <a:off x="5435600" y="3565525"/>
            <a:ext cx="28575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Graph</a:t>
            </a:r>
            <a:endParaRPr/>
          </a:p>
        </p:txBody>
      </p:sp>
      <p:sp>
        <p:nvSpPr>
          <p:cNvPr id="475" name="Google Shape;475;p26"/>
          <p:cNvSpPr txBox="1"/>
          <p:nvPr/>
        </p:nvSpPr>
        <p:spPr>
          <a:xfrm>
            <a:off x="5041900" y="5937250"/>
            <a:ext cx="36449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Spanning tree</a:t>
            </a:r>
            <a:endParaRPr/>
          </a:p>
        </p:txBody>
      </p:sp>
      <p:sp>
        <p:nvSpPr>
          <p:cNvPr id="476" name="Google Shape;476;p26"/>
          <p:cNvSpPr/>
          <p:nvPr/>
        </p:nvSpPr>
        <p:spPr>
          <a:xfrm>
            <a:off x="6788150" y="2398713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7" name="Google Shape;477;p26"/>
          <p:cNvSpPr/>
          <p:nvPr/>
        </p:nvSpPr>
        <p:spPr>
          <a:xfrm>
            <a:off x="5324475" y="2398713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8" name="Google Shape;478;p26"/>
          <p:cNvSpPr/>
          <p:nvPr/>
        </p:nvSpPr>
        <p:spPr>
          <a:xfrm>
            <a:off x="6056313" y="1666875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9" name="Google Shape;479;p26"/>
          <p:cNvSpPr/>
          <p:nvPr/>
        </p:nvSpPr>
        <p:spPr>
          <a:xfrm>
            <a:off x="6056313" y="3130550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80" name="Google Shape;480;p26"/>
          <p:cNvCxnSpPr>
            <a:stCxn id="478" idx="3"/>
            <a:endCxn id="477" idx="7"/>
          </p:cNvCxnSpPr>
          <p:nvPr/>
        </p:nvCxnSpPr>
        <p:spPr>
          <a:xfrm flipH="1">
            <a:off x="5637517" y="1979884"/>
            <a:ext cx="472500" cy="472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" name="Google Shape;481;p26"/>
          <p:cNvCxnSpPr>
            <a:stCxn id="479" idx="1"/>
            <a:endCxn id="477" idx="5"/>
          </p:cNvCxnSpPr>
          <p:nvPr/>
        </p:nvCxnSpPr>
        <p:spPr>
          <a:xfrm rot="10800000">
            <a:off x="5637517" y="2711754"/>
            <a:ext cx="472500" cy="472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2" name="Google Shape;482;p26"/>
          <p:cNvCxnSpPr>
            <a:stCxn id="479" idx="7"/>
            <a:endCxn id="476" idx="3"/>
          </p:cNvCxnSpPr>
          <p:nvPr/>
        </p:nvCxnSpPr>
        <p:spPr>
          <a:xfrm rot="10800000" flipH="1">
            <a:off x="6369321" y="2711754"/>
            <a:ext cx="472500" cy="472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3" name="Google Shape;483;p26"/>
          <p:cNvCxnSpPr>
            <a:stCxn id="478" idx="5"/>
            <a:endCxn id="476" idx="1"/>
          </p:cNvCxnSpPr>
          <p:nvPr/>
        </p:nvCxnSpPr>
        <p:spPr>
          <a:xfrm>
            <a:off x="6369321" y="1979884"/>
            <a:ext cx="472500" cy="472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4" name="Google Shape;484;p26"/>
          <p:cNvCxnSpPr>
            <a:stCxn id="478" idx="4"/>
            <a:endCxn id="479" idx="0"/>
          </p:cNvCxnSpPr>
          <p:nvPr/>
        </p:nvCxnSpPr>
        <p:spPr>
          <a:xfrm>
            <a:off x="6239669" y="2033588"/>
            <a:ext cx="0" cy="109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5" name="Google Shape;485;p26"/>
          <p:cNvSpPr/>
          <p:nvPr/>
        </p:nvSpPr>
        <p:spPr>
          <a:xfrm>
            <a:off x="8039100" y="2398713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86" name="Google Shape;486;p26"/>
          <p:cNvCxnSpPr>
            <a:stCxn id="476" idx="6"/>
            <a:endCxn id="485" idx="2"/>
          </p:cNvCxnSpPr>
          <p:nvPr/>
        </p:nvCxnSpPr>
        <p:spPr>
          <a:xfrm>
            <a:off x="7154863" y="2582069"/>
            <a:ext cx="884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7" name="Google Shape;487;p26"/>
          <p:cNvCxnSpPr>
            <a:stCxn id="479" idx="6"/>
            <a:endCxn id="485" idx="3"/>
          </p:cNvCxnSpPr>
          <p:nvPr/>
        </p:nvCxnSpPr>
        <p:spPr>
          <a:xfrm rot="10800000" flipH="1">
            <a:off x="6423025" y="2711807"/>
            <a:ext cx="1669800" cy="602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8" name="Google Shape;488;p26"/>
          <p:cNvCxnSpPr>
            <a:stCxn id="485" idx="1"/>
            <a:endCxn id="478" idx="6"/>
          </p:cNvCxnSpPr>
          <p:nvPr/>
        </p:nvCxnSpPr>
        <p:spPr>
          <a:xfrm rot="10800000">
            <a:off x="6423004" y="1850317"/>
            <a:ext cx="1669800" cy="602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9" name="Google Shape;489;p26"/>
          <p:cNvSpPr/>
          <p:nvPr/>
        </p:nvSpPr>
        <p:spPr>
          <a:xfrm>
            <a:off x="6786563" y="4770438"/>
            <a:ext cx="366712" cy="366712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0" name="Google Shape;490;p26"/>
          <p:cNvSpPr/>
          <p:nvPr/>
        </p:nvSpPr>
        <p:spPr>
          <a:xfrm>
            <a:off x="5322888" y="4770438"/>
            <a:ext cx="366712" cy="366712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1" name="Google Shape;491;p26"/>
          <p:cNvSpPr/>
          <p:nvPr/>
        </p:nvSpPr>
        <p:spPr>
          <a:xfrm>
            <a:off x="6054725" y="4038600"/>
            <a:ext cx="366713" cy="366713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2" name="Google Shape;492;p26"/>
          <p:cNvSpPr/>
          <p:nvPr/>
        </p:nvSpPr>
        <p:spPr>
          <a:xfrm>
            <a:off x="6054725" y="5502275"/>
            <a:ext cx="366713" cy="366713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93" name="Google Shape;493;p26"/>
          <p:cNvCxnSpPr>
            <a:stCxn id="491" idx="3"/>
            <a:endCxn id="490" idx="7"/>
          </p:cNvCxnSpPr>
          <p:nvPr/>
        </p:nvCxnSpPr>
        <p:spPr>
          <a:xfrm flipH="1">
            <a:off x="5635929" y="4351609"/>
            <a:ext cx="472500" cy="472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4" name="Google Shape;494;p26"/>
          <p:cNvCxnSpPr>
            <a:stCxn id="492" idx="1"/>
            <a:endCxn id="490" idx="5"/>
          </p:cNvCxnSpPr>
          <p:nvPr/>
        </p:nvCxnSpPr>
        <p:spPr>
          <a:xfrm rot="10800000">
            <a:off x="5635929" y="5083479"/>
            <a:ext cx="472500" cy="472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95" name="Google Shape;495;p26"/>
          <p:cNvCxnSpPr>
            <a:stCxn id="492" idx="7"/>
            <a:endCxn id="489" idx="3"/>
          </p:cNvCxnSpPr>
          <p:nvPr/>
        </p:nvCxnSpPr>
        <p:spPr>
          <a:xfrm rot="10800000" flipH="1">
            <a:off x="6367734" y="5083479"/>
            <a:ext cx="472500" cy="472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6" name="Google Shape;496;p26"/>
          <p:cNvCxnSpPr>
            <a:stCxn id="491" idx="5"/>
            <a:endCxn id="489" idx="1"/>
          </p:cNvCxnSpPr>
          <p:nvPr/>
        </p:nvCxnSpPr>
        <p:spPr>
          <a:xfrm>
            <a:off x="6367734" y="4351609"/>
            <a:ext cx="472500" cy="472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7" name="Google Shape;497;p26"/>
          <p:cNvCxnSpPr>
            <a:stCxn id="491" idx="4"/>
            <a:endCxn id="492" idx="0"/>
          </p:cNvCxnSpPr>
          <p:nvPr/>
        </p:nvCxnSpPr>
        <p:spPr>
          <a:xfrm>
            <a:off x="6238082" y="4405313"/>
            <a:ext cx="0" cy="109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98" name="Google Shape;498;p26"/>
          <p:cNvSpPr/>
          <p:nvPr/>
        </p:nvSpPr>
        <p:spPr>
          <a:xfrm>
            <a:off x="8037513" y="4770438"/>
            <a:ext cx="366712" cy="366712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99" name="Google Shape;499;p26"/>
          <p:cNvCxnSpPr>
            <a:stCxn id="489" idx="6"/>
            <a:endCxn id="498" idx="2"/>
          </p:cNvCxnSpPr>
          <p:nvPr/>
        </p:nvCxnSpPr>
        <p:spPr>
          <a:xfrm>
            <a:off x="7153275" y="4953794"/>
            <a:ext cx="884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0" name="Google Shape;500;p26"/>
          <p:cNvCxnSpPr>
            <a:stCxn id="492" idx="6"/>
            <a:endCxn id="498" idx="3"/>
          </p:cNvCxnSpPr>
          <p:nvPr/>
        </p:nvCxnSpPr>
        <p:spPr>
          <a:xfrm rot="10800000" flipH="1">
            <a:off x="6421438" y="5083532"/>
            <a:ext cx="1669800" cy="602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01" name="Google Shape;501;p26"/>
          <p:cNvCxnSpPr>
            <a:stCxn id="498" idx="1"/>
            <a:endCxn id="491" idx="6"/>
          </p:cNvCxnSpPr>
          <p:nvPr/>
        </p:nvCxnSpPr>
        <p:spPr>
          <a:xfrm rot="10800000">
            <a:off x="6421417" y="4222042"/>
            <a:ext cx="1669800" cy="602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7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7" name="Google Shape;507;p27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Represent the following graph by matrix and linked lists. Determine the number of connected components</a:t>
            </a:r>
            <a:endParaRPr/>
          </a:p>
        </p:txBody>
      </p:sp>
      <p:sp>
        <p:nvSpPr>
          <p:cNvPr id="508" name="Google Shape;508;p2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09" name="Google Shape;509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4774" y="3352800"/>
            <a:ext cx="5453626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24600" y="3414713"/>
            <a:ext cx="2420587" cy="1690687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27"/>
          <p:cNvSpPr txBox="1"/>
          <p:nvPr/>
        </p:nvSpPr>
        <p:spPr>
          <a:xfrm>
            <a:off x="1371600" y="4495800"/>
            <a:ext cx="914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2" name="Google Shape;512;p27"/>
          <p:cNvSpPr txBox="1"/>
          <p:nvPr/>
        </p:nvSpPr>
        <p:spPr>
          <a:xfrm>
            <a:off x="4038600" y="4211590"/>
            <a:ext cx="914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3" name="Google Shape;513;p27"/>
          <p:cNvSpPr txBox="1"/>
          <p:nvPr/>
        </p:nvSpPr>
        <p:spPr>
          <a:xfrm>
            <a:off x="7620000" y="4572000"/>
            <a:ext cx="914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G3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8"/>
          <p:cNvSpPr txBox="1">
            <a:spLocks noGrp="1"/>
          </p:cNvSpPr>
          <p:nvPr>
            <p:ph type="ctrTitle"/>
          </p:nvPr>
        </p:nvSpPr>
        <p:spPr>
          <a:xfrm>
            <a:off x="914400" y="1676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Breadth-First Search</a:t>
            </a:r>
            <a:endParaRPr/>
          </a:p>
        </p:txBody>
      </p:sp>
      <p:grpSp>
        <p:nvGrpSpPr>
          <p:cNvPr id="522" name="Google Shape;522;p28"/>
          <p:cNvGrpSpPr/>
          <p:nvPr/>
        </p:nvGrpSpPr>
        <p:grpSpPr>
          <a:xfrm>
            <a:off x="4071938" y="3203575"/>
            <a:ext cx="3649662" cy="2130425"/>
            <a:chOff x="3072" y="950"/>
            <a:chExt cx="2299" cy="1342"/>
          </a:xfrm>
        </p:grpSpPr>
        <p:sp>
          <p:nvSpPr>
            <p:cNvPr id="523" name="Google Shape;523;p28"/>
            <p:cNvSpPr/>
            <p:nvPr/>
          </p:nvSpPr>
          <p:spPr>
            <a:xfrm>
              <a:off x="3763" y="1984"/>
              <a:ext cx="521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24" name="Google Shape;524;p28"/>
            <p:cNvSpPr/>
            <p:nvPr/>
          </p:nvSpPr>
          <p:spPr>
            <a:xfrm>
              <a:off x="3388" y="1525"/>
              <a:ext cx="1983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25" name="Google Shape;525;p28"/>
            <p:cNvSpPr/>
            <p:nvPr/>
          </p:nvSpPr>
          <p:spPr>
            <a:xfrm>
              <a:off x="3769" y="1064"/>
              <a:ext cx="521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26" name="Google Shape;526;p28"/>
            <p:cNvSpPr/>
            <p:nvPr/>
          </p:nvSpPr>
          <p:spPr>
            <a:xfrm>
              <a:off x="4297" y="1564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</a:t>
              </a:r>
              <a:endParaRPr/>
            </a:p>
          </p:txBody>
        </p:sp>
        <p:sp>
          <p:nvSpPr>
            <p:cNvPr id="527" name="Google Shape;527;p28"/>
            <p:cNvSpPr/>
            <p:nvPr/>
          </p:nvSpPr>
          <p:spPr>
            <a:xfrm>
              <a:off x="3528" y="1564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</a:t>
              </a:r>
              <a:endParaRPr/>
            </a:p>
          </p:txBody>
        </p:sp>
        <p:sp>
          <p:nvSpPr>
            <p:cNvPr id="528" name="Google Shape;528;p28"/>
            <p:cNvSpPr/>
            <p:nvPr/>
          </p:nvSpPr>
          <p:spPr>
            <a:xfrm>
              <a:off x="3924" y="1103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</a:t>
              </a:r>
              <a:endParaRPr/>
            </a:p>
          </p:txBody>
        </p:sp>
        <p:sp>
          <p:nvSpPr>
            <p:cNvPr id="529" name="Google Shape;529;p28"/>
            <p:cNvSpPr/>
            <p:nvPr/>
          </p:nvSpPr>
          <p:spPr>
            <a:xfrm>
              <a:off x="3912" y="2025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</a:t>
              </a:r>
              <a:endParaRPr/>
            </a:p>
          </p:txBody>
        </p:sp>
        <p:cxnSp>
          <p:nvCxnSpPr>
            <p:cNvPr id="530" name="Google Shape;530;p28"/>
            <p:cNvCxnSpPr>
              <a:stCxn id="528" idx="3"/>
              <a:endCxn id="527" idx="7"/>
            </p:cNvCxnSpPr>
            <p:nvPr/>
          </p:nvCxnSpPr>
          <p:spPr>
            <a:xfrm flipH="1">
              <a:off x="3658" y="1300"/>
              <a:ext cx="300" cy="3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31" name="Google Shape;531;p28"/>
            <p:cNvCxnSpPr>
              <a:stCxn id="529" idx="1"/>
              <a:endCxn id="527" idx="5"/>
            </p:cNvCxnSpPr>
            <p:nvPr/>
          </p:nvCxnSpPr>
          <p:spPr>
            <a:xfrm rot="10800000">
              <a:off x="3646" y="1759"/>
              <a:ext cx="300" cy="3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cxnSp>
          <p:nvCxnSpPr>
            <p:cNvPr id="532" name="Google Shape;532;p28"/>
            <p:cNvCxnSpPr>
              <a:stCxn id="529" idx="7"/>
              <a:endCxn id="526" idx="3"/>
            </p:cNvCxnSpPr>
            <p:nvPr/>
          </p:nvCxnSpPr>
          <p:spPr>
            <a:xfrm rot="10800000" flipH="1">
              <a:off x="4109" y="1759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3" name="Google Shape;533;p28"/>
            <p:cNvCxnSpPr>
              <a:stCxn id="528" idx="5"/>
              <a:endCxn id="526" idx="1"/>
            </p:cNvCxnSpPr>
            <p:nvPr/>
          </p:nvCxnSpPr>
          <p:spPr>
            <a:xfrm>
              <a:off x="4121" y="1300"/>
              <a:ext cx="300" cy="3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34" name="Google Shape;534;p28"/>
            <p:cNvCxnSpPr>
              <a:stCxn id="527" idx="6"/>
              <a:endCxn id="526" idx="2"/>
            </p:cNvCxnSpPr>
            <p:nvPr/>
          </p:nvCxnSpPr>
          <p:spPr>
            <a:xfrm>
              <a:off x="3759" y="1680"/>
              <a:ext cx="6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2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535" name="Google Shape;535;p28"/>
            <p:cNvSpPr/>
            <p:nvPr/>
          </p:nvSpPr>
          <p:spPr>
            <a:xfrm>
              <a:off x="5067" y="1564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</a:t>
              </a:r>
              <a:endParaRPr/>
            </a:p>
          </p:txBody>
        </p:sp>
        <p:cxnSp>
          <p:nvCxnSpPr>
            <p:cNvPr id="536" name="Google Shape;536;p28"/>
            <p:cNvCxnSpPr>
              <a:stCxn id="537" idx="7"/>
              <a:endCxn id="535" idx="3"/>
            </p:cNvCxnSpPr>
            <p:nvPr/>
          </p:nvCxnSpPr>
          <p:spPr>
            <a:xfrm rot="10800000" flipH="1">
              <a:off x="4879" y="1759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8" name="Google Shape;538;p28"/>
            <p:cNvCxnSpPr>
              <a:stCxn id="535" idx="1"/>
              <a:endCxn id="528" idx="6"/>
            </p:cNvCxnSpPr>
            <p:nvPr/>
          </p:nvCxnSpPr>
          <p:spPr>
            <a:xfrm rot="10800000">
              <a:off x="4201" y="1298"/>
              <a:ext cx="900" cy="3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sp>
          <p:nvSpPr>
            <p:cNvPr id="539" name="Google Shape;539;p28"/>
            <p:cNvSpPr txBox="1"/>
            <p:nvPr/>
          </p:nvSpPr>
          <p:spPr>
            <a:xfrm>
              <a:off x="3456" y="950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r>
                <a:rPr lang="en-US" sz="2000" baseline="-250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/>
            </a:p>
          </p:txBody>
        </p:sp>
        <p:sp>
          <p:nvSpPr>
            <p:cNvPr id="540" name="Google Shape;540;p28"/>
            <p:cNvSpPr txBox="1"/>
            <p:nvPr/>
          </p:nvSpPr>
          <p:spPr>
            <a:xfrm>
              <a:off x="3072" y="1406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r>
                <a:rPr lang="en-US" sz="2000" baseline="-250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cxnSp>
          <p:nvCxnSpPr>
            <p:cNvPr id="541" name="Google Shape;541;p28"/>
            <p:cNvCxnSpPr>
              <a:stCxn id="526" idx="6"/>
              <a:endCxn id="535" idx="2"/>
            </p:cNvCxnSpPr>
            <p:nvPr/>
          </p:nvCxnSpPr>
          <p:spPr>
            <a:xfrm>
              <a:off x="4528" y="1680"/>
              <a:ext cx="6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2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537" name="Google Shape;537;p28"/>
            <p:cNvSpPr/>
            <p:nvPr/>
          </p:nvSpPr>
          <p:spPr>
            <a:xfrm>
              <a:off x="4682" y="2025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</a:t>
              </a:r>
              <a:endParaRPr/>
            </a:p>
          </p:txBody>
        </p:sp>
        <p:cxnSp>
          <p:nvCxnSpPr>
            <p:cNvPr id="542" name="Google Shape;542;p28"/>
            <p:cNvCxnSpPr>
              <a:stCxn id="526" idx="5"/>
              <a:endCxn id="537" idx="1"/>
            </p:cNvCxnSpPr>
            <p:nvPr/>
          </p:nvCxnSpPr>
          <p:spPr>
            <a:xfrm>
              <a:off x="4494" y="1761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43" name="Google Shape;543;p28"/>
            <p:cNvSpPr txBox="1"/>
            <p:nvPr/>
          </p:nvSpPr>
          <p:spPr>
            <a:xfrm>
              <a:off x="3444" y="1856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r>
                <a:rPr lang="en-US" sz="2000" baseline="-250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</p:grpSp>
      <p:sp>
        <p:nvSpPr>
          <p:cNvPr id="544" name="Google Shape;544;p28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9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Breadth-First Search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0" name="Google Shape;550;p29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533400" y="2133600"/>
            <a:ext cx="39624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Breadth-first search (BFS) is a general technique for traversing a graph</a:t>
            </a:r>
            <a:endParaRPr/>
          </a:p>
          <a:p>
            <a:pPr marL="342900" marR="0" lvl="0" indent="-215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vertex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visited before vertex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then adjacent vertices of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will be visited before adjacent vertices of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15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BFS traversal is used to determine whether G is connected</a:t>
            </a:r>
            <a:endParaRPr/>
          </a:p>
        </p:txBody>
      </p:sp>
      <p:sp>
        <p:nvSpPr>
          <p:cNvPr id="551" name="Google Shape;551;p2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2" name="Google Shape;552;p29"/>
          <p:cNvPicPr preferRelativeResize="0"/>
          <p:nvPr/>
        </p:nvPicPr>
        <p:blipFill rotWithShape="1">
          <a:blip r:embed="rId4">
            <a:alphaModFix/>
          </a:blip>
          <a:srcRect l="-2284" t="-674" r="21041" b="7039"/>
          <a:stretch/>
        </p:blipFill>
        <p:spPr>
          <a:xfrm>
            <a:off x="4373348" y="2133600"/>
            <a:ext cx="4547934" cy="33732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0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Breadth-First Search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8" name="Google Shape;558;p30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76400"/>
            <a:ext cx="41148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BFS traversal is used to determine whether G is connected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BFS can be used to find a path with the minimum number of edges between two given vertices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Applications:</a:t>
            </a:r>
            <a:endParaRPr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Crawlers in search engines </a:t>
            </a:r>
            <a:endParaRPr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Social network website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15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9" name="Google Shape;559;p3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30"/>
          <p:cNvSpPr/>
          <p:nvPr/>
        </p:nvSpPr>
        <p:spPr>
          <a:xfrm>
            <a:off x="6143204" y="2841401"/>
            <a:ext cx="271241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1" name="Google Shape;561;p30"/>
          <p:cNvSpPr/>
          <p:nvPr/>
        </p:nvSpPr>
        <p:spPr>
          <a:xfrm>
            <a:off x="6553201" y="3566973"/>
            <a:ext cx="271242" cy="271242"/>
          </a:xfrm>
          <a:prstGeom prst="ellipse">
            <a:avLst/>
          </a:prstGeom>
          <a:solidFill>
            <a:srgbClr val="5189F5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562" name="Google Shape;562;p30"/>
          <p:cNvCxnSpPr>
            <a:stCxn id="563" idx="5"/>
            <a:endCxn id="560" idx="1"/>
          </p:cNvCxnSpPr>
          <p:nvPr/>
        </p:nvCxnSpPr>
        <p:spPr>
          <a:xfrm>
            <a:off x="5983509" y="2448196"/>
            <a:ext cx="199500" cy="43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4" name="Google Shape;564;p30"/>
          <p:cNvCxnSpPr>
            <a:stCxn id="561" idx="1"/>
            <a:endCxn id="560" idx="5"/>
          </p:cNvCxnSpPr>
          <p:nvPr/>
        </p:nvCxnSpPr>
        <p:spPr>
          <a:xfrm rot="10800000">
            <a:off x="6374824" y="3072996"/>
            <a:ext cx="218100" cy="533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5" name="Google Shape;565;p30"/>
          <p:cNvSpPr/>
          <p:nvPr/>
        </p:nvSpPr>
        <p:spPr>
          <a:xfrm>
            <a:off x="6720845" y="2637354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6" name="Google Shape;566;p30"/>
          <p:cNvSpPr/>
          <p:nvPr/>
        </p:nvSpPr>
        <p:spPr>
          <a:xfrm>
            <a:off x="6606905" y="1981247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7" name="Google Shape;567;p30"/>
          <p:cNvSpPr/>
          <p:nvPr/>
        </p:nvSpPr>
        <p:spPr>
          <a:xfrm>
            <a:off x="7467601" y="1981247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8" name="Google Shape;568;p30"/>
          <p:cNvSpPr/>
          <p:nvPr/>
        </p:nvSpPr>
        <p:spPr>
          <a:xfrm>
            <a:off x="7328313" y="2801679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9" name="Google Shape;569;p30"/>
          <p:cNvSpPr/>
          <p:nvPr/>
        </p:nvSpPr>
        <p:spPr>
          <a:xfrm>
            <a:off x="8038011" y="2527030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0" name="Google Shape;570;p30"/>
          <p:cNvSpPr/>
          <p:nvPr/>
        </p:nvSpPr>
        <p:spPr>
          <a:xfrm>
            <a:off x="7360024" y="3566972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1" name="Google Shape;571;p30"/>
          <p:cNvSpPr/>
          <p:nvPr/>
        </p:nvSpPr>
        <p:spPr>
          <a:xfrm>
            <a:off x="7754388" y="3263855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2" name="Google Shape;572;p30"/>
          <p:cNvSpPr/>
          <p:nvPr/>
        </p:nvSpPr>
        <p:spPr>
          <a:xfrm>
            <a:off x="7738843" y="3919759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3" name="Google Shape;563;p30"/>
          <p:cNvSpPr/>
          <p:nvPr/>
        </p:nvSpPr>
        <p:spPr>
          <a:xfrm>
            <a:off x="5751990" y="2216677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573" name="Google Shape;573;p30"/>
          <p:cNvCxnSpPr>
            <a:stCxn id="565" idx="4"/>
            <a:endCxn id="561" idx="0"/>
          </p:cNvCxnSpPr>
          <p:nvPr/>
        </p:nvCxnSpPr>
        <p:spPr>
          <a:xfrm flipH="1">
            <a:off x="6688766" y="2908596"/>
            <a:ext cx="167700" cy="65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4" name="Google Shape;574;p30"/>
          <p:cNvCxnSpPr>
            <a:stCxn id="566" idx="4"/>
            <a:endCxn id="565" idx="0"/>
          </p:cNvCxnSpPr>
          <p:nvPr/>
        </p:nvCxnSpPr>
        <p:spPr>
          <a:xfrm>
            <a:off x="6742526" y="2252489"/>
            <a:ext cx="114000" cy="384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5" name="Google Shape;575;p30"/>
          <p:cNvCxnSpPr>
            <a:stCxn id="567" idx="3"/>
            <a:endCxn id="565" idx="7"/>
          </p:cNvCxnSpPr>
          <p:nvPr/>
        </p:nvCxnSpPr>
        <p:spPr>
          <a:xfrm flipH="1">
            <a:off x="6952323" y="2212767"/>
            <a:ext cx="555000" cy="464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6" name="Google Shape;576;p30"/>
          <p:cNvCxnSpPr>
            <a:stCxn id="568" idx="3"/>
            <a:endCxn id="561" idx="7"/>
          </p:cNvCxnSpPr>
          <p:nvPr/>
        </p:nvCxnSpPr>
        <p:spPr>
          <a:xfrm flipH="1">
            <a:off x="6784836" y="3033198"/>
            <a:ext cx="583200" cy="573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7" name="Google Shape;577;p30"/>
          <p:cNvCxnSpPr>
            <a:stCxn id="569" idx="2"/>
            <a:endCxn id="568" idx="7"/>
          </p:cNvCxnSpPr>
          <p:nvPr/>
        </p:nvCxnSpPr>
        <p:spPr>
          <a:xfrm flipH="1">
            <a:off x="7559811" y="2662651"/>
            <a:ext cx="478200" cy="178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8" name="Google Shape;578;p30"/>
          <p:cNvCxnSpPr>
            <a:stCxn id="570" idx="2"/>
            <a:endCxn id="561" idx="6"/>
          </p:cNvCxnSpPr>
          <p:nvPr/>
        </p:nvCxnSpPr>
        <p:spPr>
          <a:xfrm rot="10800000">
            <a:off x="6824524" y="3702593"/>
            <a:ext cx="535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9" name="Google Shape;579;p30"/>
          <p:cNvSpPr/>
          <p:nvPr/>
        </p:nvSpPr>
        <p:spPr>
          <a:xfrm>
            <a:off x="8382000" y="3253964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0" name="Google Shape;580;p30"/>
          <p:cNvSpPr/>
          <p:nvPr/>
        </p:nvSpPr>
        <p:spPr>
          <a:xfrm>
            <a:off x="8382000" y="3919759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581" name="Google Shape;581;p30"/>
          <p:cNvCxnSpPr>
            <a:stCxn id="570" idx="7"/>
            <a:endCxn id="571" idx="3"/>
          </p:cNvCxnSpPr>
          <p:nvPr/>
        </p:nvCxnSpPr>
        <p:spPr>
          <a:xfrm rot="10800000" flipH="1">
            <a:off x="7591544" y="3495394"/>
            <a:ext cx="202500" cy="111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2" name="Google Shape;582;p30"/>
          <p:cNvCxnSpPr>
            <a:stCxn id="571" idx="6"/>
            <a:endCxn id="579" idx="2"/>
          </p:cNvCxnSpPr>
          <p:nvPr/>
        </p:nvCxnSpPr>
        <p:spPr>
          <a:xfrm rot="10800000" flipH="1">
            <a:off x="8025630" y="3389576"/>
            <a:ext cx="356400" cy="9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3" name="Google Shape;583;p30"/>
          <p:cNvCxnSpPr>
            <a:stCxn id="572" idx="6"/>
            <a:endCxn id="580" idx="2"/>
          </p:cNvCxnSpPr>
          <p:nvPr/>
        </p:nvCxnSpPr>
        <p:spPr>
          <a:xfrm>
            <a:off x="8010085" y="4055380"/>
            <a:ext cx="372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4" name="Google Shape;584;p30"/>
          <p:cNvCxnSpPr>
            <a:stCxn id="570" idx="5"/>
            <a:endCxn id="572" idx="1"/>
          </p:cNvCxnSpPr>
          <p:nvPr/>
        </p:nvCxnSpPr>
        <p:spPr>
          <a:xfrm>
            <a:off x="7591544" y="3798491"/>
            <a:ext cx="186900" cy="161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5" name="Google Shape;585;p30"/>
          <p:cNvSpPr/>
          <p:nvPr/>
        </p:nvSpPr>
        <p:spPr>
          <a:xfrm>
            <a:off x="7111314" y="4297064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6" name="Google Shape;586;p30"/>
          <p:cNvSpPr/>
          <p:nvPr/>
        </p:nvSpPr>
        <p:spPr>
          <a:xfrm>
            <a:off x="8012715" y="4402629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7" name="Google Shape;587;p30"/>
          <p:cNvSpPr/>
          <p:nvPr/>
        </p:nvSpPr>
        <p:spPr>
          <a:xfrm>
            <a:off x="7507323" y="4979729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588" name="Google Shape;588;p30"/>
          <p:cNvCxnSpPr>
            <a:stCxn id="585" idx="6"/>
            <a:endCxn id="586" idx="2"/>
          </p:cNvCxnSpPr>
          <p:nvPr/>
        </p:nvCxnSpPr>
        <p:spPr>
          <a:xfrm>
            <a:off x="7382556" y="4432685"/>
            <a:ext cx="630300" cy="105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9" name="Google Shape;589;p30"/>
          <p:cNvCxnSpPr>
            <a:stCxn id="585" idx="5"/>
            <a:endCxn id="587" idx="1"/>
          </p:cNvCxnSpPr>
          <p:nvPr/>
        </p:nvCxnSpPr>
        <p:spPr>
          <a:xfrm>
            <a:off x="7342834" y="4528584"/>
            <a:ext cx="204300" cy="490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0" name="Google Shape;590;p30"/>
          <p:cNvCxnSpPr>
            <a:stCxn id="585" idx="1"/>
            <a:endCxn id="561" idx="5"/>
          </p:cNvCxnSpPr>
          <p:nvPr/>
        </p:nvCxnSpPr>
        <p:spPr>
          <a:xfrm rot="10800000">
            <a:off x="6784737" y="3798587"/>
            <a:ext cx="366300" cy="538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1" name="Google Shape;591;p30"/>
          <p:cNvSpPr/>
          <p:nvPr/>
        </p:nvSpPr>
        <p:spPr>
          <a:xfrm>
            <a:off x="6558048" y="4389970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2" name="Google Shape;592;p30"/>
          <p:cNvSpPr/>
          <p:nvPr/>
        </p:nvSpPr>
        <p:spPr>
          <a:xfrm>
            <a:off x="6616937" y="5036230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593" name="Google Shape;593;p30"/>
          <p:cNvCxnSpPr>
            <a:stCxn id="591" idx="4"/>
            <a:endCxn id="592" idx="0"/>
          </p:cNvCxnSpPr>
          <p:nvPr/>
        </p:nvCxnSpPr>
        <p:spPr>
          <a:xfrm>
            <a:off x="6693669" y="4661212"/>
            <a:ext cx="58800" cy="375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4" name="Google Shape;594;p30"/>
          <p:cNvCxnSpPr>
            <a:stCxn id="591" idx="0"/>
            <a:endCxn id="561" idx="4"/>
          </p:cNvCxnSpPr>
          <p:nvPr/>
        </p:nvCxnSpPr>
        <p:spPr>
          <a:xfrm rot="10800000">
            <a:off x="6688869" y="3838270"/>
            <a:ext cx="4800" cy="551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5" name="Google Shape;595;p30"/>
          <p:cNvSpPr/>
          <p:nvPr/>
        </p:nvSpPr>
        <p:spPr>
          <a:xfrm>
            <a:off x="4764155" y="3495375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6" name="Google Shape;596;p30"/>
          <p:cNvSpPr/>
          <p:nvPr/>
        </p:nvSpPr>
        <p:spPr>
          <a:xfrm>
            <a:off x="5304237" y="3506294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7" name="Google Shape;597;p30"/>
          <p:cNvSpPr/>
          <p:nvPr/>
        </p:nvSpPr>
        <p:spPr>
          <a:xfrm>
            <a:off x="5851289" y="3527251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598" name="Google Shape;598;p30"/>
          <p:cNvCxnSpPr>
            <a:stCxn id="596" idx="6"/>
            <a:endCxn id="597" idx="2"/>
          </p:cNvCxnSpPr>
          <p:nvPr/>
        </p:nvCxnSpPr>
        <p:spPr>
          <a:xfrm>
            <a:off x="5575479" y="3641915"/>
            <a:ext cx="275700" cy="2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9" name="Google Shape;599;p30"/>
          <p:cNvCxnSpPr>
            <a:stCxn id="595" idx="6"/>
            <a:endCxn id="596" idx="2"/>
          </p:cNvCxnSpPr>
          <p:nvPr/>
        </p:nvCxnSpPr>
        <p:spPr>
          <a:xfrm>
            <a:off x="5035397" y="3630996"/>
            <a:ext cx="268800" cy="10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0" name="Google Shape;600;p30"/>
          <p:cNvSpPr/>
          <p:nvPr/>
        </p:nvSpPr>
        <p:spPr>
          <a:xfrm>
            <a:off x="5986910" y="4161443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1" name="Google Shape;601;p30"/>
          <p:cNvSpPr/>
          <p:nvPr/>
        </p:nvSpPr>
        <p:spPr>
          <a:xfrm>
            <a:off x="5575116" y="3048705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2" name="Google Shape;602;p30"/>
          <p:cNvSpPr/>
          <p:nvPr/>
        </p:nvSpPr>
        <p:spPr>
          <a:xfrm>
            <a:off x="5303511" y="3959481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3" name="Google Shape;603;p30"/>
          <p:cNvSpPr/>
          <p:nvPr/>
        </p:nvSpPr>
        <p:spPr>
          <a:xfrm>
            <a:off x="5354650" y="4502775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4" name="Google Shape;604;p30"/>
          <p:cNvSpPr/>
          <p:nvPr/>
        </p:nvSpPr>
        <p:spPr>
          <a:xfrm>
            <a:off x="5846358" y="4748209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5" name="Google Shape;605;p30"/>
          <p:cNvSpPr/>
          <p:nvPr/>
        </p:nvSpPr>
        <p:spPr>
          <a:xfrm>
            <a:off x="5439132" y="5307472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06" name="Google Shape;606;p30"/>
          <p:cNvCxnSpPr>
            <a:stCxn id="597" idx="6"/>
            <a:endCxn id="561" idx="2"/>
          </p:cNvCxnSpPr>
          <p:nvPr/>
        </p:nvCxnSpPr>
        <p:spPr>
          <a:xfrm>
            <a:off x="6122531" y="3662872"/>
            <a:ext cx="430800" cy="3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7" name="Google Shape;607;p30"/>
          <p:cNvCxnSpPr>
            <a:stCxn id="601" idx="5"/>
            <a:endCxn id="597" idx="0"/>
          </p:cNvCxnSpPr>
          <p:nvPr/>
        </p:nvCxnSpPr>
        <p:spPr>
          <a:xfrm>
            <a:off x="5806636" y="3280225"/>
            <a:ext cx="180300" cy="246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8" name="Google Shape;608;p30"/>
          <p:cNvCxnSpPr>
            <a:stCxn id="602" idx="7"/>
            <a:endCxn id="597" idx="3"/>
          </p:cNvCxnSpPr>
          <p:nvPr/>
        </p:nvCxnSpPr>
        <p:spPr>
          <a:xfrm rot="10800000" flipH="1">
            <a:off x="5535030" y="3758903"/>
            <a:ext cx="356100" cy="240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9" name="Google Shape;609;p30"/>
          <p:cNvCxnSpPr>
            <a:stCxn id="600" idx="7"/>
            <a:endCxn id="561" idx="3"/>
          </p:cNvCxnSpPr>
          <p:nvPr/>
        </p:nvCxnSpPr>
        <p:spPr>
          <a:xfrm rot="10800000" flipH="1">
            <a:off x="6218430" y="3798565"/>
            <a:ext cx="374400" cy="402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0" name="Google Shape;610;p30"/>
          <p:cNvCxnSpPr>
            <a:stCxn id="603" idx="7"/>
            <a:endCxn id="600" idx="2"/>
          </p:cNvCxnSpPr>
          <p:nvPr/>
        </p:nvCxnSpPr>
        <p:spPr>
          <a:xfrm rot="10800000" flipH="1">
            <a:off x="5586170" y="4297097"/>
            <a:ext cx="400800" cy="245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1" name="Google Shape;611;p30"/>
          <p:cNvCxnSpPr>
            <a:stCxn id="604" idx="0"/>
            <a:endCxn id="600" idx="4"/>
          </p:cNvCxnSpPr>
          <p:nvPr/>
        </p:nvCxnSpPr>
        <p:spPr>
          <a:xfrm rot="10800000" flipH="1">
            <a:off x="5981979" y="4432609"/>
            <a:ext cx="140700" cy="315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2" name="Google Shape;612;p30"/>
          <p:cNvCxnSpPr>
            <a:stCxn id="605" idx="7"/>
            <a:endCxn id="604" idx="3"/>
          </p:cNvCxnSpPr>
          <p:nvPr/>
        </p:nvCxnSpPr>
        <p:spPr>
          <a:xfrm rot="10800000" flipH="1">
            <a:off x="5670652" y="4979694"/>
            <a:ext cx="215400" cy="367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3" name="Google Shape;613;p30"/>
          <p:cNvSpPr txBox="1"/>
          <p:nvPr/>
        </p:nvSpPr>
        <p:spPr>
          <a:xfrm>
            <a:off x="5562600" y="5483423"/>
            <a:ext cx="5629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Goal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4" name="Google Shape;614;p30"/>
          <p:cNvSpPr/>
          <p:nvPr/>
        </p:nvSpPr>
        <p:spPr>
          <a:xfrm>
            <a:off x="5719482" y="3899647"/>
            <a:ext cx="896471" cy="1443318"/>
          </a:xfrm>
          <a:custGeom>
            <a:avLst/>
            <a:gdLst/>
            <a:ahLst/>
            <a:cxnLst/>
            <a:rect l="l" t="t" r="r" b="b"/>
            <a:pathLst>
              <a:path w="896471" h="1443318" extrusionOk="0">
                <a:moveTo>
                  <a:pt x="896471" y="0"/>
                </a:moveTo>
                <a:cubicBezTo>
                  <a:pt x="794124" y="85912"/>
                  <a:pt x="691777" y="171824"/>
                  <a:pt x="645459" y="251012"/>
                </a:cubicBezTo>
                <a:cubicBezTo>
                  <a:pt x="599141" y="330200"/>
                  <a:pt x="648447" y="419847"/>
                  <a:pt x="618565" y="475129"/>
                </a:cubicBezTo>
                <a:cubicBezTo>
                  <a:pt x="588683" y="530411"/>
                  <a:pt x="502024" y="542365"/>
                  <a:pt x="466165" y="582706"/>
                </a:cubicBezTo>
                <a:cubicBezTo>
                  <a:pt x="430306" y="623047"/>
                  <a:pt x="404906" y="640977"/>
                  <a:pt x="403412" y="717177"/>
                </a:cubicBezTo>
                <a:cubicBezTo>
                  <a:pt x="401918" y="793377"/>
                  <a:pt x="485588" y="957730"/>
                  <a:pt x="457200" y="1039906"/>
                </a:cubicBezTo>
                <a:cubicBezTo>
                  <a:pt x="428812" y="1122082"/>
                  <a:pt x="309283" y="1143000"/>
                  <a:pt x="233083" y="1210235"/>
                </a:cubicBezTo>
                <a:cubicBezTo>
                  <a:pt x="156883" y="1277470"/>
                  <a:pt x="78441" y="1360394"/>
                  <a:pt x="0" y="1443318"/>
                </a:cubicBezTo>
              </a:path>
            </a:pathLst>
          </a:custGeom>
          <a:noFill/>
          <a:ln w="2857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30"/>
          <p:cNvSpPr txBox="1"/>
          <p:nvPr/>
        </p:nvSpPr>
        <p:spPr>
          <a:xfrm>
            <a:off x="6616937" y="5347194"/>
            <a:ext cx="183575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Shortest path to goal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16" name="Google Shape;616;p30"/>
          <p:cNvCxnSpPr>
            <a:stCxn id="615" idx="1"/>
          </p:cNvCxnSpPr>
          <p:nvPr/>
        </p:nvCxnSpPr>
        <p:spPr>
          <a:xfrm rot="10800000">
            <a:off x="6043637" y="5163583"/>
            <a:ext cx="573300" cy="337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3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31"/>
          <p:cNvSpPr/>
          <p:nvPr/>
        </p:nvSpPr>
        <p:spPr>
          <a:xfrm>
            <a:off x="5424487" y="278967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3" name="Google Shape;623;p31"/>
          <p:cNvSpPr/>
          <p:nvPr/>
        </p:nvSpPr>
        <p:spPr>
          <a:xfrm>
            <a:off x="4129088" y="2203681"/>
            <a:ext cx="366712" cy="366713"/>
          </a:xfrm>
          <a:prstGeom prst="ellipse">
            <a:avLst/>
          </a:prstGeom>
          <a:solidFill>
            <a:srgbClr val="CE572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4" name="Google Shape;624;p31"/>
          <p:cNvSpPr/>
          <p:nvPr/>
        </p:nvSpPr>
        <p:spPr>
          <a:xfrm>
            <a:off x="2836529" y="2646988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625" name="Google Shape;625;p31"/>
          <p:cNvSpPr/>
          <p:nvPr/>
        </p:nvSpPr>
        <p:spPr>
          <a:xfrm>
            <a:off x="2560589" y="3657600"/>
            <a:ext cx="366713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626" name="Google Shape;626;p31"/>
          <p:cNvSpPr/>
          <p:nvPr/>
        </p:nvSpPr>
        <p:spPr>
          <a:xfrm>
            <a:off x="3550443" y="4294094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7" name="Google Shape;627;p31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Breadth-First Search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8" name="Google Shape;628;p31"/>
          <p:cNvSpPr/>
          <p:nvPr/>
        </p:nvSpPr>
        <p:spPr>
          <a:xfrm>
            <a:off x="5638800" y="4307121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9" name="Google Shape;629;p31"/>
          <p:cNvSpPr txBox="1"/>
          <p:nvPr/>
        </p:nvSpPr>
        <p:spPr>
          <a:xfrm>
            <a:off x="3291749" y="5269468"/>
            <a:ext cx="230069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Take Node 1 as start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30" name="Google Shape;630;p31"/>
          <p:cNvCxnSpPr>
            <a:stCxn id="623" idx="3"/>
            <a:endCxn id="624" idx="6"/>
          </p:cNvCxnSpPr>
          <p:nvPr/>
        </p:nvCxnSpPr>
        <p:spPr>
          <a:xfrm flipH="1">
            <a:off x="3203292" y="2516690"/>
            <a:ext cx="979500" cy="313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31" name="Google Shape;631;p31"/>
          <p:cNvCxnSpPr>
            <a:stCxn id="624" idx="3"/>
            <a:endCxn id="625" idx="0"/>
          </p:cNvCxnSpPr>
          <p:nvPr/>
        </p:nvCxnSpPr>
        <p:spPr>
          <a:xfrm flipH="1">
            <a:off x="2743833" y="2959997"/>
            <a:ext cx="146400" cy="697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32" name="Google Shape;632;p31"/>
          <p:cNvCxnSpPr>
            <a:stCxn id="624" idx="5"/>
            <a:endCxn id="626" idx="0"/>
          </p:cNvCxnSpPr>
          <p:nvPr/>
        </p:nvCxnSpPr>
        <p:spPr>
          <a:xfrm>
            <a:off x="3149537" y="2959997"/>
            <a:ext cx="584400" cy="13341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33" name="Google Shape;633;p31"/>
          <p:cNvCxnSpPr>
            <a:stCxn id="625" idx="5"/>
            <a:endCxn id="626" idx="1"/>
          </p:cNvCxnSpPr>
          <p:nvPr/>
        </p:nvCxnSpPr>
        <p:spPr>
          <a:xfrm>
            <a:off x="2873598" y="3970609"/>
            <a:ext cx="730500" cy="3771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34" name="Google Shape;634;p31"/>
          <p:cNvCxnSpPr>
            <a:stCxn id="623" idx="5"/>
            <a:endCxn id="622" idx="2"/>
          </p:cNvCxnSpPr>
          <p:nvPr/>
        </p:nvCxnSpPr>
        <p:spPr>
          <a:xfrm>
            <a:off x="4442096" y="2516690"/>
            <a:ext cx="982500" cy="4563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35" name="Google Shape;635;p31"/>
          <p:cNvCxnSpPr>
            <a:stCxn id="622" idx="3"/>
            <a:endCxn id="626" idx="7"/>
          </p:cNvCxnSpPr>
          <p:nvPr/>
        </p:nvCxnSpPr>
        <p:spPr>
          <a:xfrm flipH="1">
            <a:off x="3863591" y="3102686"/>
            <a:ext cx="1614600" cy="1245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36" name="Google Shape;636;p31"/>
          <p:cNvCxnSpPr>
            <a:stCxn id="622" idx="4"/>
            <a:endCxn id="628" idx="0"/>
          </p:cNvCxnSpPr>
          <p:nvPr/>
        </p:nvCxnSpPr>
        <p:spPr>
          <a:xfrm>
            <a:off x="5607844" y="3156390"/>
            <a:ext cx="214200" cy="1150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37" name="Google Shape;637;p31"/>
          <p:cNvCxnSpPr>
            <a:stCxn id="626" idx="6"/>
            <a:endCxn id="628" idx="2"/>
          </p:cNvCxnSpPr>
          <p:nvPr/>
        </p:nvCxnSpPr>
        <p:spPr>
          <a:xfrm>
            <a:off x="3917156" y="4477450"/>
            <a:ext cx="1721700" cy="12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3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32"/>
          <p:cNvSpPr/>
          <p:nvPr/>
        </p:nvSpPr>
        <p:spPr>
          <a:xfrm>
            <a:off x="5424487" y="278967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4" name="Google Shape;644;p32"/>
          <p:cNvSpPr/>
          <p:nvPr/>
        </p:nvSpPr>
        <p:spPr>
          <a:xfrm>
            <a:off x="4129088" y="2203681"/>
            <a:ext cx="366712" cy="366713"/>
          </a:xfrm>
          <a:prstGeom prst="ellipse">
            <a:avLst/>
          </a:prstGeom>
          <a:solidFill>
            <a:srgbClr val="CE572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5" name="Google Shape;645;p32"/>
          <p:cNvSpPr/>
          <p:nvPr/>
        </p:nvSpPr>
        <p:spPr>
          <a:xfrm>
            <a:off x="2836529" y="2646988"/>
            <a:ext cx="366712" cy="366713"/>
          </a:xfrm>
          <a:prstGeom prst="ellipse">
            <a:avLst/>
          </a:prstGeom>
          <a:solidFill>
            <a:srgbClr val="CE572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646" name="Google Shape;646;p32"/>
          <p:cNvSpPr/>
          <p:nvPr/>
        </p:nvSpPr>
        <p:spPr>
          <a:xfrm>
            <a:off x="2560589" y="3657600"/>
            <a:ext cx="366713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647" name="Google Shape;647;p32"/>
          <p:cNvSpPr/>
          <p:nvPr/>
        </p:nvSpPr>
        <p:spPr>
          <a:xfrm>
            <a:off x="3550443" y="4294094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8" name="Google Shape;648;p32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Breadth-First Search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9" name="Google Shape;649;p32"/>
          <p:cNvSpPr/>
          <p:nvPr/>
        </p:nvSpPr>
        <p:spPr>
          <a:xfrm>
            <a:off x="5638800" y="4307121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0" name="Google Shape;650;p32"/>
          <p:cNvSpPr txBox="1"/>
          <p:nvPr/>
        </p:nvSpPr>
        <p:spPr>
          <a:xfrm>
            <a:off x="632221" y="5257800"/>
            <a:ext cx="8077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Node  2 is visited next as it was unvisited and at distance of one edge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51" name="Google Shape;651;p32"/>
          <p:cNvCxnSpPr>
            <a:stCxn id="644" idx="3"/>
            <a:endCxn id="645" idx="6"/>
          </p:cNvCxnSpPr>
          <p:nvPr/>
        </p:nvCxnSpPr>
        <p:spPr>
          <a:xfrm flipH="1">
            <a:off x="3203292" y="2516690"/>
            <a:ext cx="979500" cy="313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52" name="Google Shape;652;p32"/>
          <p:cNvCxnSpPr>
            <a:stCxn id="645" idx="3"/>
            <a:endCxn id="646" idx="0"/>
          </p:cNvCxnSpPr>
          <p:nvPr/>
        </p:nvCxnSpPr>
        <p:spPr>
          <a:xfrm flipH="1">
            <a:off x="2743833" y="2959997"/>
            <a:ext cx="146400" cy="697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53" name="Google Shape;653;p32"/>
          <p:cNvCxnSpPr>
            <a:stCxn id="645" idx="5"/>
            <a:endCxn id="647" idx="0"/>
          </p:cNvCxnSpPr>
          <p:nvPr/>
        </p:nvCxnSpPr>
        <p:spPr>
          <a:xfrm>
            <a:off x="3149537" y="2959997"/>
            <a:ext cx="584400" cy="13341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54" name="Google Shape;654;p32"/>
          <p:cNvCxnSpPr>
            <a:stCxn id="646" idx="5"/>
            <a:endCxn id="647" idx="1"/>
          </p:cNvCxnSpPr>
          <p:nvPr/>
        </p:nvCxnSpPr>
        <p:spPr>
          <a:xfrm>
            <a:off x="2873598" y="3970609"/>
            <a:ext cx="730500" cy="3771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55" name="Google Shape;655;p32"/>
          <p:cNvCxnSpPr>
            <a:stCxn id="644" idx="5"/>
            <a:endCxn id="643" idx="2"/>
          </p:cNvCxnSpPr>
          <p:nvPr/>
        </p:nvCxnSpPr>
        <p:spPr>
          <a:xfrm>
            <a:off x="4442096" y="2516690"/>
            <a:ext cx="982500" cy="4563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56" name="Google Shape;656;p32"/>
          <p:cNvCxnSpPr>
            <a:stCxn id="643" idx="3"/>
            <a:endCxn id="647" idx="7"/>
          </p:cNvCxnSpPr>
          <p:nvPr/>
        </p:nvCxnSpPr>
        <p:spPr>
          <a:xfrm flipH="1">
            <a:off x="3863591" y="3102686"/>
            <a:ext cx="1614600" cy="1245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57" name="Google Shape;657;p32"/>
          <p:cNvCxnSpPr>
            <a:stCxn id="643" idx="4"/>
            <a:endCxn id="649" idx="0"/>
          </p:cNvCxnSpPr>
          <p:nvPr/>
        </p:nvCxnSpPr>
        <p:spPr>
          <a:xfrm>
            <a:off x="5607844" y="3156390"/>
            <a:ext cx="214200" cy="1150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58" name="Google Shape;658;p32"/>
          <p:cNvCxnSpPr>
            <a:stCxn id="647" idx="6"/>
            <a:endCxn id="649" idx="2"/>
          </p:cNvCxnSpPr>
          <p:nvPr/>
        </p:nvCxnSpPr>
        <p:spPr>
          <a:xfrm>
            <a:off x="3917156" y="4477450"/>
            <a:ext cx="1721700" cy="12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3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21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33"/>
          <p:cNvSpPr/>
          <p:nvPr/>
        </p:nvSpPr>
        <p:spPr>
          <a:xfrm>
            <a:off x="5424487" y="2789678"/>
            <a:ext cx="366713" cy="366712"/>
          </a:xfrm>
          <a:prstGeom prst="ellipse">
            <a:avLst/>
          </a:prstGeom>
          <a:solidFill>
            <a:srgbClr val="CE572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665" name="Google Shape;665;p33"/>
          <p:cNvSpPr/>
          <p:nvPr/>
        </p:nvSpPr>
        <p:spPr>
          <a:xfrm>
            <a:off x="4129088" y="2203681"/>
            <a:ext cx="366712" cy="366713"/>
          </a:xfrm>
          <a:prstGeom prst="ellipse">
            <a:avLst/>
          </a:prstGeom>
          <a:solidFill>
            <a:srgbClr val="CE572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666" name="Google Shape;666;p33"/>
          <p:cNvSpPr/>
          <p:nvPr/>
        </p:nvSpPr>
        <p:spPr>
          <a:xfrm>
            <a:off x="2836529" y="2646988"/>
            <a:ext cx="366712" cy="366713"/>
          </a:xfrm>
          <a:prstGeom prst="ellipse">
            <a:avLst/>
          </a:prstGeom>
          <a:solidFill>
            <a:srgbClr val="CE572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667" name="Google Shape;667;p33"/>
          <p:cNvSpPr/>
          <p:nvPr/>
        </p:nvSpPr>
        <p:spPr>
          <a:xfrm>
            <a:off x="2560589" y="3657600"/>
            <a:ext cx="366713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668" name="Google Shape;668;p33"/>
          <p:cNvSpPr/>
          <p:nvPr/>
        </p:nvSpPr>
        <p:spPr>
          <a:xfrm>
            <a:off x="3550443" y="4294094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9" name="Google Shape;669;p33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Breadth-First Search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0" name="Google Shape;670;p33"/>
          <p:cNvSpPr/>
          <p:nvPr/>
        </p:nvSpPr>
        <p:spPr>
          <a:xfrm>
            <a:off x="5638800" y="4307121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1" name="Google Shape;671;p33"/>
          <p:cNvSpPr txBox="1"/>
          <p:nvPr/>
        </p:nvSpPr>
        <p:spPr>
          <a:xfrm>
            <a:off x="2057400" y="5257800"/>
            <a:ext cx="51816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Node  5 is visited next as it was unvisited and at distance of 1 edge from node 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72" name="Google Shape;672;p33"/>
          <p:cNvCxnSpPr>
            <a:stCxn id="665" idx="3"/>
            <a:endCxn id="666" idx="6"/>
          </p:cNvCxnSpPr>
          <p:nvPr/>
        </p:nvCxnSpPr>
        <p:spPr>
          <a:xfrm flipH="1">
            <a:off x="3203292" y="2516690"/>
            <a:ext cx="979500" cy="313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73" name="Google Shape;673;p33"/>
          <p:cNvCxnSpPr>
            <a:stCxn id="666" idx="3"/>
            <a:endCxn id="667" idx="0"/>
          </p:cNvCxnSpPr>
          <p:nvPr/>
        </p:nvCxnSpPr>
        <p:spPr>
          <a:xfrm flipH="1">
            <a:off x="2743833" y="2959997"/>
            <a:ext cx="146400" cy="697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74" name="Google Shape;674;p33"/>
          <p:cNvCxnSpPr>
            <a:stCxn id="666" idx="5"/>
            <a:endCxn id="668" idx="0"/>
          </p:cNvCxnSpPr>
          <p:nvPr/>
        </p:nvCxnSpPr>
        <p:spPr>
          <a:xfrm>
            <a:off x="3149537" y="2959997"/>
            <a:ext cx="584400" cy="13341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75" name="Google Shape;675;p33"/>
          <p:cNvCxnSpPr>
            <a:stCxn id="667" idx="5"/>
            <a:endCxn id="668" idx="1"/>
          </p:cNvCxnSpPr>
          <p:nvPr/>
        </p:nvCxnSpPr>
        <p:spPr>
          <a:xfrm>
            <a:off x="2873598" y="3970609"/>
            <a:ext cx="730500" cy="3771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76" name="Google Shape;676;p33"/>
          <p:cNvCxnSpPr>
            <a:stCxn id="665" idx="5"/>
            <a:endCxn id="664" idx="2"/>
          </p:cNvCxnSpPr>
          <p:nvPr/>
        </p:nvCxnSpPr>
        <p:spPr>
          <a:xfrm>
            <a:off x="4442096" y="2516690"/>
            <a:ext cx="982500" cy="4563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77" name="Google Shape;677;p33"/>
          <p:cNvCxnSpPr>
            <a:stCxn id="664" idx="3"/>
            <a:endCxn id="668" idx="7"/>
          </p:cNvCxnSpPr>
          <p:nvPr/>
        </p:nvCxnSpPr>
        <p:spPr>
          <a:xfrm flipH="1">
            <a:off x="3863591" y="3102686"/>
            <a:ext cx="1614600" cy="1245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78" name="Google Shape;678;p33"/>
          <p:cNvCxnSpPr>
            <a:stCxn id="664" idx="4"/>
            <a:endCxn id="670" idx="0"/>
          </p:cNvCxnSpPr>
          <p:nvPr/>
        </p:nvCxnSpPr>
        <p:spPr>
          <a:xfrm>
            <a:off x="5607844" y="3156390"/>
            <a:ext cx="214200" cy="1150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79" name="Google Shape;679;p33"/>
          <p:cNvCxnSpPr>
            <a:stCxn id="668" idx="6"/>
            <a:endCxn id="670" idx="2"/>
          </p:cNvCxnSpPr>
          <p:nvPr/>
        </p:nvCxnSpPr>
        <p:spPr>
          <a:xfrm>
            <a:off x="3917156" y="4477450"/>
            <a:ext cx="1721700" cy="12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3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22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34"/>
          <p:cNvSpPr/>
          <p:nvPr/>
        </p:nvSpPr>
        <p:spPr>
          <a:xfrm>
            <a:off x="5424487" y="2789678"/>
            <a:ext cx="366713" cy="366712"/>
          </a:xfrm>
          <a:prstGeom prst="ellipse">
            <a:avLst/>
          </a:prstGeom>
          <a:solidFill>
            <a:srgbClr val="CE572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686" name="Google Shape;686;p34"/>
          <p:cNvSpPr/>
          <p:nvPr/>
        </p:nvSpPr>
        <p:spPr>
          <a:xfrm>
            <a:off x="4129088" y="2203681"/>
            <a:ext cx="366712" cy="366713"/>
          </a:xfrm>
          <a:prstGeom prst="ellipse">
            <a:avLst/>
          </a:prstGeom>
          <a:solidFill>
            <a:srgbClr val="CE572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687" name="Google Shape;687;p34"/>
          <p:cNvSpPr/>
          <p:nvPr/>
        </p:nvSpPr>
        <p:spPr>
          <a:xfrm>
            <a:off x="2836529" y="2646988"/>
            <a:ext cx="366712" cy="366713"/>
          </a:xfrm>
          <a:prstGeom prst="ellipse">
            <a:avLst/>
          </a:prstGeom>
          <a:solidFill>
            <a:srgbClr val="CE572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688" name="Google Shape;688;p34"/>
          <p:cNvSpPr/>
          <p:nvPr/>
        </p:nvSpPr>
        <p:spPr>
          <a:xfrm>
            <a:off x="2560589" y="3657600"/>
            <a:ext cx="366713" cy="366713"/>
          </a:xfrm>
          <a:prstGeom prst="ellipse">
            <a:avLst/>
          </a:prstGeom>
          <a:solidFill>
            <a:srgbClr val="CE572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689" name="Google Shape;689;p34"/>
          <p:cNvSpPr/>
          <p:nvPr/>
        </p:nvSpPr>
        <p:spPr>
          <a:xfrm>
            <a:off x="3550443" y="4294094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0" name="Google Shape;690;p34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Breadth-First Search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1" name="Google Shape;691;p34"/>
          <p:cNvSpPr/>
          <p:nvPr/>
        </p:nvSpPr>
        <p:spPr>
          <a:xfrm>
            <a:off x="5638800" y="4307121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2" name="Google Shape;692;p34"/>
          <p:cNvSpPr txBox="1"/>
          <p:nvPr/>
        </p:nvSpPr>
        <p:spPr>
          <a:xfrm>
            <a:off x="2057400" y="5257800"/>
            <a:ext cx="51816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Node  3 is visited next as it was unvisited and at distance of 1 edge from node 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93" name="Google Shape;693;p34"/>
          <p:cNvCxnSpPr>
            <a:stCxn id="686" idx="3"/>
            <a:endCxn id="687" idx="6"/>
          </p:cNvCxnSpPr>
          <p:nvPr/>
        </p:nvCxnSpPr>
        <p:spPr>
          <a:xfrm flipH="1">
            <a:off x="3203292" y="2516690"/>
            <a:ext cx="979500" cy="313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94" name="Google Shape;694;p34"/>
          <p:cNvCxnSpPr>
            <a:stCxn id="687" idx="3"/>
            <a:endCxn id="688" idx="0"/>
          </p:cNvCxnSpPr>
          <p:nvPr/>
        </p:nvCxnSpPr>
        <p:spPr>
          <a:xfrm flipH="1">
            <a:off x="2743833" y="2959997"/>
            <a:ext cx="146400" cy="697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95" name="Google Shape;695;p34"/>
          <p:cNvCxnSpPr>
            <a:stCxn id="687" idx="5"/>
            <a:endCxn id="689" idx="0"/>
          </p:cNvCxnSpPr>
          <p:nvPr/>
        </p:nvCxnSpPr>
        <p:spPr>
          <a:xfrm>
            <a:off x="3149537" y="2959997"/>
            <a:ext cx="584400" cy="13341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96" name="Google Shape;696;p34"/>
          <p:cNvCxnSpPr>
            <a:stCxn id="688" idx="5"/>
            <a:endCxn id="689" idx="1"/>
          </p:cNvCxnSpPr>
          <p:nvPr/>
        </p:nvCxnSpPr>
        <p:spPr>
          <a:xfrm>
            <a:off x="2873598" y="3970609"/>
            <a:ext cx="730500" cy="3771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97" name="Google Shape;697;p34"/>
          <p:cNvCxnSpPr>
            <a:stCxn id="686" idx="5"/>
            <a:endCxn id="685" idx="2"/>
          </p:cNvCxnSpPr>
          <p:nvPr/>
        </p:nvCxnSpPr>
        <p:spPr>
          <a:xfrm>
            <a:off x="4442096" y="2516690"/>
            <a:ext cx="982500" cy="4563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98" name="Google Shape;698;p34"/>
          <p:cNvCxnSpPr>
            <a:stCxn id="685" idx="3"/>
            <a:endCxn id="689" idx="7"/>
          </p:cNvCxnSpPr>
          <p:nvPr/>
        </p:nvCxnSpPr>
        <p:spPr>
          <a:xfrm flipH="1">
            <a:off x="3863591" y="3102686"/>
            <a:ext cx="1614600" cy="1245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99" name="Google Shape;699;p34"/>
          <p:cNvCxnSpPr>
            <a:stCxn id="685" idx="4"/>
            <a:endCxn id="691" idx="0"/>
          </p:cNvCxnSpPr>
          <p:nvPr/>
        </p:nvCxnSpPr>
        <p:spPr>
          <a:xfrm>
            <a:off x="5607844" y="3156390"/>
            <a:ext cx="214200" cy="1150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00" name="Google Shape;700;p34"/>
          <p:cNvCxnSpPr>
            <a:stCxn id="689" idx="6"/>
            <a:endCxn id="691" idx="2"/>
          </p:cNvCxnSpPr>
          <p:nvPr/>
        </p:nvCxnSpPr>
        <p:spPr>
          <a:xfrm>
            <a:off x="3917156" y="4477450"/>
            <a:ext cx="1721700" cy="12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3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35"/>
          <p:cNvSpPr/>
          <p:nvPr/>
        </p:nvSpPr>
        <p:spPr>
          <a:xfrm>
            <a:off x="5424487" y="2789678"/>
            <a:ext cx="366713" cy="366712"/>
          </a:xfrm>
          <a:prstGeom prst="ellipse">
            <a:avLst/>
          </a:prstGeom>
          <a:solidFill>
            <a:srgbClr val="CE572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707" name="Google Shape;707;p35"/>
          <p:cNvSpPr/>
          <p:nvPr/>
        </p:nvSpPr>
        <p:spPr>
          <a:xfrm>
            <a:off x="4129088" y="2203681"/>
            <a:ext cx="366712" cy="366713"/>
          </a:xfrm>
          <a:prstGeom prst="ellipse">
            <a:avLst/>
          </a:prstGeom>
          <a:solidFill>
            <a:srgbClr val="CE572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708" name="Google Shape;708;p35"/>
          <p:cNvSpPr/>
          <p:nvPr/>
        </p:nvSpPr>
        <p:spPr>
          <a:xfrm>
            <a:off x="2836529" y="2646988"/>
            <a:ext cx="366712" cy="366713"/>
          </a:xfrm>
          <a:prstGeom prst="ellipse">
            <a:avLst/>
          </a:prstGeom>
          <a:solidFill>
            <a:srgbClr val="CE572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709" name="Google Shape;709;p35"/>
          <p:cNvSpPr/>
          <p:nvPr/>
        </p:nvSpPr>
        <p:spPr>
          <a:xfrm>
            <a:off x="2560589" y="3657600"/>
            <a:ext cx="366713" cy="366713"/>
          </a:xfrm>
          <a:prstGeom prst="ellipse">
            <a:avLst/>
          </a:prstGeom>
          <a:solidFill>
            <a:srgbClr val="CE572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710" name="Google Shape;710;p35"/>
          <p:cNvSpPr/>
          <p:nvPr/>
        </p:nvSpPr>
        <p:spPr>
          <a:xfrm>
            <a:off x="3550443" y="4294094"/>
            <a:ext cx="366713" cy="366712"/>
          </a:xfrm>
          <a:prstGeom prst="ellipse">
            <a:avLst/>
          </a:prstGeom>
          <a:solidFill>
            <a:srgbClr val="CE572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711" name="Google Shape;711;p35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Breadth-First Search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2" name="Google Shape;712;p35"/>
          <p:cNvSpPr/>
          <p:nvPr/>
        </p:nvSpPr>
        <p:spPr>
          <a:xfrm>
            <a:off x="5638800" y="4307121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3" name="Google Shape;713;p35"/>
          <p:cNvSpPr txBox="1"/>
          <p:nvPr/>
        </p:nvSpPr>
        <p:spPr>
          <a:xfrm>
            <a:off x="2057400" y="5257800"/>
            <a:ext cx="51816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Node  4 is visited next as it was unvisited and at distance of 1 edge from node 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714" name="Google Shape;714;p35"/>
          <p:cNvCxnSpPr>
            <a:stCxn id="707" idx="3"/>
            <a:endCxn id="708" idx="6"/>
          </p:cNvCxnSpPr>
          <p:nvPr/>
        </p:nvCxnSpPr>
        <p:spPr>
          <a:xfrm flipH="1">
            <a:off x="3203292" y="2516690"/>
            <a:ext cx="979500" cy="313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15" name="Google Shape;715;p35"/>
          <p:cNvCxnSpPr>
            <a:stCxn id="708" idx="3"/>
            <a:endCxn id="709" idx="0"/>
          </p:cNvCxnSpPr>
          <p:nvPr/>
        </p:nvCxnSpPr>
        <p:spPr>
          <a:xfrm flipH="1">
            <a:off x="2743833" y="2959997"/>
            <a:ext cx="146400" cy="697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16" name="Google Shape;716;p35"/>
          <p:cNvCxnSpPr>
            <a:stCxn id="708" idx="5"/>
            <a:endCxn id="710" idx="0"/>
          </p:cNvCxnSpPr>
          <p:nvPr/>
        </p:nvCxnSpPr>
        <p:spPr>
          <a:xfrm>
            <a:off x="3149537" y="2959997"/>
            <a:ext cx="584400" cy="13341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17" name="Google Shape;717;p35"/>
          <p:cNvCxnSpPr>
            <a:stCxn id="709" idx="5"/>
            <a:endCxn id="710" idx="1"/>
          </p:cNvCxnSpPr>
          <p:nvPr/>
        </p:nvCxnSpPr>
        <p:spPr>
          <a:xfrm>
            <a:off x="2873598" y="3970609"/>
            <a:ext cx="730500" cy="3771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18" name="Google Shape;718;p35"/>
          <p:cNvCxnSpPr>
            <a:stCxn id="707" idx="5"/>
            <a:endCxn id="706" idx="2"/>
          </p:cNvCxnSpPr>
          <p:nvPr/>
        </p:nvCxnSpPr>
        <p:spPr>
          <a:xfrm>
            <a:off x="4442096" y="2516690"/>
            <a:ext cx="982500" cy="4563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19" name="Google Shape;719;p35"/>
          <p:cNvCxnSpPr>
            <a:stCxn id="706" idx="3"/>
            <a:endCxn id="710" idx="7"/>
          </p:cNvCxnSpPr>
          <p:nvPr/>
        </p:nvCxnSpPr>
        <p:spPr>
          <a:xfrm flipH="1">
            <a:off x="3863591" y="3102686"/>
            <a:ext cx="1614600" cy="1245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20" name="Google Shape;720;p35"/>
          <p:cNvCxnSpPr>
            <a:stCxn id="706" idx="4"/>
            <a:endCxn id="712" idx="0"/>
          </p:cNvCxnSpPr>
          <p:nvPr/>
        </p:nvCxnSpPr>
        <p:spPr>
          <a:xfrm>
            <a:off x="5607844" y="3156390"/>
            <a:ext cx="214200" cy="1150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21" name="Google Shape;721;p35"/>
          <p:cNvCxnSpPr>
            <a:stCxn id="710" idx="6"/>
            <a:endCxn id="712" idx="2"/>
          </p:cNvCxnSpPr>
          <p:nvPr/>
        </p:nvCxnSpPr>
        <p:spPr>
          <a:xfrm>
            <a:off x="3917156" y="4477450"/>
            <a:ext cx="1721700" cy="12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3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36"/>
          <p:cNvSpPr/>
          <p:nvPr/>
        </p:nvSpPr>
        <p:spPr>
          <a:xfrm>
            <a:off x="5424487" y="2789678"/>
            <a:ext cx="366713" cy="366712"/>
          </a:xfrm>
          <a:prstGeom prst="ellipse">
            <a:avLst/>
          </a:prstGeom>
          <a:solidFill>
            <a:srgbClr val="CE572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728" name="Google Shape;728;p36"/>
          <p:cNvSpPr/>
          <p:nvPr/>
        </p:nvSpPr>
        <p:spPr>
          <a:xfrm>
            <a:off x="4129088" y="2203681"/>
            <a:ext cx="366712" cy="366713"/>
          </a:xfrm>
          <a:prstGeom prst="ellipse">
            <a:avLst/>
          </a:prstGeom>
          <a:solidFill>
            <a:srgbClr val="CE572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729" name="Google Shape;729;p36"/>
          <p:cNvSpPr/>
          <p:nvPr/>
        </p:nvSpPr>
        <p:spPr>
          <a:xfrm>
            <a:off x="2836529" y="2646988"/>
            <a:ext cx="366712" cy="366713"/>
          </a:xfrm>
          <a:prstGeom prst="ellipse">
            <a:avLst/>
          </a:prstGeom>
          <a:solidFill>
            <a:srgbClr val="CE572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730" name="Google Shape;730;p36"/>
          <p:cNvSpPr/>
          <p:nvPr/>
        </p:nvSpPr>
        <p:spPr>
          <a:xfrm>
            <a:off x="2560589" y="3657600"/>
            <a:ext cx="366713" cy="366713"/>
          </a:xfrm>
          <a:prstGeom prst="ellipse">
            <a:avLst/>
          </a:prstGeom>
          <a:solidFill>
            <a:srgbClr val="CE572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731" name="Google Shape;731;p36"/>
          <p:cNvSpPr/>
          <p:nvPr/>
        </p:nvSpPr>
        <p:spPr>
          <a:xfrm>
            <a:off x="3550443" y="4294094"/>
            <a:ext cx="366713" cy="366712"/>
          </a:xfrm>
          <a:prstGeom prst="ellipse">
            <a:avLst/>
          </a:prstGeom>
          <a:solidFill>
            <a:srgbClr val="CE572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732" name="Google Shape;732;p36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Breadth-First Search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3" name="Google Shape;733;p36"/>
          <p:cNvSpPr/>
          <p:nvPr/>
        </p:nvSpPr>
        <p:spPr>
          <a:xfrm>
            <a:off x="5638800" y="4307121"/>
            <a:ext cx="366713" cy="366712"/>
          </a:xfrm>
          <a:prstGeom prst="ellipse">
            <a:avLst/>
          </a:prstGeom>
          <a:solidFill>
            <a:srgbClr val="CE572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/>
          </a:p>
        </p:txBody>
      </p:sp>
      <p:sp>
        <p:nvSpPr>
          <p:cNvPr id="734" name="Google Shape;734;p36"/>
          <p:cNvSpPr txBox="1"/>
          <p:nvPr/>
        </p:nvSpPr>
        <p:spPr>
          <a:xfrm>
            <a:off x="2057400" y="5257800"/>
            <a:ext cx="51816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Node  6 is visited next as it was unvisited and at distance of 1 edge from node 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735" name="Google Shape;735;p36"/>
          <p:cNvCxnSpPr>
            <a:stCxn id="728" idx="3"/>
            <a:endCxn id="729" idx="6"/>
          </p:cNvCxnSpPr>
          <p:nvPr/>
        </p:nvCxnSpPr>
        <p:spPr>
          <a:xfrm flipH="1">
            <a:off x="3203292" y="2516690"/>
            <a:ext cx="979500" cy="313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6" name="Google Shape;736;p36"/>
          <p:cNvCxnSpPr>
            <a:stCxn id="729" idx="3"/>
            <a:endCxn id="730" idx="0"/>
          </p:cNvCxnSpPr>
          <p:nvPr/>
        </p:nvCxnSpPr>
        <p:spPr>
          <a:xfrm flipH="1">
            <a:off x="2743833" y="2959997"/>
            <a:ext cx="146400" cy="697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7" name="Google Shape;737;p36"/>
          <p:cNvCxnSpPr>
            <a:stCxn id="729" idx="5"/>
            <a:endCxn id="731" idx="0"/>
          </p:cNvCxnSpPr>
          <p:nvPr/>
        </p:nvCxnSpPr>
        <p:spPr>
          <a:xfrm>
            <a:off x="3149537" y="2959997"/>
            <a:ext cx="584400" cy="13341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8" name="Google Shape;738;p36"/>
          <p:cNvCxnSpPr>
            <a:stCxn id="730" idx="5"/>
            <a:endCxn id="731" idx="1"/>
          </p:cNvCxnSpPr>
          <p:nvPr/>
        </p:nvCxnSpPr>
        <p:spPr>
          <a:xfrm>
            <a:off x="2873598" y="3970609"/>
            <a:ext cx="730500" cy="3771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9" name="Google Shape;739;p36"/>
          <p:cNvCxnSpPr>
            <a:stCxn id="728" idx="5"/>
            <a:endCxn id="727" idx="2"/>
          </p:cNvCxnSpPr>
          <p:nvPr/>
        </p:nvCxnSpPr>
        <p:spPr>
          <a:xfrm>
            <a:off x="4442096" y="2516690"/>
            <a:ext cx="982500" cy="4563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40" name="Google Shape;740;p36"/>
          <p:cNvCxnSpPr>
            <a:stCxn id="727" idx="3"/>
            <a:endCxn id="731" idx="7"/>
          </p:cNvCxnSpPr>
          <p:nvPr/>
        </p:nvCxnSpPr>
        <p:spPr>
          <a:xfrm flipH="1">
            <a:off x="3863591" y="3102686"/>
            <a:ext cx="1614600" cy="1245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41" name="Google Shape;741;p36"/>
          <p:cNvCxnSpPr>
            <a:stCxn id="727" idx="4"/>
            <a:endCxn id="733" idx="0"/>
          </p:cNvCxnSpPr>
          <p:nvPr/>
        </p:nvCxnSpPr>
        <p:spPr>
          <a:xfrm>
            <a:off x="5607844" y="3156390"/>
            <a:ext cx="214200" cy="1150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42" name="Google Shape;742;p36"/>
          <p:cNvCxnSpPr>
            <a:stCxn id="731" idx="6"/>
            <a:endCxn id="733" idx="2"/>
          </p:cNvCxnSpPr>
          <p:nvPr/>
        </p:nvCxnSpPr>
        <p:spPr>
          <a:xfrm>
            <a:off x="3917156" y="4477450"/>
            <a:ext cx="1721700" cy="12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37"/>
          <p:cNvSpPr txBox="1">
            <a:spLocks noGrp="1"/>
          </p:cNvSpPr>
          <p:nvPr>
            <p:ph type="body" idx="1"/>
          </p:nvPr>
        </p:nvSpPr>
        <p:spPr>
          <a:xfrm>
            <a:off x="533399" y="2027237"/>
            <a:ext cx="5443484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lang="en-US" sz="1800" b="1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BreadthFirstSearch</a:t>
            </a:r>
            <a:r>
              <a:rPr lang="en-US" sz="1800" b="1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(G, </a:t>
            </a:r>
            <a:r>
              <a:rPr lang="en-US" sz="1800" b="1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 {</a:t>
            </a:r>
            <a:endParaRPr dirty="0"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(1)   Set a queue </a:t>
            </a:r>
            <a:r>
              <a:rPr lang="en-US" sz="1800" b="1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empty;</a:t>
            </a:r>
            <a:endParaRPr dirty="0"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(3)  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enqueue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 onto </a:t>
            </a:r>
            <a:r>
              <a:rPr lang="en-US" sz="1800" b="1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 dirty="0"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(2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dirty="0"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(4)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while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en-US" sz="1800" b="1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not empty) {</a:t>
            </a:r>
            <a:endParaRPr dirty="0"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(5)          </a:t>
            </a:r>
            <a:r>
              <a:rPr lang="en-US" sz="1800" b="1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dequeue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1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</a:p>
          <a:p>
            <a:pPr marL="342900" lvl="0" indent="-342900">
              <a:spcBef>
                <a:spcPts val="360"/>
              </a:spcBef>
              <a:buSzPts val="1800"/>
              <a:buNone/>
            </a:pPr>
            <a:r>
              <a:rPr lang="en-US" sz="1800" dirty="0" smtClean="0"/>
              <a:t>  (6)		 Mark w as visited;</a:t>
            </a:r>
            <a:endParaRPr sz="1800" dirty="0"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(7)</a:t>
            </a:r>
            <a:r>
              <a:rPr lang="en-US" sz="18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(each </a:t>
            </a:r>
            <a:r>
              <a:rPr lang="en-US" sz="1800" b="1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adjacent </a:t>
            </a:r>
            <a:r>
              <a:rPr lang="en-US" sz="1800" b="1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dirty="0"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lang="en-US" sz="18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(8)                      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 </a:t>
            </a:r>
            <a:r>
              <a:rPr lang="en-US" sz="1800" b="1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not visited) {</a:t>
            </a:r>
            <a:endParaRPr dirty="0"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(9)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visit and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enqueue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1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onto </a:t>
            </a:r>
            <a:r>
              <a:rPr lang="en-US" sz="1800" b="1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 dirty="0"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}</a:t>
            </a:r>
            <a:endParaRPr dirty="0"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}</a:t>
            </a:r>
            <a:endParaRPr dirty="0"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8" name="Google Shape;748;p3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25</a:t>
            </a:fld>
            <a:endParaRPr sz="14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9" name="Google Shape;749;p37"/>
          <p:cNvSpPr/>
          <p:nvPr/>
        </p:nvSpPr>
        <p:spPr>
          <a:xfrm>
            <a:off x="7628053" y="2091667"/>
            <a:ext cx="313009" cy="31300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750" name="Google Shape;750;p37"/>
          <p:cNvSpPr/>
          <p:nvPr/>
        </p:nvSpPr>
        <p:spPr>
          <a:xfrm>
            <a:off x="6838418" y="2084759"/>
            <a:ext cx="313008" cy="31300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751" name="Google Shape;751;p37"/>
          <p:cNvSpPr/>
          <p:nvPr/>
        </p:nvSpPr>
        <p:spPr>
          <a:xfrm>
            <a:off x="5481033" y="2098574"/>
            <a:ext cx="313008" cy="31300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752" name="Google Shape;752;p37"/>
          <p:cNvSpPr/>
          <p:nvPr/>
        </p:nvSpPr>
        <p:spPr>
          <a:xfrm>
            <a:off x="5481033" y="3256725"/>
            <a:ext cx="313009" cy="31300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3" name="Google Shape;753;p37"/>
          <p:cNvSpPr/>
          <p:nvPr/>
        </p:nvSpPr>
        <p:spPr>
          <a:xfrm>
            <a:off x="6838418" y="3256726"/>
            <a:ext cx="313009" cy="31300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754" name="Google Shape;754;p37"/>
          <p:cNvSpPr/>
          <p:nvPr/>
        </p:nvSpPr>
        <p:spPr>
          <a:xfrm>
            <a:off x="6159724" y="3256725"/>
            <a:ext cx="313009" cy="313008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755" name="Google Shape;755;p37"/>
          <p:cNvCxnSpPr>
            <a:stCxn id="750" idx="2"/>
            <a:endCxn id="751" idx="6"/>
          </p:cNvCxnSpPr>
          <p:nvPr/>
        </p:nvCxnSpPr>
        <p:spPr>
          <a:xfrm flipH="1">
            <a:off x="5794118" y="2241263"/>
            <a:ext cx="1044300" cy="13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56" name="Google Shape;756;p37"/>
          <p:cNvCxnSpPr>
            <a:stCxn id="751" idx="4"/>
            <a:endCxn id="752" idx="0"/>
          </p:cNvCxnSpPr>
          <p:nvPr/>
        </p:nvCxnSpPr>
        <p:spPr>
          <a:xfrm>
            <a:off x="5637537" y="2411583"/>
            <a:ext cx="0" cy="8451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57" name="Google Shape;757;p37"/>
          <p:cNvCxnSpPr>
            <a:stCxn id="750" idx="6"/>
            <a:endCxn id="749" idx="2"/>
          </p:cNvCxnSpPr>
          <p:nvPr/>
        </p:nvCxnSpPr>
        <p:spPr>
          <a:xfrm>
            <a:off x="7151426" y="2241263"/>
            <a:ext cx="476700" cy="6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58" name="Google Shape;758;p37"/>
          <p:cNvCxnSpPr>
            <a:stCxn id="750" idx="4"/>
            <a:endCxn id="753" idx="0"/>
          </p:cNvCxnSpPr>
          <p:nvPr/>
        </p:nvCxnSpPr>
        <p:spPr>
          <a:xfrm>
            <a:off x="6994922" y="2397768"/>
            <a:ext cx="0" cy="858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59" name="Google Shape;759;p37"/>
          <p:cNvCxnSpPr>
            <a:stCxn id="754" idx="2"/>
            <a:endCxn id="752" idx="6"/>
          </p:cNvCxnSpPr>
          <p:nvPr/>
        </p:nvCxnSpPr>
        <p:spPr>
          <a:xfrm rot="10800000">
            <a:off x="5794024" y="3413229"/>
            <a:ext cx="3657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0" name="Google Shape;760;p37"/>
          <p:cNvCxnSpPr>
            <a:stCxn id="753" idx="2"/>
            <a:endCxn id="754" idx="6"/>
          </p:cNvCxnSpPr>
          <p:nvPr/>
        </p:nvCxnSpPr>
        <p:spPr>
          <a:xfrm rot="10800000">
            <a:off x="6472718" y="3413230"/>
            <a:ext cx="3657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1" name="Google Shape;761;p37"/>
          <p:cNvSpPr/>
          <p:nvPr/>
        </p:nvSpPr>
        <p:spPr>
          <a:xfrm>
            <a:off x="6159724" y="2670742"/>
            <a:ext cx="313008" cy="313009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762" name="Google Shape;762;p37"/>
          <p:cNvCxnSpPr>
            <a:stCxn id="761" idx="4"/>
            <a:endCxn id="754" idx="0"/>
          </p:cNvCxnSpPr>
          <p:nvPr/>
        </p:nvCxnSpPr>
        <p:spPr>
          <a:xfrm>
            <a:off x="6316228" y="2983751"/>
            <a:ext cx="0" cy="273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3" name="Google Shape;763;p37"/>
          <p:cNvSpPr/>
          <p:nvPr/>
        </p:nvSpPr>
        <p:spPr>
          <a:xfrm>
            <a:off x="7628053" y="3256725"/>
            <a:ext cx="313009" cy="31300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/>
          </a:p>
        </p:txBody>
      </p:sp>
      <p:sp>
        <p:nvSpPr>
          <p:cNvPr id="764" name="Google Shape;764;p37"/>
          <p:cNvSpPr/>
          <p:nvPr/>
        </p:nvSpPr>
        <p:spPr>
          <a:xfrm>
            <a:off x="7628053" y="2670742"/>
            <a:ext cx="313008" cy="31300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cxnSp>
        <p:nvCxnSpPr>
          <p:cNvPr id="765" name="Google Shape;765;p37"/>
          <p:cNvCxnSpPr>
            <a:stCxn id="764" idx="4"/>
            <a:endCxn id="763" idx="0"/>
          </p:cNvCxnSpPr>
          <p:nvPr/>
        </p:nvCxnSpPr>
        <p:spPr>
          <a:xfrm>
            <a:off x="7784557" y="2983751"/>
            <a:ext cx="0" cy="273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6" name="Google Shape;766;p37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Breadth-First Search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7" name="Google Shape;767;p37"/>
          <p:cNvSpPr/>
          <p:nvPr/>
        </p:nvSpPr>
        <p:spPr>
          <a:xfrm>
            <a:off x="7628052" y="2085230"/>
            <a:ext cx="313009" cy="313008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8" name="Google Shape;768;p37"/>
          <p:cNvSpPr/>
          <p:nvPr/>
        </p:nvSpPr>
        <p:spPr>
          <a:xfrm>
            <a:off x="6838417" y="2078322"/>
            <a:ext cx="313008" cy="313009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9" name="Google Shape;769;p37"/>
          <p:cNvSpPr/>
          <p:nvPr/>
        </p:nvSpPr>
        <p:spPr>
          <a:xfrm>
            <a:off x="5481032" y="2092137"/>
            <a:ext cx="313008" cy="313009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0" name="Google Shape;770;p37"/>
          <p:cNvSpPr/>
          <p:nvPr/>
        </p:nvSpPr>
        <p:spPr>
          <a:xfrm>
            <a:off x="6838417" y="3250289"/>
            <a:ext cx="313009" cy="313008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1" name="Google Shape;771;p37"/>
          <p:cNvSpPr/>
          <p:nvPr/>
        </p:nvSpPr>
        <p:spPr>
          <a:xfrm>
            <a:off x="7628052" y="3250288"/>
            <a:ext cx="313009" cy="313008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2" name="Google Shape;772;p37"/>
          <p:cNvSpPr/>
          <p:nvPr/>
        </p:nvSpPr>
        <p:spPr>
          <a:xfrm>
            <a:off x="7628052" y="2664305"/>
            <a:ext cx="313008" cy="313009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3" name="Google Shape;773;p37"/>
          <p:cNvSpPr/>
          <p:nvPr/>
        </p:nvSpPr>
        <p:spPr>
          <a:xfrm>
            <a:off x="6895395" y="5029200"/>
            <a:ext cx="365684" cy="3048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774" name="Google Shape;774;p37"/>
          <p:cNvCxnSpPr/>
          <p:nvPr/>
        </p:nvCxnSpPr>
        <p:spPr>
          <a:xfrm>
            <a:off x="6399545" y="5029200"/>
            <a:ext cx="1412856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75" name="Google Shape;775;p37"/>
          <p:cNvCxnSpPr/>
          <p:nvPr/>
        </p:nvCxnSpPr>
        <p:spPr>
          <a:xfrm>
            <a:off x="6407669" y="5334000"/>
            <a:ext cx="1412856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76" name="Google Shape;776;p37"/>
          <p:cNvSpPr txBox="1"/>
          <p:nvPr/>
        </p:nvSpPr>
        <p:spPr>
          <a:xfrm>
            <a:off x="5715000" y="5020235"/>
            <a:ext cx="562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 =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7" name="Google Shape;777;p37"/>
          <p:cNvSpPr txBox="1"/>
          <p:nvPr/>
        </p:nvSpPr>
        <p:spPr>
          <a:xfrm>
            <a:off x="5715000" y="3943597"/>
            <a:ext cx="255751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Start with all White vertices except s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38"/>
          <p:cNvSpPr txBox="1">
            <a:spLocks noGrp="1"/>
          </p:cNvSpPr>
          <p:nvPr>
            <p:ph type="body" idx="1"/>
          </p:nvPr>
        </p:nvSpPr>
        <p:spPr>
          <a:xfrm>
            <a:off x="533399" y="2027237"/>
            <a:ext cx="5443484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BreadthFirstSearch 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(G,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 {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(1)   Set a queue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empty;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(3)   enqueue s onto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(2)   ark s as visited;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(4)</a:t>
            </a: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while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not empty) {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(5)         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dequeue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(6)</a:t>
            </a: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for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(each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adjacent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(7)                       if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not visited) {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(8) 		      visit and enqueue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onto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(9)		       mark u as visited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}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}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}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3" name="Google Shape;783;p3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26</a:t>
            </a:fld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4" name="Google Shape;784;p38"/>
          <p:cNvSpPr/>
          <p:nvPr/>
        </p:nvSpPr>
        <p:spPr>
          <a:xfrm>
            <a:off x="7628053" y="2091667"/>
            <a:ext cx="313009" cy="31300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785" name="Google Shape;785;p38"/>
          <p:cNvSpPr/>
          <p:nvPr/>
        </p:nvSpPr>
        <p:spPr>
          <a:xfrm>
            <a:off x="6838418" y="2084759"/>
            <a:ext cx="313008" cy="31300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786" name="Google Shape;786;p38"/>
          <p:cNvSpPr/>
          <p:nvPr/>
        </p:nvSpPr>
        <p:spPr>
          <a:xfrm>
            <a:off x="5481033" y="2098574"/>
            <a:ext cx="313008" cy="31300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787" name="Google Shape;787;p38"/>
          <p:cNvSpPr/>
          <p:nvPr/>
        </p:nvSpPr>
        <p:spPr>
          <a:xfrm>
            <a:off x="5481033" y="3256725"/>
            <a:ext cx="313009" cy="313009"/>
          </a:xfrm>
          <a:prstGeom prst="ellipse">
            <a:avLst/>
          </a:prstGeom>
          <a:solidFill>
            <a:srgbClr val="0B4E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 sz="1400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8" name="Google Shape;788;p38"/>
          <p:cNvSpPr/>
          <p:nvPr/>
        </p:nvSpPr>
        <p:spPr>
          <a:xfrm>
            <a:off x="6838418" y="3256726"/>
            <a:ext cx="313009" cy="31300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789" name="Google Shape;789;p38"/>
          <p:cNvSpPr/>
          <p:nvPr/>
        </p:nvSpPr>
        <p:spPr>
          <a:xfrm>
            <a:off x="6159724" y="3256725"/>
            <a:ext cx="313009" cy="31300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cxnSp>
        <p:nvCxnSpPr>
          <p:cNvPr id="790" name="Google Shape;790;p38"/>
          <p:cNvCxnSpPr>
            <a:stCxn id="785" idx="2"/>
            <a:endCxn id="786" idx="6"/>
          </p:cNvCxnSpPr>
          <p:nvPr/>
        </p:nvCxnSpPr>
        <p:spPr>
          <a:xfrm flipH="1">
            <a:off x="5794118" y="2241263"/>
            <a:ext cx="1044300" cy="13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91" name="Google Shape;791;p38"/>
          <p:cNvCxnSpPr>
            <a:stCxn id="786" idx="4"/>
            <a:endCxn id="787" idx="0"/>
          </p:cNvCxnSpPr>
          <p:nvPr/>
        </p:nvCxnSpPr>
        <p:spPr>
          <a:xfrm>
            <a:off x="5637537" y="2411583"/>
            <a:ext cx="0" cy="8451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92" name="Google Shape;792;p38"/>
          <p:cNvCxnSpPr>
            <a:stCxn id="785" idx="6"/>
            <a:endCxn id="784" idx="2"/>
          </p:cNvCxnSpPr>
          <p:nvPr/>
        </p:nvCxnSpPr>
        <p:spPr>
          <a:xfrm>
            <a:off x="7151426" y="2241263"/>
            <a:ext cx="476700" cy="6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93" name="Google Shape;793;p38"/>
          <p:cNvCxnSpPr>
            <a:stCxn id="785" idx="4"/>
            <a:endCxn id="788" idx="0"/>
          </p:cNvCxnSpPr>
          <p:nvPr/>
        </p:nvCxnSpPr>
        <p:spPr>
          <a:xfrm>
            <a:off x="6994922" y="2397768"/>
            <a:ext cx="0" cy="858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94" name="Google Shape;794;p38"/>
          <p:cNvCxnSpPr>
            <a:stCxn id="789" idx="2"/>
            <a:endCxn id="787" idx="6"/>
          </p:cNvCxnSpPr>
          <p:nvPr/>
        </p:nvCxnSpPr>
        <p:spPr>
          <a:xfrm rot="10800000">
            <a:off x="5794024" y="3413229"/>
            <a:ext cx="3657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95" name="Google Shape;795;p38"/>
          <p:cNvCxnSpPr>
            <a:stCxn id="788" idx="2"/>
            <a:endCxn id="789" idx="6"/>
          </p:cNvCxnSpPr>
          <p:nvPr/>
        </p:nvCxnSpPr>
        <p:spPr>
          <a:xfrm rot="10800000">
            <a:off x="6472718" y="3413230"/>
            <a:ext cx="3657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96" name="Google Shape;796;p38"/>
          <p:cNvSpPr/>
          <p:nvPr/>
        </p:nvSpPr>
        <p:spPr>
          <a:xfrm>
            <a:off x="6159724" y="2670742"/>
            <a:ext cx="313008" cy="313009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797" name="Google Shape;797;p38"/>
          <p:cNvCxnSpPr>
            <a:stCxn id="796" idx="4"/>
            <a:endCxn id="789" idx="0"/>
          </p:cNvCxnSpPr>
          <p:nvPr/>
        </p:nvCxnSpPr>
        <p:spPr>
          <a:xfrm>
            <a:off x="6316228" y="2983751"/>
            <a:ext cx="0" cy="273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98" name="Google Shape;798;p38"/>
          <p:cNvSpPr/>
          <p:nvPr/>
        </p:nvSpPr>
        <p:spPr>
          <a:xfrm>
            <a:off x="7628053" y="3256725"/>
            <a:ext cx="313009" cy="31300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/>
          </a:p>
        </p:txBody>
      </p:sp>
      <p:sp>
        <p:nvSpPr>
          <p:cNvPr id="799" name="Google Shape;799;p38"/>
          <p:cNvSpPr/>
          <p:nvPr/>
        </p:nvSpPr>
        <p:spPr>
          <a:xfrm>
            <a:off x="7628053" y="2670742"/>
            <a:ext cx="313008" cy="31300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cxnSp>
        <p:nvCxnSpPr>
          <p:cNvPr id="800" name="Google Shape;800;p38"/>
          <p:cNvCxnSpPr>
            <a:stCxn id="799" idx="4"/>
            <a:endCxn id="798" idx="0"/>
          </p:cNvCxnSpPr>
          <p:nvPr/>
        </p:nvCxnSpPr>
        <p:spPr>
          <a:xfrm>
            <a:off x="7784557" y="2983751"/>
            <a:ext cx="0" cy="273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01" name="Google Shape;801;p38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Breadth-First Search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2" name="Google Shape;802;p38"/>
          <p:cNvSpPr/>
          <p:nvPr/>
        </p:nvSpPr>
        <p:spPr>
          <a:xfrm>
            <a:off x="7628052" y="2085230"/>
            <a:ext cx="313009" cy="313008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3" name="Google Shape;803;p38"/>
          <p:cNvSpPr/>
          <p:nvPr/>
        </p:nvSpPr>
        <p:spPr>
          <a:xfrm>
            <a:off x="6838417" y="2078322"/>
            <a:ext cx="313008" cy="313009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4" name="Google Shape;804;p38"/>
          <p:cNvSpPr/>
          <p:nvPr/>
        </p:nvSpPr>
        <p:spPr>
          <a:xfrm>
            <a:off x="5481032" y="2092137"/>
            <a:ext cx="313008" cy="31300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805" name="Google Shape;805;p38"/>
          <p:cNvSpPr/>
          <p:nvPr/>
        </p:nvSpPr>
        <p:spPr>
          <a:xfrm>
            <a:off x="6838417" y="3250289"/>
            <a:ext cx="313009" cy="313008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6" name="Google Shape;806;p38"/>
          <p:cNvSpPr/>
          <p:nvPr/>
        </p:nvSpPr>
        <p:spPr>
          <a:xfrm>
            <a:off x="7628052" y="3250288"/>
            <a:ext cx="313009" cy="313008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7" name="Google Shape;807;p38"/>
          <p:cNvSpPr/>
          <p:nvPr/>
        </p:nvSpPr>
        <p:spPr>
          <a:xfrm>
            <a:off x="7628052" y="2664305"/>
            <a:ext cx="313008" cy="313009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8" name="Google Shape;808;p38"/>
          <p:cNvSpPr/>
          <p:nvPr/>
        </p:nvSpPr>
        <p:spPr>
          <a:xfrm>
            <a:off x="6895395" y="5029200"/>
            <a:ext cx="365684" cy="3048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809" name="Google Shape;809;p38"/>
          <p:cNvCxnSpPr/>
          <p:nvPr/>
        </p:nvCxnSpPr>
        <p:spPr>
          <a:xfrm>
            <a:off x="6399545" y="5029200"/>
            <a:ext cx="1412856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10" name="Google Shape;810;p38"/>
          <p:cNvCxnSpPr/>
          <p:nvPr/>
        </p:nvCxnSpPr>
        <p:spPr>
          <a:xfrm>
            <a:off x="6407669" y="5334000"/>
            <a:ext cx="1412856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11" name="Google Shape;811;p38"/>
          <p:cNvSpPr txBox="1"/>
          <p:nvPr/>
        </p:nvSpPr>
        <p:spPr>
          <a:xfrm>
            <a:off x="5715000" y="5020235"/>
            <a:ext cx="562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 =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2" name="Google Shape;812;p38"/>
          <p:cNvSpPr txBox="1"/>
          <p:nvPr/>
        </p:nvSpPr>
        <p:spPr>
          <a:xfrm>
            <a:off x="5715000" y="3943597"/>
            <a:ext cx="255751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After first time through loop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3" name="Google Shape;813;p38"/>
          <p:cNvSpPr/>
          <p:nvPr/>
        </p:nvSpPr>
        <p:spPr>
          <a:xfrm>
            <a:off x="7258796" y="5029200"/>
            <a:ext cx="365684" cy="3048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39"/>
          <p:cNvSpPr txBox="1">
            <a:spLocks noGrp="1"/>
          </p:cNvSpPr>
          <p:nvPr>
            <p:ph type="body" idx="1"/>
          </p:nvPr>
        </p:nvSpPr>
        <p:spPr>
          <a:xfrm>
            <a:off x="533399" y="2027237"/>
            <a:ext cx="5443484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BreadthFirstSearch 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(G,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 {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(1)   Set a queue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empty;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(3)   enqueue s onto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(2)   ark s as visited;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(4)</a:t>
            </a: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while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not empty) {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(5)         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dequeue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(6)</a:t>
            </a: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for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(each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adjacent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(7)                       if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not visited) {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(8) 		      visit and enqueue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onto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(9)		       mark u as visited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}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}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9" name="Google Shape;819;p3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27</a:t>
            </a:fld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0" name="Google Shape;820;p39"/>
          <p:cNvSpPr/>
          <p:nvPr/>
        </p:nvSpPr>
        <p:spPr>
          <a:xfrm>
            <a:off x="7628053" y="2091667"/>
            <a:ext cx="313009" cy="31300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821" name="Google Shape;821;p39"/>
          <p:cNvSpPr/>
          <p:nvPr/>
        </p:nvSpPr>
        <p:spPr>
          <a:xfrm>
            <a:off x="6838418" y="2084759"/>
            <a:ext cx="313008" cy="31300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822" name="Google Shape;822;p39"/>
          <p:cNvSpPr/>
          <p:nvPr/>
        </p:nvSpPr>
        <p:spPr>
          <a:xfrm>
            <a:off x="5481033" y="2098574"/>
            <a:ext cx="313008" cy="31300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823" name="Google Shape;823;p39"/>
          <p:cNvSpPr/>
          <p:nvPr/>
        </p:nvSpPr>
        <p:spPr>
          <a:xfrm>
            <a:off x="5481033" y="3256725"/>
            <a:ext cx="313009" cy="313009"/>
          </a:xfrm>
          <a:prstGeom prst="ellipse">
            <a:avLst/>
          </a:prstGeom>
          <a:solidFill>
            <a:srgbClr val="0B4E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/>
          </a:p>
        </p:txBody>
      </p:sp>
      <p:sp>
        <p:nvSpPr>
          <p:cNvPr id="824" name="Google Shape;824;p39"/>
          <p:cNvSpPr/>
          <p:nvPr/>
        </p:nvSpPr>
        <p:spPr>
          <a:xfrm>
            <a:off x="6838418" y="3256726"/>
            <a:ext cx="313009" cy="31300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825" name="Google Shape;825;p39"/>
          <p:cNvSpPr/>
          <p:nvPr/>
        </p:nvSpPr>
        <p:spPr>
          <a:xfrm>
            <a:off x="6159724" y="3256725"/>
            <a:ext cx="313009" cy="31300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cxnSp>
        <p:nvCxnSpPr>
          <p:cNvPr id="826" name="Google Shape;826;p39"/>
          <p:cNvCxnSpPr>
            <a:stCxn id="821" idx="2"/>
            <a:endCxn id="822" idx="6"/>
          </p:cNvCxnSpPr>
          <p:nvPr/>
        </p:nvCxnSpPr>
        <p:spPr>
          <a:xfrm flipH="1">
            <a:off x="5794118" y="2241263"/>
            <a:ext cx="1044300" cy="13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27" name="Google Shape;827;p39"/>
          <p:cNvCxnSpPr>
            <a:stCxn id="822" idx="4"/>
            <a:endCxn id="823" idx="0"/>
          </p:cNvCxnSpPr>
          <p:nvPr/>
        </p:nvCxnSpPr>
        <p:spPr>
          <a:xfrm>
            <a:off x="5637537" y="2411583"/>
            <a:ext cx="0" cy="8451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28" name="Google Shape;828;p39"/>
          <p:cNvCxnSpPr>
            <a:stCxn id="821" idx="6"/>
            <a:endCxn id="820" idx="2"/>
          </p:cNvCxnSpPr>
          <p:nvPr/>
        </p:nvCxnSpPr>
        <p:spPr>
          <a:xfrm>
            <a:off x="7151426" y="2241263"/>
            <a:ext cx="476700" cy="6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29" name="Google Shape;829;p39"/>
          <p:cNvCxnSpPr>
            <a:stCxn id="821" idx="4"/>
            <a:endCxn id="824" idx="0"/>
          </p:cNvCxnSpPr>
          <p:nvPr/>
        </p:nvCxnSpPr>
        <p:spPr>
          <a:xfrm>
            <a:off x="6994922" y="2397768"/>
            <a:ext cx="0" cy="858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30" name="Google Shape;830;p39"/>
          <p:cNvCxnSpPr>
            <a:stCxn id="825" idx="2"/>
            <a:endCxn id="823" idx="6"/>
          </p:cNvCxnSpPr>
          <p:nvPr/>
        </p:nvCxnSpPr>
        <p:spPr>
          <a:xfrm rot="10800000">
            <a:off x="5794024" y="3413229"/>
            <a:ext cx="3657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31" name="Google Shape;831;p39"/>
          <p:cNvCxnSpPr>
            <a:stCxn id="824" idx="2"/>
            <a:endCxn id="825" idx="6"/>
          </p:cNvCxnSpPr>
          <p:nvPr/>
        </p:nvCxnSpPr>
        <p:spPr>
          <a:xfrm rot="10800000">
            <a:off x="6472718" y="3413230"/>
            <a:ext cx="3657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32" name="Google Shape;832;p39"/>
          <p:cNvSpPr/>
          <p:nvPr/>
        </p:nvSpPr>
        <p:spPr>
          <a:xfrm>
            <a:off x="6159724" y="2670742"/>
            <a:ext cx="313008" cy="313009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833" name="Google Shape;833;p39"/>
          <p:cNvCxnSpPr>
            <a:stCxn id="832" idx="4"/>
            <a:endCxn id="825" idx="0"/>
          </p:cNvCxnSpPr>
          <p:nvPr/>
        </p:nvCxnSpPr>
        <p:spPr>
          <a:xfrm>
            <a:off x="6316228" y="2983751"/>
            <a:ext cx="0" cy="273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34" name="Google Shape;834;p39"/>
          <p:cNvSpPr/>
          <p:nvPr/>
        </p:nvSpPr>
        <p:spPr>
          <a:xfrm>
            <a:off x="7628053" y="3256725"/>
            <a:ext cx="313009" cy="31300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/>
          </a:p>
        </p:txBody>
      </p:sp>
      <p:sp>
        <p:nvSpPr>
          <p:cNvPr id="835" name="Google Shape;835;p39"/>
          <p:cNvSpPr/>
          <p:nvPr/>
        </p:nvSpPr>
        <p:spPr>
          <a:xfrm>
            <a:off x="7628053" y="2670742"/>
            <a:ext cx="313008" cy="31300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cxnSp>
        <p:nvCxnSpPr>
          <p:cNvPr id="836" name="Google Shape;836;p39"/>
          <p:cNvCxnSpPr>
            <a:stCxn id="835" idx="4"/>
            <a:endCxn id="834" idx="0"/>
          </p:cNvCxnSpPr>
          <p:nvPr/>
        </p:nvCxnSpPr>
        <p:spPr>
          <a:xfrm>
            <a:off x="7784557" y="2983751"/>
            <a:ext cx="0" cy="273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37" name="Google Shape;837;p39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Breadth-First Search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38" name="Google Shape;838;p39"/>
          <p:cNvSpPr/>
          <p:nvPr/>
        </p:nvSpPr>
        <p:spPr>
          <a:xfrm>
            <a:off x="7628052" y="2085230"/>
            <a:ext cx="313009" cy="313008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39" name="Google Shape;839;p39"/>
          <p:cNvSpPr/>
          <p:nvPr/>
        </p:nvSpPr>
        <p:spPr>
          <a:xfrm>
            <a:off x="6838417" y="2078322"/>
            <a:ext cx="313008" cy="31300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840" name="Google Shape;840;p39"/>
          <p:cNvSpPr/>
          <p:nvPr/>
        </p:nvSpPr>
        <p:spPr>
          <a:xfrm>
            <a:off x="5481032" y="2092137"/>
            <a:ext cx="313008" cy="313009"/>
          </a:xfrm>
          <a:prstGeom prst="ellipse">
            <a:avLst/>
          </a:prstGeom>
          <a:solidFill>
            <a:srgbClr val="0B4E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841" name="Google Shape;841;p39"/>
          <p:cNvSpPr/>
          <p:nvPr/>
        </p:nvSpPr>
        <p:spPr>
          <a:xfrm>
            <a:off x="6838417" y="3250289"/>
            <a:ext cx="313009" cy="313008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842" name="Google Shape;842;p39"/>
          <p:cNvSpPr/>
          <p:nvPr/>
        </p:nvSpPr>
        <p:spPr>
          <a:xfrm>
            <a:off x="7628052" y="3250288"/>
            <a:ext cx="313009" cy="313008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3" name="Google Shape;843;p39"/>
          <p:cNvSpPr/>
          <p:nvPr/>
        </p:nvSpPr>
        <p:spPr>
          <a:xfrm>
            <a:off x="7628052" y="2664305"/>
            <a:ext cx="313008" cy="313009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4" name="Google Shape;844;p39"/>
          <p:cNvSpPr/>
          <p:nvPr/>
        </p:nvSpPr>
        <p:spPr>
          <a:xfrm>
            <a:off x="6895395" y="5029200"/>
            <a:ext cx="365684" cy="304800"/>
          </a:xfrm>
          <a:prstGeom prst="rect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cxnSp>
        <p:nvCxnSpPr>
          <p:cNvPr id="845" name="Google Shape;845;p39"/>
          <p:cNvCxnSpPr/>
          <p:nvPr/>
        </p:nvCxnSpPr>
        <p:spPr>
          <a:xfrm>
            <a:off x="6399545" y="5029200"/>
            <a:ext cx="1412856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46" name="Google Shape;846;p39"/>
          <p:cNvCxnSpPr/>
          <p:nvPr/>
        </p:nvCxnSpPr>
        <p:spPr>
          <a:xfrm>
            <a:off x="6407669" y="5334000"/>
            <a:ext cx="1412856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47" name="Google Shape;847;p39"/>
          <p:cNvSpPr txBox="1"/>
          <p:nvPr/>
        </p:nvSpPr>
        <p:spPr>
          <a:xfrm>
            <a:off x="5715000" y="5020235"/>
            <a:ext cx="562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 =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8" name="Google Shape;848;p39"/>
          <p:cNvSpPr txBox="1"/>
          <p:nvPr/>
        </p:nvSpPr>
        <p:spPr>
          <a:xfrm>
            <a:off x="5715000" y="3943597"/>
            <a:ext cx="255751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After second time through loop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9" name="Google Shape;849;p39"/>
          <p:cNvSpPr/>
          <p:nvPr/>
        </p:nvSpPr>
        <p:spPr>
          <a:xfrm>
            <a:off x="7258796" y="5029200"/>
            <a:ext cx="365684" cy="3048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40"/>
          <p:cNvSpPr txBox="1">
            <a:spLocks noGrp="1"/>
          </p:cNvSpPr>
          <p:nvPr>
            <p:ph type="body" idx="1"/>
          </p:nvPr>
        </p:nvSpPr>
        <p:spPr>
          <a:xfrm>
            <a:off x="533399" y="2027237"/>
            <a:ext cx="5443484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BreadthFirstSearch 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(G,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 {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(1)   Set a queue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empty;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(3)   enqueue s onto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(2)   ark s as visited;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(4)</a:t>
            </a: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while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not empty) {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(5)         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dequeue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(6)</a:t>
            </a: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for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(each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adjacent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(7)                       if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not visited) {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(8) 		      visit and enqueue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onto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(9)		       mark u as visited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}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}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5" name="Google Shape;855;p4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28</a:t>
            </a:fld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6" name="Google Shape;856;p40"/>
          <p:cNvSpPr/>
          <p:nvPr/>
        </p:nvSpPr>
        <p:spPr>
          <a:xfrm>
            <a:off x="7628053" y="2091667"/>
            <a:ext cx="313009" cy="31300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857" name="Google Shape;857;p40"/>
          <p:cNvSpPr/>
          <p:nvPr/>
        </p:nvSpPr>
        <p:spPr>
          <a:xfrm>
            <a:off x="6838418" y="2084759"/>
            <a:ext cx="313008" cy="31300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858" name="Google Shape;858;p40"/>
          <p:cNvSpPr/>
          <p:nvPr/>
        </p:nvSpPr>
        <p:spPr>
          <a:xfrm>
            <a:off x="5481033" y="2098574"/>
            <a:ext cx="313008" cy="31300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859" name="Google Shape;859;p40"/>
          <p:cNvSpPr/>
          <p:nvPr/>
        </p:nvSpPr>
        <p:spPr>
          <a:xfrm>
            <a:off x="5481033" y="3256725"/>
            <a:ext cx="313009" cy="313009"/>
          </a:xfrm>
          <a:prstGeom prst="ellipse">
            <a:avLst/>
          </a:prstGeom>
          <a:solidFill>
            <a:srgbClr val="0B4E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/>
          </a:p>
        </p:txBody>
      </p:sp>
      <p:sp>
        <p:nvSpPr>
          <p:cNvPr id="860" name="Google Shape;860;p40"/>
          <p:cNvSpPr/>
          <p:nvPr/>
        </p:nvSpPr>
        <p:spPr>
          <a:xfrm>
            <a:off x="6838418" y="3256726"/>
            <a:ext cx="313009" cy="31300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861" name="Google Shape;861;p40"/>
          <p:cNvSpPr/>
          <p:nvPr/>
        </p:nvSpPr>
        <p:spPr>
          <a:xfrm>
            <a:off x="6159724" y="3256725"/>
            <a:ext cx="313009" cy="313008"/>
          </a:xfrm>
          <a:prstGeom prst="ellipse">
            <a:avLst/>
          </a:prstGeom>
          <a:solidFill>
            <a:srgbClr val="0B4E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cxnSp>
        <p:nvCxnSpPr>
          <p:cNvPr id="862" name="Google Shape;862;p40"/>
          <p:cNvCxnSpPr>
            <a:stCxn id="857" idx="2"/>
            <a:endCxn id="858" idx="6"/>
          </p:cNvCxnSpPr>
          <p:nvPr/>
        </p:nvCxnSpPr>
        <p:spPr>
          <a:xfrm flipH="1">
            <a:off x="5794118" y="2241263"/>
            <a:ext cx="1044300" cy="13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3" name="Google Shape;863;p40"/>
          <p:cNvCxnSpPr>
            <a:stCxn id="858" idx="4"/>
            <a:endCxn id="859" idx="0"/>
          </p:cNvCxnSpPr>
          <p:nvPr/>
        </p:nvCxnSpPr>
        <p:spPr>
          <a:xfrm>
            <a:off x="5637537" y="2411583"/>
            <a:ext cx="0" cy="8451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4" name="Google Shape;864;p40"/>
          <p:cNvCxnSpPr>
            <a:stCxn id="857" idx="6"/>
            <a:endCxn id="856" idx="2"/>
          </p:cNvCxnSpPr>
          <p:nvPr/>
        </p:nvCxnSpPr>
        <p:spPr>
          <a:xfrm>
            <a:off x="7151426" y="2241263"/>
            <a:ext cx="476700" cy="6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5" name="Google Shape;865;p40"/>
          <p:cNvCxnSpPr>
            <a:stCxn id="857" idx="4"/>
            <a:endCxn id="860" idx="0"/>
          </p:cNvCxnSpPr>
          <p:nvPr/>
        </p:nvCxnSpPr>
        <p:spPr>
          <a:xfrm>
            <a:off x="6994922" y="2397768"/>
            <a:ext cx="0" cy="858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6" name="Google Shape;866;p40"/>
          <p:cNvCxnSpPr>
            <a:stCxn id="861" idx="2"/>
            <a:endCxn id="859" idx="6"/>
          </p:cNvCxnSpPr>
          <p:nvPr/>
        </p:nvCxnSpPr>
        <p:spPr>
          <a:xfrm rot="10800000">
            <a:off x="5794024" y="3413229"/>
            <a:ext cx="3657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7" name="Google Shape;867;p40"/>
          <p:cNvCxnSpPr>
            <a:stCxn id="860" idx="2"/>
            <a:endCxn id="861" idx="6"/>
          </p:cNvCxnSpPr>
          <p:nvPr/>
        </p:nvCxnSpPr>
        <p:spPr>
          <a:xfrm rot="10800000">
            <a:off x="6472718" y="3413230"/>
            <a:ext cx="3657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8" name="Google Shape;868;p40"/>
          <p:cNvSpPr/>
          <p:nvPr/>
        </p:nvSpPr>
        <p:spPr>
          <a:xfrm>
            <a:off x="6159724" y="2670742"/>
            <a:ext cx="313008" cy="31300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cxnSp>
        <p:nvCxnSpPr>
          <p:cNvPr id="869" name="Google Shape;869;p40"/>
          <p:cNvCxnSpPr>
            <a:stCxn id="868" idx="4"/>
            <a:endCxn id="861" idx="0"/>
          </p:cNvCxnSpPr>
          <p:nvPr/>
        </p:nvCxnSpPr>
        <p:spPr>
          <a:xfrm>
            <a:off x="6316228" y="2983751"/>
            <a:ext cx="0" cy="273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0" name="Google Shape;870;p40"/>
          <p:cNvSpPr/>
          <p:nvPr/>
        </p:nvSpPr>
        <p:spPr>
          <a:xfrm>
            <a:off x="7628053" y="3256725"/>
            <a:ext cx="313009" cy="31300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/>
          </a:p>
        </p:txBody>
      </p:sp>
      <p:sp>
        <p:nvSpPr>
          <p:cNvPr id="871" name="Google Shape;871;p40"/>
          <p:cNvSpPr/>
          <p:nvPr/>
        </p:nvSpPr>
        <p:spPr>
          <a:xfrm>
            <a:off x="7628053" y="2670742"/>
            <a:ext cx="313008" cy="31300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cxnSp>
        <p:nvCxnSpPr>
          <p:cNvPr id="872" name="Google Shape;872;p40"/>
          <p:cNvCxnSpPr>
            <a:stCxn id="871" idx="4"/>
            <a:endCxn id="870" idx="0"/>
          </p:cNvCxnSpPr>
          <p:nvPr/>
        </p:nvCxnSpPr>
        <p:spPr>
          <a:xfrm>
            <a:off x="7784557" y="2983751"/>
            <a:ext cx="0" cy="273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3" name="Google Shape;873;p40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Breadth-First Search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4" name="Google Shape;874;p40"/>
          <p:cNvSpPr/>
          <p:nvPr/>
        </p:nvSpPr>
        <p:spPr>
          <a:xfrm>
            <a:off x="7628052" y="2085230"/>
            <a:ext cx="313009" cy="313008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5" name="Google Shape;875;p40"/>
          <p:cNvSpPr/>
          <p:nvPr/>
        </p:nvSpPr>
        <p:spPr>
          <a:xfrm>
            <a:off x="6838417" y="2078322"/>
            <a:ext cx="313008" cy="31300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876" name="Google Shape;876;p40"/>
          <p:cNvSpPr/>
          <p:nvPr/>
        </p:nvSpPr>
        <p:spPr>
          <a:xfrm>
            <a:off x="5481032" y="2092137"/>
            <a:ext cx="313008" cy="313009"/>
          </a:xfrm>
          <a:prstGeom prst="ellipse">
            <a:avLst/>
          </a:prstGeom>
          <a:solidFill>
            <a:srgbClr val="0B4E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877" name="Google Shape;877;p40"/>
          <p:cNvSpPr/>
          <p:nvPr/>
        </p:nvSpPr>
        <p:spPr>
          <a:xfrm>
            <a:off x="6838417" y="3250289"/>
            <a:ext cx="313009" cy="31300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878" name="Google Shape;878;p40"/>
          <p:cNvSpPr/>
          <p:nvPr/>
        </p:nvSpPr>
        <p:spPr>
          <a:xfrm>
            <a:off x="7628052" y="3250288"/>
            <a:ext cx="313009" cy="313008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9" name="Google Shape;879;p40"/>
          <p:cNvSpPr/>
          <p:nvPr/>
        </p:nvSpPr>
        <p:spPr>
          <a:xfrm>
            <a:off x="7628052" y="2664305"/>
            <a:ext cx="313008" cy="313009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0" name="Google Shape;880;p40"/>
          <p:cNvSpPr/>
          <p:nvPr/>
        </p:nvSpPr>
        <p:spPr>
          <a:xfrm>
            <a:off x="6895395" y="5029200"/>
            <a:ext cx="365684" cy="3048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cxnSp>
        <p:nvCxnSpPr>
          <p:cNvPr id="881" name="Google Shape;881;p40"/>
          <p:cNvCxnSpPr/>
          <p:nvPr/>
        </p:nvCxnSpPr>
        <p:spPr>
          <a:xfrm>
            <a:off x="6407669" y="5334000"/>
            <a:ext cx="1412856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2" name="Google Shape;882;p40"/>
          <p:cNvSpPr txBox="1"/>
          <p:nvPr/>
        </p:nvSpPr>
        <p:spPr>
          <a:xfrm>
            <a:off x="5715000" y="5020235"/>
            <a:ext cx="562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 =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3" name="Google Shape;883;p40"/>
          <p:cNvSpPr txBox="1"/>
          <p:nvPr/>
        </p:nvSpPr>
        <p:spPr>
          <a:xfrm>
            <a:off x="5715000" y="3943597"/>
            <a:ext cx="255751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After third time through loop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4" name="Google Shape;884;p40"/>
          <p:cNvSpPr/>
          <p:nvPr/>
        </p:nvSpPr>
        <p:spPr>
          <a:xfrm>
            <a:off x="7258796" y="5029200"/>
            <a:ext cx="365684" cy="3048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885" name="Google Shape;885;p40"/>
          <p:cNvSpPr/>
          <p:nvPr/>
        </p:nvSpPr>
        <p:spPr>
          <a:xfrm>
            <a:off x="6528176" y="5029200"/>
            <a:ext cx="365684" cy="304800"/>
          </a:xfrm>
          <a:prstGeom prst="rect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886" name="Google Shape;886;p40"/>
          <p:cNvCxnSpPr/>
          <p:nvPr/>
        </p:nvCxnSpPr>
        <p:spPr>
          <a:xfrm>
            <a:off x="6399545" y="5029200"/>
            <a:ext cx="1412856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41"/>
          <p:cNvSpPr txBox="1">
            <a:spLocks noGrp="1"/>
          </p:cNvSpPr>
          <p:nvPr>
            <p:ph type="body" idx="1"/>
          </p:nvPr>
        </p:nvSpPr>
        <p:spPr>
          <a:xfrm>
            <a:off x="533399" y="2027237"/>
            <a:ext cx="5443484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BreadthFirstSearch 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(G,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 {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(1)   Set a queue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empty;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(3)   enqueue s onto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(2)   Mark s as visited;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(4)</a:t>
            </a: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while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not empty) {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(5)         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dequeue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(6)</a:t>
            </a: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for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(each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adjacent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(7)                       if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not visited) {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(8) 		      visit and enqueue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onto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(9)		       mark u as visited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}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}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}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2" name="Google Shape;892;p4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29</a:t>
            </a:fld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3" name="Google Shape;893;p41"/>
          <p:cNvSpPr/>
          <p:nvPr/>
        </p:nvSpPr>
        <p:spPr>
          <a:xfrm>
            <a:off x="7628053" y="2091667"/>
            <a:ext cx="313009" cy="31300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894" name="Google Shape;894;p41"/>
          <p:cNvSpPr/>
          <p:nvPr/>
        </p:nvSpPr>
        <p:spPr>
          <a:xfrm>
            <a:off x="6838418" y="2084759"/>
            <a:ext cx="313008" cy="31300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895" name="Google Shape;895;p41"/>
          <p:cNvSpPr/>
          <p:nvPr/>
        </p:nvSpPr>
        <p:spPr>
          <a:xfrm>
            <a:off x="5481033" y="2098574"/>
            <a:ext cx="313008" cy="31300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896" name="Google Shape;896;p41"/>
          <p:cNvSpPr/>
          <p:nvPr/>
        </p:nvSpPr>
        <p:spPr>
          <a:xfrm>
            <a:off x="5481033" y="3256725"/>
            <a:ext cx="313009" cy="313009"/>
          </a:xfrm>
          <a:prstGeom prst="ellipse">
            <a:avLst/>
          </a:prstGeom>
          <a:solidFill>
            <a:srgbClr val="0B4E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/>
          </a:p>
        </p:txBody>
      </p:sp>
      <p:sp>
        <p:nvSpPr>
          <p:cNvPr id="897" name="Google Shape;897;p41"/>
          <p:cNvSpPr/>
          <p:nvPr/>
        </p:nvSpPr>
        <p:spPr>
          <a:xfrm>
            <a:off x="6838418" y="3256726"/>
            <a:ext cx="313009" cy="31300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898" name="Google Shape;898;p41"/>
          <p:cNvSpPr/>
          <p:nvPr/>
        </p:nvSpPr>
        <p:spPr>
          <a:xfrm>
            <a:off x="6159724" y="3256725"/>
            <a:ext cx="313009" cy="313008"/>
          </a:xfrm>
          <a:prstGeom prst="ellipse">
            <a:avLst/>
          </a:prstGeom>
          <a:solidFill>
            <a:srgbClr val="0B4E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cxnSp>
        <p:nvCxnSpPr>
          <p:cNvPr id="899" name="Google Shape;899;p41"/>
          <p:cNvCxnSpPr>
            <a:stCxn id="894" idx="2"/>
            <a:endCxn id="895" idx="6"/>
          </p:cNvCxnSpPr>
          <p:nvPr/>
        </p:nvCxnSpPr>
        <p:spPr>
          <a:xfrm flipH="1">
            <a:off x="5794118" y="2241263"/>
            <a:ext cx="1044300" cy="13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00" name="Google Shape;900;p41"/>
          <p:cNvCxnSpPr>
            <a:stCxn id="895" idx="4"/>
            <a:endCxn id="896" idx="0"/>
          </p:cNvCxnSpPr>
          <p:nvPr/>
        </p:nvCxnSpPr>
        <p:spPr>
          <a:xfrm>
            <a:off x="5637537" y="2411583"/>
            <a:ext cx="0" cy="8451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01" name="Google Shape;901;p41"/>
          <p:cNvCxnSpPr>
            <a:stCxn id="894" idx="6"/>
            <a:endCxn id="893" idx="2"/>
          </p:cNvCxnSpPr>
          <p:nvPr/>
        </p:nvCxnSpPr>
        <p:spPr>
          <a:xfrm>
            <a:off x="7151426" y="2241263"/>
            <a:ext cx="476700" cy="6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02" name="Google Shape;902;p41"/>
          <p:cNvCxnSpPr>
            <a:stCxn id="894" idx="4"/>
            <a:endCxn id="897" idx="0"/>
          </p:cNvCxnSpPr>
          <p:nvPr/>
        </p:nvCxnSpPr>
        <p:spPr>
          <a:xfrm>
            <a:off x="6994922" y="2397768"/>
            <a:ext cx="0" cy="858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03" name="Google Shape;903;p41"/>
          <p:cNvCxnSpPr>
            <a:stCxn id="898" idx="2"/>
            <a:endCxn id="896" idx="6"/>
          </p:cNvCxnSpPr>
          <p:nvPr/>
        </p:nvCxnSpPr>
        <p:spPr>
          <a:xfrm rot="10800000">
            <a:off x="5794024" y="3413229"/>
            <a:ext cx="3657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04" name="Google Shape;904;p41"/>
          <p:cNvCxnSpPr>
            <a:stCxn id="897" idx="2"/>
            <a:endCxn id="898" idx="6"/>
          </p:cNvCxnSpPr>
          <p:nvPr/>
        </p:nvCxnSpPr>
        <p:spPr>
          <a:xfrm rot="10800000">
            <a:off x="6472718" y="3413230"/>
            <a:ext cx="3657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05" name="Google Shape;905;p41"/>
          <p:cNvSpPr/>
          <p:nvPr/>
        </p:nvSpPr>
        <p:spPr>
          <a:xfrm>
            <a:off x="6159724" y="2670742"/>
            <a:ext cx="313008" cy="31300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cxnSp>
        <p:nvCxnSpPr>
          <p:cNvPr id="906" name="Google Shape;906;p41"/>
          <p:cNvCxnSpPr>
            <a:stCxn id="905" idx="4"/>
            <a:endCxn id="898" idx="0"/>
          </p:cNvCxnSpPr>
          <p:nvPr/>
        </p:nvCxnSpPr>
        <p:spPr>
          <a:xfrm>
            <a:off x="6316228" y="2983751"/>
            <a:ext cx="0" cy="273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07" name="Google Shape;907;p41"/>
          <p:cNvSpPr/>
          <p:nvPr/>
        </p:nvSpPr>
        <p:spPr>
          <a:xfrm>
            <a:off x="7628053" y="3256725"/>
            <a:ext cx="313009" cy="31300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/>
          </a:p>
        </p:txBody>
      </p:sp>
      <p:sp>
        <p:nvSpPr>
          <p:cNvPr id="908" name="Google Shape;908;p41"/>
          <p:cNvSpPr/>
          <p:nvPr/>
        </p:nvSpPr>
        <p:spPr>
          <a:xfrm>
            <a:off x="7628053" y="2670742"/>
            <a:ext cx="313008" cy="31300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cxnSp>
        <p:nvCxnSpPr>
          <p:cNvPr id="909" name="Google Shape;909;p41"/>
          <p:cNvCxnSpPr>
            <a:stCxn id="908" idx="4"/>
            <a:endCxn id="907" idx="0"/>
          </p:cNvCxnSpPr>
          <p:nvPr/>
        </p:nvCxnSpPr>
        <p:spPr>
          <a:xfrm>
            <a:off x="7784557" y="2983751"/>
            <a:ext cx="0" cy="273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10" name="Google Shape;910;p41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Breadth-First Search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1" name="Google Shape;911;p41"/>
          <p:cNvSpPr/>
          <p:nvPr/>
        </p:nvSpPr>
        <p:spPr>
          <a:xfrm>
            <a:off x="7628052" y="2085230"/>
            <a:ext cx="313009" cy="31300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/>
          </a:p>
        </p:txBody>
      </p:sp>
      <p:sp>
        <p:nvSpPr>
          <p:cNvPr id="912" name="Google Shape;912;p41"/>
          <p:cNvSpPr/>
          <p:nvPr/>
        </p:nvSpPr>
        <p:spPr>
          <a:xfrm>
            <a:off x="6838417" y="2078322"/>
            <a:ext cx="313008" cy="313009"/>
          </a:xfrm>
          <a:prstGeom prst="ellipse">
            <a:avLst/>
          </a:prstGeom>
          <a:solidFill>
            <a:srgbClr val="0B4E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913" name="Google Shape;913;p41"/>
          <p:cNvSpPr/>
          <p:nvPr/>
        </p:nvSpPr>
        <p:spPr>
          <a:xfrm>
            <a:off x="5481032" y="2092137"/>
            <a:ext cx="313008" cy="313009"/>
          </a:xfrm>
          <a:prstGeom prst="ellipse">
            <a:avLst/>
          </a:prstGeom>
          <a:solidFill>
            <a:srgbClr val="0B4E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914" name="Google Shape;914;p41"/>
          <p:cNvSpPr/>
          <p:nvPr/>
        </p:nvSpPr>
        <p:spPr>
          <a:xfrm>
            <a:off x="6838417" y="3250289"/>
            <a:ext cx="313009" cy="31300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915" name="Google Shape;915;p41"/>
          <p:cNvSpPr/>
          <p:nvPr/>
        </p:nvSpPr>
        <p:spPr>
          <a:xfrm>
            <a:off x="7628052" y="3250288"/>
            <a:ext cx="313009" cy="313008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6" name="Google Shape;916;p41"/>
          <p:cNvSpPr/>
          <p:nvPr/>
        </p:nvSpPr>
        <p:spPr>
          <a:xfrm>
            <a:off x="7628052" y="2664305"/>
            <a:ext cx="313008" cy="313009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7" name="Google Shape;917;p41"/>
          <p:cNvSpPr/>
          <p:nvPr/>
        </p:nvSpPr>
        <p:spPr>
          <a:xfrm>
            <a:off x="6895395" y="5029200"/>
            <a:ext cx="365684" cy="304800"/>
          </a:xfrm>
          <a:prstGeom prst="rect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cxnSp>
        <p:nvCxnSpPr>
          <p:cNvPr id="918" name="Google Shape;918;p41"/>
          <p:cNvCxnSpPr/>
          <p:nvPr/>
        </p:nvCxnSpPr>
        <p:spPr>
          <a:xfrm>
            <a:off x="6407669" y="5334000"/>
            <a:ext cx="1412856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19" name="Google Shape;919;p41"/>
          <p:cNvSpPr txBox="1"/>
          <p:nvPr/>
        </p:nvSpPr>
        <p:spPr>
          <a:xfrm>
            <a:off x="5715000" y="5020235"/>
            <a:ext cx="562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 =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0" name="Google Shape;920;p41"/>
          <p:cNvSpPr txBox="1"/>
          <p:nvPr/>
        </p:nvSpPr>
        <p:spPr>
          <a:xfrm>
            <a:off x="5715000" y="3943597"/>
            <a:ext cx="255751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After fourht time through loop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1" name="Google Shape;921;p41"/>
          <p:cNvSpPr/>
          <p:nvPr/>
        </p:nvSpPr>
        <p:spPr>
          <a:xfrm>
            <a:off x="7258796" y="5029200"/>
            <a:ext cx="365684" cy="3048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2" name="Google Shape;922;p41"/>
          <p:cNvSpPr/>
          <p:nvPr/>
        </p:nvSpPr>
        <p:spPr>
          <a:xfrm>
            <a:off x="6528176" y="5029200"/>
            <a:ext cx="365684" cy="304800"/>
          </a:xfrm>
          <a:prstGeom prst="rect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cxnSp>
        <p:nvCxnSpPr>
          <p:cNvPr id="923" name="Google Shape;923;p41"/>
          <p:cNvCxnSpPr/>
          <p:nvPr/>
        </p:nvCxnSpPr>
        <p:spPr>
          <a:xfrm>
            <a:off x="6399545" y="5029200"/>
            <a:ext cx="1412856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42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// Travel on 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=(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by BFS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BreadthFirstSearch_traversal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{ 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(10)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for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(each 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∈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(11)           mark v as unvisited;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(12)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for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(each 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∈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(13)           if (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not visited)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(14)                    BreadthFirstSearch(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);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}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Complexity: BFS on a graph with 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vertices and 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edges takes 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) time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9" name="Google Shape;929;p4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30</a:t>
            </a:fld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0" name="Google Shape;930;p42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Breadth-First Search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4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Exercises</a:t>
            </a:r>
            <a:endParaRPr sz="32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6" name="Google Shape;936;p43"/>
          <p:cNvSpPr txBox="1">
            <a:spLocks noGrp="1"/>
          </p:cNvSpPr>
          <p:nvPr>
            <p:ph type="body" idx="1"/>
          </p:nvPr>
        </p:nvSpPr>
        <p:spPr>
          <a:xfrm>
            <a:off x="914400" y="1997224"/>
            <a:ext cx="73152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the BFS to determine the number of connected components. </a:t>
            </a:r>
            <a:endParaRPr/>
          </a:p>
          <a:p>
            <a:pPr marL="342900" marR="0" lvl="0" indent="-215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the BFS to find the path with minimum number of edges between the vertices a and b. Consider that the set of vertices is alphabetically ordered.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7" name="Google Shape;937;p4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31</a:t>
            </a:fld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38" name="Google Shape;938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71600" y="4191000"/>
            <a:ext cx="6574336" cy="22860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44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Depth-First Search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4" name="Google Shape;944;p44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62000" y="1981200"/>
            <a:ext cx="43434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Depth-first search (DFS) is a general technique for traversing a graph</a:t>
            </a:r>
            <a:endParaRPr/>
          </a:p>
          <a:p>
            <a:pPr marL="342900" marR="0" lvl="0" indent="-215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DFS starts from a node and explores as far as possible along each branch before backtracking.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15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Applications: 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Scheduling jobs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Check if a network is connected</a:t>
            </a:r>
            <a:endParaRPr/>
          </a:p>
          <a:p>
            <a:pPr marL="342900" marR="0" lvl="0" indent="-1905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5" name="Google Shape;945;p4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32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44"/>
          <p:cNvSpPr/>
          <p:nvPr/>
        </p:nvSpPr>
        <p:spPr>
          <a:xfrm>
            <a:off x="7589043" y="2865515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/>
          </a:p>
        </p:txBody>
      </p:sp>
      <p:sp>
        <p:nvSpPr>
          <p:cNvPr id="947" name="Google Shape;947;p44"/>
          <p:cNvSpPr/>
          <p:nvPr/>
        </p:nvSpPr>
        <p:spPr>
          <a:xfrm>
            <a:off x="6767260" y="1977586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948" name="Google Shape;948;p44"/>
          <p:cNvSpPr/>
          <p:nvPr/>
        </p:nvSpPr>
        <p:spPr>
          <a:xfrm>
            <a:off x="7589042" y="3673984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9" name="Google Shape;949;p44"/>
          <p:cNvSpPr/>
          <p:nvPr/>
        </p:nvSpPr>
        <p:spPr>
          <a:xfrm>
            <a:off x="6759178" y="2845151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</p:txBody>
      </p:sp>
      <p:sp>
        <p:nvSpPr>
          <p:cNvPr id="950" name="Google Shape;950;p44"/>
          <p:cNvSpPr/>
          <p:nvPr/>
        </p:nvSpPr>
        <p:spPr>
          <a:xfrm>
            <a:off x="6090677" y="282069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1" name="Google Shape;951;p44"/>
          <p:cNvSpPr/>
          <p:nvPr/>
        </p:nvSpPr>
        <p:spPr>
          <a:xfrm>
            <a:off x="6092357" y="3673984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2" name="Google Shape;952;p44"/>
          <p:cNvSpPr/>
          <p:nvPr/>
        </p:nvSpPr>
        <p:spPr>
          <a:xfrm>
            <a:off x="5486400" y="3670757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3" name="Google Shape;953;p44"/>
          <p:cNvSpPr/>
          <p:nvPr/>
        </p:nvSpPr>
        <p:spPr>
          <a:xfrm>
            <a:off x="4891088" y="451008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4" name="Google Shape;954;p44"/>
          <p:cNvSpPr/>
          <p:nvPr/>
        </p:nvSpPr>
        <p:spPr>
          <a:xfrm>
            <a:off x="5486400" y="451008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5" name="Google Shape;955;p44"/>
          <p:cNvSpPr/>
          <p:nvPr/>
        </p:nvSpPr>
        <p:spPr>
          <a:xfrm>
            <a:off x="8229600" y="3596666"/>
            <a:ext cx="672558" cy="47480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8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6" name="Google Shape;956;p44"/>
          <p:cNvSpPr/>
          <p:nvPr/>
        </p:nvSpPr>
        <p:spPr>
          <a:xfrm>
            <a:off x="7192939" y="4510087"/>
            <a:ext cx="688832" cy="475391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7" name="Google Shape;957;p44"/>
          <p:cNvSpPr/>
          <p:nvPr/>
        </p:nvSpPr>
        <p:spPr>
          <a:xfrm>
            <a:off x="7987806" y="4510087"/>
            <a:ext cx="688832" cy="475391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958" name="Google Shape;958;p44"/>
          <p:cNvCxnSpPr>
            <a:stCxn id="947" idx="4"/>
            <a:endCxn id="949" idx="0"/>
          </p:cNvCxnSpPr>
          <p:nvPr/>
        </p:nvCxnSpPr>
        <p:spPr>
          <a:xfrm flipH="1">
            <a:off x="6942516" y="2344299"/>
            <a:ext cx="8100" cy="501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59" name="Google Shape;959;p44"/>
          <p:cNvCxnSpPr>
            <a:stCxn id="947" idx="3"/>
            <a:endCxn id="950" idx="7"/>
          </p:cNvCxnSpPr>
          <p:nvPr/>
        </p:nvCxnSpPr>
        <p:spPr>
          <a:xfrm flipH="1">
            <a:off x="6403664" y="2290595"/>
            <a:ext cx="417300" cy="583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60" name="Google Shape;960;p44"/>
          <p:cNvCxnSpPr>
            <a:stCxn id="947" idx="5"/>
            <a:endCxn id="946" idx="1"/>
          </p:cNvCxnSpPr>
          <p:nvPr/>
        </p:nvCxnSpPr>
        <p:spPr>
          <a:xfrm>
            <a:off x="7080268" y="2290595"/>
            <a:ext cx="562500" cy="628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61" name="Google Shape;961;p44"/>
          <p:cNvCxnSpPr>
            <a:stCxn id="950" idx="4"/>
            <a:endCxn id="951" idx="0"/>
          </p:cNvCxnSpPr>
          <p:nvPr/>
        </p:nvCxnSpPr>
        <p:spPr>
          <a:xfrm>
            <a:off x="6274033" y="3187410"/>
            <a:ext cx="1800" cy="4866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62" name="Google Shape;962;p44"/>
          <p:cNvCxnSpPr>
            <a:stCxn id="950" idx="3"/>
            <a:endCxn id="952" idx="7"/>
          </p:cNvCxnSpPr>
          <p:nvPr/>
        </p:nvCxnSpPr>
        <p:spPr>
          <a:xfrm flipH="1">
            <a:off x="5799381" y="3133706"/>
            <a:ext cx="345000" cy="5907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63" name="Google Shape;963;p44"/>
          <p:cNvCxnSpPr>
            <a:stCxn id="952" idx="4"/>
            <a:endCxn id="954" idx="0"/>
          </p:cNvCxnSpPr>
          <p:nvPr/>
        </p:nvCxnSpPr>
        <p:spPr>
          <a:xfrm>
            <a:off x="5669757" y="4037469"/>
            <a:ext cx="0" cy="472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64" name="Google Shape;964;p44"/>
          <p:cNvCxnSpPr>
            <a:stCxn id="952" idx="3"/>
            <a:endCxn id="953" idx="7"/>
          </p:cNvCxnSpPr>
          <p:nvPr/>
        </p:nvCxnSpPr>
        <p:spPr>
          <a:xfrm flipH="1">
            <a:off x="5204104" y="3983765"/>
            <a:ext cx="336000" cy="579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65" name="Google Shape;965;p44"/>
          <p:cNvCxnSpPr>
            <a:stCxn id="946" idx="4"/>
            <a:endCxn id="948" idx="0"/>
          </p:cNvCxnSpPr>
          <p:nvPr/>
        </p:nvCxnSpPr>
        <p:spPr>
          <a:xfrm>
            <a:off x="7772399" y="3232227"/>
            <a:ext cx="0" cy="441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66" name="Google Shape;966;p44"/>
          <p:cNvCxnSpPr>
            <a:stCxn id="946" idx="5"/>
            <a:endCxn id="955" idx="1"/>
          </p:cNvCxnSpPr>
          <p:nvPr/>
        </p:nvCxnSpPr>
        <p:spPr>
          <a:xfrm>
            <a:off x="7902052" y="3178523"/>
            <a:ext cx="426042" cy="487677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67" name="Google Shape;967;p44"/>
          <p:cNvCxnSpPr>
            <a:stCxn id="948" idx="4"/>
            <a:endCxn id="956" idx="0"/>
          </p:cNvCxnSpPr>
          <p:nvPr/>
        </p:nvCxnSpPr>
        <p:spPr>
          <a:xfrm flipH="1">
            <a:off x="7537355" y="4040696"/>
            <a:ext cx="235044" cy="469391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68" name="Google Shape;968;p44"/>
          <p:cNvCxnSpPr>
            <a:stCxn id="948" idx="5"/>
            <a:endCxn id="957" idx="1"/>
          </p:cNvCxnSpPr>
          <p:nvPr/>
        </p:nvCxnSpPr>
        <p:spPr>
          <a:xfrm>
            <a:off x="7902051" y="3986992"/>
            <a:ext cx="186632" cy="592714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45"/>
          <p:cNvSpPr txBox="1">
            <a:spLocks noGrp="1"/>
          </p:cNvSpPr>
          <p:nvPr>
            <p:ph type="body" idx="1"/>
          </p:nvPr>
        </p:nvSpPr>
        <p:spPr>
          <a:xfrm>
            <a:off x="685800" y="2149624"/>
            <a:ext cx="4983956" cy="4251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//Depth first search from vertex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DepthFirstSearch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{ 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for (each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adjacent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if (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not visited) {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visit and mark u as visited;			DepthFirstSearch (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}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4" name="Google Shape;974;p4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33</a:t>
            </a:fld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5" name="Google Shape;975;p45"/>
          <p:cNvSpPr/>
          <p:nvPr/>
        </p:nvSpPr>
        <p:spPr>
          <a:xfrm>
            <a:off x="7589043" y="2865515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/>
          </a:p>
        </p:txBody>
      </p:sp>
      <p:sp>
        <p:nvSpPr>
          <p:cNvPr id="976" name="Google Shape;976;p45"/>
          <p:cNvSpPr/>
          <p:nvPr/>
        </p:nvSpPr>
        <p:spPr>
          <a:xfrm>
            <a:off x="6767260" y="1977586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977" name="Google Shape;977;p45"/>
          <p:cNvSpPr/>
          <p:nvPr/>
        </p:nvSpPr>
        <p:spPr>
          <a:xfrm>
            <a:off x="7589042" y="3673984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8" name="Google Shape;978;p45"/>
          <p:cNvSpPr/>
          <p:nvPr/>
        </p:nvSpPr>
        <p:spPr>
          <a:xfrm>
            <a:off x="6759178" y="2845151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</p:txBody>
      </p:sp>
      <p:sp>
        <p:nvSpPr>
          <p:cNvPr id="979" name="Google Shape;979;p45"/>
          <p:cNvSpPr/>
          <p:nvPr/>
        </p:nvSpPr>
        <p:spPr>
          <a:xfrm>
            <a:off x="6090677" y="282069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0" name="Google Shape;980;p45"/>
          <p:cNvSpPr/>
          <p:nvPr/>
        </p:nvSpPr>
        <p:spPr>
          <a:xfrm>
            <a:off x="6092357" y="3673984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1" name="Google Shape;981;p45"/>
          <p:cNvSpPr/>
          <p:nvPr/>
        </p:nvSpPr>
        <p:spPr>
          <a:xfrm>
            <a:off x="5486400" y="3670757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2" name="Google Shape;982;p45"/>
          <p:cNvSpPr/>
          <p:nvPr/>
        </p:nvSpPr>
        <p:spPr>
          <a:xfrm>
            <a:off x="4891088" y="451008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3" name="Google Shape;983;p45"/>
          <p:cNvSpPr/>
          <p:nvPr/>
        </p:nvSpPr>
        <p:spPr>
          <a:xfrm>
            <a:off x="5486400" y="451008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4" name="Google Shape;984;p45"/>
          <p:cNvSpPr/>
          <p:nvPr/>
        </p:nvSpPr>
        <p:spPr>
          <a:xfrm>
            <a:off x="8118768" y="3673984"/>
            <a:ext cx="700303" cy="4331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</a:t>
            </a:r>
            <a:endParaRPr sz="18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5" name="Google Shape;985;p45"/>
          <p:cNvSpPr/>
          <p:nvPr/>
        </p:nvSpPr>
        <p:spPr>
          <a:xfrm>
            <a:off x="7216683" y="4510088"/>
            <a:ext cx="739074" cy="46352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 sz="18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6" name="Google Shape;986;p45"/>
          <p:cNvSpPr/>
          <p:nvPr/>
        </p:nvSpPr>
        <p:spPr>
          <a:xfrm>
            <a:off x="8229600" y="4510087"/>
            <a:ext cx="625080" cy="38042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</a:t>
            </a:r>
            <a:endParaRPr sz="18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987" name="Google Shape;987;p45"/>
          <p:cNvCxnSpPr>
            <a:stCxn id="976" idx="4"/>
            <a:endCxn id="978" idx="0"/>
          </p:cNvCxnSpPr>
          <p:nvPr/>
        </p:nvCxnSpPr>
        <p:spPr>
          <a:xfrm flipH="1">
            <a:off x="6942516" y="2344299"/>
            <a:ext cx="8100" cy="501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8" name="Google Shape;988;p45"/>
          <p:cNvCxnSpPr>
            <a:stCxn id="976" idx="3"/>
            <a:endCxn id="979" idx="7"/>
          </p:cNvCxnSpPr>
          <p:nvPr/>
        </p:nvCxnSpPr>
        <p:spPr>
          <a:xfrm flipH="1">
            <a:off x="6403664" y="2290595"/>
            <a:ext cx="417300" cy="583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9" name="Google Shape;989;p45"/>
          <p:cNvCxnSpPr>
            <a:stCxn id="976" idx="5"/>
            <a:endCxn id="975" idx="1"/>
          </p:cNvCxnSpPr>
          <p:nvPr/>
        </p:nvCxnSpPr>
        <p:spPr>
          <a:xfrm>
            <a:off x="7080268" y="2290595"/>
            <a:ext cx="562500" cy="628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0" name="Google Shape;990;p45"/>
          <p:cNvCxnSpPr>
            <a:stCxn id="979" idx="4"/>
            <a:endCxn id="980" idx="0"/>
          </p:cNvCxnSpPr>
          <p:nvPr/>
        </p:nvCxnSpPr>
        <p:spPr>
          <a:xfrm>
            <a:off x="6274033" y="3187410"/>
            <a:ext cx="1800" cy="4866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1" name="Google Shape;991;p45"/>
          <p:cNvCxnSpPr>
            <a:stCxn id="979" idx="3"/>
            <a:endCxn id="981" idx="7"/>
          </p:cNvCxnSpPr>
          <p:nvPr/>
        </p:nvCxnSpPr>
        <p:spPr>
          <a:xfrm flipH="1">
            <a:off x="5799381" y="3133706"/>
            <a:ext cx="345000" cy="5907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2" name="Google Shape;992;p45"/>
          <p:cNvCxnSpPr>
            <a:stCxn id="981" idx="4"/>
            <a:endCxn id="983" idx="0"/>
          </p:cNvCxnSpPr>
          <p:nvPr/>
        </p:nvCxnSpPr>
        <p:spPr>
          <a:xfrm>
            <a:off x="5669757" y="4037469"/>
            <a:ext cx="0" cy="472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3" name="Google Shape;993;p45"/>
          <p:cNvCxnSpPr>
            <a:stCxn id="981" idx="3"/>
            <a:endCxn id="982" idx="7"/>
          </p:cNvCxnSpPr>
          <p:nvPr/>
        </p:nvCxnSpPr>
        <p:spPr>
          <a:xfrm flipH="1">
            <a:off x="5204104" y="3983765"/>
            <a:ext cx="336000" cy="579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4" name="Google Shape;994;p45"/>
          <p:cNvCxnSpPr>
            <a:stCxn id="975" idx="4"/>
            <a:endCxn id="977" idx="0"/>
          </p:cNvCxnSpPr>
          <p:nvPr/>
        </p:nvCxnSpPr>
        <p:spPr>
          <a:xfrm>
            <a:off x="7772399" y="3232227"/>
            <a:ext cx="0" cy="441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5" name="Google Shape;995;p45"/>
          <p:cNvCxnSpPr>
            <a:stCxn id="975" idx="5"/>
            <a:endCxn id="984" idx="1"/>
          </p:cNvCxnSpPr>
          <p:nvPr/>
        </p:nvCxnSpPr>
        <p:spPr>
          <a:xfrm>
            <a:off x="7902052" y="3178523"/>
            <a:ext cx="319273" cy="558887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6" name="Google Shape;996;p45"/>
          <p:cNvCxnSpPr>
            <a:stCxn id="977" idx="4"/>
            <a:endCxn id="985" idx="0"/>
          </p:cNvCxnSpPr>
          <p:nvPr/>
        </p:nvCxnSpPr>
        <p:spPr>
          <a:xfrm flipH="1">
            <a:off x="7586220" y="4040696"/>
            <a:ext cx="186179" cy="469392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7" name="Google Shape;997;p45"/>
          <p:cNvCxnSpPr>
            <a:stCxn id="977" idx="5"/>
            <a:endCxn id="986" idx="1"/>
          </p:cNvCxnSpPr>
          <p:nvPr/>
        </p:nvCxnSpPr>
        <p:spPr>
          <a:xfrm>
            <a:off x="7902051" y="3986992"/>
            <a:ext cx="419090" cy="578808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98" name="Google Shape;998;p45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Depth-First Search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46"/>
          <p:cNvSpPr txBox="1">
            <a:spLocks noGrp="1"/>
          </p:cNvSpPr>
          <p:nvPr>
            <p:ph type="body" idx="1"/>
          </p:nvPr>
        </p:nvSpPr>
        <p:spPr>
          <a:xfrm>
            <a:off x="990600" y="1997224"/>
            <a:ext cx="72390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//Travel on 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=(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by DFS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DepthFirstSearch_traversal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{ 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(10)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for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(each 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∈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(11)           mark v as unvisted;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(12)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for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(each 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∈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(13)           if (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not visited)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(14)                    DepthFirstSearch(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);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}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DFS on a graph with 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vertices and 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edges takes 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) time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4" name="Google Shape;1004;p4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34</a:t>
            </a:fld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5" name="Google Shape;1005;p46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Depth-First Search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47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Travel on graphs</a:t>
            </a:r>
            <a:endParaRPr sz="32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1" name="Google Shape;1011;p4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35</a:t>
            </a:fld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2" name="Google Shape;1012;p47"/>
          <p:cNvSpPr/>
          <p:nvPr/>
        </p:nvSpPr>
        <p:spPr>
          <a:xfrm>
            <a:off x="7589043" y="3767336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/>
          </a:p>
        </p:txBody>
      </p:sp>
      <p:sp>
        <p:nvSpPr>
          <p:cNvPr id="1013" name="Google Shape;1013;p47"/>
          <p:cNvSpPr/>
          <p:nvPr/>
        </p:nvSpPr>
        <p:spPr>
          <a:xfrm>
            <a:off x="6767260" y="2879407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1014" name="Google Shape;1014;p47"/>
          <p:cNvSpPr/>
          <p:nvPr/>
        </p:nvSpPr>
        <p:spPr>
          <a:xfrm>
            <a:off x="7589042" y="4575805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5" name="Google Shape;1015;p47"/>
          <p:cNvSpPr/>
          <p:nvPr/>
        </p:nvSpPr>
        <p:spPr>
          <a:xfrm>
            <a:off x="6759178" y="3746972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</p:txBody>
      </p:sp>
      <p:sp>
        <p:nvSpPr>
          <p:cNvPr id="1016" name="Google Shape;1016;p47"/>
          <p:cNvSpPr/>
          <p:nvPr/>
        </p:nvSpPr>
        <p:spPr>
          <a:xfrm>
            <a:off x="6090677" y="3722519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7" name="Google Shape;1017;p47"/>
          <p:cNvSpPr/>
          <p:nvPr/>
        </p:nvSpPr>
        <p:spPr>
          <a:xfrm>
            <a:off x="6092357" y="4575805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8" name="Google Shape;1018;p47"/>
          <p:cNvSpPr/>
          <p:nvPr/>
        </p:nvSpPr>
        <p:spPr>
          <a:xfrm>
            <a:off x="5486400" y="457257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9" name="Google Shape;1019;p47"/>
          <p:cNvSpPr/>
          <p:nvPr/>
        </p:nvSpPr>
        <p:spPr>
          <a:xfrm>
            <a:off x="4891088" y="5411909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0" name="Google Shape;1020;p47"/>
          <p:cNvSpPr/>
          <p:nvPr/>
        </p:nvSpPr>
        <p:spPr>
          <a:xfrm>
            <a:off x="5486400" y="5411909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1" name="Google Shape;1021;p47"/>
          <p:cNvSpPr/>
          <p:nvPr/>
        </p:nvSpPr>
        <p:spPr>
          <a:xfrm>
            <a:off x="8229600" y="4575805"/>
            <a:ext cx="660688" cy="433414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</a:t>
            </a:r>
            <a:endParaRPr sz="18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2" name="Google Shape;1022;p47"/>
          <p:cNvSpPr/>
          <p:nvPr/>
        </p:nvSpPr>
        <p:spPr>
          <a:xfrm>
            <a:off x="7157335" y="5411909"/>
            <a:ext cx="798421" cy="345131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 sz="18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3" name="Google Shape;1023;p47"/>
          <p:cNvSpPr/>
          <p:nvPr/>
        </p:nvSpPr>
        <p:spPr>
          <a:xfrm>
            <a:off x="8083160" y="5411909"/>
            <a:ext cx="724042" cy="41635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</a:t>
            </a:r>
            <a:endParaRPr sz="18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24" name="Google Shape;1024;p47"/>
          <p:cNvCxnSpPr>
            <a:stCxn id="1013" idx="4"/>
            <a:endCxn id="1015" idx="0"/>
          </p:cNvCxnSpPr>
          <p:nvPr/>
        </p:nvCxnSpPr>
        <p:spPr>
          <a:xfrm flipH="1">
            <a:off x="6942516" y="3246120"/>
            <a:ext cx="8100" cy="501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47"/>
          <p:cNvCxnSpPr>
            <a:stCxn id="1013" idx="3"/>
            <a:endCxn id="1016" idx="7"/>
          </p:cNvCxnSpPr>
          <p:nvPr/>
        </p:nvCxnSpPr>
        <p:spPr>
          <a:xfrm flipH="1">
            <a:off x="6403664" y="3192416"/>
            <a:ext cx="417300" cy="583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6" name="Google Shape;1026;p47"/>
          <p:cNvCxnSpPr>
            <a:stCxn id="1013" idx="5"/>
            <a:endCxn id="1012" idx="1"/>
          </p:cNvCxnSpPr>
          <p:nvPr/>
        </p:nvCxnSpPr>
        <p:spPr>
          <a:xfrm>
            <a:off x="7080268" y="3192416"/>
            <a:ext cx="562500" cy="628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7" name="Google Shape;1027;p47"/>
          <p:cNvCxnSpPr>
            <a:stCxn id="1016" idx="4"/>
            <a:endCxn id="1017" idx="0"/>
          </p:cNvCxnSpPr>
          <p:nvPr/>
        </p:nvCxnSpPr>
        <p:spPr>
          <a:xfrm>
            <a:off x="6274033" y="4089231"/>
            <a:ext cx="1800" cy="4866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8" name="Google Shape;1028;p47"/>
          <p:cNvCxnSpPr>
            <a:stCxn id="1016" idx="3"/>
            <a:endCxn id="1018" idx="7"/>
          </p:cNvCxnSpPr>
          <p:nvPr/>
        </p:nvCxnSpPr>
        <p:spPr>
          <a:xfrm flipH="1">
            <a:off x="5799381" y="4035527"/>
            <a:ext cx="345000" cy="5907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9" name="Google Shape;1029;p47"/>
          <p:cNvCxnSpPr>
            <a:stCxn id="1018" idx="4"/>
            <a:endCxn id="1020" idx="0"/>
          </p:cNvCxnSpPr>
          <p:nvPr/>
        </p:nvCxnSpPr>
        <p:spPr>
          <a:xfrm>
            <a:off x="5669757" y="4939290"/>
            <a:ext cx="0" cy="472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0" name="Google Shape;1030;p47"/>
          <p:cNvCxnSpPr>
            <a:stCxn id="1018" idx="3"/>
            <a:endCxn id="1019" idx="7"/>
          </p:cNvCxnSpPr>
          <p:nvPr/>
        </p:nvCxnSpPr>
        <p:spPr>
          <a:xfrm flipH="1">
            <a:off x="5204104" y="4885586"/>
            <a:ext cx="336000" cy="579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1" name="Google Shape;1031;p47"/>
          <p:cNvCxnSpPr>
            <a:stCxn id="1012" idx="4"/>
            <a:endCxn id="1014" idx="0"/>
          </p:cNvCxnSpPr>
          <p:nvPr/>
        </p:nvCxnSpPr>
        <p:spPr>
          <a:xfrm>
            <a:off x="7772399" y="4134048"/>
            <a:ext cx="0" cy="441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2" name="Google Shape;1032;p47"/>
          <p:cNvCxnSpPr>
            <a:stCxn id="1012" idx="5"/>
            <a:endCxn id="1021" idx="1"/>
          </p:cNvCxnSpPr>
          <p:nvPr/>
        </p:nvCxnSpPr>
        <p:spPr>
          <a:xfrm>
            <a:off x="7902052" y="4080344"/>
            <a:ext cx="424304" cy="558933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3" name="Google Shape;1033;p47"/>
          <p:cNvCxnSpPr>
            <a:stCxn id="1014" idx="4"/>
            <a:endCxn id="1022" idx="0"/>
          </p:cNvCxnSpPr>
          <p:nvPr/>
        </p:nvCxnSpPr>
        <p:spPr>
          <a:xfrm flipH="1">
            <a:off x="7556546" y="4942517"/>
            <a:ext cx="215853" cy="469392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4" name="Google Shape;1034;p47"/>
          <p:cNvCxnSpPr>
            <a:stCxn id="1014" idx="5"/>
            <a:endCxn id="1023" idx="1"/>
          </p:cNvCxnSpPr>
          <p:nvPr/>
        </p:nvCxnSpPr>
        <p:spPr>
          <a:xfrm>
            <a:off x="7902051" y="4888813"/>
            <a:ext cx="287142" cy="584069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35" name="Google Shape;1035;p47"/>
          <p:cNvSpPr/>
          <p:nvPr/>
        </p:nvSpPr>
        <p:spPr>
          <a:xfrm>
            <a:off x="3383755" y="3779915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6" name="Google Shape;1036;p47"/>
          <p:cNvSpPr/>
          <p:nvPr/>
        </p:nvSpPr>
        <p:spPr>
          <a:xfrm>
            <a:off x="2561972" y="2891986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1037" name="Google Shape;1037;p47"/>
          <p:cNvSpPr/>
          <p:nvPr/>
        </p:nvSpPr>
        <p:spPr>
          <a:xfrm>
            <a:off x="3383754" y="4588384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8" name="Google Shape;1038;p47"/>
          <p:cNvSpPr/>
          <p:nvPr/>
        </p:nvSpPr>
        <p:spPr>
          <a:xfrm>
            <a:off x="2553890" y="3759551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9" name="Google Shape;1039;p47"/>
          <p:cNvSpPr/>
          <p:nvPr/>
        </p:nvSpPr>
        <p:spPr>
          <a:xfrm>
            <a:off x="1885389" y="373509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0" name="Google Shape;1040;p47"/>
          <p:cNvSpPr/>
          <p:nvPr/>
        </p:nvSpPr>
        <p:spPr>
          <a:xfrm>
            <a:off x="1887069" y="4588384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1" name="Google Shape;1041;p47"/>
          <p:cNvSpPr/>
          <p:nvPr/>
        </p:nvSpPr>
        <p:spPr>
          <a:xfrm>
            <a:off x="1281112" y="4585157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2" name="Google Shape;1042;p47"/>
          <p:cNvSpPr/>
          <p:nvPr/>
        </p:nvSpPr>
        <p:spPr>
          <a:xfrm>
            <a:off x="685800" y="542448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3" name="Google Shape;1043;p47"/>
          <p:cNvSpPr/>
          <p:nvPr/>
        </p:nvSpPr>
        <p:spPr>
          <a:xfrm>
            <a:off x="1281112" y="5424487"/>
            <a:ext cx="653624" cy="41564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 sz="18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4" name="Google Shape;1044;p47"/>
          <p:cNvSpPr/>
          <p:nvPr/>
        </p:nvSpPr>
        <p:spPr>
          <a:xfrm>
            <a:off x="4024312" y="4588384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5" name="Google Shape;1045;p47"/>
          <p:cNvSpPr/>
          <p:nvPr/>
        </p:nvSpPr>
        <p:spPr>
          <a:xfrm>
            <a:off x="2919909" y="5424487"/>
            <a:ext cx="830560" cy="46312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6" name="Google Shape;1046;p47"/>
          <p:cNvSpPr/>
          <p:nvPr/>
        </p:nvSpPr>
        <p:spPr>
          <a:xfrm>
            <a:off x="4024311" y="5424487"/>
            <a:ext cx="735375" cy="439385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</a:t>
            </a:r>
            <a:endParaRPr sz="18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47" name="Google Shape;1047;p47"/>
          <p:cNvCxnSpPr>
            <a:stCxn id="1036" idx="4"/>
            <a:endCxn id="1038" idx="0"/>
          </p:cNvCxnSpPr>
          <p:nvPr/>
        </p:nvCxnSpPr>
        <p:spPr>
          <a:xfrm flipH="1">
            <a:off x="2737228" y="3258699"/>
            <a:ext cx="8100" cy="501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48" name="Google Shape;1048;p47"/>
          <p:cNvCxnSpPr>
            <a:stCxn id="1036" idx="3"/>
            <a:endCxn id="1039" idx="7"/>
          </p:cNvCxnSpPr>
          <p:nvPr/>
        </p:nvCxnSpPr>
        <p:spPr>
          <a:xfrm flipH="1">
            <a:off x="2198376" y="3204995"/>
            <a:ext cx="417300" cy="583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49" name="Google Shape;1049;p47"/>
          <p:cNvCxnSpPr>
            <a:stCxn id="1036" idx="5"/>
            <a:endCxn id="1035" idx="1"/>
          </p:cNvCxnSpPr>
          <p:nvPr/>
        </p:nvCxnSpPr>
        <p:spPr>
          <a:xfrm>
            <a:off x="2874980" y="3204995"/>
            <a:ext cx="562500" cy="628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0" name="Google Shape;1050;p47"/>
          <p:cNvCxnSpPr>
            <a:stCxn id="1039" idx="4"/>
            <a:endCxn id="1040" idx="0"/>
          </p:cNvCxnSpPr>
          <p:nvPr/>
        </p:nvCxnSpPr>
        <p:spPr>
          <a:xfrm>
            <a:off x="2068746" y="4101810"/>
            <a:ext cx="1800" cy="4866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1" name="Google Shape;1051;p47"/>
          <p:cNvCxnSpPr>
            <a:stCxn id="1039" idx="3"/>
            <a:endCxn id="1041" idx="7"/>
          </p:cNvCxnSpPr>
          <p:nvPr/>
        </p:nvCxnSpPr>
        <p:spPr>
          <a:xfrm flipH="1">
            <a:off x="1594093" y="4048106"/>
            <a:ext cx="345000" cy="5907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2" name="Google Shape;1052;p47"/>
          <p:cNvCxnSpPr>
            <a:stCxn id="1041" idx="4"/>
            <a:endCxn id="1043" idx="0"/>
          </p:cNvCxnSpPr>
          <p:nvPr/>
        </p:nvCxnSpPr>
        <p:spPr>
          <a:xfrm>
            <a:off x="1464469" y="4951869"/>
            <a:ext cx="143455" cy="472618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3" name="Google Shape;1053;p47"/>
          <p:cNvCxnSpPr>
            <a:stCxn id="1041" idx="3"/>
            <a:endCxn id="1042" idx="7"/>
          </p:cNvCxnSpPr>
          <p:nvPr/>
        </p:nvCxnSpPr>
        <p:spPr>
          <a:xfrm flipH="1">
            <a:off x="998816" y="4898165"/>
            <a:ext cx="336000" cy="579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4" name="Google Shape;1054;p47"/>
          <p:cNvCxnSpPr>
            <a:stCxn id="1035" idx="4"/>
            <a:endCxn id="1037" idx="0"/>
          </p:cNvCxnSpPr>
          <p:nvPr/>
        </p:nvCxnSpPr>
        <p:spPr>
          <a:xfrm>
            <a:off x="3567112" y="4146627"/>
            <a:ext cx="0" cy="441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5" name="Google Shape;1055;p47"/>
          <p:cNvCxnSpPr>
            <a:stCxn id="1035" idx="5"/>
            <a:endCxn id="1044" idx="1"/>
          </p:cNvCxnSpPr>
          <p:nvPr/>
        </p:nvCxnSpPr>
        <p:spPr>
          <a:xfrm>
            <a:off x="3696764" y="4092923"/>
            <a:ext cx="381300" cy="5493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6" name="Google Shape;1056;p47"/>
          <p:cNvCxnSpPr>
            <a:stCxn id="1037" idx="4"/>
            <a:endCxn id="1045" idx="0"/>
          </p:cNvCxnSpPr>
          <p:nvPr/>
        </p:nvCxnSpPr>
        <p:spPr>
          <a:xfrm flipH="1">
            <a:off x="3335189" y="4955096"/>
            <a:ext cx="231922" cy="469391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7" name="Google Shape;1057;p47"/>
          <p:cNvCxnSpPr>
            <a:stCxn id="1037" idx="5"/>
            <a:endCxn id="1046" idx="1"/>
          </p:cNvCxnSpPr>
          <p:nvPr/>
        </p:nvCxnSpPr>
        <p:spPr>
          <a:xfrm>
            <a:off x="3696763" y="4901392"/>
            <a:ext cx="435241" cy="587441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58" name="Google Shape;1058;p47"/>
          <p:cNvSpPr txBox="1"/>
          <p:nvPr/>
        </p:nvSpPr>
        <p:spPr>
          <a:xfrm>
            <a:off x="2438400" y="2209800"/>
            <a:ext cx="6335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BFS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9" name="Google Shape;1059;p47"/>
          <p:cNvSpPr txBox="1"/>
          <p:nvPr/>
        </p:nvSpPr>
        <p:spPr>
          <a:xfrm>
            <a:off x="6598355" y="2209800"/>
            <a:ext cx="6463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DFS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4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Exercises</a:t>
            </a:r>
            <a:endParaRPr sz="32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5" name="Google Shape;1065;p48"/>
          <p:cNvSpPr txBox="1">
            <a:spLocks noGrp="1"/>
          </p:cNvSpPr>
          <p:nvPr>
            <p:ph type="body" idx="1"/>
          </p:nvPr>
        </p:nvSpPr>
        <p:spPr>
          <a:xfrm>
            <a:off x="914400" y="2057400"/>
            <a:ext cx="77724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the DFS to determine the number of connected components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6" name="Google Shape;1066;p4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36</a:t>
            </a:fld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67" name="Google Shape;1067;p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76400" y="3124200"/>
            <a:ext cx="6189228" cy="23622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178EEC51-D5C9-44A3-B56F-C237AB67F59A}"/>
  <p:tag name="ISPRING_RESOURCE_FOLDER" val="C:\Users\Administrator\Documents\CTDL&amp;GT\Cai tien MH CTDL_GT\CTDL_GT\Slides and exercises\Lecture10_introduction_graphs\Lecture_10_introduction_to_graph\"/>
  <p:tag name="ISPRING_PRESENTATION_PATH" val="C:\Users\Administrator\Documents\CTDL&amp;GT\Cai tien MH CTDL_GT\CTDL_GT\Slides and exercises\Lecture10_introduction_graphs\Lecture_10_introduction_to_graph.pptx"/>
  <p:tag name="ISPRING_PROJECT_VERSION" val="9"/>
  <p:tag name="ISPRING_PROJECT_FOLDER_UPDATED" val="1"/>
  <p:tag name="ISPRING_SCREEN_RECS_UPDATED" val="C:\Users\Administrator\Documents\CTDL&amp;GT\Cai tien MH CTDL_GT\CTDL_GT\Slides and exercises\Lecture10_introduction_graphs\Lecture_10_introduction_to_graph\"/>
  <p:tag name="FLASHSPRING_ZOOM_TAG" val="59"/>
  <p:tag name="ISPRING_PRESENTATION_INFO_2" val="&lt;?xml version=&quot;1.0&quot; encoding=&quot;UTF-8&quot; standalone=&quot;no&quot; ?&gt;&#10;&lt;presentation2&gt;&#10;&#10;  &lt;slides&gt;&#10;    &lt;slide id=&quot;{548F50A6-03AF-4E64-80CF-4CE2EA3C3D1A}&quot; pptId=&quot;256&quot;/&gt;&#10;    &lt;slide id=&quot;{80453CD3-D041-4FB8-95CE-7BC1456041A6}&quot; pptId=&quot;257&quot;/&gt;&#10;    &lt;slide id=&quot;{5E0DBDAA-6B9B-42D1-9F38-3732A98013C9}&quot; pptId=&quot;258&quot;/&gt;&#10;    &lt;slide id=&quot;{1473EC1D-FFF8-4987-997B-A88103D8480A}&quot; pptId=&quot;259&quot;/&gt;&#10;    &lt;slide id=&quot;{0965BD8B-EF14-46A5-AE3F-EDD1317DA4E2}&quot; pptId=&quot;260&quot;/&gt;&#10;    &lt;slide id=&quot;{B01CA5ED-F81E-4D30-A698-613893C2A076}&quot; pptId=&quot;261&quot;/&gt;&#10;    &lt;slide id=&quot;{2B2930A9-DBCA-4A67-A68A-DF021653F118}&quot; pptId=&quot;262&quot;/&gt;&#10;    &lt;slide id=&quot;{94820B7E-BBB3-40CF-9FA3-BAFD83F12831}&quot; pptId=&quot;263&quot;/&gt;&#10;    &lt;slide id=&quot;{0B637674-4499-4D67-B9AF-79553E229AD7}&quot; pptId=&quot;264&quot;/&gt;&#10;    &lt;slide id=&quot;{8A176421-A004-4B16-ADA5-DA60100531B1}&quot; pptId=&quot;265&quot;/&gt;&#10;    &lt;slide id=&quot;{D22E6FA5-462D-4FF3-A256-1915B1624822}&quot; pptId=&quot;266&quot;/&gt;&#10;    &lt;slide id=&quot;{F4E6994F-E24E-4614-980C-3843F87E5D6E}&quot; pptId=&quot;267&quot;/&gt;&#10;    &lt;slide id=&quot;{615BCB44-D809-431C-A439-11BD99E7BF53}&quot; pptId=&quot;268&quot;/&gt;&#10;    &lt;slide id=&quot;{EC6FB088-3092-459F-92CA-58FAEFD28C93}&quot; pptId=&quot;269&quot;/&gt;&#10;    &lt;slide id=&quot;{5CE9E8A1-497D-4ABC-A4E5-DB776370A06D}&quot; pptId=&quot;270&quot;/&gt;&#10;    &lt;slide id=&quot;{67A63DF7-9C18-4504-981E-17F540E7A377}&quot; pptId=&quot;271&quot;/&gt;&#10;    &lt;slide id=&quot;{C699948B-A2EA-4B6E-B74C-DDB7D8F47550}&quot; pptId=&quot;272&quot;/&gt;&#10;    &lt;slide id=&quot;{2E84F4D4-7C0B-4332-82B9-54D92DFEE45A}&quot; pptId=&quot;273&quot;/&gt;&#10;    &lt;slide id=&quot;{1903F52B-AE13-43B6-B4F3-6DD1E6D94204}&quot; pptId=&quot;274&quot;/&gt;&#10;    &lt;slide id=&quot;{C6A7EA94-4C25-4218-909C-DBB1CD54CA3B}&quot; pptId=&quot;275&quot;/&gt;&#10;    &lt;slide id=&quot;{29B63138-5B33-4AD6-8CBA-F6F34AC9EE2C}&quot; pptId=&quot;276&quot;/&gt;&#10;    &lt;slide id=&quot;{28AB7D97-826B-4659-A287-17615E7E5F23}&quot; pptId=&quot;277&quot;/&gt;&#10;    &lt;slide id=&quot;{176FEBF9-ED4D-47BC-A7AE-94B134863AB6}&quot; pptId=&quot;278&quot;/&gt;&#10;    &lt;slide id=&quot;{7862E0F0-F79E-46FB-AA74-815FC4117DAF}&quot; pptId=&quot;279&quot;/&gt;&#10;    &lt;slide id=&quot;{1F5E42CC-F310-4EDD-B8D1-F949674B17C4}&quot; pptId=&quot;280&quot;/&gt;&#10;    &lt;slide id=&quot;{CA97C32F-33DF-464B-B90E-40BC492ED132}&quot; pptId=&quot;281&quot;/&gt;&#10;    &lt;slide id=&quot;{F47BEEF8-7156-4969-809F-C434FEB5BF44}&quot; pptId=&quot;282&quot;/&gt;&#10;    &lt;slide id=&quot;{9FA66B44-89AD-425A-8C84-64900DF192B8}&quot; pptId=&quot;283&quot;/&gt;&#10;    &lt;slide id=&quot;{7880CE96-E070-4355-903E-8212FDAFCF0C}&quot; pptId=&quot;284&quot;/&gt;&#10;    &lt;slide id=&quot;{BFB125A1-8AFE-42CB-8EA0-2DC76242EED5}&quot; pptId=&quot;285&quot;/&gt;&#10;    &lt;slide id=&quot;{998D7C71-BC72-411C-B3CB-6F3283E00AA1}&quot; pptId=&quot;286&quot;/&gt;&#10;    &lt;slide id=&quot;{E6609C18-FF64-4072-BAE2-A495731F670D}&quot; pptId=&quot;287&quot;/&gt;&#10;    &lt;slide id=&quot;{8D075781-5D7C-413A-97FD-F91124ABBFAC}&quot; pptId=&quot;288&quot;/&gt;&#10;    &lt;slide id=&quot;{AE70F180-72C6-433D-992E-F314273A621C}&quot; pptId=&quot;289&quot;/&gt;&#10;    &lt;slide id=&quot;{B3A189F2-2E93-4D5E-B1BA-F90B0729D800}&quot; pptId=&quot;290&quot;/&gt;&#10;    &lt;slide id=&quot;{01805966-F0E4-469D-A8DB-646A5A2F59FD}&quot; pptId=&quot;291&quot;/&gt;&#10;  &lt;/slides&gt;&#10;&#10;  &lt;narration&gt;&#10;    &lt;audioTracks&gt;&#10;      &lt;audioTrack muted=&quot;false&quot; name=&quot;Lect 10 part 1&quot; resource=&quot;848d90f8&quot; slideId=&quot;{548F50A6-03AF-4E64-80CF-4CE2EA3C3D1A}&quot; startTime=&quot;0&quot; stepIndex=&quot;0&quot; volume=&quot;1&quot;&gt;&#10;        &lt;audio channels=&quot;1&quot; format=&quot;s16&quot; sampleRate=&quot;48000&quot;/&gt;&#10;      &lt;/audioTrack&gt;&#10;      &lt;audioTrack muted=&quot;false&quot; name=&quot;Lect 10 part 2&quot; resource=&quot;b5850371&quot; slideId=&quot;{5CE9E8A1-497D-4ABC-A4E5-DB776370A06D}&quot; startTime=&quot;0&quot; stepIndex=&quot;0&quot; volume=&quot;1&quot;&gt;&#10;        &lt;audio channels=&quot;1&quot; format=&quot;s16&quot; sampleRate=&quot;48000&quot;/&gt;&#10;      &lt;/audioTrack&gt;&#10;    &lt;/audioTracks&gt;&#10;    &lt;videoTracks/&gt;&#10;  &lt;/narration&gt;&#10;&#10;&lt;/presentation2&gt;&#10;"/>
  <p:tag name="ISPRING_LMS_API_VERSION" val="SCORM 1.2"/>
  <p:tag name="ISPRING_ULTRA_SCORM_COURSE_ID" val="4668622D-C119-4ECB-951A-B2E592CF6F68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C:\Users\Administrator\Documents\CTDL&amp;GT\Cai tien MH CTDL_GT\CTDL_GT\Slides and exercises\Script for videos\Lecture 10"/>
  <p:tag name="ISPRING_SCORM_RATE_SLIDES" val="0"/>
  <p:tag name="ISPRING_SCORM_RATE_QUIZZES" val="0"/>
  <p:tag name="ISPRING_SCORM_PASSING_SCORE" val="0.000000"/>
  <p:tag name="ISPRING_CURRENT_PLAYER_ID" val="universal"/>
  <p:tag name="ISPRING_PRESENTATION_TITLE" val="Lecture_10_introduction_to_graph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48F50A6-03AF-4E64-80CF-4CE2EA3C3D1A}"/>
  <p:tag name="GENSWF_ADVANCE_TIME" val="5"/>
  <p:tag name="ISPRING_CUSTOM_TIMING_USED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0453CD3-D041-4FB8-95CE-7BC1456041A6}"/>
  <p:tag name="GENSWF_ADVANCE_TIME" val="9.032"/>
  <p:tag name="ISPRING_CUSTOM_TIMING_USED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E0DBDAA-6B9B-42D1-9F38-3732A98013C9}"/>
  <p:tag name="GENSWF_ADVANCE_TIME" val="18.44"/>
  <p:tag name="ISPRING_CUSTOM_TIMING_USED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1473EC1D-FFF8-4987-997B-A88103D8480A}"/>
  <p:tag name="GENSWF_ADVANCE_TIME" val="40.904"/>
  <p:tag name="ISPRING_CUSTOM_TIMING_USED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0965BD8B-EF14-46A5-AE3F-EDD1317DA4E2}"/>
  <p:tag name="GENSWF_ADVANCE_TIME" val="20.552"/>
  <p:tag name="ISPRING_CUSTOM_TIMING_USED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B01CA5ED-F81E-4D30-A698-613893C2A076}"/>
  <p:tag name="GENSWF_ADVANCE_TIME" val="15.56"/>
  <p:tag name="ISPRING_CUSTOM_TIMING_USED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B2930A9-DBCA-4A67-A68A-DF021653F118}"/>
  <p:tag name="GENSWF_ADVANCE_TIME" val="6.344"/>
  <p:tag name="ISPRING_CUSTOM_TIMING_USED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94820B7E-BBB3-40CF-9FA3-BAFD83F12831}"/>
  <p:tag name="GENSWF_ADVANCE_TIME" val="18.248"/>
  <p:tag name="ISPRING_CUSTOM_TIMING_USED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0B637674-4499-4D67-B9AF-79553E229AD7}"/>
  <p:tag name="GENSWF_ADVANCE_TIME" val="12.68"/>
  <p:tag name="ISPRING_CUSTOM_TIMING_USED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A176421-A004-4B16-ADA5-DA60100531B1}"/>
  <p:tag name="GENSWF_ADVANCE_TIME" val="12.104"/>
  <p:tag name="ISPRING_CUSTOM_TIMING_USED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D22E6FA5-462D-4FF3-A256-1915B1624822}"/>
  <p:tag name="GENSWF_ADVANCE_TIME" val="19.4"/>
  <p:tag name="ISPRING_CUSTOM_TIMING_USED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F4E6994F-E24E-4614-980C-3843F87E5D6E}"/>
  <p:tag name="GENSWF_ADVANCE_TIME" val="9.416"/>
  <p:tag name="ISPRING_CUSTOM_TIMING_USED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615BCB44-D809-431C-A439-11BD99E7BF53}"/>
  <p:tag name="GENSWF_ADVANCE_TIME" val="9.992"/>
  <p:tag name="ISPRING_CUSTOM_TIMING_USED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EC6FB088-3092-459F-92CA-58FAEFD28C93}"/>
  <p:tag name="GENSWF_ADVANCE_TIME" val="13.923"/>
  <p:tag name="ISPRING_CUSTOM_TIMING_USED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CE9E8A1-497D-4ABC-A4E5-DB776370A06D}"/>
  <p:tag name="GENSWF_ADVANCE_TIME" val="7.112"/>
  <p:tag name="ISPRING_CUSTOM_TIMING_USED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67A63DF7-9C18-4504-981E-17F540E7A377}"/>
  <p:tag name="GENSWF_ADVANCE_TIME" val="5.768"/>
  <p:tag name="ISPRING_CUSTOM_TIMING_USED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699948B-A2EA-4B6E-B74C-DDB7D8F47550}"/>
  <p:tag name="GENSWF_ADVANCE_TIME" val="21.896"/>
  <p:tag name="ISPRING_CUSTOM_TIMING_USED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E84F4D4-7C0B-4332-82B9-54D92DFEE45A}"/>
  <p:tag name="GENSWF_ADVANCE_TIME" val="5.96"/>
  <p:tag name="ISPRING_CUSTOM_TIMING_USED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1903F52B-AE13-43B6-B4F3-6DD1E6D94204}"/>
  <p:tag name="GENSWF_ADVANCE_TIME" val="6.728"/>
  <p:tag name="ISPRING_CUSTOM_TIMING_USED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6A7EA94-4C25-4218-909C-DBB1CD54CA3B}"/>
  <p:tag name="GENSWF_ADVANCE_TIME" val="2.888"/>
  <p:tag name="ISPRING_CUSTOM_TIMING_USED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9B63138-5B33-4AD6-8CBA-F6F34AC9EE2C}"/>
  <p:tag name="GENSWF_ADVANCE_TIME" val="1.352"/>
  <p:tag name="ISPRING_CUSTOM_TIMING_USED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8AB7D97-826B-4659-A287-17615E7E5F23}"/>
  <p:tag name="GENSWF_ADVANCE_TIME" val="5"/>
  <p:tag name="ISPRING_CUSTOM_TIMING_USED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176FEBF9-ED4D-47BC-A7AE-94B134863AB6}"/>
  <p:tag name="GENSWF_ADVANCE_TIME" val="1.928"/>
  <p:tag name="ISPRING_CUSTOM_TIMING_USED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862E0F0-F79E-46FB-AA74-815FC4117DAF}"/>
  <p:tag name="GENSWF_ADVANCE_TIME" val="6.152"/>
  <p:tag name="ISPRING_CUSTOM_TIMING_USED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1F5E42CC-F310-4EDD-B8D1-F949674B17C4}"/>
  <p:tag name="GENSWF_ADVANCE_TIME" val="2.312"/>
  <p:tag name="ISPRING_CUSTOM_TIMING_USED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A97C32F-33DF-464B-B90E-40BC492ED132}"/>
  <p:tag name="GENSWF_ADVANCE_TIME" val="3.08"/>
  <p:tag name="ISPRING_CUSTOM_TIMING_USED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F47BEEF8-7156-4969-809F-C434FEB5BF44}"/>
  <p:tag name="GENSWF_ADVANCE_TIME" val="2.504"/>
  <p:tag name="ISPRING_CUSTOM_TIMING_USED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9FA66B44-89AD-425A-8C84-64900DF192B8}"/>
  <p:tag name="GENSWF_ADVANCE_TIME" val="2.888"/>
  <p:tag name="ISPRING_CUSTOM_TIMING_USED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880CE96-E070-4355-903E-8212FDAFCF0C}"/>
  <p:tag name="GENSWF_ADVANCE_TIME" val="3.08"/>
  <p:tag name="ISPRING_CUSTOM_TIMING_USED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BFB125A1-8AFE-42CB-8EA0-2DC76242EED5}"/>
  <p:tag name="GENSWF_ADVANCE_TIME" val="14.024"/>
  <p:tag name="ISPRING_CUSTOM_TIMING_USED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998D7C71-BC72-411C-B3CB-6F3283E00AA1}"/>
  <p:tag name="GENSWF_ADVANCE_TIME" val="19.784"/>
  <p:tag name="ISPRING_CUSTOM_TIMING_USED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E6609C18-FF64-4072-BAE2-A495731F670D}"/>
  <p:tag name="GENSWF_ADVANCE_TIME" val="8.456"/>
  <p:tag name="ISPRING_CUSTOM_TIMING_USED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D075781-5D7C-413A-97FD-F91124ABBFAC}"/>
  <p:tag name="GENSWF_ADVANCE_TIME" val="15.752"/>
  <p:tag name="ISPRING_CUSTOM_TIMING_USED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AE70F180-72C6-433D-992E-F314273A621C}"/>
  <p:tag name="GENSWF_ADVANCE_TIME" val="8.648"/>
  <p:tag name="ISPRING_CUSTOM_TIMING_USED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B3A189F2-2E93-4D5E-B1BA-F90B0729D800}"/>
  <p:tag name="GENSWF_ADVANCE_TIME" val="5"/>
  <p:tag name="ISPRING_CUSTOM_TIMING_USED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01805966-F0E4-469D-A8DB-646A5A2F59FD}"/>
  <p:tag name="GENSWF_ADVANCE_TIME" val="5"/>
  <p:tag name="ISPRING_CUSTOM_TIMING_USED" val="1"/>
</p:tagLst>
</file>

<file path=ppt/theme/theme1.xml><?xml version="1.0" encoding="utf-8"?>
<a:theme xmlns:a="http://schemas.openxmlformats.org/drawingml/2006/main" name="Koi">
  <a:themeElements>
    <a:clrScheme name="Koi 1">
      <a:dk1>
        <a:srgbClr val="272776"/>
      </a:dk1>
      <a:lt1>
        <a:srgbClr val="F3F1E4"/>
      </a:lt1>
      <a:dk2>
        <a:srgbClr val="272776"/>
      </a:dk2>
      <a:lt2>
        <a:srgbClr val="808080"/>
      </a:lt2>
      <a:accent1>
        <a:srgbClr val="B8CFFB"/>
      </a:accent1>
      <a:accent2>
        <a:srgbClr val="DF8F74"/>
      </a:accent2>
      <a:accent3>
        <a:srgbClr val="F8F7EF"/>
      </a:accent3>
      <a:accent4>
        <a:srgbClr val="202064"/>
      </a:accent4>
      <a:accent5>
        <a:srgbClr val="D8E4FD"/>
      </a:accent5>
      <a:accent6>
        <a:srgbClr val="CA8168"/>
      </a:accent6>
      <a:hlink>
        <a:srgbClr val="7F97C2"/>
      </a:hlink>
      <a:folHlink>
        <a:srgbClr val="8BBE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1857</Words>
  <Application>Microsoft Office PowerPoint</Application>
  <PresentationFormat>On-screen Show (4:3)</PresentationFormat>
  <Paragraphs>646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Arial</vt:lpstr>
      <vt:lpstr>Helvetica Neue</vt:lpstr>
      <vt:lpstr>Times New Roman</vt:lpstr>
      <vt:lpstr>Noto Sans Symbols</vt:lpstr>
      <vt:lpstr>Helvetica</vt:lpstr>
      <vt:lpstr>Calibri</vt:lpstr>
      <vt:lpstr>Koi</vt:lpstr>
      <vt:lpstr>Introduction to graphs</vt:lpstr>
      <vt:lpstr>Example</vt:lpstr>
      <vt:lpstr>Graphs</vt:lpstr>
      <vt:lpstr>Edge Types</vt:lpstr>
      <vt:lpstr>Terminology</vt:lpstr>
      <vt:lpstr>Terminology (cont.)</vt:lpstr>
      <vt:lpstr>Terminology (cont.)</vt:lpstr>
      <vt:lpstr>Weighted and unweighted graphs</vt:lpstr>
      <vt:lpstr>Graph Presentation</vt:lpstr>
      <vt:lpstr>Graph presentation</vt:lpstr>
      <vt:lpstr>Subgraphs</vt:lpstr>
      <vt:lpstr>Connectivity</vt:lpstr>
      <vt:lpstr>Unrooted trees</vt:lpstr>
      <vt:lpstr>Spanning Trees and Forests</vt:lpstr>
      <vt:lpstr>Exercise</vt:lpstr>
      <vt:lpstr>Breadth-First Search</vt:lpstr>
      <vt:lpstr>Breadth-First Search</vt:lpstr>
      <vt:lpstr>Breadth-First Search</vt:lpstr>
      <vt:lpstr>Breadth-First Search</vt:lpstr>
      <vt:lpstr>Breadth-First Search</vt:lpstr>
      <vt:lpstr>Breadth-First Search</vt:lpstr>
      <vt:lpstr>Breadth-First Search</vt:lpstr>
      <vt:lpstr>Breadth-First Search</vt:lpstr>
      <vt:lpstr>Breadth-First Search</vt:lpstr>
      <vt:lpstr>Breadth-First Search</vt:lpstr>
      <vt:lpstr>Breadth-First Search</vt:lpstr>
      <vt:lpstr>Breadth-First Search</vt:lpstr>
      <vt:lpstr>Breadth-First Search</vt:lpstr>
      <vt:lpstr>Breadth-First Search</vt:lpstr>
      <vt:lpstr>Breadth-First Search</vt:lpstr>
      <vt:lpstr>Exercises</vt:lpstr>
      <vt:lpstr>Depth-First Search</vt:lpstr>
      <vt:lpstr>Depth-First Search</vt:lpstr>
      <vt:lpstr>Depth-First Search</vt:lpstr>
      <vt:lpstr>Travel on graphs</vt:lpstr>
      <vt:lpstr>Exercises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Lecture_10_introduction_to_graph</dc:title>
  <cp:lastModifiedBy>DHQG</cp:lastModifiedBy>
  <cp:revision>10</cp:revision>
  <dcterms:modified xsi:type="dcterms:W3CDTF">2019-03-23T08:50:01Z</dcterms:modified>
</cp:coreProperties>
</file>